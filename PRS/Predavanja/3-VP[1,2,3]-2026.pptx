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3"/>
  </p:notesMasterIdLst>
  <p:sldIdLst>
    <p:sldId id="256" r:id="rId2"/>
    <p:sldId id="317" r:id="rId3"/>
    <p:sldId id="258" r:id="rId4"/>
    <p:sldId id="259" r:id="rId5"/>
    <p:sldId id="260" r:id="rId6"/>
    <p:sldId id="261" r:id="rId7"/>
    <p:sldId id="262" r:id="rId8"/>
    <p:sldId id="263" r:id="rId9"/>
    <p:sldId id="264" r:id="rId10"/>
    <p:sldId id="318" r:id="rId11"/>
    <p:sldId id="267" r:id="rId12"/>
    <p:sldId id="266" r:id="rId13"/>
    <p:sldId id="268" r:id="rId14"/>
    <p:sldId id="302" r:id="rId15"/>
    <p:sldId id="308" r:id="rId16"/>
    <p:sldId id="310" r:id="rId17"/>
    <p:sldId id="319" r:id="rId18"/>
    <p:sldId id="321" r:id="rId19"/>
    <p:sldId id="322" r:id="rId20"/>
    <p:sldId id="323" r:id="rId21"/>
    <p:sldId id="324" r:id="rId22"/>
    <p:sldId id="325" r:id="rId23"/>
    <p:sldId id="326" r:id="rId24"/>
    <p:sldId id="327" r:id="rId25"/>
    <p:sldId id="328" r:id="rId26"/>
    <p:sldId id="339" r:id="rId27"/>
    <p:sldId id="340" r:id="rId28"/>
    <p:sldId id="329" r:id="rId29"/>
    <p:sldId id="330" r:id="rId30"/>
    <p:sldId id="332" r:id="rId31"/>
    <p:sldId id="333" r:id="rId32"/>
    <p:sldId id="334" r:id="rId33"/>
    <p:sldId id="316" r:id="rId34"/>
    <p:sldId id="335" r:id="rId35"/>
    <p:sldId id="336" r:id="rId36"/>
    <p:sldId id="337" r:id="rId37"/>
    <p:sldId id="376" r:id="rId38"/>
    <p:sldId id="338" r:id="rId39"/>
    <p:sldId id="342" r:id="rId40"/>
    <p:sldId id="343" r:id="rId41"/>
    <p:sldId id="362" r:id="rId42"/>
    <p:sldId id="345" r:id="rId43"/>
    <p:sldId id="346" r:id="rId44"/>
    <p:sldId id="347" r:id="rId45"/>
    <p:sldId id="348" r:id="rId46"/>
    <p:sldId id="351" r:id="rId47"/>
    <p:sldId id="352" r:id="rId48"/>
    <p:sldId id="274" r:id="rId49"/>
    <p:sldId id="275" r:id="rId50"/>
    <p:sldId id="276" r:id="rId51"/>
    <p:sldId id="277" r:id="rId52"/>
    <p:sldId id="363" r:id="rId53"/>
    <p:sldId id="361" r:id="rId54"/>
    <p:sldId id="278" r:id="rId55"/>
    <p:sldId id="279" r:id="rId56"/>
    <p:sldId id="280" r:id="rId57"/>
    <p:sldId id="281" r:id="rId58"/>
    <p:sldId id="282" r:id="rId59"/>
    <p:sldId id="364" r:id="rId60"/>
    <p:sldId id="284" r:id="rId61"/>
    <p:sldId id="355" r:id="rId62"/>
    <p:sldId id="287" r:id="rId63"/>
    <p:sldId id="288" r:id="rId64"/>
    <p:sldId id="289" r:id="rId65"/>
    <p:sldId id="290" r:id="rId66"/>
    <p:sldId id="356" r:id="rId67"/>
    <p:sldId id="291" r:id="rId68"/>
    <p:sldId id="357" r:id="rId69"/>
    <p:sldId id="292" r:id="rId70"/>
    <p:sldId id="311" r:id="rId71"/>
    <p:sldId id="358" r:id="rId72"/>
    <p:sldId id="312" r:id="rId73"/>
    <p:sldId id="293" r:id="rId74"/>
    <p:sldId id="294" r:id="rId75"/>
    <p:sldId id="295" r:id="rId76"/>
    <p:sldId id="305" r:id="rId77"/>
    <p:sldId id="359" r:id="rId78"/>
    <p:sldId id="366" r:id="rId79"/>
    <p:sldId id="270" r:id="rId80"/>
    <p:sldId id="271" r:id="rId81"/>
    <p:sldId id="272" r:id="rId82"/>
    <p:sldId id="273" r:id="rId83"/>
    <p:sldId id="367" r:id="rId84"/>
    <p:sldId id="368" r:id="rId85"/>
    <p:sldId id="369" r:id="rId86"/>
    <p:sldId id="370" r:id="rId87"/>
    <p:sldId id="371" r:id="rId88"/>
    <p:sldId id="372" r:id="rId89"/>
    <p:sldId id="373" r:id="rId90"/>
    <p:sldId id="374" r:id="rId91"/>
    <p:sldId id="375" r:id="rId9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CCFF3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87740" autoAdjust="0"/>
  </p:normalViewPr>
  <p:slideViewPr>
    <p:cSldViewPr>
      <p:cViewPr varScale="1">
        <p:scale>
          <a:sx n="45" d="100"/>
          <a:sy n="45" d="100"/>
        </p:scale>
        <p:origin x="2016" y="2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D89BB4-71FB-19E4-476C-8533AB327E4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9756FC20-3DF8-C20C-54DA-4D48FC61E26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49D39FD-F1F4-4763-9D98-ECC032719B39}" type="datetimeFigureOut">
              <a:rPr lang="en-US"/>
              <a:pPr>
                <a:defRPr/>
              </a:pPr>
              <a:t>4/6/2026</a:t>
            </a:fld>
            <a:endParaRPr lang="en-US"/>
          </a:p>
        </p:txBody>
      </p:sp>
      <p:sp>
        <p:nvSpPr>
          <p:cNvPr id="4" name="Slide Image Placeholder 3">
            <a:extLst>
              <a:ext uri="{FF2B5EF4-FFF2-40B4-BE49-F238E27FC236}">
                <a16:creationId xmlns:a16="http://schemas.microsoft.com/office/drawing/2014/main" id="{54682E73-C428-CD69-A042-F959E036D2D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6ECD0AC-3C5C-3110-2895-8286081F07E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EE405DA-CCF2-C6D2-5D33-9BA49696F58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39BB12C2-B36B-84EC-27E3-B29DF19ABDA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5882FE67-6BD5-4622-80F7-1C4FF2AC6C69}" type="slidenum">
              <a:rPr lang="en-US" altLang="sr-Latn-RS"/>
              <a:pPr>
                <a:defRPr/>
              </a:pPr>
              <a:t>‹#›</a:t>
            </a:fld>
            <a:endParaRPr lang="en-US" altLang="sr-Latn-RS"/>
          </a:p>
        </p:txBody>
      </p:sp>
    </p:spTree>
    <p:extLst>
      <p:ext uri="{BB962C8B-B14F-4D97-AF65-F5344CB8AC3E}">
        <p14:creationId xmlns:p14="http://schemas.microsoft.com/office/powerpoint/2010/main" val="39958692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Dans </a:t>
            </a:r>
            <a:r>
              <a:rPr lang="en-US" dirty="0" err="1"/>
              <a:t>cemo</a:t>
            </a:r>
            <a:r>
              <a:rPr lang="en-US" dirty="0"/>
              <a:t> </a:t>
            </a:r>
            <a:r>
              <a:rPr lang="en-US" dirty="0" err="1"/>
              <a:t>govoriti</a:t>
            </a:r>
            <a:r>
              <a:rPr lang="en-US" dirty="0"/>
              <a:t> o </a:t>
            </a:r>
            <a:r>
              <a:rPr lang="en-US" dirty="0" err="1"/>
              <a:t>vektorskim</a:t>
            </a:r>
            <a:r>
              <a:rPr lang="en-US" dirty="0"/>
              <a:t> </a:t>
            </a:r>
            <a:r>
              <a:rPr lang="en-US" dirty="0" err="1"/>
              <a:t>racunarima</a:t>
            </a:r>
            <a:r>
              <a:rPr lang="en-US" dirty="0"/>
              <a:t> I </a:t>
            </a:r>
            <a:r>
              <a:rPr lang="en-US" dirty="0" err="1"/>
              <a:t>metodama</a:t>
            </a:r>
            <a:r>
              <a:rPr lang="en-US" dirty="0"/>
              <a:t> </a:t>
            </a:r>
            <a:r>
              <a:rPr lang="en-US" dirty="0" err="1"/>
              <a:t>vektorizacije</a:t>
            </a:r>
            <a:r>
              <a:rPr lang="en-US" dirty="0"/>
              <a:t> </a:t>
            </a:r>
            <a:r>
              <a:rPr lang="en-US" dirty="0" err="1"/>
              <a:t>programa</a:t>
            </a:r>
            <a:r>
              <a:rPr lang="en-US" dirty="0"/>
              <a:t>. </a:t>
            </a:r>
            <a:r>
              <a:rPr lang="en-US" dirty="0" err="1"/>
              <a:t>Vektorski</a:t>
            </a:r>
            <a:r>
              <a:rPr lang="en-US" dirty="0"/>
              <a:t> </a:t>
            </a:r>
            <a:r>
              <a:rPr lang="en-US" dirty="0" err="1"/>
              <a:t>ra</a:t>
            </a:r>
            <a:r>
              <a:rPr lang="sr-Latn-RS" dirty="0"/>
              <a:t>čunari</a:t>
            </a:r>
            <a:r>
              <a:rPr lang="sr-Latn-RS" baseline="0" dirty="0"/>
              <a:t> u svom radu eksploatišu paralelizam na nivou petlje. Paralelizam na nivou petlje je u suštini paralelizam na nivou instrukcija koji postoji kada su različite iteracije pelje nezavisne jedna od druge. Vektorski računari kao operande imaju vektore, tj. Linearna polja podataka. Protočni procesori takođe eksploatišu paralelizam na nivou instrukcija. Da vidimo koje to probleme kod protočne obrade rešavaju vektorski računari.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sr-Latn-R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Kada</a:t>
            </a:r>
            <a:r>
              <a:rPr lang="en-US" dirty="0"/>
              <a:t> je rec o </a:t>
            </a:r>
            <a:r>
              <a:rPr lang="en-US" dirty="0" err="1"/>
              <a:t>vektorizaciji</a:t>
            </a:r>
            <a:r>
              <a:rPr lang="en-US" dirty="0"/>
              <a:t>, </a:t>
            </a:r>
            <a:r>
              <a:rPr lang="en-US" dirty="0" err="1"/>
              <a:t>jedini</a:t>
            </a:r>
            <a:r>
              <a:rPr lang="en-US" dirty="0"/>
              <a:t> </a:t>
            </a:r>
            <a:r>
              <a:rPr lang="en-US" dirty="0" err="1"/>
              <a:t>kandidati</a:t>
            </a:r>
            <a:r>
              <a:rPr lang="en-US" dirty="0"/>
              <a:t> za </a:t>
            </a:r>
            <a:r>
              <a:rPr lang="en-US" dirty="0" err="1"/>
              <a:t>vektorizaciju</a:t>
            </a:r>
            <a:r>
              <a:rPr lang="en-US" dirty="0"/>
              <a:t> </a:t>
            </a:r>
            <a:r>
              <a:rPr lang="en-US" dirty="0" err="1"/>
              <a:t>su</a:t>
            </a:r>
            <a:r>
              <a:rPr lang="en-US" dirty="0"/>
              <a:t> </a:t>
            </a:r>
            <a:r>
              <a:rPr lang="en-US" dirty="0" err="1"/>
              <a:t>petlje</a:t>
            </a:r>
            <a:r>
              <a:rPr lang="en-US" dirty="0"/>
              <a:t> u </a:t>
            </a:r>
            <a:r>
              <a:rPr lang="en-US" dirty="0" err="1"/>
              <a:t>kojima</a:t>
            </a:r>
            <a:r>
              <a:rPr lang="en-US" dirty="0"/>
              <a:t> se </a:t>
            </a:r>
            <a:r>
              <a:rPr lang="en-US" dirty="0" err="1"/>
              <a:t>obradjuju</a:t>
            </a:r>
            <a:r>
              <a:rPr lang="en-US" dirty="0"/>
              <a:t> </a:t>
            </a:r>
            <a:r>
              <a:rPr lang="en-US" dirty="0" err="1"/>
              <a:t>polja</a:t>
            </a:r>
            <a:r>
              <a:rPr lang="en-US" dirty="0"/>
              <a:t>, </a:t>
            </a:r>
            <a:r>
              <a:rPr lang="en-US" dirty="0" err="1"/>
              <a:t>ali</a:t>
            </a:r>
            <a:r>
              <a:rPr lang="en-US" dirty="0"/>
              <a:t> da bi se </a:t>
            </a:r>
            <a:r>
              <a:rPr lang="en-US" dirty="0" err="1"/>
              <a:t>petlja</a:t>
            </a:r>
            <a:r>
              <a:rPr lang="en-US" dirty="0"/>
              <a:t> </a:t>
            </a:r>
            <a:r>
              <a:rPr lang="en-US" dirty="0" err="1"/>
              <a:t>mogla</a:t>
            </a:r>
            <a:r>
              <a:rPr lang="en-US" dirty="0"/>
              <a:t> </a:t>
            </a:r>
            <a:r>
              <a:rPr lang="en-US" dirty="0" err="1"/>
              <a:t>vektorizovati</a:t>
            </a:r>
            <a:r>
              <a:rPr lang="en-US" dirty="0"/>
              <a:t> </a:t>
            </a:r>
            <a:r>
              <a:rPr lang="en-US" dirty="0" err="1"/>
              <a:t>potrebno</a:t>
            </a:r>
            <a:r>
              <a:rPr lang="en-US" dirty="0"/>
              <a:t> je </a:t>
            </a:r>
            <a:r>
              <a:rPr lang="en-US" dirty="0" err="1"/>
              <a:t>izvrsiti</a:t>
            </a:r>
            <a:r>
              <a:rPr lang="en-US" dirty="0"/>
              <a:t> </a:t>
            </a:r>
            <a:r>
              <a:rPr lang="en-US" dirty="0" err="1"/>
              <a:t>analizu</a:t>
            </a:r>
            <a:r>
              <a:rPr lang="en-US" dirty="0"/>
              <a:t> </a:t>
            </a:r>
            <a:r>
              <a:rPr lang="en-US" dirty="0" err="1"/>
              <a:t>zavisnosti</a:t>
            </a:r>
            <a:r>
              <a:rPr lang="en-US" dirty="0"/>
              <a:t> po </a:t>
            </a:r>
            <a:r>
              <a:rPr lang="en-US" dirty="0" err="1"/>
              <a:t>podacima</a:t>
            </a:r>
            <a:r>
              <a:rPr lang="en-US" dirty="0"/>
              <a:t> u </a:t>
            </a:r>
            <a:r>
              <a:rPr lang="en-US" dirty="0" err="1"/>
              <a:t>petlji</a:t>
            </a:r>
            <a:r>
              <a:rPr lang="en-US" dirty="0"/>
              <a:t>. I </a:t>
            </a:r>
            <a:r>
              <a:rPr lang="en-US" dirty="0" err="1"/>
              <a:t>najveci</a:t>
            </a:r>
            <a:r>
              <a:rPr lang="en-US" dirty="0"/>
              <a:t> deo </a:t>
            </a:r>
            <a:r>
              <a:rPr lang="en-US" dirty="0" err="1"/>
              <a:t>vremena</a:t>
            </a:r>
            <a:r>
              <a:rPr lang="en-US" dirty="0"/>
              <a:t> </a:t>
            </a:r>
            <a:r>
              <a:rPr lang="en-US" dirty="0" err="1"/>
              <a:t>cemo</a:t>
            </a:r>
            <a:r>
              <a:rPr lang="en-US" dirty="0"/>
              <a:t> </a:t>
            </a:r>
            <a:r>
              <a:rPr lang="en-US" dirty="0" err="1"/>
              <a:t>upravo</a:t>
            </a:r>
            <a:r>
              <a:rPr lang="en-US" dirty="0"/>
              <a:t> </a:t>
            </a:r>
            <a:r>
              <a:rPr lang="en-US" dirty="0" err="1"/>
              <a:t>posvetiti</a:t>
            </a:r>
            <a:r>
              <a:rPr lang="en-US" dirty="0"/>
              <a:t> </a:t>
            </a:r>
            <a:r>
              <a:rPr lang="en-US" dirty="0" err="1"/>
              <a:t>metodama</a:t>
            </a:r>
            <a:r>
              <a:rPr lang="en-US" dirty="0"/>
              <a:t> za </a:t>
            </a:r>
            <a:r>
              <a:rPr lang="en-US" dirty="0" err="1"/>
              <a:t>analizu</a:t>
            </a:r>
            <a:r>
              <a:rPr lang="en-US" dirty="0"/>
              <a:t> </a:t>
            </a:r>
            <a:r>
              <a:rPr lang="en-US" dirty="0" err="1"/>
              <a:t>zavisnosti</a:t>
            </a:r>
            <a:r>
              <a:rPr lang="en-US" dirty="0"/>
              <a:t> po </a:t>
            </a:r>
            <a:r>
              <a:rPr lang="en-US" dirty="0" err="1"/>
              <a:t>podacima</a:t>
            </a:r>
            <a:r>
              <a:rPr lang="en-US" dirty="0"/>
              <a:t> u </a:t>
            </a:r>
            <a:r>
              <a:rPr lang="en-US" dirty="0" err="1"/>
              <a:t>petlji</a:t>
            </a:r>
            <a:r>
              <a:rPr lang="en-US" dirty="0"/>
              <a:t>. </a:t>
            </a:r>
            <a:r>
              <a:rPr lang="en-US" dirty="0" err="1"/>
              <a:t>Ista</a:t>
            </a:r>
            <a:r>
              <a:rPr lang="en-US" dirty="0"/>
              <a:t> ova </a:t>
            </a:r>
            <a:r>
              <a:rPr lang="en-US" dirty="0" err="1"/>
              <a:t>analiza</a:t>
            </a:r>
            <a:r>
              <a:rPr lang="en-US" dirty="0"/>
              <a:t> je </a:t>
            </a:r>
            <a:r>
              <a:rPr lang="en-US" dirty="0" err="1"/>
              <a:t>potrebna</a:t>
            </a:r>
            <a:r>
              <a:rPr lang="en-US" dirty="0"/>
              <a:t> I </a:t>
            </a:r>
            <a:r>
              <a:rPr lang="en-US" dirty="0" err="1"/>
              <a:t>kod</a:t>
            </a:r>
            <a:r>
              <a:rPr lang="en-US" dirty="0"/>
              <a:t> </a:t>
            </a:r>
            <a:r>
              <a:rPr lang="en-US" dirty="0" err="1"/>
              <a:t>paralelizacije</a:t>
            </a:r>
            <a:r>
              <a:rPr lang="en-US" dirty="0"/>
              <a:t> </a:t>
            </a:r>
            <a:r>
              <a:rPr lang="en-US" dirty="0" err="1"/>
              <a:t>programa</a:t>
            </a:r>
            <a:r>
              <a:rPr lang="en-US" dirty="0"/>
              <a:t>.</a:t>
            </a:r>
          </a:p>
          <a:p>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1</a:t>
            </a:fld>
            <a:endParaRPr lang="en-US" altLang="sr-Latn-RS"/>
          </a:p>
        </p:txBody>
      </p:sp>
    </p:spTree>
    <p:extLst>
      <p:ext uri="{BB962C8B-B14F-4D97-AF65-F5344CB8AC3E}">
        <p14:creationId xmlns:p14="http://schemas.microsoft.com/office/powerpoint/2010/main" val="911856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A0C26A65-66C7-6330-EFBF-7E68B9C5D8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AF36F58-854D-9FF6-F317-C855CB23DD54}"/>
              </a:ext>
            </a:extLst>
          </p:cNvPr>
          <p:cNvSpPr>
            <a:spLocks noGrp="1"/>
          </p:cNvSpPr>
          <p:nvPr>
            <p:ph type="body" idx="1"/>
          </p:nvPr>
        </p:nvSpPr>
        <p:spPr/>
        <p:txBody>
          <a:bodyPr>
            <a:normAutofit fontScale="32500" lnSpcReduction="20000"/>
          </a:bodyPr>
          <a:lstStyle/>
          <a:p>
            <a:pPr>
              <a:spcBef>
                <a:spcPct val="20000"/>
              </a:spcBef>
              <a:buClr>
                <a:schemeClr val="accent1"/>
              </a:buClr>
              <a:buSzPct val="85000"/>
              <a:buFont typeface="Wingdings 2" panose="05020102010507070707" pitchFamily="18" charset="2"/>
              <a:buNone/>
              <a:defRPr/>
            </a:pPr>
            <a:r>
              <a:rPr kumimoji="1" lang="en-US" altLang="en-US" sz="2800" dirty="0" err="1">
                <a:solidFill>
                  <a:schemeClr val="accent1"/>
                </a:solidFill>
                <a:effectLst>
                  <a:outerShdw blurRad="38100" dist="38100" dir="2700000" algn="tl">
                    <a:srgbClr val="C0C0C0"/>
                  </a:outerShdw>
                </a:effectLst>
                <a:latin typeface="Tahoma" panose="020B0604030504040204" pitchFamily="34" charset="0"/>
              </a:rPr>
              <a:t>Slajd</a:t>
            </a:r>
            <a:r>
              <a:rPr kumimoji="1" lang="en-US" altLang="en-US" sz="2800" dirty="0">
                <a:solidFill>
                  <a:schemeClr val="accent1"/>
                </a:solidFill>
                <a:effectLst>
                  <a:outerShdw blurRad="38100" dist="38100" dir="2700000" algn="tl">
                    <a:srgbClr val="C0C0C0"/>
                  </a:outerShdw>
                </a:effectLst>
                <a:latin typeface="Tahoma" panose="020B0604030504040204" pitchFamily="34" charset="0"/>
              </a:rPr>
              <a:t> </a:t>
            </a:r>
            <a:r>
              <a:rPr kumimoji="1" lang="en-US" altLang="en-US" sz="2800" dirty="0" err="1">
                <a:solidFill>
                  <a:schemeClr val="accent1"/>
                </a:solidFill>
                <a:effectLst>
                  <a:outerShdw blurRad="38100" dist="38100" dir="2700000" algn="tl">
                    <a:srgbClr val="C0C0C0"/>
                  </a:outerShdw>
                </a:effectLst>
                <a:latin typeface="Tahoma" panose="020B0604030504040204" pitchFamily="34" charset="0"/>
              </a:rPr>
              <a:t>prikazuje</a:t>
            </a:r>
            <a:r>
              <a:rPr kumimoji="1" lang="en-US" altLang="en-US" sz="2800" dirty="0">
                <a:solidFill>
                  <a:schemeClr val="accent1"/>
                </a:solidFill>
                <a:effectLst>
                  <a:outerShdw blurRad="38100" dist="38100" dir="2700000" algn="tl">
                    <a:srgbClr val="C0C0C0"/>
                  </a:outerShdw>
                </a:effectLst>
                <a:latin typeface="Tahoma" panose="020B0604030504040204" pitchFamily="34" charset="0"/>
              </a:rPr>
              <a:t> </a:t>
            </a:r>
            <a:r>
              <a:rPr kumimoji="1" lang="en-US" altLang="en-US" sz="2800" dirty="0" err="1">
                <a:solidFill>
                  <a:schemeClr val="accent1"/>
                </a:solidFill>
                <a:effectLst>
                  <a:outerShdw blurRad="38100" dist="38100" dir="2700000" algn="tl">
                    <a:srgbClr val="C0C0C0"/>
                  </a:outerShdw>
                </a:effectLst>
                <a:latin typeface="Tahoma" panose="020B0604030504040204" pitchFamily="34" charset="0"/>
              </a:rPr>
              <a:t>izgled</a:t>
            </a:r>
            <a:r>
              <a:rPr kumimoji="1" lang="en-US" altLang="en-US" sz="2800" dirty="0">
                <a:solidFill>
                  <a:schemeClr val="accent1"/>
                </a:solidFill>
                <a:effectLst>
                  <a:outerShdw blurRad="38100" dist="38100" dir="2700000" algn="tl">
                    <a:srgbClr val="C0C0C0"/>
                  </a:outerShdw>
                </a:effectLst>
                <a:latin typeface="Tahoma" panose="020B0604030504040204" pitchFamily="34" charset="0"/>
              </a:rPr>
              <a:t> Cray 1</a:t>
            </a:r>
          </a:p>
          <a:p>
            <a:pPr>
              <a:spcBef>
                <a:spcPct val="20000"/>
              </a:spcBef>
              <a:buClr>
                <a:schemeClr val="accent1"/>
              </a:buClr>
              <a:buSzPct val="85000"/>
              <a:buFont typeface="Wingdings 2" panose="05020102010507070707" pitchFamily="18" charset="2"/>
              <a:buNone/>
              <a:defRPr/>
            </a:pPr>
            <a:r>
              <a:rPr kumimoji="1" lang="hr-HR" altLang="en-US" sz="2800" dirty="0">
                <a:solidFill>
                  <a:schemeClr val="accent1"/>
                </a:solidFill>
                <a:effectLst>
                  <a:outerShdw blurRad="38100" dist="38100" dir="2700000" algn="tl">
                    <a:srgbClr val="C0C0C0"/>
                  </a:outerShdw>
                </a:effectLst>
                <a:latin typeface="Tahoma" panose="020B0604030504040204" pitchFamily="34" charset="0"/>
              </a:rPr>
              <a:t>Sastoji se iz tri dela</a:t>
            </a:r>
            <a:r>
              <a:rPr kumimoji="1" lang="en-AU" altLang="en-US" sz="2800" dirty="0">
                <a:solidFill>
                  <a:schemeClr val="accent1"/>
                </a:solidFill>
                <a:effectLst>
                  <a:outerShdw blurRad="38100" dist="38100" dir="2700000" algn="tl">
                    <a:srgbClr val="C0C0C0"/>
                  </a:outerShdw>
                </a:effectLst>
                <a:latin typeface="Tahoma" panose="020B0604030504040204" pitchFamily="34" charset="0"/>
              </a:rPr>
              <a:t>:</a:t>
            </a:r>
          </a:p>
          <a:p>
            <a:pPr marL="342900" lvl="0" indent="-342900">
              <a:spcBef>
                <a:spcPct val="20000"/>
              </a:spcBef>
              <a:buClr>
                <a:schemeClr val="hlink"/>
              </a:buClr>
              <a:buSzPct val="85000"/>
              <a:buFont typeface="Arial" panose="020B0604020202020204" pitchFamily="34" charset="0"/>
              <a:buChar char="•"/>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Galavne memorije (sastoji se od 16 memorijskih banaka kojima se može jednovremeno pristupati)</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marL="342900" lvl="0" indent="-342900">
              <a:spcBef>
                <a:spcPct val="20000"/>
              </a:spcBef>
              <a:buClr>
                <a:schemeClr val="hlink"/>
              </a:buClr>
              <a:buSzPct val="85000"/>
              <a:buFont typeface="Arial" panose="020B0604020202020204" pitchFamily="34" charset="0"/>
              <a:buChar char="•"/>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Skalarnog podsistema</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marL="342900" lvl="0" indent="-342900">
              <a:spcBef>
                <a:spcPct val="20000"/>
              </a:spcBef>
              <a:buClr>
                <a:schemeClr val="hlink"/>
              </a:buClr>
              <a:buSzPct val="85000"/>
              <a:buFont typeface="Arial" panose="020B0604020202020204" pitchFamily="34" charset="0"/>
              <a:buChar char="•"/>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Vektorskog podsistema</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a:defRPr/>
            </a:pPr>
            <a:endParaRPr lang="sr-Latn-RS" dirty="0"/>
          </a:p>
          <a:p>
            <a:pPr>
              <a:defRPr/>
            </a:pPr>
            <a:r>
              <a:rPr lang="sr-Latn-RS" dirty="0"/>
              <a:t>Skalarni podsistem se s</a:t>
            </a:r>
            <a:r>
              <a:rPr kumimoji="1" lang="hr-HR" altLang="en-US" sz="2800" dirty="0">
                <a:solidFill>
                  <a:schemeClr val="accent1"/>
                </a:solidFill>
                <a:effectLst>
                  <a:outerShdw blurRad="38100" dist="38100" dir="2700000" algn="tl">
                    <a:srgbClr val="C0C0C0"/>
                  </a:outerShdw>
                </a:effectLst>
                <a:latin typeface="Tahoma" panose="020B0604030504040204" pitchFamily="34" charset="0"/>
              </a:rPr>
              <a:t>astoji se od</a:t>
            </a:r>
            <a:r>
              <a:rPr kumimoji="1" lang="en-AU" altLang="en-US" sz="2800" dirty="0">
                <a:solidFill>
                  <a:schemeClr val="accent1"/>
                </a:solidFill>
                <a:effectLst>
                  <a:outerShdw blurRad="38100" dist="38100" dir="2700000" algn="tl">
                    <a:srgbClr val="C0C0C0"/>
                  </a:outerShdw>
                </a:effectLst>
                <a:latin typeface="Tahoma" panose="020B0604030504040204" pitchFamily="34" charset="0"/>
              </a:rPr>
              <a:t> </a:t>
            </a:r>
          </a:p>
          <a:p>
            <a:pPr lvl="0">
              <a:spcBef>
                <a:spcPct val="20000"/>
              </a:spcBef>
              <a:buClr>
                <a:schemeClr val="hlink"/>
              </a:buClr>
              <a:buSzPct val="85000"/>
              <a:buFont typeface="Wingdings" panose="05000000000000000000" pitchFamily="2" charset="2"/>
              <a:buChar char="l"/>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Instrukcionih bafera</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Char char="l"/>
              <a:defRPr/>
            </a:pP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2 </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skupa skalarnih registara (8 S reg. i 64 T reg.)</a:t>
            </a:r>
          </a:p>
          <a:p>
            <a:pPr lvl="0">
              <a:spcBef>
                <a:spcPct val="20000"/>
              </a:spcBef>
              <a:buClr>
                <a:schemeClr val="hlink"/>
              </a:buClr>
              <a:buSzPct val="85000"/>
              <a:buFont typeface="Wingdings" panose="05000000000000000000" pitchFamily="2" charset="2"/>
              <a:buChar char="l"/>
              <a:defRPr/>
            </a:pP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2 </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skupa adresnih registara (8 A reg i 64 B)</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Char char="l"/>
              <a:defRPr/>
            </a:pP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S</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kalarnih funkcionalnih jedinica (za integer operacije)</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Char char="l"/>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Funkcionalne jedinice za operacije u pokretnom zarezu su zajedničke za skalarni i vektorski podsistem. </a:t>
            </a:r>
          </a:p>
          <a:p>
            <a:pPr>
              <a:spcBef>
                <a:spcPct val="20000"/>
              </a:spcBef>
              <a:buClr>
                <a:schemeClr val="accent1"/>
              </a:buClr>
              <a:buSzPct val="85000"/>
              <a:buFont typeface="Wingdings 2" panose="05020102010507070707" pitchFamily="18" charset="2"/>
              <a:buNone/>
              <a:defRPr/>
            </a:pPr>
            <a:endParaRPr kumimoji="1" lang="en-US" altLang="en-US" sz="2300" dirty="0">
              <a:solidFill>
                <a:schemeClr val="hlink"/>
              </a:solidFill>
              <a:effectLst>
                <a:outerShdw blurRad="38100" dist="38100" dir="2700000" algn="tl">
                  <a:srgbClr val="C0C0C0"/>
                </a:outerShdw>
              </a:effectLst>
              <a:latin typeface="Tahoma" panose="020B0604030504040204" pitchFamily="34" charset="0"/>
            </a:endParaRPr>
          </a:p>
          <a:p>
            <a:pPr>
              <a:spcBef>
                <a:spcPct val="20000"/>
              </a:spcBef>
              <a:buClr>
                <a:schemeClr val="accent1"/>
              </a:buClr>
              <a:buSzPct val="85000"/>
              <a:buFont typeface="Wingdings 2" panose="05020102010507070707" pitchFamily="18" charset="2"/>
              <a:buNone/>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Vektorski podsistem </a:t>
            </a:r>
            <a:r>
              <a:rPr kumimoji="1" lang="hr-HR" altLang="en-US" sz="2800" dirty="0">
                <a:solidFill>
                  <a:schemeClr val="accent1"/>
                </a:solidFill>
                <a:effectLst>
                  <a:outerShdw blurRad="38100" dist="38100" dir="2700000" algn="tl">
                    <a:srgbClr val="C0C0C0"/>
                  </a:outerShdw>
                </a:effectLst>
                <a:latin typeface="Tahoma" panose="020B0604030504040204" pitchFamily="34" charset="0"/>
              </a:rPr>
              <a:t>se</a:t>
            </a:r>
            <a:r>
              <a:rPr kumimoji="1" lang="hr-HR" altLang="en-US" sz="2800" baseline="0" dirty="0">
                <a:solidFill>
                  <a:schemeClr val="accent1"/>
                </a:solidFill>
                <a:effectLst>
                  <a:outerShdw blurRad="38100" dist="38100" dir="2700000" algn="tl">
                    <a:srgbClr val="C0C0C0"/>
                  </a:outerShdw>
                </a:effectLst>
                <a:latin typeface="Tahoma" panose="020B0604030504040204" pitchFamily="34" charset="0"/>
              </a:rPr>
              <a:t> s</a:t>
            </a:r>
            <a:r>
              <a:rPr kumimoji="1" lang="hr-HR" altLang="en-US" sz="2800" dirty="0">
                <a:solidFill>
                  <a:schemeClr val="accent1"/>
                </a:solidFill>
                <a:effectLst>
                  <a:outerShdw blurRad="38100" dist="38100" dir="2700000" algn="tl">
                    <a:srgbClr val="C0C0C0"/>
                  </a:outerShdw>
                </a:effectLst>
                <a:latin typeface="Tahoma" panose="020B0604030504040204" pitchFamily="34" charset="0"/>
              </a:rPr>
              <a:t>astoji od</a:t>
            </a:r>
            <a:r>
              <a:rPr kumimoji="1" lang="en-AU" altLang="en-US" sz="2800" dirty="0">
                <a:solidFill>
                  <a:schemeClr val="accent1"/>
                </a:solidFill>
                <a:effectLst>
                  <a:outerShdw blurRad="38100" dist="38100" dir="2700000" algn="tl">
                    <a:srgbClr val="C0C0C0"/>
                  </a:outerShdw>
                </a:effectLst>
                <a:latin typeface="Tahoma" panose="020B0604030504040204" pitchFamily="34" charset="0"/>
              </a:rPr>
              <a:t> </a:t>
            </a:r>
          </a:p>
          <a:p>
            <a:pPr lvl="0">
              <a:spcBef>
                <a:spcPct val="20000"/>
              </a:spcBef>
              <a:buClr>
                <a:schemeClr val="hlink"/>
              </a:buClr>
              <a:buSzPct val="85000"/>
              <a:buFont typeface="Wingdings" panose="05000000000000000000" pitchFamily="2" charset="2"/>
              <a:buChar char="l"/>
              <a:defRPr/>
            </a:pP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8 </a:t>
            </a:r>
            <a:r>
              <a:rPr kumimoji="1" lang="en-AU" altLang="en-US" sz="2300" dirty="0" err="1">
                <a:solidFill>
                  <a:schemeClr val="hlink"/>
                </a:solidFill>
                <a:effectLst>
                  <a:outerShdw blurRad="38100" dist="38100" dir="2700000" algn="tl">
                    <a:srgbClr val="C0C0C0"/>
                  </a:outerShdw>
                </a:effectLst>
                <a:latin typeface="Tahoma" panose="020B0604030504040204" pitchFamily="34" charset="0"/>
              </a:rPr>
              <a:t>ve</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k</a:t>
            </a: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tor</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skih</a:t>
            </a: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 </a:t>
            </a:r>
            <a:r>
              <a:rPr kumimoji="1" lang="en-AU" altLang="en-US" sz="2300" dirty="0" err="1">
                <a:solidFill>
                  <a:schemeClr val="hlink"/>
                </a:solidFill>
                <a:effectLst>
                  <a:outerShdw blurRad="38100" dist="38100" dir="2700000" algn="tl">
                    <a:srgbClr val="C0C0C0"/>
                  </a:outerShdw>
                </a:effectLst>
                <a:latin typeface="Tahoma" panose="020B0604030504040204" pitchFamily="34" charset="0"/>
              </a:rPr>
              <a:t>regist</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ara (svaki dužine 64 64’bitne reči)</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Char char="l"/>
              <a:defRPr/>
            </a:pP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3 </a:t>
            </a:r>
            <a:r>
              <a:rPr kumimoji="1" lang="en-AU" altLang="en-US" sz="2300" dirty="0" err="1">
                <a:solidFill>
                  <a:schemeClr val="hlink"/>
                </a:solidFill>
                <a:effectLst>
                  <a:outerShdw blurRad="38100" dist="38100" dir="2700000" algn="tl">
                    <a:srgbClr val="C0C0C0"/>
                  </a:outerShdw>
                </a:effectLst>
                <a:latin typeface="Tahoma" panose="020B0604030504040204" pitchFamily="34" charset="0"/>
              </a:rPr>
              <a:t>ve</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k</a:t>
            </a:r>
            <a:r>
              <a:rPr kumimoji="1" lang="en-AU" altLang="en-US" sz="2300" dirty="0">
                <a:solidFill>
                  <a:schemeClr val="hlink"/>
                </a:solidFill>
                <a:effectLst>
                  <a:outerShdw blurRad="38100" dist="38100" dir="2700000" algn="tl">
                    <a:srgbClr val="C0C0C0"/>
                  </a:outerShdw>
                </a:effectLst>
                <a:latin typeface="Tahoma" panose="020B0604030504040204" pitchFamily="34" charset="0"/>
              </a:rPr>
              <a:t>tor</a:t>
            </a: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ske funkcionalne jedinice (integer sabiranje, logičke i shift)</a:t>
            </a:r>
            <a:endParaRPr kumimoji="1" lang="en-AU"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Char char="l"/>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3 zajedničke funkcionalne jedinice za operacije u pokretnom zarezu (sabiranje, množenje, izračunavanje recipročne vrednosti)</a:t>
            </a:r>
            <a:endParaRPr kumimoji="1" lang="en-US"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None/>
              <a:defRPr/>
            </a:pPr>
            <a:r>
              <a:rPr kumimoji="1" lang="hr-HR" altLang="en-US" sz="2300" dirty="0">
                <a:solidFill>
                  <a:schemeClr val="hlink"/>
                </a:solidFill>
                <a:effectLst>
                  <a:outerShdw blurRad="38100" dist="38100" dir="2700000" algn="tl">
                    <a:srgbClr val="C0C0C0"/>
                  </a:outerShdw>
                </a:effectLst>
                <a:latin typeface="Tahoma" panose="020B0604030504040204" pitchFamily="34" charset="0"/>
              </a:rPr>
              <a:t>Vektorske funkcinalne jedinice mogu pribavljati podatke iz skalarnih i vektorskih registara (i smeštati)</a:t>
            </a:r>
          </a:p>
          <a:p>
            <a:pPr>
              <a:defRPr/>
            </a:pPr>
            <a:r>
              <a:rPr lang="sr-Latn-RS" sz="2400" dirty="0"/>
              <a:t>Pored toga postoje i drugi procesorski registri.</a:t>
            </a:r>
          </a:p>
          <a:p>
            <a:pPr marL="342900" indent="-342900">
              <a:buFont typeface="Arial" panose="020B0604020202020204" pitchFamily="34" charset="0"/>
              <a:buChar char="•"/>
              <a:defRPr/>
            </a:pPr>
            <a:r>
              <a:rPr lang="sr-Latn-RS" sz="2400" dirty="0"/>
              <a:t>VL je vector lenght – pamti dužinu vektora</a:t>
            </a:r>
          </a:p>
          <a:p>
            <a:pPr marL="342900" indent="-342900">
              <a:buFont typeface="Arial" panose="020B0604020202020204" pitchFamily="34" charset="0"/>
              <a:buChar char="•"/>
              <a:defRPr/>
            </a:pPr>
            <a:r>
              <a:rPr lang="sr-Latn-RS" sz="2400" dirty="0"/>
              <a:t>VM je Vector mask: 64-bitni registar od koga svaki bit odgovara jednom elementu vektorskog registra. Koristi se u naredbama testiranja.</a:t>
            </a:r>
          </a:p>
          <a:p>
            <a:pPr>
              <a:defRPr/>
            </a:pPr>
            <a:r>
              <a:rPr lang="sr-Latn-RS" sz="2400" dirty="0"/>
              <a:t>Funkcionalne jedinice pribavljaju operande( ili upisuju) samo oiz  S i V registara.</a:t>
            </a:r>
          </a:p>
          <a:p>
            <a:pPr lvl="0">
              <a:spcBef>
                <a:spcPct val="20000"/>
              </a:spcBef>
              <a:buClr>
                <a:schemeClr val="hlink"/>
              </a:buClr>
              <a:buSzPct val="85000"/>
              <a:buFont typeface="Wingdings" panose="05000000000000000000" pitchFamily="2" charset="2"/>
              <a:buNone/>
              <a:defRPr/>
            </a:pPr>
            <a:endParaRPr kumimoji="1" lang="hr-HR"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None/>
              <a:defRPr/>
            </a:pPr>
            <a:r>
              <a:rPr lang="sr-Latn-RS" sz="2400" dirty="0"/>
              <a:t>Cray 1 dozvoljava da se više vektorskih operacija izvršava jednovremeno i to paralelno ili kroz ulančavanje. Ako vektorske operacije koriste različite FU i različite registe, mogu se izvršavati paralelno. Ako rezultat jedne vektorske FU predstavlja operand za drugu FU, može se koristiti ulančavanje. Ulančavanje omogućava da se elementi vektora koji se izračunavaju odmah koriste u sledećoj FU bez potrebe da se upišu memoriju (ulančavanje se dešava automatski kad god je to moguće, kao kod bypassing tehnike).</a:t>
            </a:r>
            <a:endParaRPr kumimoji="1" lang="hr-HR"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None/>
              <a:defRPr/>
            </a:pPr>
            <a:endParaRPr kumimoji="1" lang="hr-HR" altLang="en-US" sz="2300" dirty="0">
              <a:solidFill>
                <a:schemeClr val="hlink"/>
              </a:solidFill>
              <a:effectLst>
                <a:outerShdw blurRad="38100" dist="38100" dir="2700000" algn="tl">
                  <a:srgbClr val="C0C0C0"/>
                </a:outerShdw>
              </a:effectLst>
              <a:latin typeface="Tahoma" panose="020B0604030504040204" pitchFamily="34" charset="0"/>
            </a:endParaRPr>
          </a:p>
          <a:p>
            <a:pPr lvl="0">
              <a:spcBef>
                <a:spcPct val="20000"/>
              </a:spcBef>
              <a:buClr>
                <a:schemeClr val="hlink"/>
              </a:buClr>
              <a:buSzPct val="85000"/>
              <a:buFont typeface="Wingdings" panose="05000000000000000000" pitchFamily="2" charset="2"/>
              <a:buNone/>
              <a:defRPr/>
            </a:pPr>
            <a:endParaRPr lang="sr-Latn-RS" dirty="0"/>
          </a:p>
          <a:p>
            <a:pPr>
              <a:defRPr/>
            </a:pPr>
            <a:endParaRPr lang="en-US" dirty="0"/>
          </a:p>
        </p:txBody>
      </p:sp>
      <p:sp>
        <p:nvSpPr>
          <p:cNvPr id="17412" name="Slide Number Placeholder 3">
            <a:extLst>
              <a:ext uri="{FF2B5EF4-FFF2-40B4-BE49-F238E27FC236}">
                <a16:creationId xmlns:a16="http://schemas.microsoft.com/office/drawing/2014/main" id="{6F5131B4-CD83-F3F1-BBEE-830F1F3FF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172AB8-E5B1-4561-BF35-D954EF1CD223}" type="slidenum">
              <a:rPr lang="en-US" altLang="sr-Latn-RS"/>
              <a:pPr/>
              <a:t>13</a:t>
            </a:fld>
            <a:endParaRPr lang="en-US" altLang="sr-Latn-R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52F0CFFD-5E88-4CF1-35C0-08EE99B5FC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80B9667B-83D5-A054-B275-9BBD5D6B09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Pozabavimo</a:t>
            </a:r>
            <a:r>
              <a:rPr lang="en-US" dirty="0"/>
              <a:t> se </a:t>
            </a:r>
            <a:r>
              <a:rPr lang="en-US" dirty="0" err="1"/>
              <a:t>sada</a:t>
            </a:r>
            <a:r>
              <a:rPr lang="en-US" dirty="0"/>
              <a:t> </a:t>
            </a:r>
            <a:r>
              <a:rPr lang="en-US" dirty="0" err="1"/>
              <a:t>pitanjem</a:t>
            </a:r>
            <a:r>
              <a:rPr lang="en-US" dirty="0"/>
              <a:t> </a:t>
            </a:r>
            <a:r>
              <a:rPr lang="sr-Latn-RS" dirty="0"/>
              <a:t>kako ustanoviti koji deo programa se može vektorizovati, tj. izvršiti u vektorskom obliku?</a:t>
            </a:r>
            <a:endParaRPr lang="en-US" dirty="0"/>
          </a:p>
          <a:p>
            <a:endParaRPr lang="en-US" altLang="sr-Latn-RS" dirty="0"/>
          </a:p>
        </p:txBody>
      </p:sp>
      <p:sp>
        <p:nvSpPr>
          <p:cNvPr id="26628" name="Slide Number Placeholder 3">
            <a:extLst>
              <a:ext uri="{FF2B5EF4-FFF2-40B4-BE49-F238E27FC236}">
                <a16:creationId xmlns:a16="http://schemas.microsoft.com/office/drawing/2014/main" id="{C62F1421-9D77-5F44-B08E-5105EBB6B8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2B8489B-12E7-4630-9C89-E8805BCBCB4D}" type="slidenum">
              <a:rPr lang="en-US" altLang="sr-Latn-RS"/>
              <a:pPr/>
              <a:t>17</a:t>
            </a:fld>
            <a:endParaRPr lang="en-US" altLang="sr-Latn-R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Analizirajmo</a:t>
            </a:r>
            <a:r>
              <a:rPr lang="en-US" dirty="0"/>
              <a:t> </a:t>
            </a:r>
            <a:r>
              <a:rPr lang="en-US" dirty="0" err="1"/>
              <a:t>sledecu</a:t>
            </a:r>
            <a:r>
              <a:rPr lang="en-US" dirty="0"/>
              <a:t> </a:t>
            </a:r>
            <a:r>
              <a:rPr lang="en-US" dirty="0" err="1"/>
              <a:t>petlju</a:t>
            </a:r>
            <a:r>
              <a:rPr lang="en-US" dirty="0"/>
              <a:t> da bi </a:t>
            </a:r>
            <a:r>
              <a:rPr lang="en-US" dirty="0" err="1"/>
              <a:t>ustanovili</a:t>
            </a:r>
            <a:r>
              <a:rPr lang="en-US" dirty="0"/>
              <a:t> </a:t>
            </a:r>
            <a:r>
              <a:rPr lang="en-US" dirty="0" err="1"/>
              <a:t>koje</a:t>
            </a:r>
            <a:r>
              <a:rPr lang="en-US" dirty="0"/>
              <a:t> </a:t>
            </a:r>
            <a:r>
              <a:rPr lang="en-US" dirty="0" err="1"/>
              <a:t>vrste</a:t>
            </a:r>
            <a:r>
              <a:rPr lang="en-US" dirty="0"/>
              <a:t> </a:t>
            </a:r>
            <a:r>
              <a:rPr lang="en-US" dirty="0" err="1"/>
              <a:t>zavisnosti</a:t>
            </a:r>
            <a:r>
              <a:rPr lang="en-US" dirty="0"/>
              <a:t> po </a:t>
            </a:r>
            <a:r>
              <a:rPr lang="en-US" dirty="0" err="1"/>
              <a:t>podacima</a:t>
            </a:r>
            <a:r>
              <a:rPr lang="en-US" dirty="0"/>
              <a:t> </a:t>
            </a:r>
            <a:r>
              <a:rPr lang="en-US" dirty="0" err="1"/>
              <a:t>postoje</a:t>
            </a:r>
            <a:r>
              <a:rPr lang="en-US" dirty="0"/>
              <a:t>.</a:t>
            </a:r>
          </a:p>
          <a:p>
            <a:endParaRPr lang="en-US" dirty="0"/>
          </a:p>
          <a:p>
            <a:r>
              <a:rPr lang="en-US" dirty="0" err="1"/>
              <a:t>Zasto</a:t>
            </a:r>
            <a:r>
              <a:rPr lang="en-US" dirty="0"/>
              <a:t> do </a:t>
            </a:r>
            <a:r>
              <a:rPr lang="en-US" dirty="0" err="1"/>
              <a:t>ovih</a:t>
            </a:r>
            <a:r>
              <a:rPr lang="en-US" dirty="0"/>
              <a:t> </a:t>
            </a:r>
            <a:r>
              <a:rPr lang="en-US" dirty="0" err="1"/>
              <a:t>zavisnosti</a:t>
            </a:r>
            <a:r>
              <a:rPr lang="en-US" dirty="0"/>
              <a:t> </a:t>
            </a:r>
            <a:r>
              <a:rPr lang="en-US" dirty="0" err="1"/>
              <a:t>dolazi</a:t>
            </a:r>
            <a:r>
              <a:rPr lang="en-US" dirty="0"/>
              <a:t>?</a:t>
            </a:r>
          </a:p>
          <a:p>
            <a:pPr>
              <a:defRPr/>
            </a:pPr>
            <a:r>
              <a:rPr lang="en-US" altLang="en-US" dirty="0">
                <a:cs typeface="Times New Roman" panose="02020603050405020304" pitchFamily="18" charset="0"/>
              </a:rPr>
              <a:t>Po</a:t>
            </a:r>
            <a:r>
              <a:rPr lang="hr-HR" altLang="en-US" dirty="0"/>
              <a:t>š</a:t>
            </a:r>
            <a:r>
              <a:rPr lang="en-US" altLang="en-US" dirty="0">
                <a:cs typeface="Times New Roman" panose="02020603050405020304" pitchFamily="18" charset="0"/>
              </a:rPr>
              <a:t>to </a:t>
            </a:r>
            <a:r>
              <a:rPr lang="en-US" altLang="en-US" dirty="0" err="1">
                <a:cs typeface="Times New Roman" panose="02020603050405020304" pitchFamily="18" charset="0"/>
              </a:rPr>
              <a:t>su</a:t>
            </a:r>
            <a:r>
              <a:rPr lang="en-US" altLang="en-US" dirty="0">
                <a:cs typeface="Times New Roman" panose="02020603050405020304" pitchFamily="18" charset="0"/>
              </a:rPr>
              <a:t> </a:t>
            </a:r>
            <a:r>
              <a:rPr lang="en-US" altLang="en-US" dirty="0" err="1">
                <a:cs typeface="Times New Roman" panose="02020603050405020304" pitchFamily="18" charset="0"/>
              </a:rPr>
              <a:t>vektorske</a:t>
            </a:r>
            <a:r>
              <a:rPr lang="en-US" altLang="en-US" dirty="0">
                <a:cs typeface="Times New Roman" panose="02020603050405020304" pitchFamily="18" charset="0"/>
              </a:rPr>
              <a:t> </a:t>
            </a:r>
            <a:r>
              <a:rPr lang="en-US" altLang="en-US" dirty="0" err="1">
                <a:cs typeface="Times New Roman" panose="02020603050405020304" pitchFamily="18" charset="0"/>
              </a:rPr>
              <a:t>operacije</a:t>
            </a:r>
            <a:r>
              <a:rPr lang="en-US" altLang="en-US" dirty="0">
                <a:cs typeface="Times New Roman" panose="02020603050405020304" pitchFamily="18" charset="0"/>
              </a:rPr>
              <a:t> proto</a:t>
            </a:r>
            <a:r>
              <a:rPr lang="hr-HR" altLang="en-US" dirty="0"/>
              <a:t>č</a:t>
            </a:r>
            <a:r>
              <a:rPr lang="en-US" altLang="en-US" dirty="0">
                <a:cs typeface="Times New Roman" panose="02020603050405020304" pitchFamily="18" charset="0"/>
              </a:rPr>
              <a:t>ne i </a:t>
            </a:r>
            <a:r>
              <a:rPr lang="en-US" altLang="en-US" dirty="0" err="1">
                <a:cs typeface="Times New Roman" panose="02020603050405020304" pitchFamily="18" charset="0"/>
              </a:rPr>
              <a:t>latentnost</a:t>
            </a:r>
            <a:r>
              <a:rPr lang="en-US" altLang="en-US" dirty="0">
                <a:cs typeface="Times New Roman" panose="02020603050405020304" pitchFamily="18" charset="0"/>
              </a:rPr>
              <a:t>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a:t>
            </a:r>
            <a:r>
              <a:rPr lang="en-US" altLang="en-US" dirty="0" err="1">
                <a:cs typeface="Times New Roman" panose="02020603050405020304" pitchFamily="18" charset="0"/>
              </a:rPr>
              <a:t>biti</a:t>
            </a:r>
            <a:r>
              <a:rPr lang="en-US" altLang="en-US" dirty="0">
                <a:cs typeface="Times New Roman" panose="02020603050405020304" pitchFamily="18" charset="0"/>
              </a:rPr>
              <a:t> </a:t>
            </a:r>
            <a:r>
              <a:rPr lang="en-US" altLang="en-US" dirty="0" err="1">
                <a:cs typeface="Times New Roman" panose="02020603050405020304" pitchFamily="18" charset="0"/>
              </a:rPr>
              <a:t>veoma</a:t>
            </a:r>
            <a:r>
              <a:rPr lang="en-US" altLang="en-US" dirty="0">
                <a:cs typeface="Times New Roman" panose="02020603050405020304" pitchFamily="18" charset="0"/>
              </a:rPr>
              <a:t> </a:t>
            </a:r>
            <a:r>
              <a:rPr lang="en-US" altLang="en-US" dirty="0" err="1">
                <a:cs typeface="Times New Roman" panose="02020603050405020304" pitchFamily="18" charset="0"/>
              </a:rPr>
              <a:t>duga</a:t>
            </a:r>
            <a:r>
              <a:rPr lang="en-US" altLang="en-US" dirty="0">
                <a:cs typeface="Times New Roman" panose="02020603050405020304" pitchFamily="18" charset="0"/>
              </a:rPr>
              <a:t>, </a:t>
            </a:r>
            <a:r>
              <a:rPr lang="en-US" altLang="en-US" dirty="0" err="1">
                <a:cs typeface="Times New Roman" panose="02020603050405020304" pitchFamily="18" charset="0"/>
              </a:rPr>
              <a:t>prethodna</a:t>
            </a:r>
            <a:r>
              <a:rPr lang="en-US" altLang="en-US" dirty="0">
                <a:cs typeface="Times New Roman" panose="02020603050405020304" pitchFamily="18" charset="0"/>
              </a:rPr>
              <a:t> </a:t>
            </a:r>
            <a:r>
              <a:rPr lang="en-US" altLang="en-US" dirty="0" err="1">
                <a:cs typeface="Times New Roman" panose="02020603050405020304" pitchFamily="18" charset="0"/>
              </a:rPr>
              <a:t>iteracija</a:t>
            </a:r>
            <a:r>
              <a:rPr lang="en-US" altLang="en-US" dirty="0">
                <a:cs typeface="Times New Roman" panose="02020603050405020304" pitchFamily="18" charset="0"/>
              </a:rPr>
              <a:t>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da se ne </a:t>
            </a:r>
            <a:r>
              <a:rPr lang="en-US" altLang="en-US" dirty="0" err="1">
                <a:cs typeface="Times New Roman" panose="02020603050405020304" pitchFamily="18" charset="0"/>
              </a:rPr>
              <a:t>zavr</a:t>
            </a:r>
            <a:r>
              <a:rPr lang="hr-HR" altLang="en-US" dirty="0"/>
              <a:t>š</a:t>
            </a:r>
            <a:r>
              <a:rPr lang="en-US" altLang="en-US" dirty="0">
                <a:cs typeface="Times New Roman" panose="02020603050405020304" pitchFamily="18" charset="0"/>
              </a:rPr>
              <a:t>i a da </a:t>
            </a:r>
            <a:r>
              <a:rPr lang="en-US" altLang="en-US" dirty="0" err="1">
                <a:cs typeface="Times New Roman" panose="02020603050405020304" pitchFamily="18" charset="0"/>
              </a:rPr>
              <a:t>slede</a:t>
            </a:r>
            <a:r>
              <a:rPr lang="hr-HR" altLang="en-US" dirty="0"/>
              <a:t>ć</a:t>
            </a:r>
            <a:r>
              <a:rPr lang="en-US" altLang="en-US" dirty="0">
                <a:cs typeface="Times New Roman" panose="02020603050405020304" pitchFamily="18" charset="0"/>
              </a:rPr>
              <a:t>a </a:t>
            </a:r>
            <a:r>
              <a:rPr lang="en-US" altLang="en-US" dirty="0" err="1">
                <a:cs typeface="Times New Roman" panose="02020603050405020304" pitchFamily="18" charset="0"/>
              </a:rPr>
              <a:t>ve</a:t>
            </a:r>
            <a:r>
              <a:rPr lang="hr-HR" altLang="en-US" dirty="0"/>
              <a:t>ć</a:t>
            </a:r>
            <a:r>
              <a:rPr lang="en-US" altLang="en-US" dirty="0">
                <a:cs typeface="Times New Roman" panose="02020603050405020304" pitchFamily="18" charset="0"/>
              </a:rPr>
              <a:t> </a:t>
            </a:r>
            <a:r>
              <a:rPr lang="en-US" altLang="en-US" dirty="0" err="1">
                <a:cs typeface="Times New Roman" panose="02020603050405020304" pitchFamily="18" charset="0"/>
              </a:rPr>
              <a:t>otpo</a:t>
            </a:r>
            <a:r>
              <a:rPr lang="hr-HR" altLang="en-US" dirty="0"/>
              <a:t>č</a:t>
            </a:r>
            <a:r>
              <a:rPr lang="en-US" altLang="en-US" dirty="0">
                <a:cs typeface="Times New Roman" panose="02020603050405020304" pitchFamily="18" charset="0"/>
              </a:rPr>
              <a:t>ne. </a:t>
            </a:r>
            <a:endParaRPr lang="hr-HR" altLang="en-US" dirty="0"/>
          </a:p>
          <a:p>
            <a:pPr lvl="1">
              <a:defRPr/>
            </a:pPr>
            <a:r>
              <a:rPr lang="en-US" altLang="en-US" dirty="0" err="1">
                <a:cs typeface="Times New Roman" panose="02020603050405020304" pitchFamily="18" charset="0"/>
              </a:rPr>
              <a:t>Tj</a:t>
            </a:r>
            <a:r>
              <a:rPr lang="en-US" altLang="en-US" dirty="0">
                <a:cs typeface="Times New Roman" panose="02020603050405020304" pitchFamily="18" charset="0"/>
              </a:rPr>
              <a:t>. i+1-iteracija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a:t>
            </a:r>
            <a:r>
              <a:rPr lang="en-US" altLang="en-US" dirty="0" err="1">
                <a:cs typeface="Times New Roman" panose="02020603050405020304" pitchFamily="18" charset="0"/>
              </a:rPr>
              <a:t>otpo</a:t>
            </a:r>
            <a:r>
              <a:rPr lang="hr-HR" altLang="en-US" dirty="0"/>
              <a:t>č</a:t>
            </a:r>
            <a:r>
              <a:rPr lang="en-US" altLang="en-US" dirty="0" err="1">
                <a:cs typeface="Times New Roman" panose="02020603050405020304" pitchFamily="18" charset="0"/>
              </a:rPr>
              <a:t>eti</a:t>
            </a:r>
            <a:r>
              <a:rPr lang="en-US" altLang="en-US" dirty="0">
                <a:cs typeface="Times New Roman" panose="02020603050405020304" pitchFamily="18" charset="0"/>
              </a:rPr>
              <a:t> a da se i-ta </a:t>
            </a:r>
            <a:r>
              <a:rPr lang="en-US" altLang="en-US" dirty="0" err="1">
                <a:cs typeface="Times New Roman" panose="02020603050405020304" pitchFamily="18" charset="0"/>
              </a:rPr>
              <a:t>iteracije</a:t>
            </a:r>
            <a:r>
              <a:rPr lang="en-US" altLang="en-US" dirty="0">
                <a:cs typeface="Times New Roman" panose="02020603050405020304" pitchFamily="18" charset="0"/>
              </a:rPr>
              <a:t> ne </a:t>
            </a:r>
            <a:r>
              <a:rPr lang="en-US" altLang="en-US" dirty="0" err="1">
                <a:cs typeface="Times New Roman" panose="02020603050405020304" pitchFamily="18" charset="0"/>
              </a:rPr>
              <a:t>zavr</a:t>
            </a:r>
            <a:r>
              <a:rPr lang="hr-HR" altLang="en-US" dirty="0"/>
              <a:t>š</a:t>
            </a:r>
            <a:r>
              <a:rPr lang="en-US" altLang="en-US" dirty="0">
                <a:cs typeface="Times New Roman" panose="02020603050405020304" pitchFamily="18" charset="0"/>
              </a:rPr>
              <a:t>i. </a:t>
            </a:r>
            <a:endParaRPr lang="hr-HR" altLang="en-US" dirty="0"/>
          </a:p>
          <a:p>
            <a:pPr lvl="1">
              <a:defRPr/>
            </a:pPr>
            <a:r>
              <a:rPr lang="en-US" altLang="en-US" dirty="0" err="1">
                <a:cs typeface="Times New Roman" panose="02020603050405020304" pitchFamily="18" charset="0"/>
              </a:rPr>
              <a:t>Tako</a:t>
            </a:r>
            <a:r>
              <a:rPr lang="en-US" altLang="en-US" dirty="0">
                <a:cs typeface="Times New Roman" panose="02020603050405020304" pitchFamily="18" charset="0"/>
              </a:rPr>
              <a:t> se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a:t>
            </a:r>
            <a:r>
              <a:rPr lang="en-US" altLang="en-US" dirty="0" err="1">
                <a:cs typeface="Times New Roman" panose="02020603050405020304" pitchFamily="18" charset="0"/>
              </a:rPr>
              <a:t>desiti</a:t>
            </a:r>
            <a:r>
              <a:rPr lang="en-US" altLang="en-US" dirty="0">
                <a:cs typeface="Times New Roman" panose="02020603050405020304" pitchFamily="18" charset="0"/>
              </a:rPr>
              <a:t> da se </a:t>
            </a:r>
            <a:r>
              <a:rPr lang="en-US" altLang="en-US" dirty="0" err="1">
                <a:cs typeface="Times New Roman" panose="02020603050405020304" pitchFamily="18" charset="0"/>
              </a:rPr>
              <a:t>rezultat</a:t>
            </a:r>
            <a:r>
              <a:rPr lang="en-US" altLang="en-US" dirty="0">
                <a:cs typeface="Times New Roman" panose="02020603050405020304" pitchFamily="18" charset="0"/>
              </a:rPr>
              <a:t> i-</a:t>
            </a:r>
            <a:r>
              <a:rPr lang="en-US" altLang="en-US" dirty="0" err="1">
                <a:cs typeface="Times New Roman" panose="02020603050405020304" pitchFamily="18" charset="0"/>
              </a:rPr>
              <a:t>te</a:t>
            </a:r>
            <a:r>
              <a:rPr lang="en-US" altLang="en-US" dirty="0">
                <a:cs typeface="Times New Roman" panose="02020603050405020304" pitchFamily="18" charset="0"/>
              </a:rPr>
              <a:t> </a:t>
            </a:r>
            <a:r>
              <a:rPr lang="en-US" altLang="en-US" dirty="0" err="1">
                <a:cs typeface="Times New Roman" panose="02020603050405020304" pitchFamily="18" charset="0"/>
              </a:rPr>
              <a:t>iteracije</a:t>
            </a:r>
            <a:r>
              <a:rPr lang="en-US" altLang="en-US" dirty="0">
                <a:cs typeface="Times New Roman" panose="02020603050405020304" pitchFamily="18" charset="0"/>
              </a:rPr>
              <a:t> ne </a:t>
            </a:r>
            <a:r>
              <a:rPr lang="en-US" altLang="en-US" dirty="0" err="1">
                <a:cs typeface="Times New Roman" panose="02020603050405020304" pitchFamily="18" charset="0"/>
              </a:rPr>
              <a:t>upi</a:t>
            </a:r>
            <a:r>
              <a:rPr lang="hr-HR" altLang="en-US" dirty="0"/>
              <a:t>š</a:t>
            </a:r>
            <a:r>
              <a:rPr lang="en-US" altLang="en-US" dirty="0">
                <a:cs typeface="Times New Roman" panose="02020603050405020304" pitchFamily="18" charset="0"/>
              </a:rPr>
              <a:t>e, a da i+1-iteracija </a:t>
            </a:r>
            <a:r>
              <a:rPr lang="en-US" altLang="en-US" dirty="0" err="1">
                <a:cs typeface="Times New Roman" panose="02020603050405020304" pitchFamily="18" charset="0"/>
              </a:rPr>
              <a:t>krene</a:t>
            </a:r>
            <a:r>
              <a:rPr lang="en-US" altLang="en-US" dirty="0">
                <a:cs typeface="Times New Roman" panose="02020603050405020304" pitchFamily="18" charset="0"/>
              </a:rPr>
              <a:t>. </a:t>
            </a:r>
            <a:endParaRPr lang="hr-HR" altLang="en-US" dirty="0"/>
          </a:p>
          <a:p>
            <a:pPr lvl="1">
              <a:defRPr/>
            </a:pPr>
            <a:r>
              <a:rPr lang="en-US" altLang="en-US" dirty="0" err="1">
                <a:cs typeface="Times New Roman" panose="02020603050405020304" pitchFamily="18" charset="0"/>
              </a:rPr>
              <a:t>Shodno</a:t>
            </a:r>
            <a:r>
              <a:rPr lang="en-US" altLang="en-US" dirty="0">
                <a:cs typeface="Times New Roman" panose="02020603050405020304" pitchFamily="18" charset="0"/>
              </a:rPr>
              <a:t> tome, </a:t>
            </a:r>
            <a:r>
              <a:rPr lang="en-US" altLang="en-US" dirty="0" err="1">
                <a:cs typeface="Times New Roman" panose="02020603050405020304" pitchFamily="18" charset="0"/>
              </a:rPr>
              <a:t>ako</a:t>
            </a:r>
            <a:r>
              <a:rPr lang="en-US" altLang="en-US" dirty="0">
                <a:cs typeface="Times New Roman" panose="02020603050405020304" pitchFamily="18" charset="0"/>
              </a:rPr>
              <a:t> </a:t>
            </a:r>
            <a:r>
              <a:rPr lang="en-US" altLang="en-US" dirty="0" err="1">
                <a:cs typeface="Times New Roman" panose="02020603050405020304" pitchFamily="18" charset="0"/>
              </a:rPr>
              <a:t>postoje</a:t>
            </a:r>
            <a:r>
              <a:rPr lang="en-US" altLang="en-US" dirty="0">
                <a:cs typeface="Times New Roman" panose="02020603050405020304" pitchFamily="18" charset="0"/>
              </a:rPr>
              <a:t> </a:t>
            </a:r>
            <a:r>
              <a:rPr lang="en-US" altLang="en-US" dirty="0" err="1">
                <a:cs typeface="Times New Roman" panose="02020603050405020304" pitchFamily="18" charset="0"/>
              </a:rPr>
              <a:t>situacije</a:t>
            </a:r>
            <a:r>
              <a:rPr lang="en-US" altLang="en-US" dirty="0">
                <a:cs typeface="Times New Roman" panose="02020603050405020304" pitchFamily="18" charset="0"/>
              </a:rPr>
              <a:t> </a:t>
            </a:r>
            <a:r>
              <a:rPr lang="en-US" altLang="en-US" dirty="0" err="1">
                <a:cs typeface="Times New Roman" panose="02020603050405020304" pitchFamily="18" charset="0"/>
              </a:rPr>
              <a:t>tipa</a:t>
            </a:r>
            <a:r>
              <a:rPr lang="en-US" altLang="en-US" dirty="0">
                <a:cs typeface="Times New Roman" panose="02020603050405020304" pitchFamily="18" charset="0"/>
              </a:rPr>
              <a:t> 1 i 2, </a:t>
            </a:r>
            <a:r>
              <a:rPr lang="en-US" altLang="en-US" dirty="0" err="1">
                <a:cs typeface="Times New Roman" panose="02020603050405020304" pitchFamily="18" charset="0"/>
              </a:rPr>
              <a:t>vektorizacija</a:t>
            </a:r>
            <a:r>
              <a:rPr lang="en-US" altLang="en-US" dirty="0">
                <a:cs typeface="Times New Roman" panose="02020603050405020304" pitchFamily="18" charset="0"/>
              </a:rPr>
              <a:t> </a:t>
            </a:r>
            <a:r>
              <a:rPr lang="en-US" altLang="en-US" dirty="0" err="1">
                <a:cs typeface="Times New Roman" panose="02020603050405020304" pitchFamily="18" charset="0"/>
              </a:rPr>
              <a:t>petlje</a:t>
            </a:r>
            <a:r>
              <a:rPr lang="en-US" altLang="en-US" dirty="0">
                <a:cs typeface="Times New Roman" panose="02020603050405020304" pitchFamily="18" charset="0"/>
              </a:rPr>
              <a:t> </a:t>
            </a:r>
            <a:r>
              <a:rPr lang="hr-HR" altLang="en-US" dirty="0"/>
              <a:t>ć</a:t>
            </a:r>
            <a:r>
              <a:rPr lang="en-US" altLang="en-US" dirty="0">
                <a:cs typeface="Times New Roman" panose="02020603050405020304" pitchFamily="18" charset="0"/>
              </a:rPr>
              <a:t>e </a:t>
            </a:r>
            <a:r>
              <a:rPr lang="en-US" altLang="en-US" dirty="0" err="1">
                <a:cs typeface="Times New Roman" panose="02020603050405020304" pitchFamily="18" charset="0"/>
              </a:rPr>
              <a:t>dovesti</a:t>
            </a:r>
            <a:r>
              <a:rPr lang="en-US" altLang="en-US" dirty="0">
                <a:cs typeface="Times New Roman" panose="02020603050405020304" pitchFamily="18" charset="0"/>
              </a:rPr>
              <a:t> do RAW </a:t>
            </a:r>
            <a:r>
              <a:rPr lang="en-US" altLang="en-US" dirty="0" err="1">
                <a:cs typeface="Times New Roman" panose="02020603050405020304" pitchFamily="18" charset="0"/>
              </a:rPr>
              <a:t>hazarda</a:t>
            </a:r>
            <a:r>
              <a:rPr lang="en-US" altLang="en-US" dirty="0">
                <a:cs typeface="Times New Roman" panose="02020603050405020304" pitchFamily="18" charset="0"/>
              </a:rPr>
              <a:t> (</a:t>
            </a:r>
            <a:r>
              <a:rPr lang="en-US" altLang="en-US" dirty="0" err="1">
                <a:cs typeface="Times New Roman" panose="02020603050405020304" pitchFamily="18" charset="0"/>
              </a:rPr>
              <a:t>hazarda</a:t>
            </a:r>
            <a:r>
              <a:rPr lang="en-US" altLang="en-US" dirty="0">
                <a:cs typeface="Times New Roman" panose="02020603050405020304" pitchFamily="18" charset="0"/>
              </a:rPr>
              <a:t> koji </a:t>
            </a:r>
            <a:r>
              <a:rPr lang="en-US" altLang="en-US" dirty="0" err="1">
                <a:cs typeface="Times New Roman" panose="02020603050405020304" pitchFamily="18" charset="0"/>
              </a:rPr>
              <a:t>vektorska</a:t>
            </a:r>
            <a:r>
              <a:rPr lang="en-US" altLang="en-US" dirty="0">
                <a:cs typeface="Times New Roman" panose="02020603050405020304" pitchFamily="18" charset="0"/>
              </a:rPr>
              <a:t> ma</a:t>
            </a:r>
            <a:r>
              <a:rPr lang="hr-HR" altLang="en-US" dirty="0"/>
              <a:t>š</a:t>
            </a:r>
            <a:r>
              <a:rPr lang="en-US" altLang="en-US" dirty="0" err="1">
                <a:cs typeface="Times New Roman" panose="02020603050405020304" pitchFamily="18" charset="0"/>
              </a:rPr>
              <a:t>ina</a:t>
            </a:r>
            <a:r>
              <a:rPr lang="en-US" altLang="en-US" dirty="0">
                <a:cs typeface="Times New Roman" panose="02020603050405020304" pitchFamily="18" charset="0"/>
              </a:rPr>
              <a:t> ne </a:t>
            </a:r>
            <a:r>
              <a:rPr lang="en-US" altLang="en-US" dirty="0" err="1">
                <a:cs typeface="Times New Roman" panose="02020603050405020304" pitchFamily="18" charset="0"/>
              </a:rPr>
              <a:t>proverava</a:t>
            </a:r>
            <a:r>
              <a:rPr lang="en-US" altLang="en-US" dirty="0">
                <a:cs typeface="Times New Roman" panose="02020603050405020304" pitchFamily="18" charset="0"/>
              </a:rPr>
              <a:t>). </a:t>
            </a:r>
            <a:endParaRPr lang="hr-HR" altLang="en-US" dirty="0"/>
          </a:p>
          <a:p>
            <a:pPr lvl="1">
              <a:defRPr/>
            </a:pPr>
            <a:r>
              <a:rPr lang="en-US" altLang="en-US" dirty="0" err="1">
                <a:cs typeface="Times New Roman" panose="02020603050405020304" pitchFamily="18" charset="0"/>
              </a:rPr>
              <a:t>Zbog</a:t>
            </a:r>
            <a:r>
              <a:rPr lang="en-US" altLang="en-US" dirty="0">
                <a:cs typeface="Times New Roman" panose="02020603050405020304" pitchFamily="18" charset="0"/>
              </a:rPr>
              <a:t> toga se </a:t>
            </a:r>
            <a:r>
              <a:rPr lang="en-US" altLang="en-US" dirty="0" err="1">
                <a:cs typeface="Times New Roman" panose="02020603050405020304" pitchFamily="18" charset="0"/>
              </a:rPr>
              <a:t>ovakve</a:t>
            </a:r>
            <a:r>
              <a:rPr lang="en-US" altLang="en-US" dirty="0">
                <a:cs typeface="Times New Roman" panose="02020603050405020304" pitchFamily="18" charset="0"/>
              </a:rPr>
              <a:t> </a:t>
            </a:r>
            <a:r>
              <a:rPr lang="en-US" altLang="en-US" dirty="0" err="1">
                <a:cs typeface="Times New Roman" panose="02020603050405020304" pitchFamily="18" charset="0"/>
              </a:rPr>
              <a:t>petlje</a:t>
            </a:r>
            <a:r>
              <a:rPr lang="en-US" altLang="en-US" dirty="0">
                <a:cs typeface="Times New Roman" panose="02020603050405020304" pitchFamily="18" charset="0"/>
              </a:rPr>
              <a:t> ne </a:t>
            </a:r>
            <a:r>
              <a:rPr lang="en-US" altLang="en-US" dirty="0" err="1">
                <a:cs typeface="Times New Roman" panose="02020603050405020304" pitchFamily="18" charset="0"/>
              </a:rPr>
              <a:t>mogu</a:t>
            </a:r>
            <a:r>
              <a:rPr lang="en-US" altLang="en-US" dirty="0">
                <a:cs typeface="Times New Roman" panose="02020603050405020304" pitchFamily="18" charset="0"/>
              </a:rPr>
              <a:t> </a:t>
            </a:r>
            <a:r>
              <a:rPr lang="en-US" altLang="en-US" dirty="0" err="1">
                <a:cs typeface="Times New Roman" panose="02020603050405020304" pitchFamily="18" charset="0"/>
              </a:rPr>
              <a:t>vektorizovati</a:t>
            </a:r>
            <a:r>
              <a:rPr lang="en-US" altLang="en-US" dirty="0"/>
              <a:t> </a:t>
            </a:r>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19</a:t>
            </a:fld>
            <a:endParaRPr lang="en-US" altLang="sr-Latn-RS"/>
          </a:p>
        </p:txBody>
      </p:sp>
    </p:spTree>
    <p:extLst>
      <p:ext uri="{BB962C8B-B14F-4D97-AF65-F5344CB8AC3E}">
        <p14:creationId xmlns:p14="http://schemas.microsoft.com/office/powerpoint/2010/main" val="2352443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Kompajler prvo analizira odredjene obrasce (paterne) da bi odredio da li se petlja može vektorizovati (ili paralelizovati)</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22</a:t>
            </a:fld>
            <a:endParaRPr lang="en-US" altLang="sr-Latn-RS"/>
          </a:p>
        </p:txBody>
      </p:sp>
    </p:spTree>
    <p:extLst>
      <p:ext uri="{BB962C8B-B14F-4D97-AF65-F5344CB8AC3E}">
        <p14:creationId xmlns:p14="http://schemas.microsoft.com/office/powerpoint/2010/main" val="4141867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i</a:t>
            </a:r>
            <a:r>
              <a:rPr lang="en-US" dirty="0"/>
              <a:t>1 do in </a:t>
            </a:r>
            <a:r>
              <a:rPr lang="en-US" dirty="0" err="1"/>
              <a:t>su</a:t>
            </a:r>
            <a:r>
              <a:rPr lang="en-US" dirty="0"/>
              <a:t> </a:t>
            </a:r>
            <a:r>
              <a:rPr lang="en-US" dirty="0" err="1"/>
              <a:t>indeksne</a:t>
            </a:r>
            <a:r>
              <a:rPr lang="en-US" dirty="0"/>
              <a:t> </a:t>
            </a:r>
            <a:r>
              <a:rPr lang="en-US" dirty="0" err="1"/>
              <a:t>promenljive</a:t>
            </a:r>
            <a:endParaRPr lang="en-US" dirty="0"/>
          </a:p>
          <a:p>
            <a:r>
              <a:rPr lang="en-US" dirty="0"/>
              <a:t>Li </a:t>
            </a:r>
            <a:r>
              <a:rPr lang="sr-Latn-RS" dirty="0"/>
              <a:t>i</a:t>
            </a:r>
            <a:r>
              <a:rPr lang="en-US" dirty="0"/>
              <a:t> Ui </a:t>
            </a:r>
            <a:r>
              <a:rPr lang="en-US" dirty="0" err="1"/>
              <a:t>su</a:t>
            </a:r>
            <a:r>
              <a:rPr lang="en-US" dirty="0"/>
              <a:t> </a:t>
            </a:r>
            <a:r>
              <a:rPr lang="en-US" dirty="0" err="1"/>
              <a:t>granice</a:t>
            </a:r>
            <a:r>
              <a:rPr lang="en-US" dirty="0"/>
              <a:t> </a:t>
            </a:r>
            <a:r>
              <a:rPr lang="en-US" dirty="0" err="1"/>
              <a:t>petlji</a:t>
            </a:r>
            <a:endParaRPr lang="en-US" dirty="0"/>
          </a:p>
          <a:p>
            <a:r>
              <a:rPr lang="en-US" dirty="0"/>
              <a:t>A je </a:t>
            </a:r>
            <a:r>
              <a:rPr lang="en-US" dirty="0" err="1"/>
              <a:t>visedimenzionalno</a:t>
            </a:r>
            <a:r>
              <a:rPr lang="en-US" dirty="0"/>
              <a:t> polje</a:t>
            </a:r>
          </a:p>
          <a:p>
            <a:r>
              <a:rPr lang="en-US" dirty="0"/>
              <a:t>f  i g </a:t>
            </a:r>
            <a:r>
              <a:rPr lang="en-US" dirty="0" err="1"/>
              <a:t>su</a:t>
            </a:r>
            <a:r>
              <a:rPr lang="en-US" dirty="0"/>
              <a:t> </a:t>
            </a:r>
            <a:r>
              <a:rPr lang="en-US" dirty="0" err="1"/>
              <a:t>celobrojne</a:t>
            </a:r>
            <a:r>
              <a:rPr lang="en-US" dirty="0"/>
              <a:t> </a:t>
            </a:r>
            <a:r>
              <a:rPr lang="en-US" dirty="0" err="1"/>
              <a:t>funkcije</a:t>
            </a:r>
            <a:r>
              <a:rPr lang="en-US" dirty="0"/>
              <a:t> </a:t>
            </a:r>
            <a:r>
              <a:rPr lang="en-US" dirty="0" err="1"/>
              <a:t>definisane</a:t>
            </a:r>
            <a:r>
              <a:rPr lang="en-US" dirty="0"/>
              <a:t> and </a:t>
            </a:r>
            <a:r>
              <a:rPr lang="en-US" dirty="0" err="1"/>
              <a:t>indeksnim</a:t>
            </a:r>
            <a:r>
              <a:rPr lang="en-US" dirty="0"/>
              <a:t> </a:t>
            </a:r>
            <a:r>
              <a:rPr lang="en-US" dirty="0" err="1"/>
              <a:t>promenljivima</a:t>
            </a:r>
            <a:r>
              <a:rPr lang="en-US" dirty="0"/>
              <a:t> i1 do in.</a:t>
            </a:r>
          </a:p>
          <a:p>
            <a:endParaRPr lang="en-US" dirty="0"/>
          </a:p>
          <a:p>
            <a:r>
              <a:rPr lang="en-US" dirty="0" err="1"/>
              <a:t>Veliko</a:t>
            </a:r>
            <a:r>
              <a:rPr lang="en-US" dirty="0"/>
              <a:t> I </a:t>
            </a:r>
            <a:r>
              <a:rPr lang="en-US" dirty="0" err="1"/>
              <a:t>I</a:t>
            </a:r>
            <a:r>
              <a:rPr lang="en-US" dirty="0"/>
              <a:t> </a:t>
            </a:r>
            <a:r>
              <a:rPr lang="en-US" dirty="0" err="1"/>
              <a:t>velioko</a:t>
            </a:r>
            <a:r>
              <a:rPr lang="en-US" dirty="0"/>
              <a:t> J </a:t>
            </a:r>
            <a:r>
              <a:rPr lang="en-US" dirty="0" err="1"/>
              <a:t>su</a:t>
            </a:r>
            <a:r>
              <a:rPr lang="en-US" dirty="0"/>
              <a:t> </a:t>
            </a:r>
            <a:r>
              <a:rPr lang="en-US" dirty="0" err="1"/>
              <a:t>uredjene</a:t>
            </a:r>
            <a:r>
              <a:rPr lang="en-US" dirty="0"/>
              <a:t> n-</a:t>
            </a:r>
            <a:r>
              <a:rPr lang="en-US" dirty="0" err="1"/>
              <a:t>torke</a:t>
            </a:r>
            <a:r>
              <a:rPr lang="en-US" dirty="0"/>
              <a:t> </a:t>
            </a:r>
            <a:r>
              <a:rPr lang="en-US" dirty="0" err="1"/>
              <a:t>indeksa</a:t>
            </a:r>
            <a:r>
              <a:rPr lang="en-US" dirty="0"/>
              <a:t> i1 do in.</a:t>
            </a:r>
          </a:p>
          <a:p>
            <a:r>
              <a:rPr lang="en-US" dirty="0"/>
              <a:t>LC </a:t>
            </a:r>
            <a:r>
              <a:rPr lang="en-US" dirty="0" err="1"/>
              <a:t>zavisnost</a:t>
            </a:r>
            <a:r>
              <a:rPr lang="en-US" dirty="0"/>
              <a:t> </a:t>
            </a:r>
            <a:r>
              <a:rPr lang="en-US" dirty="0" err="1"/>
              <a:t>izmedju</a:t>
            </a:r>
            <a:r>
              <a:rPr lang="en-US" dirty="0"/>
              <a:t> </a:t>
            </a:r>
            <a:r>
              <a:rPr lang="en-US" dirty="0" err="1"/>
              <a:t>instrukcija</a:t>
            </a:r>
            <a:r>
              <a:rPr lang="en-US" dirty="0"/>
              <a:t> S1 I S2 </a:t>
            </a:r>
            <a:r>
              <a:rPr lang="en-US" dirty="0" err="1"/>
              <a:t>postoji</a:t>
            </a:r>
            <a:r>
              <a:rPr lang="en-US" dirty="0"/>
              <a:t> </a:t>
            </a:r>
            <a:r>
              <a:rPr lang="en-US" dirty="0" err="1"/>
              <a:t>ako</a:t>
            </a:r>
            <a:r>
              <a:rPr lang="en-US" dirty="0"/>
              <a:t> </a:t>
            </a:r>
            <a:r>
              <a:rPr lang="en-US" dirty="0" err="1"/>
              <a:t>postoje</a:t>
            </a:r>
            <a:r>
              <a:rPr lang="en-US" dirty="0"/>
              <a:t> </a:t>
            </a:r>
            <a:r>
              <a:rPr lang="en-US" dirty="0" err="1"/>
              <a:t>dva</a:t>
            </a:r>
            <a:r>
              <a:rPr lang="en-US" dirty="0"/>
              <a:t> </a:t>
            </a:r>
            <a:r>
              <a:rPr lang="en-US" dirty="0" err="1"/>
              <a:t>iterativna</a:t>
            </a:r>
            <a:r>
              <a:rPr lang="en-US" dirty="0"/>
              <a:t> </a:t>
            </a:r>
            <a:r>
              <a:rPr lang="en-US" dirty="0" err="1"/>
              <a:t>vektora</a:t>
            </a:r>
            <a:r>
              <a:rPr lang="en-US" dirty="0"/>
              <a:t> I </a:t>
            </a:r>
            <a:r>
              <a:rPr lang="en-US" dirty="0" err="1"/>
              <a:t>I</a:t>
            </a:r>
            <a:r>
              <a:rPr lang="en-US" dirty="0"/>
              <a:t> J </a:t>
            </a:r>
            <a:r>
              <a:rPr lang="en-US" dirty="0" err="1"/>
              <a:t>takva</a:t>
            </a:r>
            <a:r>
              <a:rPr lang="en-US" dirty="0"/>
              <a:t> da </a:t>
            </a:r>
            <a:r>
              <a:rPr lang="en-US" dirty="0" err="1"/>
              <a:t>vazi</a:t>
            </a:r>
            <a:r>
              <a:rPr lang="en-US" dirty="0"/>
              <a:t> da je f(I)=g(J)</a:t>
            </a:r>
          </a:p>
          <a:p>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25</a:t>
            </a:fld>
            <a:endParaRPr lang="en-US" altLang="sr-Latn-RS"/>
          </a:p>
        </p:txBody>
      </p:sp>
    </p:spTree>
    <p:extLst>
      <p:ext uri="{BB962C8B-B14F-4D97-AF65-F5344CB8AC3E}">
        <p14:creationId xmlns:p14="http://schemas.microsoft.com/office/powerpoint/2010/main" val="1396781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sz="1600" dirty="0"/>
              <a:t>i</a:t>
            </a:r>
            <a:r>
              <a:rPr lang="sr-Latn-RS" sz="1600" baseline="-25000" dirty="0"/>
              <a:t>n</a:t>
            </a:r>
            <a:r>
              <a:rPr lang="sr-Latn-RS" sz="1600" dirty="0"/>
              <a:t>=(i-2)/3  odatle sledi 3i</a:t>
            </a:r>
            <a:r>
              <a:rPr lang="sr-Latn-RS" sz="1600" baseline="-25000" dirty="0"/>
              <a:t>n</a:t>
            </a:r>
            <a:r>
              <a:rPr lang="sr-Latn-RS" sz="1600" dirty="0"/>
              <a:t>=i-2, odakle dobijamo i=2+3*i</a:t>
            </a:r>
            <a:r>
              <a:rPr lang="sr-Latn-RS" sz="1600" baseline="-25000" dirty="0"/>
              <a:t>n</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26</a:t>
            </a:fld>
            <a:endParaRPr lang="en-US" altLang="sr-Latn-RS"/>
          </a:p>
        </p:txBody>
      </p:sp>
    </p:spTree>
    <p:extLst>
      <p:ext uri="{BB962C8B-B14F-4D97-AF65-F5344CB8AC3E}">
        <p14:creationId xmlns:p14="http://schemas.microsoft.com/office/powerpoint/2010/main" val="4100966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in=(i-DonjaGranica)/korak</a:t>
            </a:r>
          </a:p>
          <a:p>
            <a:r>
              <a:rPr lang="sr-Latn-RS" dirty="0"/>
              <a:t>GornjaGranica=(GornjaGranica-DonjaGranica)/korak</a:t>
            </a:r>
          </a:p>
          <a:p>
            <a:endParaRPr lang="en-US" dirty="0"/>
          </a:p>
        </p:txBody>
      </p:sp>
      <p:sp>
        <p:nvSpPr>
          <p:cNvPr id="4" name="Slide Number Placeholder 3"/>
          <p:cNvSpPr>
            <a:spLocks noGrp="1"/>
          </p:cNvSpPr>
          <p:nvPr>
            <p:ph type="sldNum" sz="quarter" idx="10"/>
          </p:nvPr>
        </p:nvSpPr>
        <p:spPr/>
        <p:txBody>
          <a:bodyPr/>
          <a:lstStyle/>
          <a:p>
            <a:pPr>
              <a:defRPr/>
            </a:pPr>
            <a:fld id="{5882FE67-6BD5-4622-80F7-1C4FF2AC6C69}" type="slidenum">
              <a:rPr lang="en-US" altLang="sr-Latn-RS" smtClean="0"/>
              <a:pPr>
                <a:defRPr/>
              </a:pPr>
              <a:t>27</a:t>
            </a:fld>
            <a:endParaRPr lang="en-US" altLang="sr-Latn-RS"/>
          </a:p>
        </p:txBody>
      </p:sp>
    </p:spTree>
    <p:extLst>
      <p:ext uri="{BB962C8B-B14F-4D97-AF65-F5344CB8AC3E}">
        <p14:creationId xmlns:p14="http://schemas.microsoft.com/office/powerpoint/2010/main" val="1929665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Razmotrimo</a:t>
            </a:r>
            <a:r>
              <a:rPr lang="en-US" dirty="0"/>
              <a:t> </a:t>
            </a:r>
            <a:r>
              <a:rPr lang="en-US" dirty="0" err="1"/>
              <a:t>prvo</a:t>
            </a:r>
            <a:r>
              <a:rPr lang="en-US" dirty="0"/>
              <a:t> </a:t>
            </a:r>
            <a:r>
              <a:rPr lang="en-US" dirty="0" err="1"/>
              <a:t>kako</a:t>
            </a:r>
            <a:r>
              <a:rPr lang="en-US" dirty="0"/>
              <a:t> se </a:t>
            </a:r>
            <a:r>
              <a:rPr lang="en-US" dirty="0" err="1"/>
              <a:t>vrsi</a:t>
            </a:r>
            <a:r>
              <a:rPr lang="en-US" dirty="0"/>
              <a:t> </a:t>
            </a:r>
            <a:r>
              <a:rPr lang="en-US" dirty="0" err="1"/>
              <a:t>analiza</a:t>
            </a:r>
            <a:r>
              <a:rPr lang="en-US" dirty="0"/>
              <a:t> LC </a:t>
            </a:r>
            <a:r>
              <a:rPr lang="en-US" dirty="0" err="1"/>
              <a:t>zavisnosti</a:t>
            </a:r>
            <a:r>
              <a:rPr lang="en-US" dirty="0"/>
              <a:t> </a:t>
            </a:r>
            <a:r>
              <a:rPr lang="en-US" dirty="0" err="1"/>
              <a:t>kada</a:t>
            </a:r>
            <a:r>
              <a:rPr lang="en-US" dirty="0"/>
              <a:t> </a:t>
            </a:r>
            <a:r>
              <a:rPr lang="en-US" dirty="0" err="1"/>
              <a:t>imamo</a:t>
            </a:r>
            <a:r>
              <a:rPr lang="en-US" dirty="0"/>
              <a:t> </a:t>
            </a:r>
            <a:r>
              <a:rPr lang="en-US" dirty="0" err="1"/>
              <a:t>jednodimenzionalna</a:t>
            </a:r>
            <a:r>
              <a:rPr lang="en-US" dirty="0"/>
              <a:t> </a:t>
            </a:r>
            <a:r>
              <a:rPr lang="en-US" dirty="0" err="1"/>
              <a:t>polja</a:t>
            </a:r>
            <a:r>
              <a:rPr lang="en-US" dirty="0"/>
              <a:t>.</a:t>
            </a:r>
          </a:p>
          <a:p>
            <a:r>
              <a:rPr lang="en-US" dirty="0" err="1"/>
              <a:t>Krenimo</a:t>
            </a:r>
            <a:r>
              <a:rPr lang="en-US" dirty="0"/>
              <a:t> </a:t>
            </a:r>
            <a:r>
              <a:rPr lang="en-US" dirty="0" err="1"/>
              <a:t>prvo</a:t>
            </a:r>
            <a:r>
              <a:rPr lang="en-US" dirty="0"/>
              <a:t> od </a:t>
            </a:r>
            <a:r>
              <a:rPr lang="en-US" dirty="0" err="1"/>
              <a:t>jednostrukih</a:t>
            </a:r>
            <a:r>
              <a:rPr lang="en-US" dirty="0"/>
              <a:t> </a:t>
            </a:r>
            <a:r>
              <a:rPr lang="en-US" dirty="0" err="1"/>
              <a:t>petlji</a:t>
            </a:r>
            <a:r>
              <a:rPr lang="en-US" dirty="0"/>
              <a:t>.</a:t>
            </a:r>
          </a:p>
          <a:p>
            <a:endParaRPr lang="en-US" dirty="0"/>
          </a:p>
          <a:p>
            <a:r>
              <a:rPr lang="en-US" dirty="0"/>
              <a:t>Problem se </a:t>
            </a:r>
            <a:r>
              <a:rPr lang="en-US" dirty="0" err="1"/>
              <a:t>svodi</a:t>
            </a:r>
            <a:r>
              <a:rPr lang="en-US" dirty="0"/>
              <a:t> </a:t>
            </a:r>
            <a:r>
              <a:rPr lang="en-US" dirty="0" err="1"/>
              <a:t>na</a:t>
            </a:r>
            <a:r>
              <a:rPr lang="en-US" dirty="0"/>
              <a:t> </a:t>
            </a:r>
            <a:r>
              <a:rPr lang="en-US" dirty="0" err="1"/>
              <a:t>resavanje</a:t>
            </a:r>
            <a:r>
              <a:rPr lang="en-US" dirty="0"/>
              <a:t> </a:t>
            </a:r>
            <a:r>
              <a:rPr lang="en-US" dirty="0" err="1"/>
              <a:t>Diofantove</a:t>
            </a:r>
            <a:r>
              <a:rPr lang="en-US" dirty="0"/>
              <a:t> </a:t>
            </a:r>
            <a:r>
              <a:rPr lang="en-US" dirty="0" err="1"/>
              <a:t>jednacine</a:t>
            </a:r>
            <a:r>
              <a:rPr lang="en-US" dirty="0"/>
              <a:t> </a:t>
            </a:r>
            <a:r>
              <a:rPr lang="hr-HR" altLang="en-US" dirty="0"/>
              <a:t>a*j+b</a:t>
            </a:r>
            <a:r>
              <a:rPr lang="en-US" altLang="en-US" dirty="0"/>
              <a:t> = </a:t>
            </a:r>
            <a:r>
              <a:rPr lang="hr-HR" altLang="en-US" dirty="0"/>
              <a:t>c*k+d.</a:t>
            </a:r>
            <a:endParaRPr lang="en-US" altLang="en-US" dirty="0"/>
          </a:p>
          <a:p>
            <a:r>
              <a:rPr lang="en-US" dirty="0" err="1"/>
              <a:t>Resenje</a:t>
            </a:r>
            <a:r>
              <a:rPr lang="en-US" dirty="0"/>
              <a:t> </a:t>
            </a:r>
            <a:r>
              <a:rPr lang="en-US" dirty="0" err="1"/>
              <a:t>ove</a:t>
            </a:r>
            <a:r>
              <a:rPr lang="en-US" dirty="0"/>
              <a:t> </a:t>
            </a:r>
            <a:r>
              <a:rPr lang="en-US" dirty="0" err="1"/>
              <a:t>jednacine</a:t>
            </a:r>
            <a:r>
              <a:rPr lang="en-US" dirty="0"/>
              <a:t> </a:t>
            </a:r>
            <a:r>
              <a:rPr lang="en-US" dirty="0" err="1"/>
              <a:t>postoji</a:t>
            </a:r>
            <a:r>
              <a:rPr lang="en-US" dirty="0"/>
              <a:t> </a:t>
            </a:r>
            <a:r>
              <a:rPr lang="en-US" dirty="0" err="1"/>
              <a:t>ako</a:t>
            </a:r>
            <a:r>
              <a:rPr lang="en-US" dirty="0"/>
              <a:t> NZD(</a:t>
            </a:r>
            <a:r>
              <a:rPr lang="en-US" dirty="0" err="1"/>
              <a:t>a,c</a:t>
            </a:r>
            <a:r>
              <a:rPr lang="en-US" dirty="0"/>
              <a:t>) deli bez </a:t>
            </a:r>
            <a:r>
              <a:rPr lang="en-US" dirty="0" err="1"/>
              <a:t>ostatka</a:t>
            </a:r>
            <a:r>
              <a:rPr lang="en-US" dirty="0"/>
              <a:t> d-b</a:t>
            </a:r>
          </a:p>
          <a:p>
            <a:r>
              <a:rPr lang="en-US" dirty="0"/>
              <a:t>I </a:t>
            </a:r>
            <a:r>
              <a:rPr lang="en-US" dirty="0" err="1"/>
              <a:t>odatle</a:t>
            </a:r>
            <a:r>
              <a:rPr lang="en-US" dirty="0"/>
              <a:t> </a:t>
            </a:r>
            <a:r>
              <a:rPr lang="en-US" dirty="0" err="1"/>
              <a:t>dobijamo</a:t>
            </a:r>
            <a:r>
              <a:rPr lang="en-US" dirty="0"/>
              <a:t> </a:t>
            </a:r>
            <a:r>
              <a:rPr lang="en-US" dirty="0" err="1"/>
              <a:t>potreban</a:t>
            </a:r>
            <a:r>
              <a:rPr lang="en-US" dirty="0"/>
              <a:t> (</a:t>
            </a:r>
            <a:r>
              <a:rPr lang="en-US" dirty="0" err="1"/>
              <a:t>ali</a:t>
            </a:r>
            <a:r>
              <a:rPr lang="en-US" dirty="0"/>
              <a:t> ne i </a:t>
            </a:r>
            <a:r>
              <a:rPr lang="en-US" dirty="0" err="1"/>
              <a:t>dovoljan</a:t>
            </a:r>
            <a:r>
              <a:rPr lang="en-US" dirty="0"/>
              <a:t>) </a:t>
            </a:r>
            <a:r>
              <a:rPr lang="en-US" dirty="0" err="1"/>
              <a:t>uslov</a:t>
            </a:r>
            <a:r>
              <a:rPr lang="en-US" dirty="0"/>
              <a:t> za </a:t>
            </a:r>
            <a:r>
              <a:rPr lang="en-US" dirty="0" err="1"/>
              <a:t>postojanje</a:t>
            </a:r>
            <a:r>
              <a:rPr lang="en-US" dirty="0"/>
              <a:t> LC </a:t>
            </a:r>
            <a:r>
              <a:rPr lang="en-US" dirty="0" err="1"/>
              <a:t>zavisnosti</a:t>
            </a:r>
            <a:endParaRPr lang="en-US" dirty="0"/>
          </a:p>
          <a:p>
            <a:r>
              <a:rPr lang="en-US" dirty="0"/>
              <a:t>Koji </a:t>
            </a:r>
            <a:r>
              <a:rPr lang="en-US" dirty="0" err="1"/>
              <a:t>kaze</a:t>
            </a:r>
            <a:r>
              <a:rPr lang="en-US" dirty="0"/>
              <a:t> </a:t>
            </a:r>
            <a:r>
              <a:rPr lang="en-US" dirty="0" err="1"/>
              <a:t>ako</a:t>
            </a:r>
            <a:r>
              <a:rPr lang="en-US" dirty="0"/>
              <a:t> LC </a:t>
            </a:r>
            <a:r>
              <a:rPr lang="en-US" dirty="0" err="1"/>
              <a:t>zavisnost</a:t>
            </a:r>
            <a:r>
              <a:rPr lang="en-US" dirty="0"/>
              <a:t> </a:t>
            </a:r>
            <a:r>
              <a:rPr lang="en-US" dirty="0" err="1"/>
              <a:t>postoji</a:t>
            </a:r>
            <a:r>
              <a:rPr lang="en-US" dirty="0"/>
              <a:t> </a:t>
            </a:r>
            <a:r>
              <a:rPr lang="en-US" dirty="0" err="1"/>
              <a:t>tada</a:t>
            </a:r>
            <a:r>
              <a:rPr lang="en-US" dirty="0"/>
              <a:t> NZD(</a:t>
            </a:r>
            <a:r>
              <a:rPr lang="en-US" dirty="0" err="1"/>
              <a:t>a,c</a:t>
            </a:r>
            <a:r>
              <a:rPr lang="en-US" dirty="0"/>
              <a:t>) deli bez </a:t>
            </a:r>
            <a:r>
              <a:rPr lang="en-US" dirty="0" err="1"/>
              <a:t>ostatka</a:t>
            </a:r>
            <a:r>
              <a:rPr lang="en-US" dirty="0"/>
              <a:t> d-b.</a:t>
            </a:r>
          </a:p>
          <a:p>
            <a:r>
              <a:rPr lang="en-US" dirty="0" err="1"/>
              <a:t>Vodite</a:t>
            </a:r>
            <a:r>
              <a:rPr lang="en-US" dirty="0"/>
              <a:t> </a:t>
            </a:r>
            <a:r>
              <a:rPr lang="en-US" dirty="0" err="1"/>
              <a:t>racuna</a:t>
            </a:r>
            <a:r>
              <a:rPr lang="en-US" dirty="0"/>
              <a:t> test </a:t>
            </a:r>
            <a:r>
              <a:rPr lang="en-US" dirty="0" err="1"/>
              <a:t>kaze</a:t>
            </a:r>
            <a:r>
              <a:rPr lang="en-US" dirty="0"/>
              <a:t> </a:t>
            </a:r>
            <a:r>
              <a:rPr lang="en-US" dirty="0" err="1"/>
              <a:t>ako</a:t>
            </a:r>
            <a:r>
              <a:rPr lang="en-US" dirty="0"/>
              <a:t> LC </a:t>
            </a:r>
            <a:r>
              <a:rPr lang="en-US" dirty="0" err="1"/>
              <a:t>postoji</a:t>
            </a:r>
            <a:r>
              <a:rPr lang="en-US" dirty="0"/>
              <a:t> </a:t>
            </a:r>
            <a:r>
              <a:rPr lang="en-US" dirty="0" err="1"/>
              <a:t>tada</a:t>
            </a:r>
            <a:r>
              <a:rPr lang="en-US" dirty="0"/>
              <a:t> NZD(</a:t>
            </a:r>
            <a:r>
              <a:rPr lang="en-US" dirty="0" err="1"/>
              <a:t>a,c</a:t>
            </a:r>
            <a:r>
              <a:rPr lang="en-US" dirty="0"/>
              <a:t>) deli bez </a:t>
            </a:r>
            <a:r>
              <a:rPr lang="en-US" dirty="0" err="1"/>
              <a:t>ostatka</a:t>
            </a:r>
            <a:r>
              <a:rPr lang="en-US" dirty="0"/>
              <a:t> d-b, ne LC </a:t>
            </a:r>
            <a:r>
              <a:rPr lang="en-US" dirty="0" err="1"/>
              <a:t>zavisnost</a:t>
            </a:r>
            <a:r>
              <a:rPr lang="en-US" dirty="0"/>
              <a:t> </a:t>
            </a:r>
            <a:r>
              <a:rPr lang="en-US" dirty="0" err="1"/>
              <a:t>postoji</a:t>
            </a:r>
            <a:r>
              <a:rPr lang="en-US" dirty="0"/>
              <a:t> </a:t>
            </a:r>
            <a:r>
              <a:rPr lang="en-US" dirty="0" err="1"/>
              <a:t>ako</a:t>
            </a:r>
            <a:r>
              <a:rPr lang="en-US" dirty="0"/>
              <a:t> </a:t>
            </a:r>
          </a:p>
          <a:p>
            <a:r>
              <a:rPr lang="en-US" dirty="0"/>
              <a:t>NZD(</a:t>
            </a:r>
            <a:r>
              <a:rPr lang="en-US" dirty="0" err="1"/>
              <a:t>a,c</a:t>
            </a:r>
            <a:r>
              <a:rPr lang="en-US" dirty="0"/>
              <a:t>) deli bez </a:t>
            </a:r>
            <a:r>
              <a:rPr lang="en-US" dirty="0" err="1"/>
              <a:t>ostatka</a:t>
            </a:r>
            <a:r>
              <a:rPr lang="en-US" dirty="0"/>
              <a:t> d-b.</a:t>
            </a:r>
          </a:p>
          <a:p>
            <a:r>
              <a:rPr lang="en-US" dirty="0"/>
              <a:t>Test </a:t>
            </a:r>
            <a:r>
              <a:rPr lang="en-US" dirty="0" err="1"/>
              <a:t>daje</a:t>
            </a:r>
            <a:r>
              <a:rPr lang="en-US" dirty="0"/>
              <a:t> </a:t>
            </a:r>
            <a:r>
              <a:rPr lang="en-US" dirty="0" err="1"/>
              <a:t>samo</a:t>
            </a:r>
            <a:r>
              <a:rPr lang="en-US" dirty="0"/>
              <a:t> </a:t>
            </a:r>
            <a:r>
              <a:rPr lang="en-US" dirty="0" err="1"/>
              <a:t>potrebne</a:t>
            </a:r>
            <a:r>
              <a:rPr lang="en-US" dirty="0"/>
              <a:t>, </a:t>
            </a:r>
            <a:r>
              <a:rPr lang="en-US" dirty="0" err="1"/>
              <a:t>ali</a:t>
            </a:r>
            <a:r>
              <a:rPr lang="en-US" dirty="0"/>
              <a:t> ne I </a:t>
            </a:r>
            <a:r>
              <a:rPr lang="en-US" dirty="0" err="1"/>
              <a:t>dovoljne</a:t>
            </a:r>
            <a:r>
              <a:rPr lang="en-US" dirty="0"/>
              <a:t> </a:t>
            </a:r>
            <a:r>
              <a:rPr lang="en-US" dirty="0" err="1"/>
              <a:t>uslove</a:t>
            </a:r>
            <a:r>
              <a:rPr lang="en-US" dirty="0"/>
              <a:t> za </a:t>
            </a:r>
            <a:r>
              <a:rPr lang="en-US" dirty="0" err="1"/>
              <a:t>postojanje</a:t>
            </a:r>
            <a:r>
              <a:rPr lang="en-US" dirty="0"/>
              <a:t> LC </a:t>
            </a:r>
            <a:r>
              <a:rPr lang="en-US" dirty="0" err="1"/>
              <a:t>zavisnosti</a:t>
            </a:r>
            <a:endParaRPr lang="en-US" dirty="0"/>
          </a:p>
          <a:p>
            <a:r>
              <a:rPr lang="en-US" dirty="0" err="1"/>
              <a:t>Moze</a:t>
            </a:r>
            <a:r>
              <a:rPr lang="en-US" dirty="0"/>
              <a:t> se </a:t>
            </a:r>
            <a:r>
              <a:rPr lang="en-US" dirty="0" err="1"/>
              <a:t>desiti</a:t>
            </a:r>
            <a:r>
              <a:rPr lang="en-US" dirty="0"/>
              <a:t> da test da </a:t>
            </a:r>
            <a:r>
              <a:rPr lang="en-US" dirty="0" err="1"/>
              <a:t>odgovor</a:t>
            </a:r>
            <a:r>
              <a:rPr lang="en-US" dirty="0"/>
              <a:t> da </a:t>
            </a:r>
            <a:r>
              <a:rPr lang="en-US" dirty="0" err="1"/>
              <a:t>zavisnost</a:t>
            </a:r>
            <a:r>
              <a:rPr lang="en-US" dirty="0"/>
              <a:t> </a:t>
            </a:r>
            <a:r>
              <a:rPr lang="en-US" dirty="0" err="1"/>
              <a:t>postoji</a:t>
            </a:r>
            <a:r>
              <a:rPr lang="en-US" dirty="0"/>
              <a:t>, a da je </a:t>
            </a:r>
            <a:r>
              <a:rPr lang="en-US" dirty="0" err="1"/>
              <a:t>stvarno</a:t>
            </a:r>
            <a:r>
              <a:rPr lang="en-US" dirty="0"/>
              <a:t> </a:t>
            </a:r>
            <a:r>
              <a:rPr lang="en-US" dirty="0" err="1"/>
              <a:t>nema</a:t>
            </a:r>
            <a:r>
              <a:rPr lang="en-US" dirty="0"/>
              <a:t>.</a:t>
            </a:r>
          </a:p>
          <a:p>
            <a:r>
              <a:rPr lang="en-US" dirty="0" err="1"/>
              <a:t>Obrnuto</a:t>
            </a:r>
            <a:r>
              <a:rPr lang="en-US" dirty="0"/>
              <a:t> </a:t>
            </a:r>
            <a:r>
              <a:rPr lang="en-US" dirty="0" err="1"/>
              <a:t>nije</a:t>
            </a:r>
            <a:r>
              <a:rPr lang="en-US" dirty="0"/>
              <a:t> </a:t>
            </a:r>
            <a:r>
              <a:rPr lang="en-US" dirty="0" err="1"/>
              <a:t>moguce</a:t>
            </a:r>
            <a:r>
              <a:rPr lang="en-US" dirty="0"/>
              <a:t>: da test </a:t>
            </a:r>
            <a:r>
              <a:rPr lang="en-US" dirty="0" err="1"/>
              <a:t>kaze</a:t>
            </a:r>
            <a:r>
              <a:rPr lang="en-US" dirty="0"/>
              <a:t> da ne </a:t>
            </a:r>
            <a:r>
              <a:rPr lang="en-US" dirty="0" err="1"/>
              <a:t>postoji</a:t>
            </a:r>
            <a:r>
              <a:rPr lang="en-US" dirty="0"/>
              <a:t>, a </a:t>
            </a:r>
            <a:r>
              <a:rPr lang="en-US" dirty="0" err="1"/>
              <a:t>postoji</a:t>
            </a:r>
            <a:r>
              <a:rPr lang="en-US" dirty="0"/>
              <a:t>. </a:t>
            </a:r>
          </a:p>
          <a:p>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28</a:t>
            </a:fld>
            <a:endParaRPr lang="en-US" altLang="sr-Latn-RS"/>
          </a:p>
        </p:txBody>
      </p:sp>
    </p:spTree>
    <p:extLst>
      <p:ext uri="{BB962C8B-B14F-4D97-AF65-F5344CB8AC3E}">
        <p14:creationId xmlns:p14="http://schemas.microsoft.com/office/powerpoint/2010/main" val="3743610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25C99E3B-3E2E-46A1-AA4B-E82E79B42B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D625A2E-C4FB-431E-8004-E6B559DFD069}"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4515" name="Slide Image Placeholder 1">
            <a:extLst>
              <a:ext uri="{FF2B5EF4-FFF2-40B4-BE49-F238E27FC236}">
                <a16:creationId xmlns:a16="http://schemas.microsoft.com/office/drawing/2014/main" id="{B89D7208-1EFA-4C12-B1A4-C8F5C39F3C3C}"/>
              </a:ext>
            </a:extLst>
          </p:cNvPr>
          <p:cNvSpPr>
            <a:spLocks noGrp="1" noRot="1" noChangeAspect="1" noTextEdit="1"/>
          </p:cNvSpPr>
          <p:nvPr>
            <p:ph type="sldImg"/>
          </p:nvPr>
        </p:nvSpPr>
        <p:spPr>
          <a:ln/>
        </p:spPr>
      </p:sp>
      <p:sp>
        <p:nvSpPr>
          <p:cNvPr id="64516" name="Notes Placeholder 2">
            <a:extLst>
              <a:ext uri="{FF2B5EF4-FFF2-40B4-BE49-F238E27FC236}">
                <a16:creationId xmlns:a16="http://schemas.microsoft.com/office/drawing/2014/main" id="{42A574D9-DE08-4AA5-A795-46468E60B12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64517" name="Slide Number Placeholder 3">
            <a:extLst>
              <a:ext uri="{FF2B5EF4-FFF2-40B4-BE49-F238E27FC236}">
                <a16:creationId xmlns:a16="http://schemas.microsoft.com/office/drawing/2014/main" id="{D8210AAE-E41F-4DFF-8AB4-908C235A80FD}"/>
              </a:ext>
            </a:extLst>
          </p:cNvPr>
          <p:cNvSpPr txBox="1">
            <a:spLocks noGrp="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E66FD82-FD40-4CDC-BC7E-E83E3A4DB328}" type="slidenum">
              <a:rPr lang="en-US" altLang="en-US" sz="1200">
                <a:latin typeface="Calibri" panose="020F0502020204030204" pitchFamily="34" charset="0"/>
                <a:ea typeface="Arial Unicode MS" panose="020B0604020202020204" pitchFamily="34" charset="-128"/>
                <a:cs typeface="Arial Unicode MS" panose="020B0604020202020204" pitchFamily="34" charset="-128"/>
              </a:rPr>
              <a:pPr algn="r" eaLnBrk="1" hangingPunct="1"/>
              <a:t>33</a:t>
            </a:fld>
            <a:endParaRPr lang="en-US" altLang="en-US" sz="1200">
              <a:latin typeface="Calibri" panose="020F0502020204030204" pitchFamily="34" charset="0"/>
              <a:ea typeface="Arial Unicode MS" panose="020B0604020202020204" pitchFamily="34" charset="-128"/>
              <a:cs typeface="Arial Unicode MS" panose="020B060402020202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37</a:t>
            </a:fld>
            <a:endParaRPr lang="en-US" altLang="sr-Latn-RS"/>
          </a:p>
        </p:txBody>
      </p:sp>
    </p:spTree>
    <p:extLst>
      <p:ext uri="{BB962C8B-B14F-4D97-AF65-F5344CB8AC3E}">
        <p14:creationId xmlns:p14="http://schemas.microsoft.com/office/powerpoint/2010/main" val="1777579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 Pretpostavimo da imamo </a:t>
            </a:r>
            <a:r>
              <a:rPr lang="en-US" dirty="0" err="1"/>
              <a:t>dve</a:t>
            </a:r>
            <a:r>
              <a:rPr lang="en-US" dirty="0"/>
              <a:t> </a:t>
            </a:r>
            <a:r>
              <a:rPr lang="en-US" dirty="0" err="1"/>
              <a:t>ugnje</a:t>
            </a:r>
            <a:r>
              <a:rPr lang="sr-Latn-RS" dirty="0"/>
              <a:t>žđene petlje</a:t>
            </a:r>
            <a:r>
              <a:rPr lang="en-US" dirty="0"/>
              <a:t>:</a:t>
            </a:r>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39</a:t>
            </a:fld>
            <a:endParaRPr lang="en-US" altLang="sr-Latn-RS"/>
          </a:p>
        </p:txBody>
      </p:sp>
    </p:spTree>
    <p:extLst>
      <p:ext uri="{BB962C8B-B14F-4D97-AF65-F5344CB8AC3E}">
        <p14:creationId xmlns:p14="http://schemas.microsoft.com/office/powerpoint/2010/main" val="2369964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affina</a:t>
            </a:r>
            <a:r>
              <a:rPr lang="en-US" dirty="0"/>
              <a:t> </a:t>
            </a:r>
            <a:r>
              <a:rPr lang="en-US" dirty="0" err="1"/>
              <a:t>funkcija</a:t>
            </a:r>
            <a:r>
              <a:rPr lang="en-US" dirty="0"/>
              <a:t>: fi(i1,i2,.., in)= a0+a1*i1+a2*i2+…+an*in </a:t>
            </a:r>
            <a:endParaRPr lang="sr-Latn-RS" dirty="0"/>
          </a:p>
          <a:p>
            <a:endParaRPr lang="sr-Latn-RS" dirty="0"/>
          </a:p>
          <a:p>
            <a:r>
              <a:rPr lang="sr-Latn-RS" sz="1200" dirty="0"/>
              <a:t>Iterativni vektor predstavlja uređenu n-torku indeksa: I=(i</a:t>
            </a:r>
            <a:r>
              <a:rPr lang="sr-Latn-RS" sz="1200" baseline="-25000" dirty="0"/>
              <a:t>1</a:t>
            </a:r>
            <a:r>
              <a:rPr lang="sr-Latn-RS" sz="1200" dirty="0"/>
              <a:t>,i</a:t>
            </a:r>
            <a:r>
              <a:rPr lang="sr-Latn-RS" sz="1200" baseline="-25000" dirty="0"/>
              <a:t>2</a:t>
            </a:r>
            <a:r>
              <a:rPr lang="sr-Latn-RS" sz="1200" dirty="0"/>
              <a:t>,..,i</a:t>
            </a:r>
            <a:r>
              <a:rPr lang="sr-Latn-RS" sz="1200" baseline="-25000" dirty="0"/>
              <a:t>n</a:t>
            </a:r>
            <a:r>
              <a:rPr lang="sr-Latn-RS" sz="1200" dirty="0"/>
              <a:t>)</a:t>
            </a:r>
          </a:p>
          <a:p>
            <a:r>
              <a:rPr lang="sr-Latn-RS" sz="1200" dirty="0"/>
              <a:t>Ako su petlje zadate u normalizovanom obliku, onda su iterativni vektori prirodno uređeni u leksikografskom  redosledu.</a:t>
            </a:r>
          </a:p>
          <a:p>
            <a:r>
              <a:rPr lang="sr-Latn-RS" sz="1200" dirty="0"/>
              <a:t>Nrpr. </a:t>
            </a:r>
            <a:endParaRPr lang="en-US" sz="1200" dirty="0"/>
          </a:p>
          <a:p>
            <a:r>
              <a:rPr lang="sr-Latn-RS" sz="1200" dirty="0"/>
              <a:t>for (i=1; i</a:t>
            </a:r>
            <a:r>
              <a:rPr lang="en-US" sz="1200" dirty="0"/>
              <a:t>&lt;=4; i++)</a:t>
            </a:r>
          </a:p>
          <a:p>
            <a:r>
              <a:rPr lang="en-US" sz="1200" dirty="0"/>
              <a:t>for (j=1; j&lt;=5; </a:t>
            </a:r>
            <a:r>
              <a:rPr lang="en-US" sz="1200" dirty="0" err="1"/>
              <a:t>j++</a:t>
            </a:r>
            <a:r>
              <a:rPr lang="en-US" sz="1200" dirty="0"/>
              <a:t>)</a:t>
            </a:r>
          </a:p>
          <a:p>
            <a:r>
              <a:rPr lang="en-US" sz="1200" dirty="0" err="1"/>
              <a:t>Iterativni</a:t>
            </a:r>
            <a:r>
              <a:rPr lang="en-US" sz="1200" dirty="0"/>
              <a:t> </a:t>
            </a:r>
            <a:r>
              <a:rPr lang="en-US" sz="1200" dirty="0" err="1"/>
              <a:t>vektori</a:t>
            </a:r>
            <a:r>
              <a:rPr lang="en-US" sz="1200" dirty="0"/>
              <a:t> </a:t>
            </a:r>
            <a:r>
              <a:rPr lang="en-US" sz="1200" dirty="0" err="1"/>
              <a:t>su</a:t>
            </a:r>
            <a:r>
              <a:rPr lang="en-US" sz="1200" dirty="0"/>
              <a:t> (1,1)&lt;(1,2)&lt;(1,3)&lt;(1,4)&lt;(1,5)&lt;(2,1)&lt;(2,2)&lt;(2,3)…….</a:t>
            </a:r>
          </a:p>
          <a:p>
            <a:r>
              <a:rPr lang="en-US" sz="1200" dirty="0" err="1"/>
              <a:t>Skup</a:t>
            </a:r>
            <a:r>
              <a:rPr lang="en-US" sz="1200" dirty="0"/>
              <a:t> </a:t>
            </a:r>
            <a:r>
              <a:rPr lang="en-US" sz="1200" dirty="0" err="1"/>
              <a:t>iterativnih</a:t>
            </a:r>
            <a:r>
              <a:rPr lang="en-US" sz="1200" dirty="0"/>
              <a:t> </a:t>
            </a:r>
            <a:r>
              <a:rPr lang="en-US" sz="1200" dirty="0" err="1"/>
              <a:t>vektora</a:t>
            </a:r>
            <a:r>
              <a:rPr lang="en-US" sz="1200" dirty="0"/>
              <a:t> </a:t>
            </a:r>
            <a:r>
              <a:rPr lang="sr-Latn-RS" sz="1200" dirty="0"/>
              <a:t>čini iterativni prostor: to je skup tačaka u kojima se obavljaju izračunavanja (to nisu indeksi polja, već tačke u prostoru)</a:t>
            </a:r>
            <a:endParaRPr lang="en-US" dirty="0"/>
          </a:p>
          <a:p>
            <a:endParaRPr lang="en-US" dirty="0"/>
          </a:p>
          <a:p>
            <a:r>
              <a:rPr lang="en-US" dirty="0"/>
              <a:t>Da bi </a:t>
            </a:r>
            <a:r>
              <a:rPr lang="en-US" dirty="0" err="1"/>
              <a:t>utvrdili</a:t>
            </a:r>
            <a:r>
              <a:rPr lang="en-US" dirty="0"/>
              <a:t> da li </a:t>
            </a:r>
            <a:r>
              <a:rPr lang="en-US" dirty="0" err="1"/>
              <a:t>postoji</a:t>
            </a:r>
            <a:r>
              <a:rPr lang="en-US" dirty="0"/>
              <a:t> </a:t>
            </a:r>
            <a:r>
              <a:rPr lang="en-US" dirty="0" err="1"/>
              <a:t>zavisnost</a:t>
            </a:r>
            <a:r>
              <a:rPr lang="en-US" dirty="0"/>
              <a:t> </a:t>
            </a:r>
            <a:r>
              <a:rPr lang="en-US" dirty="0" err="1"/>
              <a:t>potrebno</a:t>
            </a:r>
            <a:r>
              <a:rPr lang="en-US" dirty="0"/>
              <a:t> je re</a:t>
            </a:r>
            <a:r>
              <a:rPr lang="sr-Latn-RS" dirty="0"/>
              <a:t>šiti sistem od m Diofantovih jednačina sa n nepoznatih. To je np kompleksan problem! Zbog toga se primenjuju tvz. konzervativni testovi.</a:t>
            </a:r>
            <a:r>
              <a:rPr lang="en-US" dirty="0"/>
              <a:t> U</a:t>
            </a:r>
            <a:r>
              <a:rPr lang="sr-Latn-RS" dirty="0"/>
              <a:t>svaja se da zavisnost postoji, osim ako se dokaže da ne postoji!</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41</a:t>
            </a:fld>
            <a:endParaRPr lang="en-US" altLang="sr-Latn-RS"/>
          </a:p>
        </p:txBody>
      </p:sp>
    </p:spTree>
    <p:extLst>
      <p:ext uri="{BB962C8B-B14F-4D97-AF65-F5344CB8AC3E}">
        <p14:creationId xmlns:p14="http://schemas.microsoft.com/office/powerpoint/2010/main" val="2534361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Ako nismo u stanju da dokažemo da zavisnost ne postoji, usvaja se da postoji.</a:t>
            </a:r>
          </a:p>
          <a:p>
            <a:r>
              <a:rPr lang="sr-Latn-RS" dirty="0"/>
              <a:t>Testovi za analzu zavisnosti nikada ne mogu dati odgovor da zavisnosti nema, a da ona stvarno postoji! Može se desiti da test kaže da zavisnost postoji, ali da je stvarno nema. To je zato što se prilikom testiranja, zbog efikasnosati ne uzimaju svi parametri u obzir, npr. granice petlje.</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45</a:t>
            </a:fld>
            <a:endParaRPr lang="en-US" altLang="sr-Latn-RS"/>
          </a:p>
        </p:txBody>
      </p:sp>
    </p:spTree>
    <p:extLst>
      <p:ext uri="{BB962C8B-B14F-4D97-AF65-F5344CB8AC3E}">
        <p14:creationId xmlns:p14="http://schemas.microsoft.com/office/powerpoint/2010/main" val="1395887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Npr</a:t>
            </a:r>
            <a:r>
              <a:rPr lang="en-US" dirty="0"/>
              <a:t>. A(i,2j+3,k)=A(i-1,2j,k-1)+c</a:t>
            </a:r>
          </a:p>
          <a:p>
            <a:r>
              <a:rPr lang="en-US" dirty="0" err="1"/>
              <a:t>Primenom</a:t>
            </a:r>
            <a:r>
              <a:rPr lang="en-US" dirty="0"/>
              <a:t> NZD </a:t>
            </a:r>
            <a:r>
              <a:rPr lang="en-US" dirty="0" err="1"/>
              <a:t>testa</a:t>
            </a:r>
            <a:r>
              <a:rPr lang="en-US" dirty="0"/>
              <a:t> za </a:t>
            </a:r>
            <a:r>
              <a:rPr lang="en-US" dirty="0" err="1"/>
              <a:t>drugi</a:t>
            </a:r>
            <a:r>
              <a:rPr lang="en-US" dirty="0"/>
              <a:t> subscript </a:t>
            </a:r>
            <a:r>
              <a:rPr lang="en-US" dirty="0" err="1"/>
              <a:t>vidimo</a:t>
            </a:r>
            <a:r>
              <a:rPr lang="en-US" dirty="0"/>
              <a:t> da ne </a:t>
            </a:r>
            <a:r>
              <a:rPr lang="en-US" dirty="0" err="1"/>
              <a:t>postoji</a:t>
            </a:r>
            <a:r>
              <a:rPr lang="en-US" dirty="0"/>
              <a:t> </a:t>
            </a:r>
            <a:r>
              <a:rPr lang="en-US" dirty="0" err="1"/>
              <a:t>resenje</a:t>
            </a:r>
            <a:r>
              <a:rPr lang="en-US" dirty="0"/>
              <a:t>, </a:t>
            </a:r>
            <a:r>
              <a:rPr lang="en-US" dirty="0" err="1"/>
              <a:t>tj</a:t>
            </a:r>
            <a:r>
              <a:rPr lang="en-US" dirty="0"/>
              <a:t> ne </a:t>
            </a:r>
            <a:r>
              <a:rPr lang="en-US" dirty="0" err="1"/>
              <a:t>postoje</a:t>
            </a:r>
            <a:r>
              <a:rPr lang="en-US" dirty="0"/>
              <a:t> </a:t>
            </a:r>
            <a:r>
              <a:rPr lang="en-US" dirty="0" err="1"/>
              <a:t>vrednosti</a:t>
            </a:r>
            <a:r>
              <a:rPr lang="en-US" dirty="0"/>
              <a:t> </a:t>
            </a:r>
            <a:r>
              <a:rPr lang="en-US" dirty="0" err="1"/>
              <a:t>iterativne</a:t>
            </a:r>
            <a:r>
              <a:rPr lang="en-US" dirty="0"/>
              <a:t> </a:t>
            </a:r>
            <a:r>
              <a:rPr lang="en-US" dirty="0" err="1"/>
              <a:t>promenljive</a:t>
            </a:r>
            <a:r>
              <a:rPr lang="en-US" dirty="0"/>
              <a:t> j za </a:t>
            </a:r>
            <a:r>
              <a:rPr lang="en-US" dirty="0" err="1"/>
              <a:t>koje</a:t>
            </a:r>
            <a:r>
              <a:rPr lang="en-US" dirty="0"/>
              <a:t> b </a:t>
            </a:r>
            <a:r>
              <a:rPr lang="en-US" dirty="0" err="1"/>
              <a:t>bilo</a:t>
            </a:r>
            <a:r>
              <a:rPr lang="en-US" dirty="0"/>
              <a:t> i 2j+3=2j</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46</a:t>
            </a:fld>
            <a:endParaRPr lang="en-US" altLang="sr-Latn-RS"/>
          </a:p>
        </p:txBody>
      </p:sp>
    </p:spTree>
    <p:extLst>
      <p:ext uri="{BB962C8B-B14F-4D97-AF65-F5344CB8AC3E}">
        <p14:creationId xmlns:p14="http://schemas.microsoft.com/office/powerpoint/2010/main" val="2573630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 znači </a:t>
            </a:r>
            <a:r>
              <a:rPr lang="en-US" dirty="0"/>
              <a:t>&gt;</a:t>
            </a:r>
            <a:r>
              <a:rPr lang="sr-Latn-RS" dirty="0"/>
              <a:t>, </a:t>
            </a:r>
            <a:r>
              <a:rPr lang="en-US" dirty="0"/>
              <a:t>&lt;</a:t>
            </a:r>
            <a:r>
              <a:rPr lang="sr-Latn-RS" dirty="0"/>
              <a:t>, =</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52</a:t>
            </a:fld>
            <a:endParaRPr lang="en-US" altLang="sr-Latn-RS"/>
          </a:p>
        </p:txBody>
      </p:sp>
    </p:spTree>
    <p:extLst>
      <p:ext uri="{BB962C8B-B14F-4D97-AF65-F5344CB8AC3E}">
        <p14:creationId xmlns:p14="http://schemas.microsoft.com/office/powerpoint/2010/main" val="3151285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Pošto se indeksna promenljiva i ne pojavljuje u subscriptu, moramo usvojiti  sva tri pravca za tu indeksnu promenljivu, pa su vektori pravca</a:t>
            </a:r>
            <a:endParaRPr lang="en-US" dirty="0"/>
          </a:p>
          <a:p>
            <a:r>
              <a:rPr lang="sr-Latn-RS" dirty="0"/>
              <a:t> </a:t>
            </a:r>
            <a:r>
              <a:rPr lang="en-US" dirty="0"/>
              <a:t>[&lt;,=]</a:t>
            </a:r>
            <a:r>
              <a:rPr lang="en-US" baseline="30000" dirty="0"/>
              <a:t>T</a:t>
            </a:r>
          </a:p>
          <a:p>
            <a:r>
              <a:rPr lang="en-US" dirty="0"/>
              <a:t>[=,=]</a:t>
            </a:r>
            <a:r>
              <a:rPr lang="en-US" baseline="30000" dirty="0"/>
              <a:t>T</a:t>
            </a:r>
          </a:p>
          <a:p>
            <a:r>
              <a:rPr lang="en-US" dirty="0"/>
              <a:t>[&gt;,=]</a:t>
            </a:r>
            <a:r>
              <a:rPr lang="en-US" baseline="30000" dirty="0"/>
              <a:t>T</a:t>
            </a:r>
          </a:p>
          <a:p>
            <a:r>
              <a:rPr lang="en-US" dirty="0"/>
              <a:t>Po</a:t>
            </a:r>
            <a:r>
              <a:rPr lang="sr-Latn-RS" dirty="0"/>
              <a:t>što je po j pravac zavisnosti =, permutacija neće promeniti znak vektora, pa je permutacija legalna!</a:t>
            </a:r>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59</a:t>
            </a:fld>
            <a:endParaRPr lang="en-US" altLang="sr-Latn-RS"/>
          </a:p>
        </p:txBody>
      </p:sp>
    </p:spTree>
    <p:extLst>
      <p:ext uri="{BB962C8B-B14F-4D97-AF65-F5344CB8AC3E}">
        <p14:creationId xmlns:p14="http://schemas.microsoft.com/office/powerpoint/2010/main" val="3937230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Nije jer se menja smer zavisnosti!!</a:t>
            </a:r>
            <a:endParaRPr lang="en-US" dirty="0"/>
          </a:p>
          <a:p>
            <a:r>
              <a:rPr lang="en-US" dirty="0" err="1"/>
              <a:t>Antizavisnost</a:t>
            </a:r>
            <a:r>
              <a:rPr lang="en-US" dirty="0"/>
              <a:t> za :</a:t>
            </a:r>
          </a:p>
          <a:p>
            <a:r>
              <a:rPr lang="en-US" dirty="0"/>
              <a:t>J=0 i i=1 </a:t>
            </a:r>
            <a:r>
              <a:rPr lang="en-US" dirty="0" err="1"/>
              <a:t>racuna</a:t>
            </a:r>
            <a:r>
              <a:rPr lang="en-US" dirty="0"/>
              <a:t> se a(2)=a(1)</a:t>
            </a:r>
          </a:p>
          <a:p>
            <a:r>
              <a:rPr lang="en-US" dirty="0"/>
              <a:t>J=1 i i=0 </a:t>
            </a:r>
            <a:r>
              <a:rPr lang="en-US" dirty="0" err="1"/>
              <a:t>racuna</a:t>
            </a:r>
            <a:r>
              <a:rPr lang="en-US" dirty="0"/>
              <a:t> se a(1)=(0)</a:t>
            </a:r>
            <a:endParaRPr lang="sr-Latn-RS" dirty="0"/>
          </a:p>
        </p:txBody>
      </p:sp>
      <p:sp>
        <p:nvSpPr>
          <p:cNvPr id="4" name="Slide Number Placeholder 3"/>
          <p:cNvSpPr>
            <a:spLocks noGrp="1"/>
          </p:cNvSpPr>
          <p:nvPr>
            <p:ph type="sldNum" sz="quarter" idx="5"/>
          </p:nvPr>
        </p:nvSpPr>
        <p:spPr/>
        <p:txBody>
          <a:bodyPr/>
          <a:lstStyle/>
          <a:p>
            <a:pPr>
              <a:defRPr/>
            </a:pPr>
            <a:fld id="{5882FE67-6BD5-4622-80F7-1C4FF2AC6C69}" type="slidenum">
              <a:rPr lang="en-US" altLang="sr-Latn-RS" smtClean="0"/>
              <a:pPr>
                <a:defRPr/>
              </a:pPr>
              <a:t>61</a:t>
            </a:fld>
            <a:endParaRPr lang="en-US" altLang="sr-Latn-RS"/>
          </a:p>
        </p:txBody>
      </p:sp>
    </p:spTree>
    <p:extLst>
      <p:ext uri="{BB962C8B-B14F-4D97-AF65-F5344CB8AC3E}">
        <p14:creationId xmlns:p14="http://schemas.microsoft.com/office/powerpoint/2010/main" val="3333240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783A084D-32D3-4A57-A764-3FCBEB58A1B9}"/>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057C1184-A343-45B7-A85B-E81E4243D38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sr-Latn-RS" dirty="0" err="1"/>
              <a:t>Nakon</a:t>
            </a:r>
            <a:r>
              <a:rPr lang="en-US" altLang="sr-Latn-RS" dirty="0"/>
              <a:t> </a:t>
            </a:r>
            <a:r>
              <a:rPr lang="en-US" altLang="sr-Latn-RS" dirty="0" err="1"/>
              <a:t>krivljenja</a:t>
            </a:r>
            <a:r>
              <a:rPr lang="en-US" altLang="sr-Latn-RS" dirty="0"/>
              <a:t> za 1</a:t>
            </a:r>
          </a:p>
          <a:p>
            <a:r>
              <a:rPr lang="en-US" altLang="sr-Latn-RS" dirty="0"/>
              <a:t>for U= 1, N </a:t>
            </a:r>
          </a:p>
          <a:p>
            <a:r>
              <a:rPr lang="en-US" altLang="sr-Latn-RS" dirty="0"/>
              <a:t>for V = U+1, U+M </a:t>
            </a:r>
          </a:p>
          <a:p>
            <a:r>
              <a:rPr lang="en-US" altLang="sr-Latn-RS" dirty="0"/>
              <a:t>A(U, V‐U) = A(U‐1, V-U) + A(U, V-U-1);</a:t>
            </a:r>
          </a:p>
          <a:p>
            <a:endParaRPr lang="en-US" altLang="sr-Latn-RS" dirty="0"/>
          </a:p>
          <a:p>
            <a:endParaRPr lang="en-US" altLang="sr-Latn-RS" dirty="0"/>
          </a:p>
          <a:p>
            <a:r>
              <a:rPr lang="en-US" altLang="sr-Latn-RS" dirty="0" err="1"/>
              <a:t>Nakon</a:t>
            </a:r>
            <a:r>
              <a:rPr lang="en-US" altLang="sr-Latn-RS" dirty="0"/>
              <a:t> </a:t>
            </a:r>
            <a:r>
              <a:rPr lang="en-US" altLang="sr-Latn-RS" dirty="0" err="1"/>
              <a:t>permutacije</a:t>
            </a:r>
            <a:r>
              <a:rPr lang="en-US" altLang="sr-Latn-RS" dirty="0"/>
              <a:t> U i V</a:t>
            </a:r>
          </a:p>
          <a:p>
            <a:endParaRPr lang="en-US" altLang="sr-Latn-RS" dirty="0"/>
          </a:p>
          <a:p>
            <a:r>
              <a:rPr lang="en-US" altLang="sr-Latn-RS" dirty="0"/>
              <a:t>for x= 2, N+M </a:t>
            </a:r>
          </a:p>
          <a:p>
            <a:r>
              <a:rPr lang="en-US" altLang="sr-Latn-RS" dirty="0"/>
              <a:t>for y = max{1,x-M}, min{N,x-1} </a:t>
            </a:r>
          </a:p>
          <a:p>
            <a:r>
              <a:rPr lang="en-US" altLang="sr-Latn-RS" dirty="0"/>
              <a:t>A(y, x-y) = A(y‐1, x-y) + A(y, x-y-1);</a:t>
            </a:r>
          </a:p>
          <a:p>
            <a:endParaRPr lang="en-US" altLang="sr-Latn-RS" dirty="0"/>
          </a:p>
        </p:txBody>
      </p:sp>
      <p:sp>
        <p:nvSpPr>
          <p:cNvPr id="65540" name="Slide Number Placeholder 3">
            <a:extLst>
              <a:ext uri="{FF2B5EF4-FFF2-40B4-BE49-F238E27FC236}">
                <a16:creationId xmlns:a16="http://schemas.microsoft.com/office/drawing/2014/main" id="{818AE2D4-072A-4E70-BBDB-C14739AB24B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AC98D6-89C2-4593-9AAB-948779B3EB92}" type="slidenum">
              <a:rPr lang="en-US" altLang="en-US">
                <a:latin typeface="Times New Roman" panose="02020603050405020304" pitchFamily="18" charset="0"/>
              </a:rPr>
              <a:pPr/>
              <a:t>77</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ED043E0-42A9-744F-8B86-5E5008335414}"/>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38BC018F-D5F6-42D8-61B7-5E028DC13489}"/>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4" name="Rectangle 4">
              <a:extLst>
                <a:ext uri="{FF2B5EF4-FFF2-40B4-BE49-F238E27FC236}">
                  <a16:creationId xmlns:a16="http://schemas.microsoft.com/office/drawing/2014/main" id="{E2784E9B-3974-2FA1-A645-1C689B89BD7F}"/>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pSp>
      <p:sp>
        <p:nvSpPr>
          <p:cNvPr id="5" name="AutoShape 10">
            <a:extLst>
              <a:ext uri="{FF2B5EF4-FFF2-40B4-BE49-F238E27FC236}">
                <a16:creationId xmlns:a16="http://schemas.microsoft.com/office/drawing/2014/main" id="{CC9CFE62-5925-9702-E6D9-9B8D0C3F1049}"/>
              </a:ext>
            </a:extLst>
          </p:cNvPr>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defRPr/>
            </a:pPr>
            <a:endParaRPr lang="en-US"/>
          </a:p>
        </p:txBody>
      </p:sp>
      <p:sp>
        <p:nvSpPr>
          <p:cNvPr id="4101"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pPr lvl="0"/>
            <a:r>
              <a:rPr lang="en-US" altLang="en-US" noProof="0"/>
              <a:t>Click to edit Master title style</a:t>
            </a:r>
          </a:p>
        </p:txBody>
      </p:sp>
      <p:sp>
        <p:nvSpPr>
          <p:cNvPr id="4102"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anose="05020102010507070707" pitchFamily="18" charset="2"/>
              <a:buNone/>
              <a:defRPr/>
            </a:lvl1pPr>
          </a:lstStyle>
          <a:p>
            <a:pPr lvl="0"/>
            <a:r>
              <a:rPr lang="en-US" altLang="en-US" noProof="0"/>
              <a:t>Click to edit Master subtitle style</a:t>
            </a:r>
          </a:p>
        </p:txBody>
      </p:sp>
      <p:sp>
        <p:nvSpPr>
          <p:cNvPr id="6" name="Date Placeholder 7">
            <a:extLst>
              <a:ext uri="{FF2B5EF4-FFF2-40B4-BE49-F238E27FC236}">
                <a16:creationId xmlns:a16="http://schemas.microsoft.com/office/drawing/2014/main" id="{8068E574-A2C1-BFFE-9BDB-8C41B464AEF2}"/>
              </a:ext>
            </a:extLst>
          </p:cNvPr>
          <p:cNvSpPr>
            <a:spLocks noGrp="1" noChangeArrowheads="1"/>
          </p:cNvSpPr>
          <p:nvPr>
            <p:ph type="dt" sz="half" idx="10"/>
          </p:nvPr>
        </p:nvSpPr>
        <p:spPr bwMode="auto">
          <a:xfrm>
            <a:off x="1295400" y="6248400"/>
            <a:ext cx="1905000" cy="457200"/>
          </a:xfrm>
          <a:prstGeom prst="rect">
            <a:avLst/>
          </a:prstGeom>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latin typeface="Arial Narrow" panose="020B0606020202030204" pitchFamily="34" charset="0"/>
              </a:defRPr>
            </a:lvl1pPr>
          </a:lstStyle>
          <a:p>
            <a:pPr>
              <a:defRPr/>
            </a:pPr>
            <a:endParaRPr lang="en-US" altLang="en-US"/>
          </a:p>
        </p:txBody>
      </p:sp>
      <p:sp>
        <p:nvSpPr>
          <p:cNvPr id="7" name="Footer Placeholder 8">
            <a:extLst>
              <a:ext uri="{FF2B5EF4-FFF2-40B4-BE49-F238E27FC236}">
                <a16:creationId xmlns:a16="http://schemas.microsoft.com/office/drawing/2014/main" id="{0AC10983-AFD5-8FF2-F90E-784D65FA70B4}"/>
              </a:ext>
            </a:extLst>
          </p:cNvPr>
          <p:cNvSpPr>
            <a:spLocks noGrp="1" noChangeArrowheads="1"/>
          </p:cNvSpPr>
          <p:nvPr>
            <p:ph type="ftr" sz="quarter" idx="11"/>
          </p:nvPr>
        </p:nvSpPr>
        <p:spPr bwMode="auto">
          <a:xfrm>
            <a:off x="3733800" y="6248400"/>
            <a:ext cx="2895600" cy="457200"/>
          </a:xfrm>
          <a:prstGeom prst="rect">
            <a:avLst/>
          </a:prstGeom>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latin typeface="Arial Narrow" panose="020B0606020202030204" pitchFamily="34" charset="0"/>
              </a:defRPr>
            </a:lvl1pPr>
          </a:lstStyle>
          <a:p>
            <a:pPr>
              <a:defRPr/>
            </a:pPr>
            <a:endParaRPr lang="en-US" altLang="en-US"/>
          </a:p>
        </p:txBody>
      </p:sp>
      <p:sp>
        <p:nvSpPr>
          <p:cNvPr id="8" name="Slide Number Placeholder 9">
            <a:extLst>
              <a:ext uri="{FF2B5EF4-FFF2-40B4-BE49-F238E27FC236}">
                <a16:creationId xmlns:a16="http://schemas.microsoft.com/office/drawing/2014/main" id="{0C8C3778-F9DD-7D9C-0F8D-16B5994021BE}"/>
              </a:ext>
            </a:extLst>
          </p:cNvPr>
          <p:cNvSpPr>
            <a:spLocks noGrp="1" noChangeArrowheads="1"/>
          </p:cNvSpPr>
          <p:nvPr>
            <p:ph type="sldNum" sz="quarter" idx="12"/>
          </p:nvPr>
        </p:nvSpPr>
        <p:spPr>
          <a:xfrm>
            <a:off x="0" y="6400800"/>
            <a:ext cx="457200" cy="381000"/>
          </a:xfrm>
        </p:spPr>
        <p:txBody>
          <a:bodyPr/>
          <a:lstStyle>
            <a:lvl1pPr>
              <a:defRPr smtClean="0">
                <a:solidFill>
                  <a:srgbClr val="FFFFFF"/>
                </a:solidFill>
              </a:defRPr>
            </a:lvl1pPr>
          </a:lstStyle>
          <a:p>
            <a:pPr>
              <a:defRPr/>
            </a:pPr>
            <a:fld id="{8ABA74D3-4FD7-42D0-8BCB-28764110DF90}" type="slidenum">
              <a:rPr lang="en-US" altLang="en-US"/>
              <a:pPr>
                <a:defRPr/>
              </a:pPr>
              <a:t>‹#›</a:t>
            </a:fld>
            <a:endParaRPr lang="en-US" altLang="en-US"/>
          </a:p>
        </p:txBody>
      </p:sp>
    </p:spTree>
    <p:extLst>
      <p:ext uri="{BB962C8B-B14F-4D97-AF65-F5344CB8AC3E}">
        <p14:creationId xmlns:p14="http://schemas.microsoft.com/office/powerpoint/2010/main" val="4115486693"/>
      </p:ext>
    </p:extLst>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1420651F-0772-8128-EAB2-079D136D9E49}"/>
              </a:ext>
            </a:extLst>
          </p:cNvPr>
          <p:cNvSpPr>
            <a:spLocks noGrp="1" noChangeArrowheads="1"/>
          </p:cNvSpPr>
          <p:nvPr>
            <p:ph type="sldNum" sz="quarter" idx="10"/>
          </p:nvPr>
        </p:nvSpPr>
        <p:spPr>
          <a:ln/>
        </p:spPr>
        <p:txBody>
          <a:bodyPr/>
          <a:lstStyle>
            <a:lvl1pPr>
              <a:defRPr/>
            </a:lvl1pPr>
          </a:lstStyle>
          <a:p>
            <a:pPr>
              <a:defRPr/>
            </a:pPr>
            <a:fld id="{E7C0CA87-6840-4475-9785-006900FBA37D}" type="slidenum">
              <a:rPr lang="en-US" altLang="en-US"/>
              <a:pPr>
                <a:defRPr/>
              </a:pPr>
              <a:t>‹#›</a:t>
            </a:fld>
            <a:endParaRPr lang="en-US" altLang="en-US"/>
          </a:p>
        </p:txBody>
      </p:sp>
    </p:spTree>
    <p:extLst>
      <p:ext uri="{BB962C8B-B14F-4D97-AF65-F5344CB8AC3E}">
        <p14:creationId xmlns:p14="http://schemas.microsoft.com/office/powerpoint/2010/main" val="2163536691"/>
      </p:ext>
    </p:extLst>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028">
            <a:extLst>
              <a:ext uri="{FF2B5EF4-FFF2-40B4-BE49-F238E27FC236}">
                <a16:creationId xmlns:a16="http://schemas.microsoft.com/office/drawing/2014/main" id="{DF965DCE-FC8B-9A12-583E-70756274EE42}"/>
              </a:ext>
            </a:extLst>
          </p:cNvPr>
          <p:cNvSpPr>
            <a:spLocks noGrp="1" noChangeArrowheads="1"/>
          </p:cNvSpPr>
          <p:nvPr>
            <p:ph type="sldNum" sz="quarter" idx="10"/>
          </p:nvPr>
        </p:nvSpPr>
        <p:spPr>
          <a:ln/>
        </p:spPr>
        <p:txBody>
          <a:bodyPr/>
          <a:lstStyle>
            <a:lvl1pPr>
              <a:defRPr/>
            </a:lvl1pPr>
          </a:lstStyle>
          <a:p>
            <a:pPr>
              <a:defRPr/>
            </a:pPr>
            <a:fld id="{F3C4FC08-95D7-4FF7-9453-19C98A417E84}" type="slidenum">
              <a:rPr lang="en-US" altLang="en-US"/>
              <a:pPr>
                <a:defRPr/>
              </a:pPr>
              <a:t>‹#›</a:t>
            </a:fld>
            <a:endParaRPr lang="en-US" altLang="en-US"/>
          </a:p>
        </p:txBody>
      </p:sp>
    </p:spTree>
    <p:extLst>
      <p:ext uri="{BB962C8B-B14F-4D97-AF65-F5344CB8AC3E}">
        <p14:creationId xmlns:p14="http://schemas.microsoft.com/office/powerpoint/2010/main" val="980884637"/>
      </p:ext>
    </p:extLst>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8">
            <a:extLst>
              <a:ext uri="{FF2B5EF4-FFF2-40B4-BE49-F238E27FC236}">
                <a16:creationId xmlns:a16="http://schemas.microsoft.com/office/drawing/2014/main" id="{8AB52A2C-08AB-63AF-A2C9-28FC80DBCC22}"/>
              </a:ext>
            </a:extLst>
          </p:cNvPr>
          <p:cNvSpPr>
            <a:spLocks noGrp="1" noChangeArrowheads="1"/>
          </p:cNvSpPr>
          <p:nvPr>
            <p:ph type="sldNum" sz="quarter" idx="10"/>
          </p:nvPr>
        </p:nvSpPr>
        <p:spPr>
          <a:ln/>
        </p:spPr>
        <p:txBody>
          <a:bodyPr/>
          <a:lstStyle>
            <a:lvl1pPr>
              <a:defRPr/>
            </a:lvl1pPr>
          </a:lstStyle>
          <a:p>
            <a:pPr>
              <a:defRPr/>
            </a:pPr>
            <a:fld id="{20AA8F16-96BE-47EC-8705-B86E9493E4A8}" type="slidenum">
              <a:rPr lang="en-US" altLang="en-US"/>
              <a:pPr>
                <a:defRPr/>
              </a:pPr>
              <a:t>‹#›</a:t>
            </a:fld>
            <a:endParaRPr lang="en-US" altLang="en-US"/>
          </a:p>
        </p:txBody>
      </p:sp>
    </p:spTree>
    <p:extLst>
      <p:ext uri="{BB962C8B-B14F-4D97-AF65-F5344CB8AC3E}">
        <p14:creationId xmlns:p14="http://schemas.microsoft.com/office/powerpoint/2010/main" val="3340584561"/>
      </p:ext>
    </p:extLst>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8">
            <a:extLst>
              <a:ext uri="{FF2B5EF4-FFF2-40B4-BE49-F238E27FC236}">
                <a16:creationId xmlns:a16="http://schemas.microsoft.com/office/drawing/2014/main" id="{82ADEE07-956E-4CED-C2B6-7A5FC342E8AB}"/>
              </a:ext>
            </a:extLst>
          </p:cNvPr>
          <p:cNvSpPr>
            <a:spLocks noGrp="1" noChangeArrowheads="1"/>
          </p:cNvSpPr>
          <p:nvPr>
            <p:ph type="sldNum" sz="quarter" idx="10"/>
          </p:nvPr>
        </p:nvSpPr>
        <p:spPr>
          <a:ln/>
        </p:spPr>
        <p:txBody>
          <a:bodyPr/>
          <a:lstStyle>
            <a:lvl1pPr>
              <a:defRPr/>
            </a:lvl1pPr>
          </a:lstStyle>
          <a:p>
            <a:pPr>
              <a:defRPr/>
            </a:pPr>
            <a:fld id="{C9459F7D-2F94-4655-ADF3-511544D134F9}" type="slidenum">
              <a:rPr lang="en-US" altLang="en-US"/>
              <a:pPr>
                <a:defRPr/>
              </a:pPr>
              <a:t>‹#›</a:t>
            </a:fld>
            <a:endParaRPr lang="en-US" altLang="en-US"/>
          </a:p>
        </p:txBody>
      </p:sp>
    </p:spTree>
    <p:extLst>
      <p:ext uri="{BB962C8B-B14F-4D97-AF65-F5344CB8AC3E}">
        <p14:creationId xmlns:p14="http://schemas.microsoft.com/office/powerpoint/2010/main" val="136287432"/>
      </p:ext>
    </p:extLst>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a:extLst>
              <a:ext uri="{FF2B5EF4-FFF2-40B4-BE49-F238E27FC236}">
                <a16:creationId xmlns:a16="http://schemas.microsoft.com/office/drawing/2014/main" id="{0C9C9C0C-9794-B85C-675E-8E73C3E9A439}"/>
              </a:ext>
            </a:extLst>
          </p:cNvPr>
          <p:cNvSpPr>
            <a:spLocks noGrp="1" noChangeArrowheads="1"/>
          </p:cNvSpPr>
          <p:nvPr>
            <p:ph type="sldNum" sz="quarter" idx="10"/>
          </p:nvPr>
        </p:nvSpPr>
        <p:spPr>
          <a:ln/>
        </p:spPr>
        <p:txBody>
          <a:bodyPr/>
          <a:lstStyle>
            <a:lvl1pPr>
              <a:defRPr/>
            </a:lvl1pPr>
          </a:lstStyle>
          <a:p>
            <a:pPr>
              <a:defRPr/>
            </a:pPr>
            <a:fld id="{57A0A505-6B53-4063-B9F0-40EB25BA802F}" type="slidenum">
              <a:rPr lang="en-US" altLang="en-US"/>
              <a:pPr>
                <a:defRPr/>
              </a:pPr>
              <a:t>‹#›</a:t>
            </a:fld>
            <a:endParaRPr lang="en-US" altLang="en-US"/>
          </a:p>
        </p:txBody>
      </p:sp>
    </p:spTree>
    <p:extLst>
      <p:ext uri="{BB962C8B-B14F-4D97-AF65-F5344CB8AC3E}">
        <p14:creationId xmlns:p14="http://schemas.microsoft.com/office/powerpoint/2010/main" val="3827642123"/>
      </p:ext>
    </p:extLst>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a:extLst>
              <a:ext uri="{FF2B5EF4-FFF2-40B4-BE49-F238E27FC236}">
                <a16:creationId xmlns:a16="http://schemas.microsoft.com/office/drawing/2014/main" id="{4D13D9F4-5902-3EBD-7923-EA2B0CA92130}"/>
              </a:ext>
            </a:extLst>
          </p:cNvPr>
          <p:cNvSpPr>
            <a:spLocks noGrp="1" noChangeArrowheads="1"/>
          </p:cNvSpPr>
          <p:nvPr>
            <p:ph type="sldNum" sz="quarter" idx="10"/>
          </p:nvPr>
        </p:nvSpPr>
        <p:spPr>
          <a:ln/>
        </p:spPr>
        <p:txBody>
          <a:bodyPr/>
          <a:lstStyle>
            <a:lvl1pPr>
              <a:defRPr/>
            </a:lvl1pPr>
          </a:lstStyle>
          <a:p>
            <a:pPr>
              <a:defRPr/>
            </a:pPr>
            <a:fld id="{4C11B289-FBB6-4254-ADAD-F7019C6400D1}" type="slidenum">
              <a:rPr lang="en-US" altLang="en-US"/>
              <a:pPr>
                <a:defRPr/>
              </a:pPr>
              <a:t>‹#›</a:t>
            </a:fld>
            <a:endParaRPr lang="en-US" altLang="en-US"/>
          </a:p>
        </p:txBody>
      </p:sp>
    </p:spTree>
    <p:extLst>
      <p:ext uri="{BB962C8B-B14F-4D97-AF65-F5344CB8AC3E}">
        <p14:creationId xmlns:p14="http://schemas.microsoft.com/office/powerpoint/2010/main" val="2259650159"/>
      </p:ext>
    </p:extLst>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028">
            <a:extLst>
              <a:ext uri="{FF2B5EF4-FFF2-40B4-BE49-F238E27FC236}">
                <a16:creationId xmlns:a16="http://schemas.microsoft.com/office/drawing/2014/main" id="{1F001F89-873F-A15C-53EB-C35B8D6B1A83}"/>
              </a:ext>
            </a:extLst>
          </p:cNvPr>
          <p:cNvSpPr>
            <a:spLocks noGrp="1" noChangeArrowheads="1"/>
          </p:cNvSpPr>
          <p:nvPr>
            <p:ph type="sldNum" sz="quarter" idx="10"/>
          </p:nvPr>
        </p:nvSpPr>
        <p:spPr>
          <a:ln/>
        </p:spPr>
        <p:txBody>
          <a:bodyPr/>
          <a:lstStyle>
            <a:lvl1pPr>
              <a:defRPr/>
            </a:lvl1pPr>
          </a:lstStyle>
          <a:p>
            <a:pPr>
              <a:defRPr/>
            </a:pPr>
            <a:fld id="{06123345-3843-4764-861C-5D8D09319AF7}" type="slidenum">
              <a:rPr lang="en-US" altLang="en-US"/>
              <a:pPr>
                <a:defRPr/>
              </a:pPr>
              <a:t>‹#›</a:t>
            </a:fld>
            <a:endParaRPr lang="en-US" altLang="en-US"/>
          </a:p>
        </p:txBody>
      </p:sp>
    </p:spTree>
    <p:extLst>
      <p:ext uri="{BB962C8B-B14F-4D97-AF65-F5344CB8AC3E}">
        <p14:creationId xmlns:p14="http://schemas.microsoft.com/office/powerpoint/2010/main" val="17144298"/>
      </p:ext>
    </p:extLst>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028">
            <a:extLst>
              <a:ext uri="{FF2B5EF4-FFF2-40B4-BE49-F238E27FC236}">
                <a16:creationId xmlns:a16="http://schemas.microsoft.com/office/drawing/2014/main" id="{59B68EEE-C96F-45EB-FD6C-DFC927ED899D}"/>
              </a:ext>
            </a:extLst>
          </p:cNvPr>
          <p:cNvSpPr>
            <a:spLocks noGrp="1" noChangeArrowheads="1"/>
          </p:cNvSpPr>
          <p:nvPr>
            <p:ph type="sldNum" sz="quarter" idx="10"/>
          </p:nvPr>
        </p:nvSpPr>
        <p:spPr>
          <a:ln/>
        </p:spPr>
        <p:txBody>
          <a:bodyPr/>
          <a:lstStyle>
            <a:lvl1pPr>
              <a:defRPr/>
            </a:lvl1pPr>
          </a:lstStyle>
          <a:p>
            <a:pPr>
              <a:defRPr/>
            </a:pPr>
            <a:fld id="{FC9EB81C-CCE1-473B-9CE3-7024AC9472FE}" type="slidenum">
              <a:rPr lang="en-US" altLang="en-US"/>
              <a:pPr>
                <a:defRPr/>
              </a:pPr>
              <a:t>‹#›</a:t>
            </a:fld>
            <a:endParaRPr lang="en-US" altLang="en-US"/>
          </a:p>
        </p:txBody>
      </p:sp>
    </p:spTree>
    <p:extLst>
      <p:ext uri="{BB962C8B-B14F-4D97-AF65-F5344CB8AC3E}">
        <p14:creationId xmlns:p14="http://schemas.microsoft.com/office/powerpoint/2010/main" val="4038895824"/>
      </p:ext>
    </p:extLst>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955013AC-AC7B-A5C4-96D4-B338FA12D675}"/>
              </a:ext>
            </a:extLst>
          </p:cNvPr>
          <p:cNvSpPr>
            <a:spLocks noGrp="1" noChangeArrowheads="1"/>
          </p:cNvSpPr>
          <p:nvPr>
            <p:ph type="sldNum" sz="quarter" idx="10"/>
          </p:nvPr>
        </p:nvSpPr>
        <p:spPr>
          <a:ln/>
        </p:spPr>
        <p:txBody>
          <a:bodyPr/>
          <a:lstStyle>
            <a:lvl1pPr>
              <a:defRPr/>
            </a:lvl1pPr>
          </a:lstStyle>
          <a:p>
            <a:pPr>
              <a:defRPr/>
            </a:pPr>
            <a:fld id="{7424AC5A-062C-40FB-B04D-A9FFEE37F806}" type="slidenum">
              <a:rPr lang="en-US" altLang="en-US"/>
              <a:pPr>
                <a:defRPr/>
              </a:pPr>
              <a:t>‹#›</a:t>
            </a:fld>
            <a:endParaRPr lang="en-US" altLang="en-US"/>
          </a:p>
        </p:txBody>
      </p:sp>
    </p:spTree>
    <p:extLst>
      <p:ext uri="{BB962C8B-B14F-4D97-AF65-F5344CB8AC3E}">
        <p14:creationId xmlns:p14="http://schemas.microsoft.com/office/powerpoint/2010/main" val="3271784153"/>
      </p:ext>
    </p:extLst>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D69E292D-98BF-6C60-8808-C0FA8EEC731A}"/>
              </a:ext>
            </a:extLst>
          </p:cNvPr>
          <p:cNvSpPr>
            <a:spLocks noGrp="1" noChangeArrowheads="1"/>
          </p:cNvSpPr>
          <p:nvPr>
            <p:ph type="sldNum" sz="quarter" idx="10"/>
          </p:nvPr>
        </p:nvSpPr>
        <p:spPr>
          <a:ln/>
        </p:spPr>
        <p:txBody>
          <a:bodyPr/>
          <a:lstStyle>
            <a:lvl1pPr>
              <a:defRPr/>
            </a:lvl1pPr>
          </a:lstStyle>
          <a:p>
            <a:pPr>
              <a:defRPr/>
            </a:pPr>
            <a:fld id="{0BA3620C-A191-4858-9F8E-F8BB9FFB081E}" type="slidenum">
              <a:rPr lang="en-US" altLang="en-US"/>
              <a:pPr>
                <a:defRPr/>
              </a:pPr>
              <a:t>‹#›</a:t>
            </a:fld>
            <a:endParaRPr lang="en-US" altLang="en-US"/>
          </a:p>
        </p:txBody>
      </p:sp>
    </p:spTree>
    <p:extLst>
      <p:ext uri="{BB962C8B-B14F-4D97-AF65-F5344CB8AC3E}">
        <p14:creationId xmlns:p14="http://schemas.microsoft.com/office/powerpoint/2010/main" val="1669481701"/>
      </p:ext>
    </p:extLst>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01675"/>
          </a:xfrm>
        </p:spPr>
        <p:txBody>
          <a:bodyPr/>
          <a:lstStyle/>
          <a:p>
            <a:r>
              <a:rPr lang="en-US"/>
              <a:t>Click to edit Master title style</a:t>
            </a:r>
          </a:p>
        </p:txBody>
      </p:sp>
      <p:sp>
        <p:nvSpPr>
          <p:cNvPr id="3" name="Table Placeholder 2"/>
          <p:cNvSpPr>
            <a:spLocks noGrp="1"/>
          </p:cNvSpPr>
          <p:nvPr>
            <p:ph type="tbl" idx="1"/>
          </p:nvPr>
        </p:nvSpPr>
        <p:spPr>
          <a:xfrm>
            <a:off x="0" y="708025"/>
            <a:ext cx="9144000" cy="6149975"/>
          </a:xfrm>
        </p:spPr>
        <p:txBody>
          <a:bodyPr/>
          <a:lstStyle/>
          <a:p>
            <a:pPr lvl="0"/>
            <a:endParaRPr lang="en-US" noProof="0"/>
          </a:p>
        </p:txBody>
      </p:sp>
      <p:sp>
        <p:nvSpPr>
          <p:cNvPr id="4" name="Rectangle 4"/>
          <p:cNvSpPr>
            <a:spLocks noGrp="1" noChangeArrowheads="1"/>
          </p:cNvSpPr>
          <p:nvPr>
            <p:ph type="sldNum" sz="quarter" idx="10"/>
          </p:nvPr>
        </p:nvSpPr>
        <p:spPr>
          <a:ln/>
        </p:spPr>
        <p:txBody>
          <a:bodyPr/>
          <a:lstStyle>
            <a:lvl1pPr>
              <a:defRPr/>
            </a:lvl1pPr>
          </a:lstStyle>
          <a:p>
            <a:pPr>
              <a:defRPr/>
            </a:pPr>
            <a:fld id="{1B6780B3-1FFE-4A05-B39F-027ADF50B54E}" type="slidenum">
              <a:rPr lang="en-US" altLang="en-US"/>
              <a:pPr>
                <a:defRPr/>
              </a:pPr>
              <a:t>‹#›</a:t>
            </a:fld>
            <a:endParaRPr lang="en-US" altLang="en-US"/>
          </a:p>
        </p:txBody>
      </p:sp>
    </p:spTree>
    <p:extLst>
      <p:ext uri="{BB962C8B-B14F-4D97-AF65-F5344CB8AC3E}">
        <p14:creationId xmlns:p14="http://schemas.microsoft.com/office/powerpoint/2010/main" val="4092030645"/>
      </p:ext>
    </p:extLst>
  </p:cSld>
  <p:clrMapOvr>
    <a:masterClrMapping/>
  </p:clrMapOvr>
  <p:transition>
    <p:pull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01675"/>
          </a:xfrm>
        </p:spPr>
        <p:txBody>
          <a:bodyPr/>
          <a:lstStyle/>
          <a:p>
            <a:r>
              <a:rPr lang="en-US"/>
              <a:t>Click to edit Master title style</a:t>
            </a:r>
          </a:p>
        </p:txBody>
      </p:sp>
      <p:sp>
        <p:nvSpPr>
          <p:cNvPr id="3" name="Text Placeholder 2"/>
          <p:cNvSpPr>
            <a:spLocks noGrp="1"/>
          </p:cNvSpPr>
          <p:nvPr>
            <p:ph type="body" sz="half" idx="1"/>
          </p:nvPr>
        </p:nvSpPr>
        <p:spPr>
          <a:xfrm>
            <a:off x="0" y="708025"/>
            <a:ext cx="4495800" cy="614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pPr>
              <a:defRPr/>
            </a:pPr>
            <a:fld id="{3AA26382-F49E-4C12-81C3-D6E5F2887E08}" type="slidenum">
              <a:rPr lang="en-US" altLang="en-US"/>
              <a:pPr>
                <a:defRPr/>
              </a:pPr>
              <a:t>‹#›</a:t>
            </a:fld>
            <a:endParaRPr lang="en-US" altLang="en-US"/>
          </a:p>
        </p:txBody>
      </p:sp>
    </p:spTree>
    <p:extLst>
      <p:ext uri="{BB962C8B-B14F-4D97-AF65-F5344CB8AC3E}">
        <p14:creationId xmlns:p14="http://schemas.microsoft.com/office/powerpoint/2010/main" val="432352005"/>
      </p:ext>
    </p:extLst>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1026">
            <a:extLst>
              <a:ext uri="{FF2B5EF4-FFF2-40B4-BE49-F238E27FC236}">
                <a16:creationId xmlns:a16="http://schemas.microsoft.com/office/drawing/2014/main" id="{5E474CE3-1C88-FFC4-0BB0-58A1D53E482E}"/>
              </a:ext>
            </a:extLst>
          </p:cNvPr>
          <p:cNvSpPr>
            <a:spLocks noGrp="1" noChangeArrowheads="1"/>
          </p:cNvSpPr>
          <p:nvPr>
            <p:ph type="title"/>
          </p:nvPr>
        </p:nvSpPr>
        <p:spPr bwMode="auto">
          <a:xfrm>
            <a:off x="0" y="0"/>
            <a:ext cx="9144000" cy="701675"/>
          </a:xfrm>
          <a:prstGeom prst="rect">
            <a:avLst/>
          </a:prstGeom>
          <a:solidFill>
            <a:schemeClr val="tx1"/>
          </a:solidFill>
          <a:ln>
            <a:noFill/>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3075" name="Rectangle 1027">
            <a:extLst>
              <a:ext uri="{FF2B5EF4-FFF2-40B4-BE49-F238E27FC236}">
                <a16:creationId xmlns:a16="http://schemas.microsoft.com/office/drawing/2014/main" id="{50CAEA9F-6E22-B3C5-7E67-CA1B5D923060}"/>
              </a:ext>
            </a:extLst>
          </p:cNvPr>
          <p:cNvSpPr>
            <a:spLocks noGrp="1" noChangeArrowheads="1"/>
          </p:cNvSpPr>
          <p:nvPr>
            <p:ph type="body" idx="1"/>
          </p:nvPr>
        </p:nvSpPr>
        <p:spPr bwMode="auto">
          <a:xfrm>
            <a:off x="0" y="708025"/>
            <a:ext cx="9144000" cy="6149975"/>
          </a:xfrm>
          <a:prstGeom prst="rect">
            <a:avLst/>
          </a:prstGeom>
          <a:noFill/>
          <a:ln>
            <a:noFill/>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Rectangle 1028">
            <a:extLst>
              <a:ext uri="{FF2B5EF4-FFF2-40B4-BE49-F238E27FC236}">
                <a16:creationId xmlns:a16="http://schemas.microsoft.com/office/drawing/2014/main" id="{DE28BDBA-1253-2CC5-6059-DA085B00B9D0}"/>
              </a:ext>
            </a:extLst>
          </p:cNvPr>
          <p:cNvSpPr>
            <a:spLocks noGrp="1" noChangeArrowheads="1"/>
          </p:cNvSpPr>
          <p:nvPr>
            <p:ph type="sldNum" sz="quarter" idx="4"/>
          </p:nvPr>
        </p:nvSpPr>
        <p:spPr bwMode="auto">
          <a:xfrm>
            <a:off x="8686800" y="6477000"/>
            <a:ext cx="381000" cy="304800"/>
          </a:xfrm>
          <a:prstGeom prst="rect">
            <a:avLst/>
          </a:prstGeom>
          <a:noFill/>
          <a:ln>
            <a:noFill/>
          </a:ln>
        </p:spPr>
        <p:txBody>
          <a:bodyPr vert="horz" wrap="square" lIns="91432" tIns="45716" rIns="91432" bIns="45716" numCol="1" anchor="t" anchorCtr="0" compatLnSpc="1">
            <a:prstTxWarp prst="textNoShape">
              <a:avLst/>
            </a:prstTxWarp>
          </a:bodyPr>
          <a:lstStyle>
            <a:lvl1pPr algn="r">
              <a:spcBef>
                <a:spcPct val="50000"/>
              </a:spcBef>
              <a:defRPr sz="1400" smtClean="0">
                <a:latin typeface="Arial Narrow" panose="020B0606020202030204" pitchFamily="34" charset="0"/>
              </a:defRPr>
            </a:lvl1pPr>
          </a:lstStyle>
          <a:p>
            <a:pPr>
              <a:defRPr/>
            </a:pPr>
            <a:fld id="{E2674B5F-D42C-46D9-8B69-F4150BE3AAEF}" type="slidenum">
              <a:rPr lang="en-US" altLang="en-US"/>
              <a:pPr>
                <a:defRPr/>
              </a:pPr>
              <a:t>‹#›</a:t>
            </a:fld>
            <a:endParaRPr lang="en-US" altLang="en-US"/>
          </a:p>
        </p:txBody>
      </p:sp>
      <p:sp>
        <p:nvSpPr>
          <p:cNvPr id="1029" name="Rectangle 1029">
            <a:extLst>
              <a:ext uri="{FF2B5EF4-FFF2-40B4-BE49-F238E27FC236}">
                <a16:creationId xmlns:a16="http://schemas.microsoft.com/office/drawing/2014/main" id="{ADC2C8EF-AD87-9465-7F56-FA1C011BAFA8}"/>
              </a:ext>
            </a:extLst>
          </p:cNvPr>
          <p:cNvSpPr>
            <a:spLocks noChangeArrowheads="1"/>
          </p:cNvSpPr>
          <p:nvPr/>
        </p:nvSpPr>
        <p:spPr bwMode="auto">
          <a:xfrm>
            <a:off x="463550" y="1812925"/>
            <a:ext cx="1905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Tree>
  </p:cSld>
  <p:clrMap bg1="lt1" tx1="dk1" bg2="lt2" tx2="dk2" accent1="accent1" accent2="accent2" accent3="accent3" accent4="accent4" accent5="accent5" accent6="accent6" hlink="hlink" folHlink="folHlink"/>
  <p:sldLayoutIdLst>
    <p:sldLayoutId id="2147483744"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5" r:id="rId12"/>
    <p:sldLayoutId id="2147483746" r:id="rId13"/>
  </p:sldLayoutIdLst>
  <p:transition>
    <p:pull dir="d"/>
  </p:transition>
  <p:txStyles>
    <p:titleStyle>
      <a:lvl1pPr algn="l" rtl="0" eaLnBrk="0" fontAlgn="base" hangingPunct="0">
        <a:spcBef>
          <a:spcPct val="0"/>
        </a:spcBef>
        <a:spcAft>
          <a:spcPct val="0"/>
        </a:spcAft>
        <a:defRPr kumimoji="1" sz="4000"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2pPr>
      <a:lvl3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3pPr>
      <a:lvl4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4pPr>
      <a:lvl5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5pPr>
      <a:lvl6pPr marL="4572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6pPr>
      <a:lvl7pPr marL="9144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7pPr>
      <a:lvl8pPr marL="13716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8pPr>
      <a:lvl9pPr marL="18288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eaLnBrk="0" fontAlgn="base" hangingPunct="0">
        <a:spcBef>
          <a:spcPct val="20000"/>
        </a:spcBef>
        <a:spcAft>
          <a:spcPct val="0"/>
        </a:spcAft>
        <a:buClr>
          <a:schemeClr val="accent1"/>
        </a:buClr>
        <a:buSzPct val="85000"/>
        <a:buFont typeface="Wingdings 2" panose="05020102010507070707" pitchFamily="18" charset="2"/>
        <a:buChar char="ã"/>
        <a:defRPr kumimoji="1" sz="2800" kern="1200">
          <a:solidFill>
            <a:schemeClr val="accent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l"/>
        <a:defRPr kumimoji="1" sz="2300" kern="1200">
          <a:solidFill>
            <a:schemeClr val="hlink"/>
          </a:solidFill>
          <a:effectLst>
            <a:outerShdw blurRad="38100" dist="38100" dir="2700000" algn="tl">
              <a:srgbClr val="C0C0C0"/>
            </a:outerShdw>
          </a:effectLst>
          <a:latin typeface="+mn-lt"/>
          <a:ea typeface="+mn-ea"/>
          <a:cs typeface="+mn-cs"/>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kumimoji="1" sz="2000" kern="1200">
          <a:solidFill>
            <a:schemeClr val="tx1"/>
          </a:solidFill>
          <a:effectLst>
            <a:outerShdw blurRad="38100" dist="38100" dir="2700000" algn="tl">
              <a:srgbClr val="C0C0C0"/>
            </a:outerShdw>
          </a:effectLst>
          <a:latin typeface="+mn-lt"/>
          <a:ea typeface="+mn-ea"/>
          <a:cs typeface="+mn-cs"/>
        </a:defRPr>
      </a:lvl3pPr>
      <a:lvl4pPr marL="1600200" indent="-228600" algn="l" rtl="0" eaLnBrk="0" fontAlgn="base" hangingPunct="0">
        <a:spcBef>
          <a:spcPct val="20000"/>
        </a:spcBef>
        <a:spcAft>
          <a:spcPct val="0"/>
        </a:spcAft>
        <a:buChar char="–"/>
        <a:defRPr kumimoji="1" kern="1200">
          <a:solidFill>
            <a:schemeClr val="tx1"/>
          </a:solidFill>
          <a:effectLst>
            <a:outerShdw blurRad="38100" dist="38100" dir="2700000" algn="tl">
              <a:srgbClr val="C0C0C0"/>
            </a:outerShdw>
          </a:effectLst>
          <a:latin typeface="+mn-lt"/>
          <a:ea typeface="+mn-ea"/>
          <a:cs typeface="+mn-cs"/>
        </a:defRPr>
      </a:lvl4pPr>
      <a:lvl5pPr marL="2057400" indent="-228600" algn="l" rtl="0" eaLnBrk="0" fontAlgn="base" hangingPunct="0">
        <a:spcBef>
          <a:spcPct val="20000"/>
        </a:spcBef>
        <a:spcAft>
          <a:spcPct val="0"/>
        </a:spcAft>
        <a:buChar char="»"/>
        <a:defRPr kumimoji="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8.bin"/></Relationships>
</file>

<file path=ppt/slides/_rels/slide5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0.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4.bin"/><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oleObject" Target="../embeddings/oleObject16.bin"/></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18.bin"/></Relationships>
</file>

<file path=ppt/slides/_rels/slide6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21.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4.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25.bin"/></Relationships>
</file>

<file path=ppt/slides/_rels/slide7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6.bin"/><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7.bin"/><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A3DB4C1-B08A-5B03-81A0-A2B3BFA7E5E3}"/>
              </a:ext>
            </a:extLst>
          </p:cNvPr>
          <p:cNvSpPr>
            <a:spLocks noGrp="1" noChangeArrowheads="1"/>
          </p:cNvSpPr>
          <p:nvPr>
            <p:ph type="ctrTitle"/>
          </p:nvPr>
        </p:nvSpPr>
        <p:spPr/>
        <p:txBody>
          <a:bodyPr/>
          <a:lstStyle/>
          <a:p>
            <a:pPr>
              <a:defRPr/>
            </a:pPr>
            <a:r>
              <a:rPr lang="hr-HR" altLang="en-US"/>
              <a:t>Pralelni računarski sistemi</a:t>
            </a:r>
            <a:endParaRPr lang="en-US" altLang="en-US"/>
          </a:p>
        </p:txBody>
      </p:sp>
      <p:sp>
        <p:nvSpPr>
          <p:cNvPr id="2051" name="Rectangle 3">
            <a:extLst>
              <a:ext uri="{FF2B5EF4-FFF2-40B4-BE49-F238E27FC236}">
                <a16:creationId xmlns:a16="http://schemas.microsoft.com/office/drawing/2014/main" id="{F026A2DB-738D-DE90-AA68-25C8F12C56E4}"/>
              </a:ext>
            </a:extLst>
          </p:cNvPr>
          <p:cNvSpPr>
            <a:spLocks noGrp="1" noChangeArrowheads="1"/>
          </p:cNvSpPr>
          <p:nvPr>
            <p:ph type="subTitle" idx="1"/>
          </p:nvPr>
        </p:nvSpPr>
        <p:spPr/>
        <p:txBody>
          <a:bodyPr/>
          <a:lstStyle/>
          <a:p>
            <a:pPr>
              <a:defRPr/>
            </a:pPr>
            <a:r>
              <a:rPr lang="hr-HR" altLang="en-US"/>
              <a:t>Vektorski procesori</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C27DB67-9BEB-9C9D-4CAE-4DF4D6DD02B7}"/>
              </a:ext>
            </a:extLst>
          </p:cNvPr>
          <p:cNvSpPr>
            <a:spLocks noGrp="1" noChangeArrowheads="1"/>
          </p:cNvSpPr>
          <p:nvPr>
            <p:ph type="title"/>
          </p:nvPr>
        </p:nvSpPr>
        <p:spPr/>
        <p:txBody>
          <a:bodyPr/>
          <a:lstStyle/>
          <a:p>
            <a:pPr>
              <a:defRPr/>
            </a:pPr>
            <a:r>
              <a:rPr lang="hr-HR" altLang="en-US"/>
              <a:t>Vektorski procesori</a:t>
            </a:r>
            <a:endParaRPr lang="en-US" altLang="en-US"/>
          </a:p>
        </p:txBody>
      </p:sp>
      <p:sp>
        <p:nvSpPr>
          <p:cNvPr id="65539" name="Rectangle 3">
            <a:extLst>
              <a:ext uri="{FF2B5EF4-FFF2-40B4-BE49-F238E27FC236}">
                <a16:creationId xmlns:a16="http://schemas.microsoft.com/office/drawing/2014/main" id="{CA852F87-25BF-9CD2-3B92-07AC819AF851}"/>
              </a:ext>
            </a:extLst>
          </p:cNvPr>
          <p:cNvSpPr>
            <a:spLocks noGrp="1" noChangeArrowheads="1"/>
          </p:cNvSpPr>
          <p:nvPr>
            <p:ph type="body" idx="1"/>
          </p:nvPr>
        </p:nvSpPr>
        <p:spPr/>
        <p:txBody>
          <a:bodyPr/>
          <a:lstStyle/>
          <a:p>
            <a:pPr marL="533400" indent="-533400">
              <a:defRPr/>
            </a:pPr>
            <a:r>
              <a:rPr lang="hr-HR" altLang="en-US" dirty="0"/>
              <a:t>Uvodjenjem protočnosti u izvršenju instrukcija značajno se može povećeti brzina obrade.</a:t>
            </a:r>
          </a:p>
          <a:p>
            <a:pPr marL="895350" lvl="1" indent="-438150">
              <a:defRPr/>
            </a:pPr>
            <a:r>
              <a:rPr lang="hr-HR" altLang="en-US" dirty="0"/>
              <a:t>Kod protočne obrade javljaju se mnogi problemi koji mogu umanjiti vršne performsnse</a:t>
            </a:r>
          </a:p>
          <a:p>
            <a:pPr marL="1295400" lvl="2" indent="-381000">
              <a:buFont typeface="Wingdings" panose="05000000000000000000" pitchFamily="2" charset="2"/>
              <a:buAutoNum type="arabicPeriod"/>
              <a:defRPr/>
            </a:pPr>
            <a:r>
              <a:rPr lang="hr-HR" altLang="en-US" dirty="0"/>
              <a:t>Brzina protočne obrade može se povećati smanjenjm klo</a:t>
            </a:r>
            <a:r>
              <a:rPr lang="en-US" altLang="en-US" dirty="0"/>
              <a:t>k</a:t>
            </a:r>
            <a:r>
              <a:rPr lang="hr-HR" altLang="en-US" dirty="0"/>
              <a:t> ciklusa.</a:t>
            </a:r>
          </a:p>
          <a:p>
            <a:pPr marL="1714500" lvl="3" indent="-342900">
              <a:buFont typeface="Wingdings" panose="05000000000000000000" pitchFamily="2" charset="2"/>
              <a:buChar char="Ø"/>
              <a:defRPr/>
            </a:pPr>
            <a:r>
              <a:rPr lang="hr-HR" altLang="en-US" dirty="0"/>
              <a:t>Da bi se klok ciklus smanjio, potrebno je izvršiti podelu osnovne funkcije na veći broj podfunkcija, a to zahteva dublje protočne sisteme.</a:t>
            </a:r>
          </a:p>
          <a:p>
            <a:pPr marL="1714500" lvl="3" indent="-342900">
              <a:buFont typeface="Wingdings" panose="05000000000000000000" pitchFamily="2" charset="2"/>
              <a:buChar char="Ø"/>
              <a:defRPr/>
            </a:pPr>
            <a:r>
              <a:rPr lang="hr-HR" altLang="en-US" dirty="0"/>
              <a:t>Što je dublji protočni sistem, to su šanse za nastupanje hazarda veće (kod neporotočnih sistema ne postoje hazardi)</a:t>
            </a:r>
          </a:p>
          <a:p>
            <a:pPr marL="1295400" lvl="2" indent="-381000">
              <a:buFont typeface="Wingdings" panose="05000000000000000000" pitchFamily="2" charset="2"/>
              <a:buAutoNum type="arabicPeriod"/>
              <a:defRPr/>
            </a:pPr>
            <a:r>
              <a:rPr lang="hr-HR" altLang="en-US" dirty="0"/>
              <a:t>Maxmalna brzina rada protočne mašine u idealnom slučaju je 1istr/clk</a:t>
            </a:r>
          </a:p>
          <a:p>
            <a:pPr marL="1714500" lvl="3" indent="-342900">
              <a:buFont typeface="Wingdings" panose="05000000000000000000" pitchFamily="2" charset="2"/>
              <a:buChar char="Ø"/>
              <a:defRPr/>
            </a:pPr>
            <a:r>
              <a:rPr lang="hr-HR" altLang="en-US" dirty="0"/>
              <a:t>U realnim situacijama, br. istr/clk je manji zbog na</a:t>
            </a:r>
            <a:r>
              <a:rPr lang="en-US" altLang="en-US" dirty="0"/>
              <a:t>s</a:t>
            </a:r>
            <a:r>
              <a:rPr lang="hr-HR" altLang="en-US" dirty="0"/>
              <a:t>tupanja hazarda</a:t>
            </a:r>
          </a:p>
          <a:p>
            <a:pPr marL="1714500" lvl="3" indent="-342900">
              <a:buFont typeface="Wingdings" panose="05000000000000000000" pitchFamily="2" charset="2"/>
              <a:buChar char="Ø"/>
              <a:defRPr/>
            </a:pPr>
            <a:r>
              <a:rPr lang="hr-HR" altLang="en-US" dirty="0"/>
              <a:t>Superskalarnom i </a:t>
            </a:r>
            <a:r>
              <a:rPr lang="en-US" altLang="en-US" dirty="0"/>
              <a:t>VLIW</a:t>
            </a:r>
            <a:r>
              <a:rPr lang="hr-HR" altLang="en-US" dirty="0"/>
              <a:t> tehnikom je moguće povećati brzinu dava do tri puta</a:t>
            </a:r>
          </a:p>
          <a:p>
            <a:pPr marL="1714500" lvl="3" indent="-342900">
              <a:buFont typeface="Wingdings" panose="05000000000000000000" pitchFamily="2" charset="2"/>
              <a:buChar char="Ø"/>
              <a:defRPr/>
            </a:pPr>
            <a:r>
              <a:rPr lang="hr-HR" altLang="en-US" dirty="0"/>
              <a:t>Pribavljanje i izdavanje većeg broja instrukcija je jako komplikovano.</a:t>
            </a:r>
            <a:endParaRPr lang="en-US" altLang="en-US" dirty="0"/>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92E9AB3-D799-6570-65DD-3497019791B6}"/>
              </a:ext>
            </a:extLst>
          </p:cNvPr>
          <p:cNvSpPr>
            <a:spLocks noGrp="1" noChangeArrowheads="1"/>
          </p:cNvSpPr>
          <p:nvPr>
            <p:ph type="title"/>
          </p:nvPr>
        </p:nvSpPr>
        <p:spPr/>
        <p:txBody>
          <a:bodyPr/>
          <a:lstStyle/>
          <a:p>
            <a:pPr>
              <a:defRPr/>
            </a:pPr>
            <a:r>
              <a:rPr lang="hr-HR" altLang="en-US"/>
              <a:t>Vektorski procesori (nast.)</a:t>
            </a:r>
            <a:endParaRPr lang="en-US" altLang="en-US"/>
          </a:p>
        </p:txBody>
      </p:sp>
      <p:sp>
        <p:nvSpPr>
          <p:cNvPr id="1027" name="Rectangle 3">
            <a:extLst>
              <a:ext uri="{FF2B5EF4-FFF2-40B4-BE49-F238E27FC236}">
                <a16:creationId xmlns:a16="http://schemas.microsoft.com/office/drawing/2014/main" id="{0D84174D-921F-EB59-5094-5CC04B3133FB}"/>
              </a:ext>
            </a:extLst>
          </p:cNvPr>
          <p:cNvSpPr>
            <a:spLocks noGrp="1" noChangeArrowheads="1"/>
          </p:cNvSpPr>
          <p:nvPr>
            <p:ph type="body" idx="1"/>
          </p:nvPr>
        </p:nvSpPr>
        <p:spPr/>
        <p:txBody>
          <a:bodyPr/>
          <a:lstStyle/>
          <a:p>
            <a:pPr lvl="1">
              <a:buFont typeface="Wingdings" panose="05000000000000000000" pitchFamily="2" charset="2"/>
              <a:buNone/>
              <a:defRPr/>
            </a:pPr>
            <a:r>
              <a:rPr lang="hr-HR" altLang="en-US" dirty="0"/>
              <a:t>3. Brza protočna mašina obično koristi keš memoriju da bi se izbegla velika latentnost kod instruk</a:t>
            </a:r>
            <a:r>
              <a:rPr lang="en-US" altLang="en-US" dirty="0"/>
              <a:t>c</a:t>
            </a:r>
            <a:r>
              <a:rPr lang="hr-HR" altLang="en-US" dirty="0"/>
              <a:t>ija koje se obraćaju memoriji</a:t>
            </a:r>
          </a:p>
          <a:p>
            <a:pPr lvl="2">
              <a:defRPr/>
            </a:pPr>
            <a:r>
              <a:rPr lang="hr-HR" altLang="en-US" dirty="0"/>
              <a:t> Obimni naučno-tehnički problemi često imaju aktivne skupove podataka kojima se pristupa sa niskom lokalnošću, što dovodi do loših performansi zbog memorijske hijerarhije</a:t>
            </a:r>
          </a:p>
          <a:p>
            <a:pPr lvl="2">
              <a:defRPr/>
            </a:pPr>
            <a:r>
              <a:rPr lang="hr-HR" altLang="en-US" dirty="0"/>
              <a:t>Problem se može rešiti tako što se ovi podaci neće smeštati u keš</a:t>
            </a:r>
          </a:p>
          <a:p>
            <a:pPr lvl="2">
              <a:defRPr/>
            </a:pPr>
            <a:r>
              <a:rPr lang="hr-HR" altLang="en-US" dirty="0"/>
              <a:t>Ako su oblici pristupa podacima poznati, adekvatnom organizacijom memorije se problemi mogu rešiti</a:t>
            </a:r>
          </a:p>
          <a:p>
            <a:pPr>
              <a:defRPr/>
            </a:pPr>
            <a:r>
              <a:rPr lang="hr-HR" altLang="en-US" dirty="0"/>
              <a:t>Pobrojani problemi mogu uspešno biti rešeni korišćenjem vektorskih </a:t>
            </a:r>
            <a:r>
              <a:rPr lang="en-US" altLang="en-US" dirty="0" err="1"/>
              <a:t>ra</a:t>
            </a:r>
            <a:r>
              <a:rPr lang="sr-Latn-RS" altLang="en-US" dirty="0"/>
              <a:t>č</a:t>
            </a:r>
            <a:r>
              <a:rPr lang="en-US" altLang="en-US" dirty="0" err="1"/>
              <a:t>nara</a:t>
            </a:r>
            <a:endParaRPr lang="hr-HR" altLang="en-US" dirty="0"/>
          </a:p>
          <a:p>
            <a:pPr lvl="1">
              <a:defRPr/>
            </a:pPr>
            <a:r>
              <a:rPr lang="hr-HR" altLang="en-US" dirty="0"/>
              <a:t>Vektorski procesor je procesor specijalno projektova</a:t>
            </a:r>
            <a:r>
              <a:rPr lang="en-US" altLang="en-US" dirty="0"/>
              <a:t>n</a:t>
            </a:r>
            <a:r>
              <a:rPr lang="hr-HR" altLang="en-US" dirty="0"/>
              <a:t> da obavlja vektorska iztačunavanja</a:t>
            </a:r>
          </a:p>
          <a:p>
            <a:pPr lvl="2">
              <a:defRPr/>
            </a:pPr>
            <a:r>
              <a:rPr lang="hr-HR" altLang="en-US" dirty="0"/>
              <a:t>Vektorske instrukcije kao perande imaju linearna polja (vektore) (npr. jednom vektorskom instrukcijom je </a:t>
            </a:r>
            <a:r>
              <a:rPr lang="en-US" altLang="en-US"/>
              <a:t>m</a:t>
            </a:r>
            <a:r>
              <a:rPr lang="hr-HR" altLang="en-US"/>
              <a:t>oguće </a:t>
            </a:r>
            <a:r>
              <a:rPr lang="hr-HR" altLang="en-US" dirty="0"/>
              <a:t>sabrati dva vektora)</a:t>
            </a:r>
          </a:p>
          <a:p>
            <a:pPr lvl="2">
              <a:buFont typeface="Wingdings" panose="05000000000000000000" pitchFamily="2" charset="2"/>
              <a:buNone/>
              <a:defRPr/>
            </a:pPr>
            <a:endParaRPr lang="en-US" altLang="en-US" dirty="0"/>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CE65D05-45A3-6986-298B-4AE0C62C7DDD}"/>
              </a:ext>
            </a:extLst>
          </p:cNvPr>
          <p:cNvSpPr>
            <a:spLocks noGrp="1" noChangeArrowheads="1"/>
          </p:cNvSpPr>
          <p:nvPr>
            <p:ph type="title"/>
          </p:nvPr>
        </p:nvSpPr>
        <p:spPr/>
        <p:txBody>
          <a:bodyPr/>
          <a:lstStyle/>
          <a:p>
            <a:pPr>
              <a:defRPr/>
            </a:pPr>
            <a:r>
              <a:rPr lang="hr-HR" altLang="en-US"/>
              <a:t>Osobine vektorskih istrukcija</a:t>
            </a:r>
            <a:endParaRPr lang="en-US" altLang="en-US"/>
          </a:p>
        </p:txBody>
      </p:sp>
      <p:sp>
        <p:nvSpPr>
          <p:cNvPr id="6147" name="Rectangle 3">
            <a:extLst>
              <a:ext uri="{FF2B5EF4-FFF2-40B4-BE49-F238E27FC236}">
                <a16:creationId xmlns:a16="http://schemas.microsoft.com/office/drawing/2014/main" id="{4A743AD9-CB0D-7D0F-4C64-641AC8D31919}"/>
              </a:ext>
            </a:extLst>
          </p:cNvPr>
          <p:cNvSpPr>
            <a:spLocks noGrp="1" noChangeArrowheads="1"/>
          </p:cNvSpPr>
          <p:nvPr>
            <p:ph type="body" idx="1"/>
          </p:nvPr>
        </p:nvSpPr>
        <p:spPr/>
        <p:txBody>
          <a:bodyPr/>
          <a:lstStyle/>
          <a:p>
            <a:pPr>
              <a:lnSpc>
                <a:spcPct val="90000"/>
              </a:lnSpc>
              <a:defRPr/>
            </a:pPr>
            <a:r>
              <a:rPr lang="en-US" altLang="en-US" sz="2400" dirty="0"/>
              <a:t>U </a:t>
            </a:r>
            <a:r>
              <a:rPr lang="en-US" altLang="en-US" sz="2400" dirty="0" err="1"/>
              <a:t>vektorskoj</a:t>
            </a:r>
            <a:r>
              <a:rPr lang="en-US" altLang="en-US" sz="2400" dirty="0"/>
              <a:t> </a:t>
            </a:r>
            <a:r>
              <a:rPr lang="en-US" altLang="en-US" sz="2400" dirty="0" err="1"/>
              <a:t>instrukciji</a:t>
            </a:r>
            <a:r>
              <a:rPr lang="en-US" altLang="en-US" sz="2400" dirty="0"/>
              <a:t> </a:t>
            </a:r>
            <a:r>
              <a:rPr lang="en-US" altLang="en-US" sz="2400" dirty="0" err="1"/>
              <a:t>i</a:t>
            </a:r>
            <a:r>
              <a:rPr lang="hr-HR" altLang="en-US" sz="2400" dirty="0"/>
              <a:t>zračunavanje svakog elementa je nezavisno od prethodnog rezultata, što dozvoljava korišćenje veoma dubokih protočnih sistema bez šansi za nastupanje hazarda po podacima</a:t>
            </a:r>
          </a:p>
          <a:p>
            <a:pPr lvl="1">
              <a:lnSpc>
                <a:spcPct val="90000"/>
              </a:lnSpc>
              <a:defRPr/>
            </a:pPr>
            <a:r>
              <a:rPr lang="hr-HR" altLang="en-US" sz="2100" dirty="0"/>
              <a:t>Odsustvo hazarda je odredjeno od strane kompajlera ili programera, kada je odlučeno da se može iskoristiti vektorska instrukcija</a:t>
            </a:r>
          </a:p>
          <a:p>
            <a:pPr>
              <a:lnSpc>
                <a:spcPct val="90000"/>
              </a:lnSpc>
              <a:defRPr/>
            </a:pPr>
            <a:r>
              <a:rPr lang="hr-HR" altLang="en-US" sz="2400" dirty="0"/>
              <a:t>Jedana vektorska instrukcija specificira veliki posao</a:t>
            </a:r>
          </a:p>
          <a:p>
            <a:pPr lvl="1">
              <a:lnSpc>
                <a:spcPct val="90000"/>
              </a:lnSpc>
              <a:defRPr/>
            </a:pPr>
            <a:r>
              <a:rPr lang="hr-HR" altLang="en-US" sz="2100" dirty="0"/>
              <a:t>ekvivalentan aje izvršenju cele petlje u kojo se u svakoj iteraciji izračunava jedan element vektora, ažuriraju indeksi i vrši grananje na početak petlje</a:t>
            </a:r>
          </a:p>
          <a:p>
            <a:pPr>
              <a:lnSpc>
                <a:spcPct val="90000"/>
              </a:lnSpc>
              <a:defRPr/>
            </a:pPr>
            <a:r>
              <a:rPr lang="hr-HR" altLang="en-US" sz="2400" dirty="0"/>
              <a:t>Vektorske instrukcije koje pristupaju memoriji imaju poznate oblike pristupa </a:t>
            </a:r>
          </a:p>
          <a:p>
            <a:pPr lvl="1">
              <a:lnSpc>
                <a:spcPct val="90000"/>
              </a:lnSpc>
              <a:defRPr/>
            </a:pPr>
            <a:r>
              <a:rPr lang="hr-HR" altLang="en-US" sz="2100" dirty="0"/>
              <a:t>adekvatnim načinom smeštanja podataka može se kompenzovati velika latentnost pristupa memoriji.</a:t>
            </a:r>
          </a:p>
          <a:p>
            <a:pPr lvl="1">
              <a:lnSpc>
                <a:spcPct val="90000"/>
              </a:lnSpc>
              <a:defRPr/>
            </a:pPr>
            <a:r>
              <a:rPr lang="hr-HR" altLang="en-US" sz="2100" dirty="0"/>
              <a:t>visoka latentnost pristupa glavnoj memoriji u odnosu na keš je amortizovana jer se jedan pristup inicira za ceo vektor, a ne za jednu reč (latentnost je vidljiva samo jednom za ceo vektoor, a ne za svaki element vektora)</a:t>
            </a:r>
            <a:endParaRPr lang="en-US" altLang="en-US" sz="2100" dirty="0"/>
          </a:p>
        </p:txBody>
      </p:sp>
    </p:spTree>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17F6B26-71C8-A676-070D-FFAF00C04B54}"/>
              </a:ext>
            </a:extLst>
          </p:cNvPr>
          <p:cNvSpPr>
            <a:spLocks noGrp="1" noChangeArrowheads="1"/>
          </p:cNvSpPr>
          <p:nvPr>
            <p:ph type="title"/>
          </p:nvPr>
        </p:nvSpPr>
        <p:spPr/>
        <p:txBody>
          <a:bodyPr/>
          <a:lstStyle/>
          <a:p>
            <a:pPr>
              <a:defRPr/>
            </a:pPr>
            <a:r>
              <a:rPr lang="hr-HR" altLang="en-US"/>
              <a:t>Osobine vektorskih istrukcija (nast.)</a:t>
            </a:r>
            <a:endParaRPr lang="en-US" altLang="en-US"/>
          </a:p>
        </p:txBody>
      </p:sp>
      <p:sp>
        <p:nvSpPr>
          <p:cNvPr id="7171" name="Rectangle 3">
            <a:extLst>
              <a:ext uri="{FF2B5EF4-FFF2-40B4-BE49-F238E27FC236}">
                <a16:creationId xmlns:a16="http://schemas.microsoft.com/office/drawing/2014/main" id="{A3DCC189-A5E9-F3D7-55EB-3A0C55691A1B}"/>
              </a:ext>
            </a:extLst>
          </p:cNvPr>
          <p:cNvSpPr>
            <a:spLocks noGrp="1" noChangeArrowheads="1"/>
          </p:cNvSpPr>
          <p:nvPr>
            <p:ph type="body" idx="1"/>
          </p:nvPr>
        </p:nvSpPr>
        <p:spPr/>
        <p:txBody>
          <a:bodyPr/>
          <a:lstStyle/>
          <a:p>
            <a:pPr>
              <a:defRPr/>
            </a:pPr>
            <a:r>
              <a:rPr lang="hr-HR" altLang="en-US" dirty="0"/>
              <a:t>Pošto je cela petlja zamenjena vektorskom instrukcijom, kontrolni hazardi koji bi normalno nastupli zbog grananja na početak petlje, ne postoje!</a:t>
            </a:r>
          </a:p>
          <a:p>
            <a:pPr>
              <a:defRPr/>
            </a:pPr>
            <a:r>
              <a:rPr lang="hr-HR" altLang="en-US" dirty="0"/>
              <a:t>Dobro vektorizovanim programskim kodom moguće je postići 10 do 20 puta veće brzine obrade od ekvivalentnog niza skalarnih instrukcija</a:t>
            </a:r>
          </a:p>
          <a:p>
            <a:pPr>
              <a:defRPr/>
            </a:pPr>
            <a:r>
              <a:rPr lang="hr-HR" altLang="en-US" dirty="0"/>
              <a:t>PRIMER:</a:t>
            </a:r>
          </a:p>
          <a:p>
            <a:pPr lvl="2">
              <a:buFont typeface="Wingdings" panose="05000000000000000000" pitchFamily="2" charset="2"/>
              <a:buNone/>
              <a:defRPr/>
            </a:pPr>
            <a:r>
              <a:rPr lang="hr-HR" altLang="en-US" dirty="0"/>
              <a:t>for i:=1 to n		</a:t>
            </a:r>
          </a:p>
          <a:p>
            <a:pPr lvl="2">
              <a:buFont typeface="Wingdings" panose="05000000000000000000" pitchFamily="2" charset="2"/>
              <a:buNone/>
              <a:defRPr/>
            </a:pPr>
            <a:r>
              <a:rPr lang="hr-HR" altLang="en-US" dirty="0"/>
              <a:t>A(I):=B</a:t>
            </a:r>
            <a:r>
              <a:rPr lang="en-US" altLang="en-US" dirty="0"/>
              <a:t>(</a:t>
            </a:r>
            <a:r>
              <a:rPr lang="hr-HR" altLang="en-US" dirty="0"/>
              <a:t>I</a:t>
            </a:r>
            <a:r>
              <a:rPr lang="en-US" altLang="en-US" dirty="0"/>
              <a:t>)</a:t>
            </a:r>
            <a:r>
              <a:rPr lang="hr-HR" altLang="en-US" dirty="0"/>
              <a:t>+C(I);           </a:t>
            </a:r>
            <a:r>
              <a:rPr lang="hr-HR" altLang="en-US" dirty="0">
                <a:sym typeface="Symbol" panose="05050102010706020507" pitchFamily="18" charset="2"/>
              </a:rPr>
              <a:t></a:t>
            </a:r>
            <a:endParaRPr lang="hr-HR" altLang="en-US" dirty="0"/>
          </a:p>
          <a:p>
            <a:pPr lvl="2">
              <a:buFont typeface="Wingdings" panose="05000000000000000000" pitchFamily="2" charset="2"/>
              <a:buNone/>
              <a:defRPr/>
            </a:pPr>
            <a:endParaRPr lang="hr-HR" altLang="en-US" dirty="0"/>
          </a:p>
          <a:p>
            <a:pPr>
              <a:defRPr/>
            </a:pPr>
            <a:endParaRPr lang="en-US" altLang="en-US" dirty="0"/>
          </a:p>
        </p:txBody>
      </p:sp>
      <p:sp>
        <p:nvSpPr>
          <p:cNvPr id="7172" name="Text Box 4">
            <a:extLst>
              <a:ext uri="{FF2B5EF4-FFF2-40B4-BE49-F238E27FC236}">
                <a16:creationId xmlns:a16="http://schemas.microsoft.com/office/drawing/2014/main" id="{26410C1C-00F5-5A93-39A8-E56F0D72846B}"/>
              </a:ext>
            </a:extLst>
          </p:cNvPr>
          <p:cNvSpPr txBox="1">
            <a:spLocks noChangeArrowheads="1"/>
          </p:cNvSpPr>
          <p:nvPr/>
        </p:nvSpPr>
        <p:spPr bwMode="auto">
          <a:xfrm>
            <a:off x="3581400" y="4419600"/>
            <a:ext cx="3733800" cy="396875"/>
          </a:xfrm>
          <a:prstGeom prst="rect">
            <a:avLst/>
          </a:prstGeom>
          <a:noFill/>
          <a:ln>
            <a:noFill/>
          </a:ln>
          <a:effectLst/>
        </p:spPr>
        <p:txBody>
          <a:bodyPr anchor="b">
            <a:spAutoFit/>
          </a:bodyPr>
          <a:lstStyle/>
          <a:p>
            <a:pPr lvl="2">
              <a:spcBef>
                <a:spcPct val="20000"/>
              </a:spcBef>
              <a:buClr>
                <a:schemeClr val="tx1"/>
              </a:buClr>
              <a:buFont typeface="Wingdings" panose="05000000000000000000" pitchFamily="2" charset="2"/>
              <a:buNone/>
              <a:defRPr/>
            </a:pPr>
            <a:r>
              <a:rPr kumimoji="1" lang="hr-HR" altLang="en-US" sz="2000">
                <a:effectLst>
                  <a:outerShdw blurRad="38100" dist="38100" dir="2700000" algn="tl">
                    <a:srgbClr val="C0C0C0"/>
                  </a:outerShdw>
                </a:effectLst>
                <a:latin typeface="Tahoma" panose="020B0604030504040204" pitchFamily="34" charset="0"/>
              </a:rPr>
              <a:t>A(1:N)=B(1:N)+C(1:N)</a:t>
            </a:r>
            <a:endParaRPr lang="en-US" altLang="en-US"/>
          </a:p>
        </p:txBody>
      </p:sp>
      <p:sp>
        <p:nvSpPr>
          <p:cNvPr id="8197" name="Rectangle 6">
            <a:extLst>
              <a:ext uri="{FF2B5EF4-FFF2-40B4-BE49-F238E27FC236}">
                <a16:creationId xmlns:a16="http://schemas.microsoft.com/office/drawing/2014/main" id="{B7AADB94-D639-56EC-D830-69C0ECD731DF}"/>
              </a:ext>
            </a:extLst>
          </p:cNvPr>
          <p:cNvSpPr>
            <a:spLocks noChangeArrowheads="1"/>
          </p:cNvSpPr>
          <p:nvPr/>
        </p:nvSpPr>
        <p:spPr bwMode="auto">
          <a:xfrm>
            <a:off x="4905375" y="5464175"/>
            <a:ext cx="2609850" cy="11906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800">
                <a:solidFill>
                  <a:schemeClr val="tx1"/>
                </a:solidFill>
                <a:latin typeface="Arial" panose="020B0604020202020204" pitchFamily="34" charset="0"/>
              </a:rPr>
              <a:t>jedno pribavljanje i</a:t>
            </a:r>
          </a:p>
          <a:p>
            <a:pPr algn="ctr">
              <a:spcBef>
                <a:spcPct val="0"/>
              </a:spcBef>
              <a:buClrTx/>
              <a:buSzTx/>
              <a:buFontTx/>
              <a:buNone/>
            </a:pPr>
            <a:r>
              <a:rPr kumimoji="0" lang="hr-HR" altLang="en-US" sz="1800">
                <a:solidFill>
                  <a:schemeClr val="tx1"/>
                </a:solidFill>
                <a:latin typeface="Arial" panose="020B0604020202020204" pitchFamily="34" charset="0"/>
              </a:rPr>
              <a:t>jedno dekodiranje</a:t>
            </a:r>
          </a:p>
          <a:p>
            <a:pPr algn="ctr">
              <a:spcBef>
                <a:spcPct val="0"/>
              </a:spcBef>
              <a:buClrTx/>
              <a:buSzTx/>
              <a:buFontTx/>
              <a:buNone/>
            </a:pPr>
            <a:r>
              <a:rPr kumimoji="0" lang="hr-HR" altLang="en-US" sz="1800">
                <a:solidFill>
                  <a:schemeClr val="tx1"/>
                </a:solidFill>
                <a:latin typeface="Arial" panose="020B0604020202020204" pitchFamily="34" charset="0"/>
              </a:rPr>
              <a:t>naspram </a:t>
            </a:r>
            <a:r>
              <a:rPr kumimoji="0" lang="hr-HR" altLang="en-US" sz="1800" i="1">
                <a:solidFill>
                  <a:schemeClr val="tx1"/>
                </a:solidFill>
                <a:latin typeface="Arial" panose="020B0604020202020204" pitchFamily="34" charset="0"/>
              </a:rPr>
              <a:t>n</a:t>
            </a:r>
            <a:r>
              <a:rPr kumimoji="0" lang="hr-HR" altLang="en-US" sz="1800">
                <a:solidFill>
                  <a:schemeClr val="tx1"/>
                </a:solidFill>
                <a:latin typeface="Arial" panose="020B0604020202020204" pitchFamily="34" charset="0"/>
              </a:rPr>
              <a:t> pribavaljanja</a:t>
            </a:r>
          </a:p>
          <a:p>
            <a:pPr algn="ctr">
              <a:spcBef>
                <a:spcPct val="0"/>
              </a:spcBef>
              <a:buClrTx/>
              <a:buSzTx/>
              <a:buFontTx/>
              <a:buNone/>
            </a:pPr>
            <a:r>
              <a:rPr kumimoji="0" lang="hr-HR" altLang="en-US" sz="1800">
                <a:solidFill>
                  <a:schemeClr val="tx1"/>
                </a:solidFill>
                <a:latin typeface="Arial" panose="020B0604020202020204" pitchFamily="34" charset="0"/>
              </a:rPr>
              <a:t> i </a:t>
            </a:r>
            <a:r>
              <a:rPr kumimoji="0" lang="hr-HR" altLang="en-US" sz="1800" i="1">
                <a:solidFill>
                  <a:schemeClr val="tx1"/>
                </a:solidFill>
                <a:latin typeface="Arial" panose="020B0604020202020204" pitchFamily="34" charset="0"/>
              </a:rPr>
              <a:t>n</a:t>
            </a:r>
            <a:r>
              <a:rPr kumimoji="0" lang="hr-HR" altLang="en-US" sz="1800">
                <a:solidFill>
                  <a:schemeClr val="tx1"/>
                </a:solidFill>
                <a:latin typeface="Arial" panose="020B0604020202020204" pitchFamily="34" charset="0"/>
              </a:rPr>
              <a:t> dekodiranja</a:t>
            </a:r>
            <a:endParaRPr kumimoji="0" lang="en-US" altLang="en-US" sz="1800">
              <a:solidFill>
                <a:schemeClr val="tx1"/>
              </a:solidFill>
              <a:latin typeface="Arial" panose="020B0604020202020204" pitchFamily="34" charset="0"/>
            </a:endParaRPr>
          </a:p>
        </p:txBody>
      </p:sp>
      <p:sp>
        <p:nvSpPr>
          <p:cNvPr id="8198" name="Freeform 11">
            <a:extLst>
              <a:ext uri="{FF2B5EF4-FFF2-40B4-BE49-F238E27FC236}">
                <a16:creationId xmlns:a16="http://schemas.microsoft.com/office/drawing/2014/main" id="{CAAB5D79-6F29-5FE0-1A89-8761B3E60D46}"/>
              </a:ext>
            </a:extLst>
          </p:cNvPr>
          <p:cNvSpPr>
            <a:spLocks/>
          </p:cNvSpPr>
          <p:nvPr/>
        </p:nvSpPr>
        <p:spPr bwMode="auto">
          <a:xfrm>
            <a:off x="5151438" y="4918075"/>
            <a:ext cx="669925" cy="590550"/>
          </a:xfrm>
          <a:custGeom>
            <a:avLst/>
            <a:gdLst>
              <a:gd name="T0" fmla="*/ 2147483646 w 422"/>
              <a:gd name="T1" fmla="*/ 0 h 372"/>
              <a:gd name="T2" fmla="*/ 2147483646 w 422"/>
              <a:gd name="T3" fmla="*/ 2147483646 h 372"/>
              <a:gd name="T4" fmla="*/ 2147483646 w 422"/>
              <a:gd name="T5" fmla="*/ 2147483646 h 372"/>
              <a:gd name="T6" fmla="*/ 2147483646 w 422"/>
              <a:gd name="T7" fmla="*/ 2147483646 h 372"/>
              <a:gd name="T8" fmla="*/ 2147483646 w 422"/>
              <a:gd name="T9" fmla="*/ 2147483646 h 372"/>
              <a:gd name="T10" fmla="*/ 0 w 422"/>
              <a:gd name="T11" fmla="*/ 2147483646 h 372"/>
              <a:gd name="T12" fmla="*/ 2147483646 w 422"/>
              <a:gd name="T13" fmla="*/ 2147483646 h 372"/>
              <a:gd name="T14" fmla="*/ 2147483646 w 422"/>
              <a:gd name="T15" fmla="*/ 2147483646 h 372"/>
              <a:gd name="T16" fmla="*/ 2147483646 w 422"/>
              <a:gd name="T17" fmla="*/ 2147483646 h 372"/>
              <a:gd name="T18" fmla="*/ 2147483646 w 422"/>
              <a:gd name="T19" fmla="*/ 2147483646 h 372"/>
              <a:gd name="T20" fmla="*/ 2147483646 w 422"/>
              <a:gd name="T21" fmla="*/ 2147483646 h 372"/>
              <a:gd name="T22" fmla="*/ 2147483646 w 422"/>
              <a:gd name="T23" fmla="*/ 2147483646 h 3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2"/>
              <a:gd name="T37" fmla="*/ 0 h 372"/>
              <a:gd name="T38" fmla="*/ 422 w 422"/>
              <a:gd name="T39" fmla="*/ 372 h 3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2" h="372">
                <a:moveTo>
                  <a:pt x="49" y="0"/>
                </a:moveTo>
                <a:cubicBezTo>
                  <a:pt x="71" y="15"/>
                  <a:pt x="115" y="58"/>
                  <a:pt x="141" y="70"/>
                </a:cubicBezTo>
                <a:cubicBezTo>
                  <a:pt x="154" y="76"/>
                  <a:pt x="171" y="76"/>
                  <a:pt x="183" y="84"/>
                </a:cubicBezTo>
                <a:cubicBezTo>
                  <a:pt x="202" y="97"/>
                  <a:pt x="246" y="112"/>
                  <a:pt x="246" y="112"/>
                </a:cubicBezTo>
                <a:cubicBezTo>
                  <a:pt x="206" y="139"/>
                  <a:pt x="185" y="130"/>
                  <a:pt x="134" y="147"/>
                </a:cubicBezTo>
                <a:cubicBezTo>
                  <a:pt x="90" y="162"/>
                  <a:pt x="44" y="174"/>
                  <a:pt x="0" y="189"/>
                </a:cubicBezTo>
                <a:cubicBezTo>
                  <a:pt x="43" y="211"/>
                  <a:pt x="88" y="217"/>
                  <a:pt x="134" y="232"/>
                </a:cubicBezTo>
                <a:cubicBezTo>
                  <a:pt x="142" y="235"/>
                  <a:pt x="147" y="243"/>
                  <a:pt x="155" y="246"/>
                </a:cubicBezTo>
                <a:cubicBezTo>
                  <a:pt x="176" y="255"/>
                  <a:pt x="197" y="265"/>
                  <a:pt x="218" y="274"/>
                </a:cubicBezTo>
                <a:cubicBezTo>
                  <a:pt x="238" y="283"/>
                  <a:pt x="263" y="283"/>
                  <a:pt x="281" y="295"/>
                </a:cubicBezTo>
                <a:cubicBezTo>
                  <a:pt x="309" y="314"/>
                  <a:pt x="340" y="329"/>
                  <a:pt x="373" y="337"/>
                </a:cubicBezTo>
                <a:cubicBezTo>
                  <a:pt x="418" y="367"/>
                  <a:pt x="403" y="353"/>
                  <a:pt x="422" y="372"/>
                </a:cubicBezTo>
              </a:path>
            </a:pathLst>
          </a:custGeom>
          <a:noFill/>
          <a:ln w="9525">
            <a:solidFill>
              <a:schemeClr val="tx1"/>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b">
            <a:spAutoFit/>
          </a:bodyPr>
          <a:lstStyle/>
          <a:p>
            <a:endParaRPr lang="sr-Latn-RS"/>
          </a:p>
        </p:txBody>
      </p:sp>
      <p:sp>
        <p:nvSpPr>
          <p:cNvPr id="8199" name="Freeform 12">
            <a:extLst>
              <a:ext uri="{FF2B5EF4-FFF2-40B4-BE49-F238E27FC236}">
                <a16:creationId xmlns:a16="http://schemas.microsoft.com/office/drawing/2014/main" id="{6FCDE0D1-310B-4FF1-8C5D-114E3AD994DB}"/>
              </a:ext>
            </a:extLst>
          </p:cNvPr>
          <p:cNvSpPr>
            <a:spLocks/>
          </p:cNvSpPr>
          <p:nvPr/>
        </p:nvSpPr>
        <p:spPr bwMode="auto">
          <a:xfrm>
            <a:off x="2259013" y="4929188"/>
            <a:ext cx="2759075" cy="1169987"/>
          </a:xfrm>
          <a:custGeom>
            <a:avLst/>
            <a:gdLst>
              <a:gd name="T0" fmla="*/ 2147483646 w 1738"/>
              <a:gd name="T1" fmla="*/ 0 h 737"/>
              <a:gd name="T2" fmla="*/ 2147483646 w 1738"/>
              <a:gd name="T3" fmla="*/ 2147483646 h 737"/>
              <a:gd name="T4" fmla="*/ 2147483646 w 1738"/>
              <a:gd name="T5" fmla="*/ 2147483646 h 737"/>
              <a:gd name="T6" fmla="*/ 2147483646 w 1738"/>
              <a:gd name="T7" fmla="*/ 2147483646 h 737"/>
              <a:gd name="T8" fmla="*/ 2147483646 w 1738"/>
              <a:gd name="T9" fmla="*/ 2147483646 h 737"/>
              <a:gd name="T10" fmla="*/ 2147483646 w 1738"/>
              <a:gd name="T11" fmla="*/ 2147483646 h 737"/>
              <a:gd name="T12" fmla="*/ 2147483646 w 1738"/>
              <a:gd name="T13" fmla="*/ 2147483646 h 737"/>
              <a:gd name="T14" fmla="*/ 2147483646 w 1738"/>
              <a:gd name="T15" fmla="*/ 2147483646 h 737"/>
              <a:gd name="T16" fmla="*/ 2147483646 w 1738"/>
              <a:gd name="T17" fmla="*/ 2147483646 h 737"/>
              <a:gd name="T18" fmla="*/ 2147483646 w 1738"/>
              <a:gd name="T19" fmla="*/ 2147483646 h 737"/>
              <a:gd name="T20" fmla="*/ 2147483646 w 1738"/>
              <a:gd name="T21" fmla="*/ 2147483646 h 737"/>
              <a:gd name="T22" fmla="*/ 2147483646 w 1738"/>
              <a:gd name="T23" fmla="*/ 2147483646 h 737"/>
              <a:gd name="T24" fmla="*/ 2147483646 w 1738"/>
              <a:gd name="T25" fmla="*/ 2147483646 h 737"/>
              <a:gd name="T26" fmla="*/ 2147483646 w 1738"/>
              <a:gd name="T27" fmla="*/ 2147483646 h 737"/>
              <a:gd name="T28" fmla="*/ 2147483646 w 1738"/>
              <a:gd name="T29" fmla="*/ 2147483646 h 737"/>
              <a:gd name="T30" fmla="*/ 2147483646 w 1738"/>
              <a:gd name="T31" fmla="*/ 2147483646 h 7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8"/>
              <a:gd name="T49" fmla="*/ 0 h 737"/>
              <a:gd name="T50" fmla="*/ 1738 w 1738"/>
              <a:gd name="T51" fmla="*/ 737 h 7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8" h="737">
                <a:moveTo>
                  <a:pt x="3" y="0"/>
                </a:moveTo>
                <a:cubicBezTo>
                  <a:pt x="45" y="28"/>
                  <a:pt x="0" y="2"/>
                  <a:pt x="66" y="21"/>
                </a:cubicBezTo>
                <a:cubicBezTo>
                  <a:pt x="85" y="26"/>
                  <a:pt x="103" y="37"/>
                  <a:pt x="122" y="42"/>
                </a:cubicBezTo>
                <a:cubicBezTo>
                  <a:pt x="200" y="64"/>
                  <a:pt x="283" y="65"/>
                  <a:pt x="361" y="91"/>
                </a:cubicBezTo>
                <a:cubicBezTo>
                  <a:pt x="380" y="105"/>
                  <a:pt x="416" y="139"/>
                  <a:pt x="438" y="147"/>
                </a:cubicBezTo>
                <a:cubicBezTo>
                  <a:pt x="475" y="160"/>
                  <a:pt x="551" y="175"/>
                  <a:pt x="551" y="175"/>
                </a:cubicBezTo>
                <a:cubicBezTo>
                  <a:pt x="600" y="211"/>
                  <a:pt x="662" y="206"/>
                  <a:pt x="719" y="225"/>
                </a:cubicBezTo>
                <a:cubicBezTo>
                  <a:pt x="729" y="228"/>
                  <a:pt x="738" y="235"/>
                  <a:pt x="748" y="239"/>
                </a:cubicBezTo>
                <a:cubicBezTo>
                  <a:pt x="762" y="244"/>
                  <a:pt x="790" y="253"/>
                  <a:pt x="790" y="253"/>
                </a:cubicBezTo>
                <a:cubicBezTo>
                  <a:pt x="735" y="290"/>
                  <a:pt x="661" y="302"/>
                  <a:pt x="600" y="330"/>
                </a:cubicBezTo>
                <a:cubicBezTo>
                  <a:pt x="572" y="343"/>
                  <a:pt x="544" y="358"/>
                  <a:pt x="516" y="372"/>
                </a:cubicBezTo>
                <a:cubicBezTo>
                  <a:pt x="503" y="379"/>
                  <a:pt x="474" y="386"/>
                  <a:pt x="474" y="386"/>
                </a:cubicBezTo>
                <a:cubicBezTo>
                  <a:pt x="580" y="449"/>
                  <a:pt x="751" y="481"/>
                  <a:pt x="874" y="499"/>
                </a:cubicBezTo>
                <a:cubicBezTo>
                  <a:pt x="958" y="541"/>
                  <a:pt x="1038" y="549"/>
                  <a:pt x="1127" y="569"/>
                </a:cubicBezTo>
                <a:cubicBezTo>
                  <a:pt x="1276" y="603"/>
                  <a:pt x="1425" y="628"/>
                  <a:pt x="1576" y="653"/>
                </a:cubicBezTo>
                <a:cubicBezTo>
                  <a:pt x="1625" y="688"/>
                  <a:pt x="1694" y="693"/>
                  <a:pt x="1738" y="737"/>
                </a:cubicBezTo>
              </a:path>
            </a:pathLst>
          </a:custGeom>
          <a:noFill/>
          <a:ln w="9525">
            <a:solidFill>
              <a:schemeClr val="tx1"/>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b">
            <a:spAutoFit/>
          </a:bodyPr>
          <a:lstStyle/>
          <a:p>
            <a:endParaRPr lang="sr-Latn-RS"/>
          </a:p>
        </p:txBody>
      </p:sp>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FA4A1D8-94CD-A216-E137-4FD5B5DD6A13}"/>
              </a:ext>
            </a:extLst>
          </p:cNvPr>
          <p:cNvSpPr>
            <a:spLocks noGrp="1" noChangeArrowheads="1"/>
          </p:cNvSpPr>
          <p:nvPr>
            <p:ph type="title"/>
          </p:nvPr>
        </p:nvSpPr>
        <p:spPr/>
        <p:txBody>
          <a:bodyPr/>
          <a:lstStyle/>
          <a:p>
            <a:pPr>
              <a:defRPr/>
            </a:pPr>
            <a:r>
              <a:rPr lang="hr-HR" altLang="en-US"/>
              <a:t>VP</a:t>
            </a:r>
            <a:endParaRPr lang="en-US" altLang="en-US"/>
          </a:p>
        </p:txBody>
      </p:sp>
      <p:sp>
        <p:nvSpPr>
          <p:cNvPr id="8195" name="Rectangle 3">
            <a:extLst>
              <a:ext uri="{FF2B5EF4-FFF2-40B4-BE49-F238E27FC236}">
                <a16:creationId xmlns:a16="http://schemas.microsoft.com/office/drawing/2014/main" id="{D626C3A9-272A-CCB9-5B6E-4179D51AAA09}"/>
              </a:ext>
            </a:extLst>
          </p:cNvPr>
          <p:cNvSpPr>
            <a:spLocks noGrp="1" noChangeArrowheads="1"/>
          </p:cNvSpPr>
          <p:nvPr>
            <p:ph type="body" idx="1"/>
          </p:nvPr>
        </p:nvSpPr>
        <p:spPr/>
        <p:txBody>
          <a:bodyPr/>
          <a:lstStyle/>
          <a:p>
            <a:pPr>
              <a:defRPr/>
            </a:pPr>
            <a:r>
              <a:rPr lang="hr-HR" altLang="en-US" dirty="0"/>
              <a:t>Vektoksk</a:t>
            </a:r>
            <a:r>
              <a:rPr lang="en-US" altLang="en-US" dirty="0"/>
              <a:t>i</a:t>
            </a:r>
            <a:r>
              <a:rPr lang="hr-HR" altLang="en-US" dirty="0"/>
              <a:t> </a:t>
            </a:r>
            <a:r>
              <a:rPr lang="en-US" altLang="en-US" dirty="0" err="1"/>
              <a:t>ra</a:t>
            </a:r>
            <a:r>
              <a:rPr lang="sr-Latn-RS" altLang="en-US" dirty="0"/>
              <a:t>čunari</a:t>
            </a:r>
            <a:r>
              <a:rPr lang="hr-HR" altLang="en-US" dirty="0"/>
              <a:t> maksimalno koriste protočnost</a:t>
            </a:r>
          </a:p>
          <a:p>
            <a:pPr lvl="1">
              <a:defRPr/>
            </a:pPr>
            <a:r>
              <a:rPr lang="hr-HR" altLang="en-US" dirty="0"/>
              <a:t>u obradi instrukcija</a:t>
            </a:r>
          </a:p>
          <a:p>
            <a:pPr lvl="1">
              <a:defRPr/>
            </a:pPr>
            <a:r>
              <a:rPr lang="hr-HR" altLang="en-US" dirty="0"/>
              <a:t>kod izvršenja ALU operacija</a:t>
            </a:r>
          </a:p>
          <a:p>
            <a:pPr lvl="1">
              <a:defRPr/>
            </a:pPr>
            <a:r>
              <a:rPr lang="hr-HR" altLang="en-US" dirty="0"/>
              <a:t>pri izračunavanju efektivne adrese</a:t>
            </a:r>
          </a:p>
          <a:p>
            <a:pPr lvl="1">
              <a:defRPr/>
            </a:pPr>
            <a:r>
              <a:rPr lang="hr-HR" altLang="en-US" dirty="0"/>
              <a:t>kod pristupa memoriji</a:t>
            </a:r>
          </a:p>
          <a:p>
            <a:pPr>
              <a:defRPr/>
            </a:pPr>
            <a:endParaRPr lang="hr-HR" altLang="en-US" dirty="0"/>
          </a:p>
          <a:p>
            <a:pPr>
              <a:defRPr/>
            </a:pPr>
            <a:r>
              <a:rPr lang="hr-HR" altLang="en-US" dirty="0"/>
              <a:t>Većina vektorskih računara dozvoljava da se više vektorskih operacija obavlja jednovremeno, ako ne koriste iste funkcionalne jedinice </a:t>
            </a:r>
          </a:p>
          <a:p>
            <a:pPr lvl="2">
              <a:buFont typeface="Wingdings" panose="05000000000000000000" pitchFamily="2" charset="2"/>
              <a:buNone/>
              <a:defRPr/>
            </a:pPr>
            <a:r>
              <a:rPr lang="hr-HR" altLang="en-US" dirty="0"/>
              <a:t>(uvodeći na taj način paralelizam u obradi) </a:t>
            </a:r>
            <a:endParaRPr lang="en-US" altLang="en-US" dirty="0"/>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E2F9099-5CA8-B9E6-B113-692DB7B9365C}"/>
              </a:ext>
            </a:extLst>
          </p:cNvPr>
          <p:cNvSpPr>
            <a:spLocks noGrp="1" noChangeArrowheads="1"/>
          </p:cNvSpPr>
          <p:nvPr>
            <p:ph type="title"/>
          </p:nvPr>
        </p:nvSpPr>
        <p:spPr>
          <a:xfrm>
            <a:off x="0" y="0"/>
            <a:ext cx="9144000" cy="579438"/>
          </a:xfrm>
        </p:spPr>
        <p:txBody>
          <a:bodyPr/>
          <a:lstStyle/>
          <a:p>
            <a:pPr>
              <a:defRPr/>
            </a:pPr>
            <a:r>
              <a:rPr lang="hr-HR" altLang="en-US" sz="3200" dirty="0"/>
              <a:t>Osnovne komponente vektorskog računara</a:t>
            </a:r>
            <a:endParaRPr lang="en-US" altLang="en-US" sz="3200" dirty="0"/>
          </a:p>
        </p:txBody>
      </p:sp>
      <p:sp>
        <p:nvSpPr>
          <p:cNvPr id="9219" name="Rectangle 3">
            <a:extLst>
              <a:ext uri="{FF2B5EF4-FFF2-40B4-BE49-F238E27FC236}">
                <a16:creationId xmlns:a16="http://schemas.microsoft.com/office/drawing/2014/main" id="{0C1E1A28-840A-BAB7-C514-C799CC419E1C}"/>
              </a:ext>
            </a:extLst>
          </p:cNvPr>
          <p:cNvSpPr>
            <a:spLocks noGrp="1" noChangeArrowheads="1"/>
          </p:cNvSpPr>
          <p:nvPr>
            <p:ph type="body" idx="1"/>
          </p:nvPr>
        </p:nvSpPr>
        <p:spPr/>
        <p:txBody>
          <a:bodyPr/>
          <a:lstStyle/>
          <a:p>
            <a:pPr>
              <a:defRPr/>
            </a:pPr>
            <a:r>
              <a:rPr lang="hr-HR" altLang="en-US" dirty="0"/>
              <a:t>Memorija</a:t>
            </a:r>
          </a:p>
          <a:p>
            <a:pPr>
              <a:defRPr/>
            </a:pPr>
            <a:r>
              <a:rPr lang="hr-HR" altLang="en-US" dirty="0"/>
              <a:t>Skalarni posistem</a:t>
            </a:r>
          </a:p>
          <a:p>
            <a:pPr>
              <a:defRPr/>
            </a:pPr>
            <a:r>
              <a:rPr lang="hr-HR" altLang="en-US" dirty="0"/>
              <a:t>Vektorski podsistem</a:t>
            </a:r>
          </a:p>
          <a:p>
            <a:pPr>
              <a:defRPr/>
            </a:pPr>
            <a:endParaRPr lang="hr-HR" altLang="en-US" dirty="0"/>
          </a:p>
          <a:p>
            <a:pPr>
              <a:defRPr/>
            </a:pPr>
            <a:endParaRPr lang="hr-HR" altLang="en-US" dirty="0"/>
          </a:p>
          <a:p>
            <a:pPr>
              <a:defRPr/>
            </a:pPr>
            <a:endParaRPr lang="hr-HR" altLang="en-US" dirty="0"/>
          </a:p>
          <a:p>
            <a:pPr lvl="1">
              <a:defRPr/>
            </a:pPr>
            <a:r>
              <a:rPr lang="hr-HR" altLang="en-US" dirty="0"/>
              <a:t>Organizacija memorije direktno utiče na performanse celog sistema</a:t>
            </a:r>
          </a:p>
          <a:p>
            <a:pPr lvl="1">
              <a:defRPr/>
            </a:pPr>
            <a:r>
              <a:rPr lang="hr-HR" altLang="en-US" dirty="0"/>
              <a:t>F-ja: pamti program i podatke u skalarnom i vektorskom obliku</a:t>
            </a:r>
          </a:p>
          <a:p>
            <a:pPr lvl="1">
              <a:defRPr/>
            </a:pPr>
            <a:r>
              <a:rPr lang="hr-HR" altLang="en-US" dirty="0"/>
              <a:t>Podeljena je </a:t>
            </a:r>
            <a:r>
              <a:rPr lang="en-US" altLang="en-US" dirty="0" err="1"/>
              <a:t>na</a:t>
            </a:r>
            <a:r>
              <a:rPr lang="en-US" altLang="en-US" dirty="0"/>
              <a:t> </a:t>
            </a:r>
            <a:r>
              <a:rPr lang="hr-HR" altLang="en-US" dirty="0"/>
              <a:t>niz memorijski banaka kojima se može jednovremeno pristupati</a:t>
            </a:r>
            <a:endParaRPr lang="en-US" altLang="en-US" dirty="0"/>
          </a:p>
        </p:txBody>
      </p:sp>
      <p:sp>
        <p:nvSpPr>
          <p:cNvPr id="10244" name="Rectangle 23">
            <a:extLst>
              <a:ext uri="{FF2B5EF4-FFF2-40B4-BE49-F238E27FC236}">
                <a16:creationId xmlns:a16="http://schemas.microsoft.com/office/drawing/2014/main" id="{45AF467D-F07F-98F2-6DEC-CC9E38BAC28E}"/>
              </a:ext>
            </a:extLst>
          </p:cNvPr>
          <p:cNvSpPr>
            <a:spLocks noChangeArrowheads="1"/>
          </p:cNvSpPr>
          <p:nvPr/>
        </p:nvSpPr>
        <p:spPr bwMode="auto">
          <a:xfrm>
            <a:off x="0" y="3124200"/>
            <a:ext cx="9144000" cy="457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2400">
                <a:solidFill>
                  <a:schemeClr val="tx1"/>
                </a:solidFill>
                <a:latin typeface="Arial" panose="020B0604020202020204" pitchFamily="34" charset="0"/>
              </a:rPr>
              <a:t>Memorija vektorskih računara</a:t>
            </a:r>
            <a:endParaRPr kumimoji="0" lang="en-US" altLang="en-US" sz="2400">
              <a:solidFill>
                <a:schemeClr val="tx1"/>
              </a:solidFill>
              <a:latin typeface="Arial" panose="020B0604020202020204" pitchFamily="34" charset="0"/>
            </a:endParaRPr>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700D3E3-26B9-07C0-78C9-6A16F175BC15}"/>
              </a:ext>
            </a:extLst>
          </p:cNvPr>
          <p:cNvSpPr>
            <a:spLocks noGrp="1" noChangeArrowheads="1"/>
          </p:cNvSpPr>
          <p:nvPr>
            <p:ph type="title"/>
          </p:nvPr>
        </p:nvSpPr>
        <p:spPr/>
        <p:txBody>
          <a:bodyPr/>
          <a:lstStyle/>
          <a:p>
            <a:pPr>
              <a:defRPr/>
            </a:pPr>
            <a:r>
              <a:rPr lang="hr-HR" altLang="en-US"/>
              <a:t>Adresiranje i pristup memoriji</a:t>
            </a:r>
            <a:endParaRPr lang="en-US" altLang="en-US"/>
          </a:p>
        </p:txBody>
      </p:sp>
      <p:sp>
        <p:nvSpPr>
          <p:cNvPr id="10243" name="Rectangle 3">
            <a:extLst>
              <a:ext uri="{FF2B5EF4-FFF2-40B4-BE49-F238E27FC236}">
                <a16:creationId xmlns:a16="http://schemas.microsoft.com/office/drawing/2014/main" id="{5C7018F9-BED9-BC7D-FF1E-B7466F52EE77}"/>
              </a:ext>
            </a:extLst>
          </p:cNvPr>
          <p:cNvSpPr>
            <a:spLocks noGrp="1" noChangeArrowheads="1"/>
          </p:cNvSpPr>
          <p:nvPr>
            <p:ph type="body" idx="1"/>
          </p:nvPr>
        </p:nvSpPr>
        <p:spPr/>
        <p:txBody>
          <a:bodyPr/>
          <a:lstStyle/>
          <a:p>
            <a:pPr lvl="1">
              <a:defRPr/>
            </a:pPr>
            <a:r>
              <a:rPr lang="hr-HR" altLang="en-US"/>
              <a:t>Koristi se “low order interleaving” za adresiranje memorijski</a:t>
            </a:r>
            <a:r>
              <a:rPr lang="en-US" altLang="en-US"/>
              <a:t>h</a:t>
            </a:r>
            <a:r>
              <a:rPr lang="hr-HR" altLang="en-US"/>
              <a:t> banaka</a:t>
            </a:r>
          </a:p>
          <a:p>
            <a:pPr lvl="2">
              <a:defRPr/>
            </a:pPr>
            <a:r>
              <a:rPr lang="hr-HR" altLang="en-US"/>
              <a:t>podaci koji se nalaz</a:t>
            </a:r>
            <a:r>
              <a:rPr lang="en-US" altLang="en-US"/>
              <a:t>e</a:t>
            </a:r>
            <a:r>
              <a:rPr lang="hr-HR" altLang="en-US"/>
              <a:t> na susednim adresama smešteni su u različite banke</a:t>
            </a:r>
          </a:p>
          <a:p>
            <a:pPr lvl="1">
              <a:buFont typeface="Wingdings" panose="05000000000000000000" pitchFamily="2" charset="2"/>
              <a:buNone/>
              <a:defRPr/>
            </a:pPr>
            <a:endParaRPr lang="en-US" altLang="en-US"/>
          </a:p>
        </p:txBody>
      </p:sp>
      <p:sp>
        <p:nvSpPr>
          <p:cNvPr id="11268" name="Rectangle 5">
            <a:extLst>
              <a:ext uri="{FF2B5EF4-FFF2-40B4-BE49-F238E27FC236}">
                <a16:creationId xmlns:a16="http://schemas.microsoft.com/office/drawing/2014/main" id="{D361CD85-615D-B979-3150-12C91039F42D}"/>
              </a:ext>
            </a:extLst>
          </p:cNvPr>
          <p:cNvSpPr>
            <a:spLocks noChangeArrowheads="1"/>
          </p:cNvSpPr>
          <p:nvPr/>
        </p:nvSpPr>
        <p:spPr bwMode="auto">
          <a:xfrm>
            <a:off x="457200" y="3894138"/>
            <a:ext cx="1524000" cy="376237"/>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800">
                <a:solidFill>
                  <a:schemeClr val="tx1"/>
                </a:solidFill>
                <a:latin typeface="Arial" panose="020B0604020202020204" pitchFamily="34" charset="0"/>
              </a:rPr>
              <a:t>viši bitovi</a:t>
            </a:r>
            <a:endParaRPr kumimoji="0" lang="en-US" altLang="en-US" sz="1800">
              <a:solidFill>
                <a:schemeClr val="tx1"/>
              </a:solidFill>
              <a:latin typeface="Arial" panose="020B0604020202020204" pitchFamily="34" charset="0"/>
            </a:endParaRPr>
          </a:p>
        </p:txBody>
      </p:sp>
      <p:sp>
        <p:nvSpPr>
          <p:cNvPr id="11269" name="Rectangle 6">
            <a:extLst>
              <a:ext uri="{FF2B5EF4-FFF2-40B4-BE49-F238E27FC236}">
                <a16:creationId xmlns:a16="http://schemas.microsoft.com/office/drawing/2014/main" id="{BC67570E-1A12-E5E4-9CFF-DAFB1C2BC3EB}"/>
              </a:ext>
            </a:extLst>
          </p:cNvPr>
          <p:cNvSpPr>
            <a:spLocks noChangeArrowheads="1"/>
          </p:cNvSpPr>
          <p:nvPr/>
        </p:nvSpPr>
        <p:spPr bwMode="auto">
          <a:xfrm>
            <a:off x="1981200" y="3894138"/>
            <a:ext cx="1768475" cy="376237"/>
          </a:xfrm>
          <a:prstGeom prst="rect">
            <a:avLst/>
          </a:prstGeom>
          <a:solidFill>
            <a:srgbClr val="00FF00"/>
          </a:solidFill>
          <a:ln w="9525">
            <a:solidFill>
              <a:schemeClr val="tx1"/>
            </a:solidFill>
            <a:miter lim="800000"/>
            <a:headEnd/>
            <a:tailEnd/>
          </a:ln>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800">
                <a:solidFill>
                  <a:schemeClr val="tx1"/>
                </a:solidFill>
                <a:latin typeface="Arial" panose="020B0604020202020204" pitchFamily="34" charset="0"/>
              </a:rPr>
              <a:t>niži bitovi          </a:t>
            </a:r>
            <a:endParaRPr kumimoji="0" lang="en-US" altLang="en-US" sz="1800">
              <a:solidFill>
                <a:schemeClr val="tx1"/>
              </a:solidFill>
              <a:latin typeface="Arial" panose="020B0604020202020204" pitchFamily="34" charset="0"/>
            </a:endParaRPr>
          </a:p>
        </p:txBody>
      </p:sp>
      <p:sp>
        <p:nvSpPr>
          <p:cNvPr id="11270" name="Text Box 7">
            <a:extLst>
              <a:ext uri="{FF2B5EF4-FFF2-40B4-BE49-F238E27FC236}">
                <a16:creationId xmlns:a16="http://schemas.microsoft.com/office/drawing/2014/main" id="{221CF597-1F4C-8DF9-A40B-A06A174EEAE0}"/>
              </a:ext>
            </a:extLst>
          </p:cNvPr>
          <p:cNvSpPr txBox="1">
            <a:spLocks noChangeArrowheads="1"/>
          </p:cNvSpPr>
          <p:nvPr/>
        </p:nvSpPr>
        <p:spPr bwMode="auto">
          <a:xfrm>
            <a:off x="533400" y="4921250"/>
            <a:ext cx="1593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adresa unutar</a:t>
            </a:r>
            <a:endParaRPr kumimoji="0" lang="en-US" altLang="en-US" sz="1800">
              <a:solidFill>
                <a:schemeClr val="tx1"/>
              </a:solidFill>
              <a:latin typeface="Arial" panose="020B0604020202020204" pitchFamily="34" charset="0"/>
            </a:endParaRPr>
          </a:p>
          <a:p>
            <a:pPr>
              <a:spcBef>
                <a:spcPct val="0"/>
              </a:spcBef>
              <a:buClrTx/>
              <a:buSzTx/>
              <a:buFontTx/>
              <a:buNone/>
            </a:pPr>
            <a:r>
              <a:rPr kumimoji="0" lang="hr-HR" altLang="en-US" sz="1800">
                <a:solidFill>
                  <a:schemeClr val="tx1"/>
                </a:solidFill>
                <a:latin typeface="Arial" panose="020B0604020202020204" pitchFamily="34" charset="0"/>
              </a:rPr>
              <a:t> mem.</a:t>
            </a:r>
            <a:r>
              <a:rPr kumimoji="0" lang="en-US" altLang="en-US" sz="1800">
                <a:solidFill>
                  <a:schemeClr val="tx1"/>
                </a:solidFill>
                <a:latin typeface="Arial" panose="020B0604020202020204" pitchFamily="34" charset="0"/>
              </a:rPr>
              <a:t> </a:t>
            </a:r>
            <a:r>
              <a:rPr kumimoji="0" lang="hr-HR" altLang="en-US" sz="1800">
                <a:solidFill>
                  <a:schemeClr val="tx1"/>
                </a:solidFill>
                <a:latin typeface="Arial" panose="020B0604020202020204" pitchFamily="34" charset="0"/>
              </a:rPr>
              <a:t>banke</a:t>
            </a:r>
            <a:endParaRPr kumimoji="0" lang="en-US" altLang="en-US" sz="1800">
              <a:solidFill>
                <a:schemeClr val="tx1"/>
              </a:solidFill>
              <a:latin typeface="Arial" panose="020B0604020202020204" pitchFamily="34" charset="0"/>
            </a:endParaRPr>
          </a:p>
        </p:txBody>
      </p:sp>
      <p:sp>
        <p:nvSpPr>
          <p:cNvPr id="11271" name="Text Box 8">
            <a:extLst>
              <a:ext uri="{FF2B5EF4-FFF2-40B4-BE49-F238E27FC236}">
                <a16:creationId xmlns:a16="http://schemas.microsoft.com/office/drawing/2014/main" id="{ABE3CBA0-34CC-EBF1-5AC0-9132F06388D2}"/>
              </a:ext>
            </a:extLst>
          </p:cNvPr>
          <p:cNvSpPr txBox="1">
            <a:spLocks noChangeArrowheads="1"/>
          </p:cNvSpPr>
          <p:nvPr/>
        </p:nvSpPr>
        <p:spPr bwMode="auto">
          <a:xfrm>
            <a:off x="2590800" y="4921250"/>
            <a:ext cx="1441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adresa</a:t>
            </a:r>
          </a:p>
          <a:p>
            <a:pPr>
              <a:spcBef>
                <a:spcPct val="0"/>
              </a:spcBef>
              <a:buClrTx/>
              <a:buSzTx/>
              <a:buFontTx/>
              <a:buNone/>
            </a:pPr>
            <a:r>
              <a:rPr kumimoji="0" lang="hr-HR" altLang="en-US" sz="1800">
                <a:solidFill>
                  <a:schemeClr val="tx1"/>
                </a:solidFill>
                <a:latin typeface="Arial" panose="020B0604020202020204" pitchFamily="34" charset="0"/>
              </a:rPr>
              <a:t>mem. banke</a:t>
            </a:r>
            <a:endParaRPr kumimoji="0" lang="en-US" altLang="en-US" sz="1800">
              <a:solidFill>
                <a:schemeClr val="tx1"/>
              </a:solidFill>
              <a:latin typeface="Arial" panose="020B0604020202020204" pitchFamily="34" charset="0"/>
            </a:endParaRPr>
          </a:p>
        </p:txBody>
      </p:sp>
      <p:cxnSp>
        <p:nvCxnSpPr>
          <p:cNvPr id="11272" name="AutoShape 9">
            <a:extLst>
              <a:ext uri="{FF2B5EF4-FFF2-40B4-BE49-F238E27FC236}">
                <a16:creationId xmlns:a16="http://schemas.microsoft.com/office/drawing/2014/main" id="{FAC5C61B-FBA6-272E-D838-6E43C1EBBBB9}"/>
              </a:ext>
            </a:extLst>
          </p:cNvPr>
          <p:cNvCxnSpPr>
            <a:cxnSpLocks noChangeShapeType="1"/>
            <a:stCxn id="11270" idx="0"/>
            <a:endCxn id="11268" idx="2"/>
          </p:cNvCxnSpPr>
          <p:nvPr/>
        </p:nvCxnSpPr>
        <p:spPr bwMode="auto">
          <a:xfrm rot="5400000" flipH="1">
            <a:off x="949325" y="4540250"/>
            <a:ext cx="650875" cy="111125"/>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273" name="AutoShape 11">
            <a:extLst>
              <a:ext uri="{FF2B5EF4-FFF2-40B4-BE49-F238E27FC236}">
                <a16:creationId xmlns:a16="http://schemas.microsoft.com/office/drawing/2014/main" id="{B9B41D7A-918B-11D2-F13D-D612F93AF58A}"/>
              </a:ext>
            </a:extLst>
          </p:cNvPr>
          <p:cNvCxnSpPr>
            <a:cxnSpLocks noChangeShapeType="1"/>
            <a:stCxn id="11271" idx="0"/>
            <a:endCxn id="11269" idx="2"/>
          </p:cNvCxnSpPr>
          <p:nvPr/>
        </p:nvCxnSpPr>
        <p:spPr bwMode="auto">
          <a:xfrm rot="5400000" flipH="1">
            <a:off x="2763044" y="4372769"/>
            <a:ext cx="650875" cy="446087"/>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274" name="AutoShape 13">
            <a:extLst>
              <a:ext uri="{FF2B5EF4-FFF2-40B4-BE49-F238E27FC236}">
                <a16:creationId xmlns:a16="http://schemas.microsoft.com/office/drawing/2014/main" id="{5E83DCCC-4611-F3BA-E513-FC6CBBB6FA3F}"/>
              </a:ext>
            </a:extLst>
          </p:cNvPr>
          <p:cNvSpPr>
            <a:spLocks/>
          </p:cNvSpPr>
          <p:nvPr/>
        </p:nvSpPr>
        <p:spPr bwMode="auto">
          <a:xfrm rot="5394161">
            <a:off x="1866900" y="1911350"/>
            <a:ext cx="457200" cy="3276600"/>
          </a:xfrm>
          <a:prstGeom prst="leftBrace">
            <a:avLst>
              <a:gd name="adj1" fmla="val 597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1275" name="Text Box 14">
            <a:extLst>
              <a:ext uri="{FF2B5EF4-FFF2-40B4-BE49-F238E27FC236}">
                <a16:creationId xmlns:a16="http://schemas.microsoft.com/office/drawing/2014/main" id="{539639BB-E3A9-3712-779B-2F4AACFE873B}"/>
              </a:ext>
            </a:extLst>
          </p:cNvPr>
          <p:cNvSpPr txBox="1">
            <a:spLocks noChangeArrowheads="1"/>
          </p:cNvSpPr>
          <p:nvPr/>
        </p:nvSpPr>
        <p:spPr bwMode="auto">
          <a:xfrm>
            <a:off x="990600" y="2819400"/>
            <a:ext cx="2114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memorijska adresa</a:t>
            </a:r>
            <a:endParaRPr kumimoji="0" lang="en-US" altLang="en-US" sz="1800">
              <a:solidFill>
                <a:schemeClr val="tx1"/>
              </a:solidFill>
              <a:latin typeface="Arial" panose="020B0604020202020204" pitchFamily="34" charset="0"/>
            </a:endParaRPr>
          </a:p>
        </p:txBody>
      </p:sp>
      <p:sp>
        <p:nvSpPr>
          <p:cNvPr id="11276" name="Rectangle 27">
            <a:extLst>
              <a:ext uri="{FF2B5EF4-FFF2-40B4-BE49-F238E27FC236}">
                <a16:creationId xmlns:a16="http://schemas.microsoft.com/office/drawing/2014/main" id="{F5DBCFD2-0ECA-B919-39C3-50F90D9A765F}"/>
              </a:ext>
            </a:extLst>
          </p:cNvPr>
          <p:cNvSpPr>
            <a:spLocks noChangeArrowheads="1"/>
          </p:cNvSpPr>
          <p:nvPr/>
        </p:nvSpPr>
        <p:spPr bwMode="auto">
          <a:xfrm>
            <a:off x="6629400" y="4648200"/>
            <a:ext cx="457200" cy="12954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1277" name="Line 28">
            <a:extLst>
              <a:ext uri="{FF2B5EF4-FFF2-40B4-BE49-F238E27FC236}">
                <a16:creationId xmlns:a16="http://schemas.microsoft.com/office/drawing/2014/main" id="{F989D5E3-1796-78A4-67D8-720890157501}"/>
              </a:ext>
            </a:extLst>
          </p:cNvPr>
          <p:cNvSpPr>
            <a:spLocks noChangeShapeType="1"/>
          </p:cNvSpPr>
          <p:nvPr/>
        </p:nvSpPr>
        <p:spPr bwMode="auto">
          <a:xfrm>
            <a:off x="6629400" y="49530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78" name="Line 29">
            <a:extLst>
              <a:ext uri="{FF2B5EF4-FFF2-40B4-BE49-F238E27FC236}">
                <a16:creationId xmlns:a16="http://schemas.microsoft.com/office/drawing/2014/main" id="{1240D5FF-35BB-4ABD-0A65-E2734C2F60AA}"/>
              </a:ext>
            </a:extLst>
          </p:cNvPr>
          <p:cNvSpPr>
            <a:spLocks noChangeShapeType="1"/>
          </p:cNvSpPr>
          <p:nvPr/>
        </p:nvSpPr>
        <p:spPr bwMode="auto">
          <a:xfrm>
            <a:off x="6629400" y="5181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79" name="Line 30">
            <a:extLst>
              <a:ext uri="{FF2B5EF4-FFF2-40B4-BE49-F238E27FC236}">
                <a16:creationId xmlns:a16="http://schemas.microsoft.com/office/drawing/2014/main" id="{01779A94-93F7-3CAF-5CF1-8EE2EC6BCFCA}"/>
              </a:ext>
            </a:extLst>
          </p:cNvPr>
          <p:cNvSpPr>
            <a:spLocks noChangeShapeType="1"/>
          </p:cNvSpPr>
          <p:nvPr/>
        </p:nvSpPr>
        <p:spPr bwMode="auto">
          <a:xfrm>
            <a:off x="6629400" y="5410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0" name="Line 31">
            <a:extLst>
              <a:ext uri="{FF2B5EF4-FFF2-40B4-BE49-F238E27FC236}">
                <a16:creationId xmlns:a16="http://schemas.microsoft.com/office/drawing/2014/main" id="{5A6D5D54-2522-50FE-1B30-DD1F75797C55}"/>
              </a:ext>
            </a:extLst>
          </p:cNvPr>
          <p:cNvSpPr>
            <a:spLocks noChangeShapeType="1"/>
          </p:cNvSpPr>
          <p:nvPr/>
        </p:nvSpPr>
        <p:spPr bwMode="auto">
          <a:xfrm>
            <a:off x="6629400" y="5791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1" name="Text Box 32">
            <a:extLst>
              <a:ext uri="{FF2B5EF4-FFF2-40B4-BE49-F238E27FC236}">
                <a16:creationId xmlns:a16="http://schemas.microsoft.com/office/drawing/2014/main" id="{744C4049-0E4B-6B96-B8E6-55E6BC1E5ADD}"/>
              </a:ext>
            </a:extLst>
          </p:cNvPr>
          <p:cNvSpPr txBox="1">
            <a:spLocks noChangeArrowheads="1"/>
          </p:cNvSpPr>
          <p:nvPr/>
        </p:nvSpPr>
        <p:spPr bwMode="auto">
          <a:xfrm rot="5296858">
            <a:off x="6777832" y="5414168"/>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t>
            </a:r>
            <a:endParaRPr kumimoji="0" lang="en-US" altLang="en-US" sz="1800">
              <a:solidFill>
                <a:schemeClr val="tx1"/>
              </a:solidFill>
              <a:latin typeface="Arial" panose="020B0604020202020204" pitchFamily="34" charset="0"/>
            </a:endParaRPr>
          </a:p>
        </p:txBody>
      </p:sp>
      <p:sp>
        <p:nvSpPr>
          <p:cNvPr id="11282" name="Rectangle 33">
            <a:extLst>
              <a:ext uri="{FF2B5EF4-FFF2-40B4-BE49-F238E27FC236}">
                <a16:creationId xmlns:a16="http://schemas.microsoft.com/office/drawing/2014/main" id="{824D17E3-FDA4-564B-B2F5-D0C1333913F6}"/>
              </a:ext>
            </a:extLst>
          </p:cNvPr>
          <p:cNvSpPr>
            <a:spLocks noChangeArrowheads="1"/>
          </p:cNvSpPr>
          <p:nvPr/>
        </p:nvSpPr>
        <p:spPr bwMode="auto">
          <a:xfrm>
            <a:off x="7467600" y="4648200"/>
            <a:ext cx="457200" cy="12954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1283" name="Line 34">
            <a:extLst>
              <a:ext uri="{FF2B5EF4-FFF2-40B4-BE49-F238E27FC236}">
                <a16:creationId xmlns:a16="http://schemas.microsoft.com/office/drawing/2014/main" id="{28957865-0DEF-394F-578A-35CA6AE29894}"/>
              </a:ext>
            </a:extLst>
          </p:cNvPr>
          <p:cNvSpPr>
            <a:spLocks noChangeShapeType="1"/>
          </p:cNvSpPr>
          <p:nvPr/>
        </p:nvSpPr>
        <p:spPr bwMode="auto">
          <a:xfrm>
            <a:off x="7467600" y="49530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4" name="Line 35">
            <a:extLst>
              <a:ext uri="{FF2B5EF4-FFF2-40B4-BE49-F238E27FC236}">
                <a16:creationId xmlns:a16="http://schemas.microsoft.com/office/drawing/2014/main" id="{138865D5-7F47-E871-13DA-264BF1DDFADE}"/>
              </a:ext>
            </a:extLst>
          </p:cNvPr>
          <p:cNvSpPr>
            <a:spLocks noChangeShapeType="1"/>
          </p:cNvSpPr>
          <p:nvPr/>
        </p:nvSpPr>
        <p:spPr bwMode="auto">
          <a:xfrm>
            <a:off x="7467600" y="5181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5" name="Line 36">
            <a:extLst>
              <a:ext uri="{FF2B5EF4-FFF2-40B4-BE49-F238E27FC236}">
                <a16:creationId xmlns:a16="http://schemas.microsoft.com/office/drawing/2014/main" id="{8A4E46E3-0249-661D-8CCD-048F0E086D8E}"/>
              </a:ext>
            </a:extLst>
          </p:cNvPr>
          <p:cNvSpPr>
            <a:spLocks noChangeShapeType="1"/>
          </p:cNvSpPr>
          <p:nvPr/>
        </p:nvSpPr>
        <p:spPr bwMode="auto">
          <a:xfrm>
            <a:off x="7467600" y="5410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6" name="Line 37">
            <a:extLst>
              <a:ext uri="{FF2B5EF4-FFF2-40B4-BE49-F238E27FC236}">
                <a16:creationId xmlns:a16="http://schemas.microsoft.com/office/drawing/2014/main" id="{F481E5E6-444B-1BF8-A3A7-B32A8F5AFF8B}"/>
              </a:ext>
            </a:extLst>
          </p:cNvPr>
          <p:cNvSpPr>
            <a:spLocks noChangeShapeType="1"/>
          </p:cNvSpPr>
          <p:nvPr/>
        </p:nvSpPr>
        <p:spPr bwMode="auto">
          <a:xfrm>
            <a:off x="7467600" y="5791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87" name="Text Box 38">
            <a:extLst>
              <a:ext uri="{FF2B5EF4-FFF2-40B4-BE49-F238E27FC236}">
                <a16:creationId xmlns:a16="http://schemas.microsoft.com/office/drawing/2014/main" id="{38FE4DAB-259C-6A6F-2C91-286D2A3B2163}"/>
              </a:ext>
            </a:extLst>
          </p:cNvPr>
          <p:cNvSpPr txBox="1">
            <a:spLocks noChangeArrowheads="1"/>
          </p:cNvSpPr>
          <p:nvPr/>
        </p:nvSpPr>
        <p:spPr bwMode="auto">
          <a:xfrm rot="5296858">
            <a:off x="7554119" y="5420519"/>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t>
            </a:r>
            <a:endParaRPr kumimoji="0" lang="en-US" altLang="en-US" sz="1800">
              <a:solidFill>
                <a:schemeClr val="tx1"/>
              </a:solidFill>
              <a:latin typeface="Arial" panose="020B0604020202020204" pitchFamily="34" charset="0"/>
            </a:endParaRPr>
          </a:p>
        </p:txBody>
      </p:sp>
      <p:sp>
        <p:nvSpPr>
          <p:cNvPr id="11288" name="Rectangle 39">
            <a:extLst>
              <a:ext uri="{FF2B5EF4-FFF2-40B4-BE49-F238E27FC236}">
                <a16:creationId xmlns:a16="http://schemas.microsoft.com/office/drawing/2014/main" id="{490F6061-11F7-567F-7A00-A075DD2690C2}"/>
              </a:ext>
            </a:extLst>
          </p:cNvPr>
          <p:cNvSpPr>
            <a:spLocks noChangeArrowheads="1"/>
          </p:cNvSpPr>
          <p:nvPr/>
        </p:nvSpPr>
        <p:spPr bwMode="auto">
          <a:xfrm>
            <a:off x="8305800" y="4648200"/>
            <a:ext cx="457200" cy="12954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1289" name="Line 40">
            <a:extLst>
              <a:ext uri="{FF2B5EF4-FFF2-40B4-BE49-F238E27FC236}">
                <a16:creationId xmlns:a16="http://schemas.microsoft.com/office/drawing/2014/main" id="{5499AF23-C2E7-05E1-B40E-8EA622E24CE4}"/>
              </a:ext>
            </a:extLst>
          </p:cNvPr>
          <p:cNvSpPr>
            <a:spLocks noChangeShapeType="1"/>
          </p:cNvSpPr>
          <p:nvPr/>
        </p:nvSpPr>
        <p:spPr bwMode="auto">
          <a:xfrm>
            <a:off x="8305800" y="49530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90" name="Line 41">
            <a:extLst>
              <a:ext uri="{FF2B5EF4-FFF2-40B4-BE49-F238E27FC236}">
                <a16:creationId xmlns:a16="http://schemas.microsoft.com/office/drawing/2014/main" id="{BD825970-E8D1-D256-E4D8-11FEEF1E582B}"/>
              </a:ext>
            </a:extLst>
          </p:cNvPr>
          <p:cNvSpPr>
            <a:spLocks noChangeShapeType="1"/>
          </p:cNvSpPr>
          <p:nvPr/>
        </p:nvSpPr>
        <p:spPr bwMode="auto">
          <a:xfrm>
            <a:off x="8305800" y="5181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91" name="Line 42">
            <a:extLst>
              <a:ext uri="{FF2B5EF4-FFF2-40B4-BE49-F238E27FC236}">
                <a16:creationId xmlns:a16="http://schemas.microsoft.com/office/drawing/2014/main" id="{F3080FC6-A162-05B8-55C5-39B19F1ED6D9}"/>
              </a:ext>
            </a:extLst>
          </p:cNvPr>
          <p:cNvSpPr>
            <a:spLocks noChangeShapeType="1"/>
          </p:cNvSpPr>
          <p:nvPr/>
        </p:nvSpPr>
        <p:spPr bwMode="auto">
          <a:xfrm>
            <a:off x="8305800" y="5410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92" name="Line 43">
            <a:extLst>
              <a:ext uri="{FF2B5EF4-FFF2-40B4-BE49-F238E27FC236}">
                <a16:creationId xmlns:a16="http://schemas.microsoft.com/office/drawing/2014/main" id="{0AE5D786-BF43-5F75-FA0C-43235DEFA077}"/>
              </a:ext>
            </a:extLst>
          </p:cNvPr>
          <p:cNvSpPr>
            <a:spLocks noChangeShapeType="1"/>
          </p:cNvSpPr>
          <p:nvPr/>
        </p:nvSpPr>
        <p:spPr bwMode="auto">
          <a:xfrm>
            <a:off x="8305800" y="5791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293" name="Text Box 44">
            <a:extLst>
              <a:ext uri="{FF2B5EF4-FFF2-40B4-BE49-F238E27FC236}">
                <a16:creationId xmlns:a16="http://schemas.microsoft.com/office/drawing/2014/main" id="{AED125B8-D396-DC43-0FCA-D4BE3E7A2CE2}"/>
              </a:ext>
            </a:extLst>
          </p:cNvPr>
          <p:cNvSpPr txBox="1">
            <a:spLocks noChangeArrowheads="1"/>
          </p:cNvSpPr>
          <p:nvPr/>
        </p:nvSpPr>
        <p:spPr bwMode="auto">
          <a:xfrm rot="5296858">
            <a:off x="8392319" y="5420519"/>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t>
            </a:r>
            <a:endParaRPr kumimoji="0" lang="en-US" altLang="en-US" sz="1800">
              <a:solidFill>
                <a:schemeClr val="tx1"/>
              </a:solidFill>
              <a:latin typeface="Arial" panose="020B0604020202020204" pitchFamily="34" charset="0"/>
            </a:endParaRPr>
          </a:p>
        </p:txBody>
      </p:sp>
      <p:sp>
        <p:nvSpPr>
          <p:cNvPr id="11294" name="Text Box 46">
            <a:extLst>
              <a:ext uri="{FF2B5EF4-FFF2-40B4-BE49-F238E27FC236}">
                <a16:creationId xmlns:a16="http://schemas.microsoft.com/office/drawing/2014/main" id="{FB444BAE-2328-CB5A-1482-DA8574322640}"/>
              </a:ext>
            </a:extLst>
          </p:cNvPr>
          <p:cNvSpPr txBox="1">
            <a:spLocks noChangeArrowheads="1"/>
          </p:cNvSpPr>
          <p:nvPr/>
        </p:nvSpPr>
        <p:spPr bwMode="auto">
          <a:xfrm>
            <a:off x="6615113" y="457200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1</a:t>
            </a:r>
            <a:endParaRPr kumimoji="0" lang="en-US" altLang="en-US" sz="1800" baseline="-25000">
              <a:solidFill>
                <a:schemeClr val="tx1"/>
              </a:solidFill>
              <a:latin typeface="Arial" panose="020B0604020202020204" pitchFamily="34" charset="0"/>
            </a:endParaRPr>
          </a:p>
        </p:txBody>
      </p:sp>
      <p:sp>
        <p:nvSpPr>
          <p:cNvPr id="11295" name="Text Box 47">
            <a:extLst>
              <a:ext uri="{FF2B5EF4-FFF2-40B4-BE49-F238E27FC236}">
                <a16:creationId xmlns:a16="http://schemas.microsoft.com/office/drawing/2014/main" id="{9B4620FF-9747-5AC5-D6E4-05F3AFD222C0}"/>
              </a:ext>
            </a:extLst>
          </p:cNvPr>
          <p:cNvSpPr txBox="1">
            <a:spLocks noChangeArrowheads="1"/>
          </p:cNvSpPr>
          <p:nvPr/>
        </p:nvSpPr>
        <p:spPr bwMode="auto">
          <a:xfrm>
            <a:off x="7453313" y="457200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2</a:t>
            </a:r>
            <a:endParaRPr kumimoji="0" lang="en-US" altLang="en-US" sz="1800" baseline="-25000">
              <a:solidFill>
                <a:schemeClr val="tx1"/>
              </a:solidFill>
              <a:latin typeface="Arial" panose="020B0604020202020204" pitchFamily="34" charset="0"/>
            </a:endParaRPr>
          </a:p>
        </p:txBody>
      </p:sp>
      <p:sp>
        <p:nvSpPr>
          <p:cNvPr id="11296" name="Text Box 48">
            <a:extLst>
              <a:ext uri="{FF2B5EF4-FFF2-40B4-BE49-F238E27FC236}">
                <a16:creationId xmlns:a16="http://schemas.microsoft.com/office/drawing/2014/main" id="{B7B6BCB2-69BF-38F6-0F1F-B3DC82FC47D8}"/>
              </a:ext>
            </a:extLst>
          </p:cNvPr>
          <p:cNvSpPr txBox="1">
            <a:spLocks noChangeArrowheads="1"/>
          </p:cNvSpPr>
          <p:nvPr/>
        </p:nvSpPr>
        <p:spPr bwMode="auto">
          <a:xfrm>
            <a:off x="8291513" y="457200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3</a:t>
            </a:r>
            <a:endParaRPr kumimoji="0" lang="en-US" altLang="en-US" sz="1800" baseline="-25000">
              <a:solidFill>
                <a:schemeClr val="tx1"/>
              </a:solidFill>
              <a:latin typeface="Arial" panose="020B0604020202020204" pitchFamily="34" charset="0"/>
            </a:endParaRPr>
          </a:p>
        </p:txBody>
      </p:sp>
      <p:sp>
        <p:nvSpPr>
          <p:cNvPr id="11297" name="Text Box 49">
            <a:extLst>
              <a:ext uri="{FF2B5EF4-FFF2-40B4-BE49-F238E27FC236}">
                <a16:creationId xmlns:a16="http://schemas.microsoft.com/office/drawing/2014/main" id="{A2E8866A-74C9-A0CE-2A8D-99259318312A}"/>
              </a:ext>
            </a:extLst>
          </p:cNvPr>
          <p:cNvSpPr txBox="1">
            <a:spLocks noChangeArrowheads="1"/>
          </p:cNvSpPr>
          <p:nvPr/>
        </p:nvSpPr>
        <p:spPr bwMode="auto">
          <a:xfrm>
            <a:off x="5851525" y="4227513"/>
            <a:ext cx="458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0</a:t>
            </a:r>
            <a:endParaRPr kumimoji="0" lang="en-US" altLang="en-US" sz="1800" baseline="-25000">
              <a:solidFill>
                <a:schemeClr val="tx1"/>
              </a:solidFill>
              <a:latin typeface="Arial" panose="020B0604020202020204" pitchFamily="34" charset="0"/>
            </a:endParaRPr>
          </a:p>
        </p:txBody>
      </p:sp>
      <p:sp>
        <p:nvSpPr>
          <p:cNvPr id="11298" name="Text Box 50">
            <a:extLst>
              <a:ext uri="{FF2B5EF4-FFF2-40B4-BE49-F238E27FC236}">
                <a16:creationId xmlns:a16="http://schemas.microsoft.com/office/drawing/2014/main" id="{112E4398-519E-6D1A-777D-E5068501AC09}"/>
              </a:ext>
            </a:extLst>
          </p:cNvPr>
          <p:cNvSpPr txBox="1">
            <a:spLocks noChangeArrowheads="1"/>
          </p:cNvSpPr>
          <p:nvPr/>
        </p:nvSpPr>
        <p:spPr bwMode="auto">
          <a:xfrm>
            <a:off x="6584950" y="4191000"/>
            <a:ext cx="45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1</a:t>
            </a:r>
            <a:endParaRPr kumimoji="0" lang="en-US" altLang="en-US" sz="1800" baseline="-25000">
              <a:solidFill>
                <a:schemeClr val="tx1"/>
              </a:solidFill>
              <a:latin typeface="Arial" panose="020B0604020202020204" pitchFamily="34" charset="0"/>
            </a:endParaRPr>
          </a:p>
        </p:txBody>
      </p:sp>
      <p:sp>
        <p:nvSpPr>
          <p:cNvPr id="11299" name="Text Box 51">
            <a:extLst>
              <a:ext uri="{FF2B5EF4-FFF2-40B4-BE49-F238E27FC236}">
                <a16:creationId xmlns:a16="http://schemas.microsoft.com/office/drawing/2014/main" id="{6EB3D8F3-52CC-BB42-EA9F-509482D6FA29}"/>
              </a:ext>
            </a:extLst>
          </p:cNvPr>
          <p:cNvSpPr txBox="1">
            <a:spLocks noChangeArrowheads="1"/>
          </p:cNvSpPr>
          <p:nvPr/>
        </p:nvSpPr>
        <p:spPr bwMode="auto">
          <a:xfrm>
            <a:off x="7423150" y="4205288"/>
            <a:ext cx="458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2</a:t>
            </a:r>
            <a:endParaRPr kumimoji="0" lang="en-US" altLang="en-US" sz="1800" baseline="-25000">
              <a:solidFill>
                <a:schemeClr val="tx1"/>
              </a:solidFill>
              <a:latin typeface="Arial" panose="020B0604020202020204" pitchFamily="34" charset="0"/>
            </a:endParaRPr>
          </a:p>
        </p:txBody>
      </p:sp>
      <p:sp>
        <p:nvSpPr>
          <p:cNvPr id="11300" name="Text Box 52">
            <a:extLst>
              <a:ext uri="{FF2B5EF4-FFF2-40B4-BE49-F238E27FC236}">
                <a16:creationId xmlns:a16="http://schemas.microsoft.com/office/drawing/2014/main" id="{35EEDB37-C9BB-1A1D-EF76-3B2F6CCDD675}"/>
              </a:ext>
            </a:extLst>
          </p:cNvPr>
          <p:cNvSpPr txBox="1">
            <a:spLocks noChangeArrowheads="1"/>
          </p:cNvSpPr>
          <p:nvPr/>
        </p:nvSpPr>
        <p:spPr bwMode="auto">
          <a:xfrm>
            <a:off x="8261350" y="4205288"/>
            <a:ext cx="458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3</a:t>
            </a:r>
            <a:endParaRPr kumimoji="0" lang="en-US" altLang="en-US" sz="1800" baseline="-25000">
              <a:solidFill>
                <a:schemeClr val="tx1"/>
              </a:solidFill>
              <a:latin typeface="Arial" panose="020B0604020202020204" pitchFamily="34" charset="0"/>
            </a:endParaRPr>
          </a:p>
        </p:txBody>
      </p:sp>
      <p:sp>
        <p:nvSpPr>
          <p:cNvPr id="11301" name="Rectangle 53">
            <a:extLst>
              <a:ext uri="{FF2B5EF4-FFF2-40B4-BE49-F238E27FC236}">
                <a16:creationId xmlns:a16="http://schemas.microsoft.com/office/drawing/2014/main" id="{59D413DE-8654-B564-81E2-D774CCAEAD45}"/>
              </a:ext>
            </a:extLst>
          </p:cNvPr>
          <p:cNvSpPr>
            <a:spLocks noChangeArrowheads="1"/>
          </p:cNvSpPr>
          <p:nvPr/>
        </p:nvSpPr>
        <p:spPr bwMode="auto">
          <a:xfrm>
            <a:off x="5881688" y="4648200"/>
            <a:ext cx="457200" cy="12954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1302" name="Line 54">
            <a:extLst>
              <a:ext uri="{FF2B5EF4-FFF2-40B4-BE49-F238E27FC236}">
                <a16:creationId xmlns:a16="http://schemas.microsoft.com/office/drawing/2014/main" id="{15298B72-F896-D8CF-4EC1-CEA19ECDBD4B}"/>
              </a:ext>
            </a:extLst>
          </p:cNvPr>
          <p:cNvSpPr>
            <a:spLocks noChangeShapeType="1"/>
          </p:cNvSpPr>
          <p:nvPr/>
        </p:nvSpPr>
        <p:spPr bwMode="auto">
          <a:xfrm>
            <a:off x="5881688" y="49530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303" name="Line 55">
            <a:extLst>
              <a:ext uri="{FF2B5EF4-FFF2-40B4-BE49-F238E27FC236}">
                <a16:creationId xmlns:a16="http://schemas.microsoft.com/office/drawing/2014/main" id="{37BC954C-4365-B8BC-3702-BE15EF0BC650}"/>
              </a:ext>
            </a:extLst>
          </p:cNvPr>
          <p:cNvSpPr>
            <a:spLocks noChangeShapeType="1"/>
          </p:cNvSpPr>
          <p:nvPr/>
        </p:nvSpPr>
        <p:spPr bwMode="auto">
          <a:xfrm>
            <a:off x="5881688" y="5181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304" name="Line 56">
            <a:extLst>
              <a:ext uri="{FF2B5EF4-FFF2-40B4-BE49-F238E27FC236}">
                <a16:creationId xmlns:a16="http://schemas.microsoft.com/office/drawing/2014/main" id="{E17B25AB-D556-BC12-910D-54D7E3B22D02}"/>
              </a:ext>
            </a:extLst>
          </p:cNvPr>
          <p:cNvSpPr>
            <a:spLocks noChangeShapeType="1"/>
          </p:cNvSpPr>
          <p:nvPr/>
        </p:nvSpPr>
        <p:spPr bwMode="auto">
          <a:xfrm>
            <a:off x="5881688" y="5410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305" name="Line 57">
            <a:extLst>
              <a:ext uri="{FF2B5EF4-FFF2-40B4-BE49-F238E27FC236}">
                <a16:creationId xmlns:a16="http://schemas.microsoft.com/office/drawing/2014/main" id="{9A4B27E8-54E5-0564-9A7D-513A335A9CFA}"/>
              </a:ext>
            </a:extLst>
          </p:cNvPr>
          <p:cNvSpPr>
            <a:spLocks noChangeShapeType="1"/>
          </p:cNvSpPr>
          <p:nvPr/>
        </p:nvSpPr>
        <p:spPr bwMode="auto">
          <a:xfrm>
            <a:off x="5881688" y="57912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1306" name="Text Box 58">
            <a:extLst>
              <a:ext uri="{FF2B5EF4-FFF2-40B4-BE49-F238E27FC236}">
                <a16:creationId xmlns:a16="http://schemas.microsoft.com/office/drawing/2014/main" id="{84336C81-7478-10A9-4AE7-7993C1A18E60}"/>
              </a:ext>
            </a:extLst>
          </p:cNvPr>
          <p:cNvSpPr txBox="1">
            <a:spLocks noChangeArrowheads="1"/>
          </p:cNvSpPr>
          <p:nvPr/>
        </p:nvSpPr>
        <p:spPr bwMode="auto">
          <a:xfrm rot="5296858">
            <a:off x="6030119" y="5414169"/>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t>
            </a:r>
            <a:endParaRPr kumimoji="0" lang="en-US" altLang="en-US" sz="1800">
              <a:solidFill>
                <a:schemeClr val="tx1"/>
              </a:solidFill>
              <a:latin typeface="Arial" panose="020B0604020202020204" pitchFamily="34" charset="0"/>
            </a:endParaRPr>
          </a:p>
        </p:txBody>
      </p:sp>
      <p:sp>
        <p:nvSpPr>
          <p:cNvPr id="11307" name="Text Box 61">
            <a:extLst>
              <a:ext uri="{FF2B5EF4-FFF2-40B4-BE49-F238E27FC236}">
                <a16:creationId xmlns:a16="http://schemas.microsoft.com/office/drawing/2014/main" id="{EFD6F258-23A9-854C-BB4C-F6ECE85705C6}"/>
              </a:ext>
            </a:extLst>
          </p:cNvPr>
          <p:cNvSpPr txBox="1">
            <a:spLocks noChangeArrowheads="1"/>
          </p:cNvSpPr>
          <p:nvPr/>
        </p:nvSpPr>
        <p:spPr bwMode="auto">
          <a:xfrm>
            <a:off x="5867400" y="457200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0</a:t>
            </a:r>
            <a:endParaRPr kumimoji="0" lang="en-US" altLang="en-US" sz="1800" baseline="-25000">
              <a:solidFill>
                <a:schemeClr val="tx1"/>
              </a:solidFill>
              <a:latin typeface="Arial" panose="020B0604020202020204" pitchFamily="34" charset="0"/>
            </a:endParaRPr>
          </a:p>
        </p:txBody>
      </p:sp>
      <p:sp>
        <p:nvSpPr>
          <p:cNvPr id="11308" name="Text Box 63">
            <a:extLst>
              <a:ext uri="{FF2B5EF4-FFF2-40B4-BE49-F238E27FC236}">
                <a16:creationId xmlns:a16="http://schemas.microsoft.com/office/drawing/2014/main" id="{F424BF64-BFEC-29EC-7BFA-D3FF72B4E269}"/>
              </a:ext>
            </a:extLst>
          </p:cNvPr>
          <p:cNvSpPr txBox="1">
            <a:spLocks noChangeArrowheads="1"/>
          </p:cNvSpPr>
          <p:nvPr/>
        </p:nvSpPr>
        <p:spPr bwMode="auto">
          <a:xfrm>
            <a:off x="5943600" y="487680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4</a:t>
            </a:r>
            <a:endParaRPr kumimoji="0" lang="en-US" altLang="en-US" sz="1800" baseline="-25000">
              <a:solidFill>
                <a:schemeClr val="tx1"/>
              </a:solidFill>
              <a:latin typeface="Arial" panose="020B0604020202020204" pitchFamily="34" charset="0"/>
            </a:endParaRPr>
          </a:p>
        </p:txBody>
      </p:sp>
      <p:sp>
        <p:nvSpPr>
          <p:cNvPr id="11309" name="Text Box 64">
            <a:extLst>
              <a:ext uri="{FF2B5EF4-FFF2-40B4-BE49-F238E27FC236}">
                <a16:creationId xmlns:a16="http://schemas.microsoft.com/office/drawing/2014/main" id="{DBF8B38F-B4D4-3DFC-B547-8A66C386E3C7}"/>
              </a:ext>
            </a:extLst>
          </p:cNvPr>
          <p:cNvSpPr txBox="1">
            <a:spLocks noChangeArrowheads="1"/>
          </p:cNvSpPr>
          <p:nvPr/>
        </p:nvSpPr>
        <p:spPr bwMode="auto">
          <a:xfrm>
            <a:off x="6629400" y="487680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5</a:t>
            </a:r>
            <a:endParaRPr kumimoji="0" lang="en-US" altLang="en-US" sz="1800" baseline="-25000">
              <a:solidFill>
                <a:schemeClr val="tx1"/>
              </a:solidFill>
              <a:latin typeface="Arial" panose="020B0604020202020204" pitchFamily="34" charset="0"/>
            </a:endParaRPr>
          </a:p>
        </p:txBody>
      </p:sp>
      <p:sp>
        <p:nvSpPr>
          <p:cNvPr id="11310" name="Text Box 65">
            <a:extLst>
              <a:ext uri="{FF2B5EF4-FFF2-40B4-BE49-F238E27FC236}">
                <a16:creationId xmlns:a16="http://schemas.microsoft.com/office/drawing/2014/main" id="{9055642D-30E6-190D-F662-A423D0F80A81}"/>
              </a:ext>
            </a:extLst>
          </p:cNvPr>
          <p:cNvSpPr txBox="1">
            <a:spLocks noChangeArrowheads="1"/>
          </p:cNvSpPr>
          <p:nvPr/>
        </p:nvSpPr>
        <p:spPr bwMode="auto">
          <a:xfrm>
            <a:off x="7467600" y="487680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6</a:t>
            </a:r>
            <a:endParaRPr kumimoji="0" lang="en-US" altLang="en-US" sz="1800" baseline="-25000">
              <a:solidFill>
                <a:schemeClr val="tx1"/>
              </a:solidFill>
              <a:latin typeface="Arial" panose="020B0604020202020204" pitchFamily="34" charset="0"/>
            </a:endParaRPr>
          </a:p>
        </p:txBody>
      </p:sp>
      <p:sp>
        <p:nvSpPr>
          <p:cNvPr id="11311" name="Text Box 66">
            <a:extLst>
              <a:ext uri="{FF2B5EF4-FFF2-40B4-BE49-F238E27FC236}">
                <a16:creationId xmlns:a16="http://schemas.microsoft.com/office/drawing/2014/main" id="{3F70FD6A-DF28-FDE6-CBC3-7D85832D7356}"/>
              </a:ext>
            </a:extLst>
          </p:cNvPr>
          <p:cNvSpPr txBox="1">
            <a:spLocks noChangeArrowheads="1"/>
          </p:cNvSpPr>
          <p:nvPr/>
        </p:nvSpPr>
        <p:spPr bwMode="auto">
          <a:xfrm>
            <a:off x="8305800" y="487680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a:t>
            </a:r>
            <a:r>
              <a:rPr kumimoji="0" lang="hr-HR" altLang="en-US" sz="1800" baseline="-25000">
                <a:solidFill>
                  <a:schemeClr val="tx1"/>
                </a:solidFill>
                <a:latin typeface="Arial" panose="020B0604020202020204" pitchFamily="34" charset="0"/>
              </a:rPr>
              <a:t>7</a:t>
            </a:r>
            <a:endParaRPr kumimoji="0" lang="en-US" altLang="en-US" sz="1800" baseline="-25000">
              <a:solidFill>
                <a:schemeClr val="tx1"/>
              </a:solidFill>
              <a:latin typeface="Arial" panose="020B0604020202020204" pitchFamily="34" charset="0"/>
            </a:endParaRPr>
          </a:p>
        </p:txBody>
      </p:sp>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37D06FE-6020-8B62-7C27-2F578704C160}"/>
              </a:ext>
            </a:extLst>
          </p:cNvPr>
          <p:cNvSpPr>
            <a:spLocks noGrp="1" noChangeArrowheads="1"/>
          </p:cNvSpPr>
          <p:nvPr>
            <p:ph type="title"/>
          </p:nvPr>
        </p:nvSpPr>
        <p:spPr/>
        <p:txBody>
          <a:bodyPr/>
          <a:lstStyle/>
          <a:p>
            <a:pPr>
              <a:defRPr/>
            </a:pPr>
            <a:r>
              <a:rPr lang="en-US" altLang="en-US"/>
              <a:t>Pristup memoriji</a:t>
            </a:r>
          </a:p>
        </p:txBody>
      </p:sp>
      <p:sp>
        <p:nvSpPr>
          <p:cNvPr id="12291" name="Rectangle 3">
            <a:extLst>
              <a:ext uri="{FF2B5EF4-FFF2-40B4-BE49-F238E27FC236}">
                <a16:creationId xmlns:a16="http://schemas.microsoft.com/office/drawing/2014/main" id="{C4F5A24F-30E4-2F89-7C00-8B430C5377BE}"/>
              </a:ext>
            </a:extLst>
          </p:cNvPr>
          <p:cNvSpPr>
            <a:spLocks noChangeArrowheads="1"/>
          </p:cNvSpPr>
          <p:nvPr/>
        </p:nvSpPr>
        <p:spPr bwMode="auto">
          <a:xfrm>
            <a:off x="2438400" y="1600200"/>
            <a:ext cx="381000" cy="838200"/>
          </a:xfrm>
          <a:prstGeom prst="rect">
            <a:avLst/>
          </a:prstGeom>
          <a:solidFill>
            <a:srgbClr val="CCFF33"/>
          </a:solidFill>
          <a:ln w="9525">
            <a:solidFill>
              <a:schemeClr val="tx1"/>
            </a:solidFill>
            <a:miter lim="800000"/>
            <a:headEnd/>
            <a:tailEnd/>
          </a:ln>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endParaRPr kumimoji="0" lang="en-US" altLang="en-US" sz="1800">
              <a:solidFill>
                <a:schemeClr val="tx1"/>
              </a:solidFill>
              <a:latin typeface="Arial" panose="020B0604020202020204" pitchFamily="34" charset="0"/>
            </a:endParaRPr>
          </a:p>
        </p:txBody>
      </p:sp>
      <p:sp>
        <p:nvSpPr>
          <p:cNvPr id="12292" name="Rectangle 4">
            <a:extLst>
              <a:ext uri="{FF2B5EF4-FFF2-40B4-BE49-F238E27FC236}">
                <a16:creationId xmlns:a16="http://schemas.microsoft.com/office/drawing/2014/main" id="{B7F229EA-2AD1-B4F7-9111-55407C6B3D01}"/>
              </a:ext>
            </a:extLst>
          </p:cNvPr>
          <p:cNvSpPr>
            <a:spLocks noChangeArrowheads="1"/>
          </p:cNvSpPr>
          <p:nvPr/>
        </p:nvSpPr>
        <p:spPr bwMode="auto">
          <a:xfrm>
            <a:off x="2438400" y="2895600"/>
            <a:ext cx="381000" cy="838200"/>
          </a:xfrm>
          <a:prstGeom prst="rect">
            <a:avLst/>
          </a:prstGeom>
          <a:solidFill>
            <a:srgbClr val="CCFF33"/>
          </a:solidFill>
          <a:ln w="9525">
            <a:solidFill>
              <a:schemeClr val="tx1"/>
            </a:solidFill>
            <a:miter lim="800000"/>
            <a:headEnd/>
            <a:tailEnd/>
          </a:ln>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2293" name="Rectangle 5">
            <a:extLst>
              <a:ext uri="{FF2B5EF4-FFF2-40B4-BE49-F238E27FC236}">
                <a16:creationId xmlns:a16="http://schemas.microsoft.com/office/drawing/2014/main" id="{0BC2BE82-4692-B00C-FD71-B1EEC48BACE2}"/>
              </a:ext>
            </a:extLst>
          </p:cNvPr>
          <p:cNvSpPr>
            <a:spLocks noChangeArrowheads="1"/>
          </p:cNvSpPr>
          <p:nvPr/>
        </p:nvSpPr>
        <p:spPr bwMode="auto">
          <a:xfrm>
            <a:off x="2438400" y="4800600"/>
            <a:ext cx="381000" cy="838200"/>
          </a:xfrm>
          <a:prstGeom prst="rect">
            <a:avLst/>
          </a:prstGeom>
          <a:solidFill>
            <a:srgbClr val="CCFF33"/>
          </a:solidFill>
          <a:ln w="9525">
            <a:solidFill>
              <a:schemeClr val="tx1"/>
            </a:solidFill>
            <a:miter lim="800000"/>
            <a:headEnd/>
            <a:tailEnd/>
          </a:ln>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2294" name="Rectangle 6">
            <a:extLst>
              <a:ext uri="{FF2B5EF4-FFF2-40B4-BE49-F238E27FC236}">
                <a16:creationId xmlns:a16="http://schemas.microsoft.com/office/drawing/2014/main" id="{2E8901C3-FD2F-E2E6-6C9E-022A6583B573}"/>
              </a:ext>
            </a:extLst>
          </p:cNvPr>
          <p:cNvSpPr>
            <a:spLocks noChangeArrowheads="1"/>
          </p:cNvSpPr>
          <p:nvPr/>
        </p:nvSpPr>
        <p:spPr bwMode="auto">
          <a:xfrm>
            <a:off x="3276600" y="1600200"/>
            <a:ext cx="228600" cy="8382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2295" name="Rectangle 7">
            <a:extLst>
              <a:ext uri="{FF2B5EF4-FFF2-40B4-BE49-F238E27FC236}">
                <a16:creationId xmlns:a16="http://schemas.microsoft.com/office/drawing/2014/main" id="{41473FCE-53F9-CA76-8536-56F881A8B4D2}"/>
              </a:ext>
            </a:extLst>
          </p:cNvPr>
          <p:cNvSpPr>
            <a:spLocks noChangeArrowheads="1"/>
          </p:cNvSpPr>
          <p:nvPr/>
        </p:nvSpPr>
        <p:spPr bwMode="auto">
          <a:xfrm>
            <a:off x="3276600" y="2895600"/>
            <a:ext cx="228600" cy="8382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2296" name="Rectangle 8">
            <a:extLst>
              <a:ext uri="{FF2B5EF4-FFF2-40B4-BE49-F238E27FC236}">
                <a16:creationId xmlns:a16="http://schemas.microsoft.com/office/drawing/2014/main" id="{EE1A46BD-6472-A1C0-03FF-1992A0F24B2E}"/>
              </a:ext>
            </a:extLst>
          </p:cNvPr>
          <p:cNvSpPr>
            <a:spLocks noChangeArrowheads="1"/>
          </p:cNvSpPr>
          <p:nvPr/>
        </p:nvSpPr>
        <p:spPr bwMode="auto">
          <a:xfrm>
            <a:off x="3276600" y="4800600"/>
            <a:ext cx="228600" cy="8382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12297" name="Rectangle 9">
            <a:extLst>
              <a:ext uri="{FF2B5EF4-FFF2-40B4-BE49-F238E27FC236}">
                <a16:creationId xmlns:a16="http://schemas.microsoft.com/office/drawing/2014/main" id="{6D0D128D-BB7F-31EF-29F0-6AAC5B9B996E}"/>
              </a:ext>
            </a:extLst>
          </p:cNvPr>
          <p:cNvSpPr>
            <a:spLocks noChangeArrowheads="1"/>
          </p:cNvSpPr>
          <p:nvPr/>
        </p:nvSpPr>
        <p:spPr bwMode="auto">
          <a:xfrm>
            <a:off x="4724400" y="2895600"/>
            <a:ext cx="533400" cy="838200"/>
          </a:xfrm>
          <a:prstGeom prst="rect">
            <a:avLst/>
          </a:prstGeom>
          <a:solidFill>
            <a:srgbClr val="CCFF33"/>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cxnSp>
        <p:nvCxnSpPr>
          <p:cNvPr id="12298" name="AutoShape 10">
            <a:extLst>
              <a:ext uri="{FF2B5EF4-FFF2-40B4-BE49-F238E27FC236}">
                <a16:creationId xmlns:a16="http://schemas.microsoft.com/office/drawing/2014/main" id="{6E8B80D0-B75C-6F8C-6F82-01FAE9BB3E4C}"/>
              </a:ext>
            </a:extLst>
          </p:cNvPr>
          <p:cNvCxnSpPr>
            <a:cxnSpLocks noChangeShapeType="1"/>
            <a:endCxn id="12293" idx="2"/>
          </p:cNvCxnSpPr>
          <p:nvPr/>
        </p:nvCxnSpPr>
        <p:spPr bwMode="auto">
          <a:xfrm flipV="1">
            <a:off x="1752600" y="5638800"/>
            <a:ext cx="876300" cy="4572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299" name="AutoShape 11">
            <a:extLst>
              <a:ext uri="{FF2B5EF4-FFF2-40B4-BE49-F238E27FC236}">
                <a16:creationId xmlns:a16="http://schemas.microsoft.com/office/drawing/2014/main" id="{2F11D1A5-A63C-9067-997D-CF7E2C305C3C}"/>
              </a:ext>
            </a:extLst>
          </p:cNvPr>
          <p:cNvCxnSpPr>
            <a:cxnSpLocks noChangeShapeType="1"/>
            <a:endCxn id="12291" idx="2"/>
          </p:cNvCxnSpPr>
          <p:nvPr/>
        </p:nvCxnSpPr>
        <p:spPr bwMode="auto">
          <a:xfrm rot="-5400000">
            <a:off x="514350" y="3981450"/>
            <a:ext cx="3657600" cy="571500"/>
          </a:xfrm>
          <a:prstGeom prst="bentConnector3">
            <a:avLst>
              <a:gd name="adj1" fmla="val 9144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300" name="AutoShape 12">
            <a:extLst>
              <a:ext uri="{FF2B5EF4-FFF2-40B4-BE49-F238E27FC236}">
                <a16:creationId xmlns:a16="http://schemas.microsoft.com/office/drawing/2014/main" id="{E21CC19C-2D34-86A3-246D-B0044D5DF545}"/>
              </a:ext>
            </a:extLst>
          </p:cNvPr>
          <p:cNvCxnSpPr>
            <a:cxnSpLocks noChangeShapeType="1"/>
            <a:endCxn id="12292" idx="2"/>
          </p:cNvCxnSpPr>
          <p:nvPr/>
        </p:nvCxnSpPr>
        <p:spPr bwMode="auto">
          <a:xfrm flipV="1">
            <a:off x="2057400" y="3733800"/>
            <a:ext cx="571500" cy="4572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301" name="AutoShape 14">
            <a:extLst>
              <a:ext uri="{FF2B5EF4-FFF2-40B4-BE49-F238E27FC236}">
                <a16:creationId xmlns:a16="http://schemas.microsoft.com/office/drawing/2014/main" id="{497FD574-B805-D46C-A7E4-C5BD12920ACC}"/>
              </a:ext>
            </a:extLst>
          </p:cNvPr>
          <p:cNvCxnSpPr>
            <a:cxnSpLocks noChangeShapeType="1"/>
          </p:cNvCxnSpPr>
          <p:nvPr/>
        </p:nvCxnSpPr>
        <p:spPr bwMode="auto">
          <a:xfrm rot="10800000" flipH="1">
            <a:off x="2438400" y="1981200"/>
            <a:ext cx="1588" cy="3200400"/>
          </a:xfrm>
          <a:prstGeom prst="bentConnector3">
            <a:avLst>
              <a:gd name="adj1" fmla="val -41900014"/>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12302" name="Line 17">
            <a:extLst>
              <a:ext uri="{FF2B5EF4-FFF2-40B4-BE49-F238E27FC236}">
                <a16:creationId xmlns:a16="http://schemas.microsoft.com/office/drawing/2014/main" id="{7CB84AEB-3410-4F87-24C6-BD70CB1DCAEF}"/>
              </a:ext>
            </a:extLst>
          </p:cNvPr>
          <p:cNvSpPr>
            <a:spLocks noChangeShapeType="1"/>
          </p:cNvSpPr>
          <p:nvPr/>
        </p:nvSpPr>
        <p:spPr bwMode="auto">
          <a:xfrm>
            <a:off x="990600" y="3352800"/>
            <a:ext cx="1447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cxnSp>
        <p:nvCxnSpPr>
          <p:cNvPr id="12303" name="AutoShape 18">
            <a:extLst>
              <a:ext uri="{FF2B5EF4-FFF2-40B4-BE49-F238E27FC236}">
                <a16:creationId xmlns:a16="http://schemas.microsoft.com/office/drawing/2014/main" id="{3D748D1E-EAEA-4AAD-F92A-993229476C0C}"/>
              </a:ext>
            </a:extLst>
          </p:cNvPr>
          <p:cNvCxnSpPr>
            <a:cxnSpLocks noChangeShapeType="1"/>
            <a:stCxn id="12291" idx="3"/>
            <a:endCxn id="12294" idx="1"/>
          </p:cNvCxnSpPr>
          <p:nvPr/>
        </p:nvCxnSpPr>
        <p:spPr bwMode="auto">
          <a:xfrm>
            <a:off x="2819400" y="2019300"/>
            <a:ext cx="4572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04" name="AutoShape 19">
            <a:extLst>
              <a:ext uri="{FF2B5EF4-FFF2-40B4-BE49-F238E27FC236}">
                <a16:creationId xmlns:a16="http://schemas.microsoft.com/office/drawing/2014/main" id="{413FAA5C-9CFD-8B93-25FC-4E6F716C9924}"/>
              </a:ext>
            </a:extLst>
          </p:cNvPr>
          <p:cNvCxnSpPr>
            <a:cxnSpLocks noChangeShapeType="1"/>
          </p:cNvCxnSpPr>
          <p:nvPr/>
        </p:nvCxnSpPr>
        <p:spPr bwMode="auto">
          <a:xfrm>
            <a:off x="2819400" y="3352800"/>
            <a:ext cx="4572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05" name="AutoShape 20">
            <a:extLst>
              <a:ext uri="{FF2B5EF4-FFF2-40B4-BE49-F238E27FC236}">
                <a16:creationId xmlns:a16="http://schemas.microsoft.com/office/drawing/2014/main" id="{8591C1F8-677D-E3B6-34A7-65CC6FA8D29B}"/>
              </a:ext>
            </a:extLst>
          </p:cNvPr>
          <p:cNvCxnSpPr>
            <a:cxnSpLocks noChangeShapeType="1"/>
          </p:cNvCxnSpPr>
          <p:nvPr/>
        </p:nvCxnSpPr>
        <p:spPr bwMode="auto">
          <a:xfrm>
            <a:off x="2819400" y="5257800"/>
            <a:ext cx="4572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06" name="AutoShape 21">
            <a:extLst>
              <a:ext uri="{FF2B5EF4-FFF2-40B4-BE49-F238E27FC236}">
                <a16:creationId xmlns:a16="http://schemas.microsoft.com/office/drawing/2014/main" id="{31B65910-5D23-2B83-8360-05917F0DEA57}"/>
              </a:ext>
            </a:extLst>
          </p:cNvPr>
          <p:cNvCxnSpPr>
            <a:cxnSpLocks noChangeShapeType="1"/>
          </p:cNvCxnSpPr>
          <p:nvPr/>
        </p:nvCxnSpPr>
        <p:spPr bwMode="auto">
          <a:xfrm flipV="1">
            <a:off x="3505200" y="3505200"/>
            <a:ext cx="1219200" cy="1905000"/>
          </a:xfrm>
          <a:prstGeom prst="bentConnector3">
            <a:avLst>
              <a:gd name="adj1" fmla="val 48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307" name="AutoShape 22">
            <a:extLst>
              <a:ext uri="{FF2B5EF4-FFF2-40B4-BE49-F238E27FC236}">
                <a16:creationId xmlns:a16="http://schemas.microsoft.com/office/drawing/2014/main" id="{88583BDD-DE7E-965A-4138-8839633B64A5}"/>
              </a:ext>
            </a:extLst>
          </p:cNvPr>
          <p:cNvCxnSpPr>
            <a:cxnSpLocks noChangeShapeType="1"/>
          </p:cNvCxnSpPr>
          <p:nvPr/>
        </p:nvCxnSpPr>
        <p:spPr bwMode="auto">
          <a:xfrm>
            <a:off x="3505200" y="1828800"/>
            <a:ext cx="1219200" cy="12954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2308" name="AutoShape 24">
            <a:extLst>
              <a:ext uri="{FF2B5EF4-FFF2-40B4-BE49-F238E27FC236}">
                <a16:creationId xmlns:a16="http://schemas.microsoft.com/office/drawing/2014/main" id="{990FAC2B-55F9-FD39-53B3-16617E0678A8}"/>
              </a:ext>
            </a:extLst>
          </p:cNvPr>
          <p:cNvCxnSpPr>
            <a:cxnSpLocks noChangeShapeType="1"/>
            <a:stCxn id="12295" idx="3"/>
            <a:endCxn id="12297" idx="1"/>
          </p:cNvCxnSpPr>
          <p:nvPr/>
        </p:nvCxnSpPr>
        <p:spPr bwMode="auto">
          <a:xfrm>
            <a:off x="3505200" y="3314700"/>
            <a:ext cx="12192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309" name="Line 26">
            <a:extLst>
              <a:ext uri="{FF2B5EF4-FFF2-40B4-BE49-F238E27FC236}">
                <a16:creationId xmlns:a16="http://schemas.microsoft.com/office/drawing/2014/main" id="{6F5A035E-E295-82D4-800C-6D0EF60655CC}"/>
              </a:ext>
            </a:extLst>
          </p:cNvPr>
          <p:cNvSpPr>
            <a:spLocks noChangeShapeType="1"/>
          </p:cNvSpPr>
          <p:nvPr/>
        </p:nvSpPr>
        <p:spPr bwMode="auto">
          <a:xfrm>
            <a:off x="5257800" y="32766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10" name="Line 30">
            <a:extLst>
              <a:ext uri="{FF2B5EF4-FFF2-40B4-BE49-F238E27FC236}">
                <a16:creationId xmlns:a16="http://schemas.microsoft.com/office/drawing/2014/main" id="{FAF70B19-B478-502F-971B-DD7119EB24FE}"/>
              </a:ext>
            </a:extLst>
          </p:cNvPr>
          <p:cNvSpPr>
            <a:spLocks noChangeShapeType="1"/>
          </p:cNvSpPr>
          <p:nvPr/>
        </p:nvSpPr>
        <p:spPr bwMode="auto">
          <a:xfrm flipV="1">
            <a:off x="4953000" y="3733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11" name="Line 33">
            <a:extLst>
              <a:ext uri="{FF2B5EF4-FFF2-40B4-BE49-F238E27FC236}">
                <a16:creationId xmlns:a16="http://schemas.microsoft.com/office/drawing/2014/main" id="{804CCE63-9CE2-2E4C-0333-A1682DE82488}"/>
              </a:ext>
            </a:extLst>
          </p:cNvPr>
          <p:cNvSpPr>
            <a:spLocks noChangeShapeType="1"/>
          </p:cNvSpPr>
          <p:nvPr/>
        </p:nvSpPr>
        <p:spPr bwMode="auto">
          <a:xfrm flipH="1">
            <a:off x="1295400" y="3276600"/>
            <a:ext cx="1524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12" name="Line 34">
            <a:extLst>
              <a:ext uri="{FF2B5EF4-FFF2-40B4-BE49-F238E27FC236}">
                <a16:creationId xmlns:a16="http://schemas.microsoft.com/office/drawing/2014/main" id="{4D952550-8788-49CC-A43A-428951622D08}"/>
              </a:ext>
            </a:extLst>
          </p:cNvPr>
          <p:cNvSpPr>
            <a:spLocks noChangeShapeType="1"/>
          </p:cNvSpPr>
          <p:nvPr/>
        </p:nvSpPr>
        <p:spPr bwMode="auto">
          <a:xfrm flipV="1">
            <a:off x="4876800" y="3962400"/>
            <a:ext cx="152400" cy="76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13" name="Text Box 35">
            <a:extLst>
              <a:ext uri="{FF2B5EF4-FFF2-40B4-BE49-F238E27FC236}">
                <a16:creationId xmlns:a16="http://schemas.microsoft.com/office/drawing/2014/main" id="{C789F368-A6B0-18C4-E30A-C8A955FC8B93}"/>
              </a:ext>
            </a:extLst>
          </p:cNvPr>
          <p:cNvSpPr txBox="1">
            <a:spLocks noChangeArrowheads="1"/>
          </p:cNvSpPr>
          <p:nvPr/>
        </p:nvSpPr>
        <p:spPr bwMode="auto">
          <a:xfrm>
            <a:off x="1295400" y="5805488"/>
            <a:ext cx="628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en-US" altLang="en-US" sz="1800">
                <a:solidFill>
                  <a:schemeClr val="tx1"/>
                </a:solidFill>
                <a:latin typeface="Arial" panose="020B0604020202020204" pitchFamily="34" charset="0"/>
              </a:rPr>
              <a:t>R/W</a:t>
            </a:r>
          </a:p>
        </p:txBody>
      </p:sp>
      <p:sp>
        <p:nvSpPr>
          <p:cNvPr id="12314" name="Text Box 36">
            <a:extLst>
              <a:ext uri="{FF2B5EF4-FFF2-40B4-BE49-F238E27FC236}">
                <a16:creationId xmlns:a16="http://schemas.microsoft.com/office/drawing/2014/main" id="{54522AF5-4D40-22C4-E1B0-363D6BDB8198}"/>
              </a:ext>
            </a:extLst>
          </p:cNvPr>
          <p:cNvSpPr txBox="1">
            <a:spLocks noChangeArrowheads="1"/>
          </p:cNvSpPr>
          <p:nvPr/>
        </p:nvSpPr>
        <p:spPr bwMode="auto">
          <a:xfrm>
            <a:off x="4784725" y="4105275"/>
            <a:ext cx="1123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en-US" altLang="en-US" sz="1800">
                <a:solidFill>
                  <a:schemeClr val="tx1"/>
                </a:solidFill>
                <a:latin typeface="Arial" panose="020B0604020202020204" pitchFamily="34" charset="0"/>
              </a:rPr>
              <a:t>ni</a:t>
            </a:r>
            <a:r>
              <a:rPr kumimoji="0" lang="hr-HR" altLang="en-US" sz="1800">
                <a:solidFill>
                  <a:schemeClr val="tx1"/>
                </a:solidFill>
                <a:latin typeface="Arial" panose="020B0604020202020204" pitchFamily="34" charset="0"/>
              </a:rPr>
              <a:t>ži bitovi</a:t>
            </a:r>
          </a:p>
          <a:p>
            <a:pPr>
              <a:spcBef>
                <a:spcPct val="0"/>
              </a:spcBef>
              <a:buClrTx/>
              <a:buSzTx/>
              <a:buFontTx/>
              <a:buNone/>
            </a:pPr>
            <a:r>
              <a:rPr kumimoji="0" lang="hr-HR" altLang="en-US" sz="1800">
                <a:solidFill>
                  <a:schemeClr val="tx1"/>
                </a:solidFill>
                <a:latin typeface="Arial" panose="020B0604020202020204" pitchFamily="34" charset="0"/>
              </a:rPr>
              <a:t>adrese</a:t>
            </a:r>
            <a:endParaRPr kumimoji="0" lang="en-US" altLang="en-US" sz="1800">
              <a:solidFill>
                <a:schemeClr val="tx1"/>
              </a:solidFill>
              <a:latin typeface="Arial" panose="020B0604020202020204" pitchFamily="34" charset="0"/>
            </a:endParaRPr>
          </a:p>
        </p:txBody>
      </p:sp>
      <p:sp>
        <p:nvSpPr>
          <p:cNvPr id="12315" name="Text Box 37">
            <a:extLst>
              <a:ext uri="{FF2B5EF4-FFF2-40B4-BE49-F238E27FC236}">
                <a16:creationId xmlns:a16="http://schemas.microsoft.com/office/drawing/2014/main" id="{37345BA1-0C45-5CF6-1323-7E799F131A23}"/>
              </a:ext>
            </a:extLst>
          </p:cNvPr>
          <p:cNvSpPr txBox="1">
            <a:spLocks noChangeArrowheads="1"/>
          </p:cNvSpPr>
          <p:nvPr/>
        </p:nvSpPr>
        <p:spPr bwMode="auto">
          <a:xfrm>
            <a:off x="0" y="2971800"/>
            <a:ext cx="1111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viši bitovi</a:t>
            </a:r>
          </a:p>
          <a:p>
            <a:pPr>
              <a:spcBef>
                <a:spcPct val="0"/>
              </a:spcBef>
              <a:buClrTx/>
              <a:buSzTx/>
              <a:buFontTx/>
              <a:buNone/>
            </a:pPr>
            <a:r>
              <a:rPr kumimoji="0" lang="hr-HR" altLang="en-US" sz="1800">
                <a:solidFill>
                  <a:schemeClr val="tx1"/>
                </a:solidFill>
                <a:latin typeface="Arial" panose="020B0604020202020204" pitchFamily="34" charset="0"/>
              </a:rPr>
              <a:t>adrese</a:t>
            </a:r>
            <a:endParaRPr kumimoji="0" lang="en-US" altLang="en-US" sz="1800">
              <a:solidFill>
                <a:schemeClr val="tx1"/>
              </a:solidFill>
              <a:latin typeface="Arial" panose="020B0604020202020204" pitchFamily="34" charset="0"/>
            </a:endParaRPr>
          </a:p>
        </p:txBody>
      </p:sp>
      <p:sp>
        <p:nvSpPr>
          <p:cNvPr id="12316" name="Text Box 39">
            <a:extLst>
              <a:ext uri="{FF2B5EF4-FFF2-40B4-BE49-F238E27FC236}">
                <a16:creationId xmlns:a16="http://schemas.microsoft.com/office/drawing/2014/main" id="{7D1B51B9-FED3-5E15-37C7-221DCB001D26}"/>
              </a:ext>
            </a:extLst>
          </p:cNvPr>
          <p:cNvSpPr txBox="1">
            <a:spLocks noChangeArrowheads="1"/>
          </p:cNvSpPr>
          <p:nvPr/>
        </p:nvSpPr>
        <p:spPr bwMode="auto">
          <a:xfrm>
            <a:off x="2438400" y="1905000"/>
            <a:ext cx="45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0</a:t>
            </a:r>
            <a:endParaRPr kumimoji="0" lang="en-US" altLang="en-US" sz="1800" baseline="-25000">
              <a:solidFill>
                <a:schemeClr val="tx1"/>
              </a:solidFill>
              <a:latin typeface="Arial" panose="020B0604020202020204" pitchFamily="34" charset="0"/>
            </a:endParaRPr>
          </a:p>
        </p:txBody>
      </p:sp>
      <p:sp>
        <p:nvSpPr>
          <p:cNvPr id="12317" name="Text Box 40">
            <a:extLst>
              <a:ext uri="{FF2B5EF4-FFF2-40B4-BE49-F238E27FC236}">
                <a16:creationId xmlns:a16="http://schemas.microsoft.com/office/drawing/2014/main" id="{35D106DD-C088-F504-C707-3C6FF9C04777}"/>
              </a:ext>
            </a:extLst>
          </p:cNvPr>
          <p:cNvSpPr txBox="1">
            <a:spLocks noChangeArrowheads="1"/>
          </p:cNvSpPr>
          <p:nvPr/>
        </p:nvSpPr>
        <p:spPr bwMode="auto">
          <a:xfrm>
            <a:off x="2438400" y="3124200"/>
            <a:ext cx="458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1</a:t>
            </a:r>
            <a:endParaRPr kumimoji="0" lang="en-US" altLang="en-US" sz="1800" baseline="-25000">
              <a:solidFill>
                <a:schemeClr val="tx1"/>
              </a:solidFill>
              <a:latin typeface="Arial" panose="020B0604020202020204" pitchFamily="34" charset="0"/>
            </a:endParaRPr>
          </a:p>
        </p:txBody>
      </p:sp>
      <p:sp>
        <p:nvSpPr>
          <p:cNvPr id="12318" name="Text Box 41">
            <a:extLst>
              <a:ext uri="{FF2B5EF4-FFF2-40B4-BE49-F238E27FC236}">
                <a16:creationId xmlns:a16="http://schemas.microsoft.com/office/drawing/2014/main" id="{E9B08069-7E0F-2A18-AFEA-D0786C084FD2}"/>
              </a:ext>
            </a:extLst>
          </p:cNvPr>
          <p:cNvSpPr txBox="1">
            <a:spLocks noChangeArrowheads="1"/>
          </p:cNvSpPr>
          <p:nvPr/>
        </p:nvSpPr>
        <p:spPr bwMode="auto">
          <a:xfrm>
            <a:off x="2362200" y="5029200"/>
            <a:ext cx="636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M</a:t>
            </a:r>
            <a:r>
              <a:rPr kumimoji="0" lang="hr-HR" altLang="en-US" sz="1800" baseline="-25000">
                <a:solidFill>
                  <a:schemeClr val="tx1"/>
                </a:solidFill>
                <a:latin typeface="Arial" panose="020B0604020202020204" pitchFamily="34" charset="0"/>
              </a:rPr>
              <a:t>m-1</a:t>
            </a:r>
            <a:endParaRPr kumimoji="0" lang="en-US" altLang="en-US" sz="1800" baseline="-25000">
              <a:solidFill>
                <a:schemeClr val="tx1"/>
              </a:solidFill>
              <a:latin typeface="Arial" panose="020B0604020202020204" pitchFamily="34" charset="0"/>
            </a:endParaRPr>
          </a:p>
        </p:txBody>
      </p:sp>
      <p:sp>
        <p:nvSpPr>
          <p:cNvPr id="12319" name="Line 43">
            <a:extLst>
              <a:ext uri="{FF2B5EF4-FFF2-40B4-BE49-F238E27FC236}">
                <a16:creationId xmlns:a16="http://schemas.microsoft.com/office/drawing/2014/main" id="{0DFCCF07-A9FB-D6F8-7A50-185B7D359A43}"/>
              </a:ext>
            </a:extLst>
          </p:cNvPr>
          <p:cNvSpPr>
            <a:spLocks noChangeShapeType="1"/>
          </p:cNvSpPr>
          <p:nvPr/>
        </p:nvSpPr>
        <p:spPr bwMode="auto">
          <a:xfrm>
            <a:off x="2667000" y="4267200"/>
            <a:ext cx="0" cy="3048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20" name="Line 44">
            <a:extLst>
              <a:ext uri="{FF2B5EF4-FFF2-40B4-BE49-F238E27FC236}">
                <a16:creationId xmlns:a16="http://schemas.microsoft.com/office/drawing/2014/main" id="{5173C742-98B7-C499-C397-F2AECCAF217E}"/>
              </a:ext>
            </a:extLst>
          </p:cNvPr>
          <p:cNvSpPr>
            <a:spLocks noChangeShapeType="1"/>
          </p:cNvSpPr>
          <p:nvPr/>
        </p:nvSpPr>
        <p:spPr bwMode="auto">
          <a:xfrm>
            <a:off x="3429000" y="4191000"/>
            <a:ext cx="0" cy="3048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21" name="Text Box 45">
            <a:extLst>
              <a:ext uri="{FF2B5EF4-FFF2-40B4-BE49-F238E27FC236}">
                <a16:creationId xmlns:a16="http://schemas.microsoft.com/office/drawing/2014/main" id="{64493F5C-4843-61F3-4E2D-C4CB45F96375}"/>
              </a:ext>
            </a:extLst>
          </p:cNvPr>
          <p:cNvSpPr txBox="1">
            <a:spLocks noChangeArrowheads="1"/>
          </p:cNvSpPr>
          <p:nvPr/>
        </p:nvSpPr>
        <p:spPr bwMode="auto">
          <a:xfrm>
            <a:off x="3260725" y="1103313"/>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leč</a:t>
            </a:r>
            <a:endParaRPr kumimoji="0" lang="en-US" altLang="en-US" sz="1800">
              <a:solidFill>
                <a:schemeClr val="tx1"/>
              </a:solidFill>
              <a:latin typeface="Arial" panose="020B0604020202020204" pitchFamily="34" charset="0"/>
            </a:endParaRPr>
          </a:p>
        </p:txBody>
      </p:sp>
      <p:sp>
        <p:nvSpPr>
          <p:cNvPr id="12322" name="Text Box 46">
            <a:extLst>
              <a:ext uri="{FF2B5EF4-FFF2-40B4-BE49-F238E27FC236}">
                <a16:creationId xmlns:a16="http://schemas.microsoft.com/office/drawing/2014/main" id="{B3A00D8E-1D94-0B41-9399-59C2D1174A52}"/>
              </a:ext>
            </a:extLst>
          </p:cNvPr>
          <p:cNvSpPr txBox="1">
            <a:spLocks noChangeArrowheads="1"/>
          </p:cNvSpPr>
          <p:nvPr/>
        </p:nvSpPr>
        <p:spPr bwMode="auto">
          <a:xfrm>
            <a:off x="6156325" y="3084513"/>
            <a:ext cx="1784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jedna reč po clk</a:t>
            </a:r>
            <a:endParaRPr kumimoji="0" lang="en-US" altLang="en-US" sz="1800">
              <a:solidFill>
                <a:schemeClr val="tx1"/>
              </a:solidFill>
              <a:latin typeface="Arial" panose="020B0604020202020204" pitchFamily="34" charset="0"/>
            </a:endParaRPr>
          </a:p>
        </p:txBody>
      </p:sp>
      <p:sp>
        <p:nvSpPr>
          <p:cNvPr id="12323" name="Line 47">
            <a:extLst>
              <a:ext uri="{FF2B5EF4-FFF2-40B4-BE49-F238E27FC236}">
                <a16:creationId xmlns:a16="http://schemas.microsoft.com/office/drawing/2014/main" id="{8586589C-7048-CB42-BF65-DDE06A1E9A1F}"/>
              </a:ext>
            </a:extLst>
          </p:cNvPr>
          <p:cNvSpPr>
            <a:spLocks noChangeShapeType="1"/>
          </p:cNvSpPr>
          <p:nvPr/>
        </p:nvSpPr>
        <p:spPr bwMode="auto">
          <a:xfrm>
            <a:off x="1600200" y="1066800"/>
            <a:ext cx="1752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24" name="Line 48">
            <a:extLst>
              <a:ext uri="{FF2B5EF4-FFF2-40B4-BE49-F238E27FC236}">
                <a16:creationId xmlns:a16="http://schemas.microsoft.com/office/drawing/2014/main" id="{6C8AC018-C062-A410-C1D0-EE2CFE2B1B62}"/>
              </a:ext>
            </a:extLst>
          </p:cNvPr>
          <p:cNvSpPr>
            <a:spLocks noChangeShapeType="1"/>
          </p:cNvSpPr>
          <p:nvPr/>
        </p:nvSpPr>
        <p:spPr bwMode="auto">
          <a:xfrm>
            <a:off x="3352800" y="1066800"/>
            <a:ext cx="1752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2325" name="Text Box 49">
            <a:extLst>
              <a:ext uri="{FF2B5EF4-FFF2-40B4-BE49-F238E27FC236}">
                <a16:creationId xmlns:a16="http://schemas.microsoft.com/office/drawing/2014/main" id="{D1869E68-3879-0CDF-ACD0-20DA1E7FFB0A}"/>
              </a:ext>
            </a:extLst>
          </p:cNvPr>
          <p:cNvSpPr txBox="1">
            <a:spLocks noChangeArrowheads="1"/>
          </p:cNvSpPr>
          <p:nvPr/>
        </p:nvSpPr>
        <p:spPr bwMode="auto">
          <a:xfrm>
            <a:off x="1660525" y="722313"/>
            <a:ext cx="1174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fetch faza</a:t>
            </a:r>
            <a:endParaRPr kumimoji="0" lang="en-US" altLang="en-US" sz="1800">
              <a:solidFill>
                <a:schemeClr val="tx1"/>
              </a:solidFill>
              <a:latin typeface="Arial" panose="020B0604020202020204" pitchFamily="34" charset="0"/>
            </a:endParaRPr>
          </a:p>
        </p:txBody>
      </p:sp>
      <p:sp>
        <p:nvSpPr>
          <p:cNvPr id="12326" name="Text Box 50">
            <a:extLst>
              <a:ext uri="{FF2B5EF4-FFF2-40B4-BE49-F238E27FC236}">
                <a16:creationId xmlns:a16="http://schemas.microsoft.com/office/drawing/2014/main" id="{F36FFB42-F905-FD5E-9C66-AC0714FE58D4}"/>
              </a:ext>
            </a:extLst>
          </p:cNvPr>
          <p:cNvSpPr txBox="1">
            <a:spLocks noChangeArrowheads="1"/>
          </p:cNvSpPr>
          <p:nvPr/>
        </p:nvSpPr>
        <p:spPr bwMode="auto">
          <a:xfrm>
            <a:off x="3565525" y="722313"/>
            <a:ext cx="1390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solidFill>
                  <a:schemeClr val="tx1"/>
                </a:solidFill>
                <a:latin typeface="Arial" panose="020B0604020202020204" pitchFamily="34" charset="0"/>
              </a:rPr>
              <a:t>access faza</a:t>
            </a:r>
            <a:endParaRPr kumimoji="0" lang="en-US" altLang="en-US" sz="1800">
              <a:solidFill>
                <a:schemeClr val="tx1"/>
              </a:solidFill>
              <a:latin typeface="Arial" panose="020B0604020202020204" pitchFamily="34" charset="0"/>
            </a:endParaRPr>
          </a:p>
        </p:txBody>
      </p:sp>
      <p:sp>
        <p:nvSpPr>
          <p:cNvPr id="12327" name="Text Box 51">
            <a:extLst>
              <a:ext uri="{FF2B5EF4-FFF2-40B4-BE49-F238E27FC236}">
                <a16:creationId xmlns:a16="http://schemas.microsoft.com/office/drawing/2014/main" id="{2AEFA63E-C037-F936-3032-52E0064751A8}"/>
              </a:ext>
            </a:extLst>
          </p:cNvPr>
          <p:cNvSpPr txBox="1">
            <a:spLocks noChangeArrowheads="1"/>
          </p:cNvSpPr>
          <p:nvPr/>
        </p:nvSpPr>
        <p:spPr bwMode="auto">
          <a:xfrm>
            <a:off x="4800600" y="2895600"/>
            <a:ext cx="3413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en-US" altLang="en-US" sz="1600">
                <a:solidFill>
                  <a:schemeClr val="tx1"/>
                </a:solidFill>
              </a:rPr>
              <a:t>M</a:t>
            </a:r>
          </a:p>
          <a:p>
            <a:pPr>
              <a:spcBef>
                <a:spcPct val="0"/>
              </a:spcBef>
              <a:buClrTx/>
              <a:buSzTx/>
              <a:buFontTx/>
              <a:buNone/>
            </a:pPr>
            <a:r>
              <a:rPr kumimoji="0" lang="en-US" altLang="en-US" sz="1600">
                <a:solidFill>
                  <a:schemeClr val="tx1"/>
                </a:solidFill>
              </a:rPr>
              <a:t>U</a:t>
            </a:r>
          </a:p>
          <a:p>
            <a:pPr>
              <a:spcBef>
                <a:spcPct val="0"/>
              </a:spcBef>
              <a:buClrTx/>
              <a:buSzTx/>
              <a:buFontTx/>
              <a:buNone/>
            </a:pPr>
            <a:r>
              <a:rPr kumimoji="0" lang="en-US" altLang="en-US" sz="1600">
                <a:solidFill>
                  <a:schemeClr val="tx1"/>
                </a:solidFill>
              </a:rPr>
              <a:t>X</a:t>
            </a:r>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917E-F0E1-4EBE-0616-9E053BD0F969}"/>
              </a:ext>
            </a:extLst>
          </p:cNvPr>
          <p:cNvSpPr>
            <a:spLocks noGrp="1"/>
          </p:cNvSpPr>
          <p:nvPr>
            <p:ph type="title"/>
          </p:nvPr>
        </p:nvSpPr>
        <p:spPr/>
        <p:txBody>
          <a:bodyPr/>
          <a:lstStyle/>
          <a:p>
            <a:pPr>
              <a:defRPr/>
            </a:pPr>
            <a:r>
              <a:rPr lang="en-US" dirty="0" err="1"/>
              <a:t>Memorija</a:t>
            </a:r>
            <a:r>
              <a:rPr lang="en-US" dirty="0"/>
              <a:t> </a:t>
            </a:r>
            <a:r>
              <a:rPr lang="en-US" dirty="0" err="1"/>
              <a:t>vek</a:t>
            </a:r>
            <a:r>
              <a:rPr lang="en-US" dirty="0"/>
              <a:t>. </a:t>
            </a:r>
            <a:r>
              <a:rPr lang="en-US" dirty="0" err="1"/>
              <a:t>ra</a:t>
            </a:r>
            <a:r>
              <a:rPr lang="sr-Latn-RS" dirty="0"/>
              <a:t>čunara</a:t>
            </a:r>
            <a:endParaRPr lang="en-US" dirty="0"/>
          </a:p>
        </p:txBody>
      </p:sp>
      <p:sp>
        <p:nvSpPr>
          <p:cNvPr id="3" name="Content Placeholder 2">
            <a:extLst>
              <a:ext uri="{FF2B5EF4-FFF2-40B4-BE49-F238E27FC236}">
                <a16:creationId xmlns:a16="http://schemas.microsoft.com/office/drawing/2014/main" id="{347C9ADC-FC2F-69C5-C35F-C70F362E9641}"/>
              </a:ext>
            </a:extLst>
          </p:cNvPr>
          <p:cNvSpPr>
            <a:spLocks noGrp="1"/>
          </p:cNvSpPr>
          <p:nvPr>
            <p:ph idx="1"/>
          </p:nvPr>
        </p:nvSpPr>
        <p:spPr/>
        <p:txBody>
          <a:bodyPr/>
          <a:lstStyle/>
          <a:p>
            <a:pPr>
              <a:defRPr/>
            </a:pPr>
            <a:r>
              <a:rPr lang="hr-HR" altLang="en-US" dirty="0"/>
              <a:t>Prema tome odakle se pribavljaju operandi, vektorski računari se dele na  </a:t>
            </a:r>
          </a:p>
          <a:p>
            <a:pPr lvl="1">
              <a:defRPr/>
            </a:pPr>
            <a:r>
              <a:rPr lang="en-US" altLang="en-US" dirty="0" err="1"/>
              <a:t>vektorsko-registarske</a:t>
            </a:r>
            <a:r>
              <a:rPr lang="en-US" altLang="en-US" dirty="0"/>
              <a:t> (</a:t>
            </a:r>
            <a:r>
              <a:rPr lang="en-US" altLang="en-US" dirty="0" err="1"/>
              <a:t>sve</a:t>
            </a:r>
            <a:r>
              <a:rPr lang="en-US" altLang="en-US" dirty="0"/>
              <a:t> </a:t>
            </a:r>
            <a:r>
              <a:rPr lang="en-US" altLang="en-US" dirty="0" err="1"/>
              <a:t>vektroske</a:t>
            </a:r>
            <a:r>
              <a:rPr lang="en-US" altLang="en-US" dirty="0"/>
              <a:t> </a:t>
            </a:r>
            <a:r>
              <a:rPr lang="en-US" altLang="en-US" dirty="0" err="1"/>
              <a:t>instrukcije</a:t>
            </a:r>
            <a:r>
              <a:rPr lang="en-US" altLang="en-US" dirty="0"/>
              <a:t>, </a:t>
            </a:r>
            <a:r>
              <a:rPr lang="en-US" altLang="en-US" dirty="0" err="1"/>
              <a:t>izuzev</a:t>
            </a:r>
            <a:r>
              <a:rPr lang="en-US" altLang="en-US" dirty="0"/>
              <a:t> LOAD </a:t>
            </a:r>
            <a:r>
              <a:rPr lang="en-US" altLang="en-US" dirty="0" err="1"/>
              <a:t>i</a:t>
            </a:r>
            <a:r>
              <a:rPr lang="en-US" altLang="en-US" dirty="0"/>
              <a:t> STORE, </a:t>
            </a:r>
            <a:r>
              <a:rPr lang="en-US" altLang="en-US" dirty="0" err="1"/>
              <a:t>pribavljaju</a:t>
            </a:r>
            <a:r>
              <a:rPr lang="en-US" altLang="en-US" dirty="0"/>
              <a:t> </a:t>
            </a:r>
            <a:r>
              <a:rPr lang="en-US" altLang="en-US" dirty="0" err="1"/>
              <a:t>operande</a:t>
            </a:r>
            <a:r>
              <a:rPr lang="en-US" altLang="en-US" dirty="0"/>
              <a:t> </a:t>
            </a:r>
            <a:r>
              <a:rPr lang="en-US" altLang="en-US" dirty="0" err="1"/>
              <a:t>iz</a:t>
            </a:r>
            <a:r>
              <a:rPr lang="en-US" altLang="en-US" dirty="0"/>
              <a:t> </a:t>
            </a:r>
            <a:r>
              <a:rPr lang="en-US" altLang="en-US" dirty="0" err="1"/>
              <a:t>vektorskih</a:t>
            </a:r>
            <a:r>
              <a:rPr lang="en-US" altLang="en-US" dirty="0"/>
              <a:t> </a:t>
            </a:r>
            <a:r>
              <a:rPr lang="en-US" altLang="en-US" dirty="0" err="1"/>
              <a:t>registara</a:t>
            </a:r>
            <a:r>
              <a:rPr lang="en-US" altLang="en-US" dirty="0"/>
              <a:t> </a:t>
            </a:r>
            <a:r>
              <a:rPr lang="en-US" altLang="en-US" dirty="0" err="1"/>
              <a:t>i</a:t>
            </a:r>
            <a:r>
              <a:rPr lang="en-US" altLang="en-US" dirty="0"/>
              <a:t> </a:t>
            </a:r>
            <a:r>
              <a:rPr lang="en-US" altLang="en-US" dirty="0" err="1"/>
              <a:t>smeštaju</a:t>
            </a:r>
            <a:r>
              <a:rPr lang="en-US" altLang="en-US" dirty="0"/>
              <a:t> </a:t>
            </a:r>
            <a:r>
              <a:rPr lang="en-US" altLang="en-US" dirty="0" err="1"/>
              <a:t>rezultat</a:t>
            </a:r>
            <a:r>
              <a:rPr lang="en-US" altLang="en-US" dirty="0"/>
              <a:t> u </a:t>
            </a:r>
            <a:r>
              <a:rPr lang="en-US" altLang="en-US" dirty="0" err="1"/>
              <a:t>registre</a:t>
            </a:r>
            <a:r>
              <a:rPr lang="en-US" altLang="en-US" dirty="0"/>
              <a:t>)</a:t>
            </a:r>
          </a:p>
          <a:p>
            <a:pPr lvl="2">
              <a:defRPr/>
            </a:pPr>
            <a:r>
              <a:rPr lang="en-US" altLang="en-US" dirty="0" err="1"/>
              <a:t>većina</a:t>
            </a:r>
            <a:r>
              <a:rPr lang="en-US" altLang="en-US" dirty="0"/>
              <a:t> </a:t>
            </a:r>
            <a:r>
              <a:rPr lang="en-US" altLang="en-US" dirty="0" err="1"/>
              <a:t>vektroskih</a:t>
            </a:r>
            <a:r>
              <a:rPr lang="en-US" altLang="en-US" dirty="0"/>
              <a:t> </a:t>
            </a:r>
            <a:r>
              <a:rPr lang="en-US" altLang="en-US" dirty="0" err="1"/>
              <a:t>računara</a:t>
            </a:r>
            <a:r>
              <a:rPr lang="en-US" altLang="en-US" dirty="0"/>
              <a:t> je </a:t>
            </a:r>
            <a:r>
              <a:rPr lang="en-US" altLang="en-US" dirty="0" err="1"/>
              <a:t>ovog</a:t>
            </a:r>
            <a:r>
              <a:rPr lang="en-US" altLang="en-US" dirty="0"/>
              <a:t> </a:t>
            </a:r>
            <a:r>
              <a:rPr lang="en-US" altLang="en-US" dirty="0" err="1"/>
              <a:t>tipa</a:t>
            </a:r>
            <a:r>
              <a:rPr lang="sr-Latn-RS" altLang="en-US" dirty="0"/>
              <a:t> </a:t>
            </a:r>
            <a:r>
              <a:rPr lang="en-US" altLang="en-US" dirty="0"/>
              <a:t>(Cray)</a:t>
            </a:r>
            <a:endParaRPr lang="sr-Latn-RS" altLang="en-US" dirty="0"/>
          </a:p>
          <a:p>
            <a:pPr lvl="1">
              <a:defRPr/>
            </a:pPr>
            <a:r>
              <a:rPr lang="en-US" altLang="en-US" dirty="0" err="1"/>
              <a:t>memorijsko-memorijske</a:t>
            </a:r>
            <a:r>
              <a:rPr lang="en-US" altLang="en-US" dirty="0"/>
              <a:t> (memory-to-memory) – operandi se </a:t>
            </a:r>
            <a:r>
              <a:rPr lang="en-US" altLang="en-US" dirty="0" err="1"/>
              <a:t>pribavljaju</a:t>
            </a:r>
            <a:r>
              <a:rPr lang="en-US" altLang="en-US" dirty="0"/>
              <a:t> </a:t>
            </a:r>
            <a:r>
              <a:rPr lang="en-US" altLang="en-US" dirty="0" err="1"/>
              <a:t>iz</a:t>
            </a:r>
            <a:r>
              <a:rPr lang="en-US" altLang="en-US" dirty="0"/>
              <a:t> </a:t>
            </a:r>
            <a:r>
              <a:rPr lang="en-US" altLang="en-US" dirty="0" err="1"/>
              <a:t>memorije</a:t>
            </a:r>
            <a:r>
              <a:rPr lang="en-US" altLang="en-US" dirty="0"/>
              <a:t> </a:t>
            </a:r>
            <a:r>
              <a:rPr lang="en-US" altLang="en-US" dirty="0" err="1"/>
              <a:t>i</a:t>
            </a:r>
            <a:r>
              <a:rPr lang="en-US" altLang="en-US" dirty="0"/>
              <a:t> </a:t>
            </a:r>
            <a:r>
              <a:rPr lang="en-US" altLang="en-US" dirty="0" err="1"/>
              <a:t>smeštaju</a:t>
            </a:r>
            <a:r>
              <a:rPr lang="en-US" altLang="en-US" dirty="0"/>
              <a:t> u </a:t>
            </a:r>
            <a:r>
              <a:rPr lang="en-US" altLang="en-US" dirty="0" err="1"/>
              <a:t>memeoriju</a:t>
            </a:r>
            <a:endParaRPr lang="en-US" altLang="en-US" dirty="0"/>
          </a:p>
          <a:p>
            <a:pPr lvl="2">
              <a:defRPr/>
            </a:pPr>
            <a:r>
              <a:rPr lang="en-US" altLang="en-US" dirty="0"/>
              <a:t>Cyber 205</a:t>
            </a:r>
          </a:p>
          <a:p>
            <a:pPr lvl="1">
              <a:defRPr/>
            </a:pPr>
            <a:endParaRPr lang="en-US" altLang="en-US" dirty="0"/>
          </a:p>
          <a:p>
            <a:pPr>
              <a:defRPr/>
            </a:pPr>
            <a:endParaRPr lang="en-US" dirty="0"/>
          </a:p>
        </p:txBody>
      </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904722E-6A71-4F65-4B7D-20DCCDCC1DB5}"/>
              </a:ext>
            </a:extLst>
          </p:cNvPr>
          <p:cNvSpPr>
            <a:spLocks noGrp="1" noChangeArrowheads="1"/>
          </p:cNvSpPr>
          <p:nvPr>
            <p:ph type="title"/>
          </p:nvPr>
        </p:nvSpPr>
        <p:spPr/>
        <p:txBody>
          <a:bodyPr/>
          <a:lstStyle/>
          <a:p>
            <a:pPr>
              <a:defRPr/>
            </a:pPr>
            <a:r>
              <a:rPr lang="en-US" altLang="en-US"/>
              <a:t>Skalarni podsistem</a:t>
            </a:r>
          </a:p>
        </p:txBody>
      </p:sp>
      <p:sp>
        <p:nvSpPr>
          <p:cNvPr id="14339" name="Rectangle 3">
            <a:extLst>
              <a:ext uri="{FF2B5EF4-FFF2-40B4-BE49-F238E27FC236}">
                <a16:creationId xmlns:a16="http://schemas.microsoft.com/office/drawing/2014/main" id="{085DFBAF-5BEB-4D5D-28EC-392320605CEA}"/>
              </a:ext>
            </a:extLst>
          </p:cNvPr>
          <p:cNvSpPr>
            <a:spLocks noGrp="1" noChangeArrowheads="1"/>
          </p:cNvSpPr>
          <p:nvPr>
            <p:ph type="body" idx="1"/>
          </p:nvPr>
        </p:nvSpPr>
        <p:spPr/>
        <p:txBody>
          <a:bodyPr/>
          <a:lstStyle/>
          <a:p>
            <a:pPr lvl="1">
              <a:defRPr/>
            </a:pPr>
            <a:r>
              <a:rPr lang="en-US" altLang="en-US"/>
              <a:t>Namenjen i</a:t>
            </a:r>
            <a:r>
              <a:rPr lang="hr-HR" altLang="en-US"/>
              <a:t>z</a:t>
            </a:r>
            <a:r>
              <a:rPr lang="en-US" altLang="en-US"/>
              <a:t>vr</a:t>
            </a:r>
            <a:r>
              <a:rPr lang="hr-HR" altLang="en-US"/>
              <a:t>šenju skalarnih instrukcija</a:t>
            </a:r>
          </a:p>
          <a:p>
            <a:pPr lvl="1">
              <a:defRPr/>
            </a:pPr>
            <a:r>
              <a:rPr lang="hr-HR" altLang="en-US"/>
              <a:t>Ne razlikuje se od protočne organizacije procesora</a:t>
            </a:r>
            <a:endParaRPr lang="en-US" altLang="en-US"/>
          </a:p>
          <a:p>
            <a:pPr lvl="1">
              <a:defRPr/>
            </a:pPr>
            <a:r>
              <a:rPr lang="en-US" altLang="en-US"/>
              <a:t>skalarni registri i proto</a:t>
            </a:r>
            <a:r>
              <a:rPr lang="hr-HR" altLang="en-US"/>
              <a:t>čne funkcionalne jedinice</a:t>
            </a:r>
          </a:p>
          <a:p>
            <a:pPr lvl="1">
              <a:defRPr/>
            </a:pPr>
            <a:endParaRPr lang="hr-HR" altLang="en-US"/>
          </a:p>
          <a:p>
            <a:pPr lvl="1">
              <a:buFont typeface="Wingdings" panose="05000000000000000000" pitchFamily="2" charset="2"/>
              <a:buNone/>
              <a:defRPr/>
            </a:pPr>
            <a:endParaRPr lang="hr-HR" altLang="en-US"/>
          </a:p>
          <a:p>
            <a:pPr lvl="1">
              <a:buFont typeface="Wingdings" panose="05000000000000000000" pitchFamily="2" charset="2"/>
              <a:buNone/>
              <a:defRPr/>
            </a:pPr>
            <a:endParaRPr lang="hr-HR" altLang="en-US"/>
          </a:p>
          <a:p>
            <a:pPr lvl="1">
              <a:buFont typeface="Wingdings" panose="05000000000000000000" pitchFamily="2" charset="2"/>
              <a:buNone/>
              <a:defRPr/>
            </a:pPr>
            <a:endParaRPr lang="hr-HR" altLang="en-US"/>
          </a:p>
          <a:p>
            <a:pPr lvl="1">
              <a:buFont typeface="Wingdings" panose="05000000000000000000" pitchFamily="2" charset="2"/>
              <a:buNone/>
              <a:defRPr/>
            </a:pPr>
            <a:endParaRPr lang="hr-HR" altLang="en-US"/>
          </a:p>
          <a:p>
            <a:pPr lvl="1">
              <a:buFont typeface="Wingdings" panose="05000000000000000000" pitchFamily="2" charset="2"/>
              <a:buNone/>
              <a:defRPr/>
            </a:pPr>
            <a:endParaRPr lang="hr-HR" altLang="en-US"/>
          </a:p>
          <a:p>
            <a:pPr lvl="1">
              <a:defRPr/>
            </a:pPr>
            <a:r>
              <a:rPr lang="hr-HR" altLang="en-US"/>
              <a:t>Sadrži protočno organizovane funkcionalne jedinice za izvršenje vektorskih operacija</a:t>
            </a:r>
          </a:p>
          <a:p>
            <a:pPr lvl="1">
              <a:defRPr/>
            </a:pPr>
            <a:r>
              <a:rPr lang="hr-HR" altLang="en-US"/>
              <a:t>veliki broj vektorskih registara</a:t>
            </a:r>
          </a:p>
          <a:p>
            <a:pPr lvl="1">
              <a:buFont typeface="Wingdings" panose="05000000000000000000" pitchFamily="2" charset="2"/>
              <a:buNone/>
              <a:defRPr/>
            </a:pPr>
            <a:endParaRPr lang="en-US" altLang="en-US"/>
          </a:p>
        </p:txBody>
      </p:sp>
      <p:sp>
        <p:nvSpPr>
          <p:cNvPr id="14340" name="Rectangle 4">
            <a:extLst>
              <a:ext uri="{FF2B5EF4-FFF2-40B4-BE49-F238E27FC236}">
                <a16:creationId xmlns:a16="http://schemas.microsoft.com/office/drawing/2014/main" id="{2A8654DF-896D-787B-BDEE-87A32B94FF44}"/>
              </a:ext>
            </a:extLst>
          </p:cNvPr>
          <p:cNvSpPr>
            <a:spLocks noChangeArrowheads="1"/>
          </p:cNvSpPr>
          <p:nvPr/>
        </p:nvSpPr>
        <p:spPr bwMode="auto">
          <a:xfrm>
            <a:off x="0" y="2857500"/>
            <a:ext cx="9144000" cy="711200"/>
          </a:xfrm>
          <a:prstGeom prst="rect">
            <a:avLst/>
          </a:prstGeom>
          <a:solidFill>
            <a:schemeClr val="accent1"/>
          </a:solidFill>
          <a:ln w="9525">
            <a:solidFill>
              <a:schemeClr val="tx1"/>
            </a:solidFill>
            <a:miter lim="800000"/>
            <a:headEnd/>
            <a:tailEnd/>
          </a:ln>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4000">
                <a:solidFill>
                  <a:schemeClr val="tx1"/>
                </a:solidFill>
              </a:rPr>
              <a:t> </a:t>
            </a:r>
            <a:r>
              <a:rPr kumimoji="0" lang="hr-HR" altLang="en-US" sz="4000">
                <a:solidFill>
                  <a:schemeClr val="tx2"/>
                </a:solidFill>
              </a:rPr>
              <a:t>Vektorski podsistem</a:t>
            </a:r>
            <a:endParaRPr kumimoji="0" lang="en-US" altLang="en-US" sz="4000">
              <a:solidFill>
                <a:schemeClr val="tx2"/>
              </a:solidFill>
            </a:endParaRPr>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256F16D-C1FB-722C-56D7-9F154071C8A6}"/>
              </a:ext>
            </a:extLst>
          </p:cNvPr>
          <p:cNvSpPr>
            <a:spLocks noChangeArrowheads="1"/>
          </p:cNvSpPr>
          <p:nvPr/>
        </p:nvSpPr>
        <p:spPr bwMode="auto">
          <a:xfrm>
            <a:off x="914400" y="411163"/>
            <a:ext cx="7467600" cy="545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50000"/>
              </a:spcBef>
              <a:buClrTx/>
              <a:buSzTx/>
              <a:buFontTx/>
              <a:buNone/>
            </a:pPr>
            <a:r>
              <a:rPr kumimoji="0" lang="en-US" altLang="en-US" sz="1800" b="1">
                <a:solidFill>
                  <a:srgbClr val="FD0128"/>
                </a:solidFill>
                <a:latin typeface="Arial,Bold" charset="0"/>
              </a:rPr>
              <a:t>Machine 	godina 	Clock 	          Reg.    Elemen.   FUs </a:t>
            </a:r>
          </a:p>
          <a:p>
            <a:pPr>
              <a:spcBef>
                <a:spcPct val="50000"/>
              </a:spcBef>
              <a:buClrTx/>
              <a:buSzTx/>
              <a:buFontTx/>
              <a:buNone/>
            </a:pPr>
            <a:r>
              <a:rPr kumimoji="0" lang="en-US" altLang="en-US" sz="1800" b="1">
                <a:solidFill>
                  <a:srgbClr val="000000"/>
                </a:solidFill>
                <a:latin typeface="Arial,Bold" charset="0"/>
              </a:rPr>
              <a:t>Cray 1 		1976 	80 MHz 		8 	64 	6</a:t>
            </a:r>
          </a:p>
          <a:p>
            <a:pPr>
              <a:spcBef>
                <a:spcPct val="50000"/>
              </a:spcBef>
              <a:buClrTx/>
              <a:buSzTx/>
              <a:buFontTx/>
              <a:buNone/>
            </a:pPr>
            <a:r>
              <a:rPr kumimoji="0" lang="en-US" altLang="en-US" sz="1800" b="1">
                <a:solidFill>
                  <a:srgbClr val="000000"/>
                </a:solidFill>
                <a:latin typeface="Arial,Bold" charset="0"/>
              </a:rPr>
              <a:t>Cray XMP 	1983 	120 MHz 	8 	64 	8 </a:t>
            </a:r>
          </a:p>
          <a:p>
            <a:pPr>
              <a:spcBef>
                <a:spcPct val="50000"/>
              </a:spcBef>
              <a:buClrTx/>
              <a:buSzTx/>
              <a:buFontTx/>
              <a:buNone/>
            </a:pPr>
            <a:r>
              <a:rPr kumimoji="0" lang="en-US" altLang="en-US" sz="1800" b="1">
                <a:solidFill>
                  <a:srgbClr val="000000"/>
                </a:solidFill>
                <a:latin typeface="Arial,Bold" charset="0"/>
              </a:rPr>
              <a:t>Cray YMP 	1988 	166 MHz 	8 	64 	8</a:t>
            </a:r>
          </a:p>
          <a:p>
            <a:pPr>
              <a:spcBef>
                <a:spcPct val="50000"/>
              </a:spcBef>
              <a:buClrTx/>
              <a:buSzTx/>
              <a:buFontTx/>
              <a:buNone/>
            </a:pPr>
            <a:r>
              <a:rPr kumimoji="0" lang="en-US" altLang="en-US" sz="1800" b="1">
                <a:solidFill>
                  <a:srgbClr val="000000"/>
                </a:solidFill>
                <a:latin typeface="Arial,Bold" charset="0"/>
              </a:rPr>
              <a:t>Cray C- 90 	1991 	240 MHz 	8 	128 	8</a:t>
            </a:r>
          </a:p>
          <a:p>
            <a:pPr>
              <a:spcBef>
                <a:spcPct val="50000"/>
              </a:spcBef>
              <a:buClrTx/>
              <a:buSzTx/>
              <a:buFontTx/>
              <a:buNone/>
            </a:pPr>
            <a:r>
              <a:rPr kumimoji="0" lang="en-US" altLang="en-US" sz="1800" b="1">
                <a:solidFill>
                  <a:srgbClr val="000000"/>
                </a:solidFill>
                <a:latin typeface="Arial,Bold" charset="0"/>
              </a:rPr>
              <a:t>Cray T- 90 	1996 	455 MHz 	8 	128 	8</a:t>
            </a:r>
          </a:p>
          <a:p>
            <a:pPr>
              <a:spcBef>
                <a:spcPct val="50000"/>
              </a:spcBef>
              <a:buClrTx/>
              <a:buSzTx/>
              <a:buFontTx/>
              <a:buNone/>
            </a:pPr>
            <a:r>
              <a:rPr kumimoji="0" lang="en-US" altLang="en-US" sz="1800" b="1">
                <a:solidFill>
                  <a:srgbClr val="000000"/>
                </a:solidFill>
                <a:latin typeface="Arial,Bold" charset="0"/>
              </a:rPr>
              <a:t>Conv. C- 1 	1984 	10 MHz 		8 	128 	4</a:t>
            </a:r>
          </a:p>
          <a:p>
            <a:pPr>
              <a:spcBef>
                <a:spcPct val="50000"/>
              </a:spcBef>
              <a:buClrTx/>
              <a:buSzTx/>
              <a:buFontTx/>
              <a:buNone/>
            </a:pPr>
            <a:r>
              <a:rPr kumimoji="0" lang="en-US" altLang="en-US" sz="1800" b="1">
                <a:solidFill>
                  <a:srgbClr val="000000"/>
                </a:solidFill>
                <a:latin typeface="Arial,Bold" charset="0"/>
              </a:rPr>
              <a:t>Conv. C- 4 	1994 	133 MHz 	16 	128 	3</a:t>
            </a:r>
          </a:p>
          <a:p>
            <a:pPr>
              <a:spcBef>
                <a:spcPct val="50000"/>
              </a:spcBef>
              <a:buClrTx/>
              <a:buSzTx/>
              <a:buFontTx/>
              <a:buNone/>
            </a:pPr>
            <a:r>
              <a:rPr kumimoji="0" lang="en-US" altLang="en-US" sz="1800" b="1">
                <a:solidFill>
                  <a:srgbClr val="000000"/>
                </a:solidFill>
                <a:latin typeface="Arial,Bold" charset="0"/>
              </a:rPr>
              <a:t>Fuj. VP200 	1982 	133 MHz 	8- 256 	32- 1024 	3</a:t>
            </a:r>
          </a:p>
          <a:p>
            <a:pPr>
              <a:spcBef>
                <a:spcPct val="50000"/>
              </a:spcBef>
              <a:buClrTx/>
              <a:buSzTx/>
              <a:buFontTx/>
              <a:buNone/>
            </a:pPr>
            <a:r>
              <a:rPr kumimoji="0" lang="en-US" altLang="en-US" sz="1800" b="1">
                <a:solidFill>
                  <a:srgbClr val="000000"/>
                </a:solidFill>
                <a:latin typeface="Arial,Bold" charset="0"/>
              </a:rPr>
              <a:t>Fuj. VP300 	1996 	100 MHz 	8- 256 	32- 1024 	3</a:t>
            </a:r>
          </a:p>
          <a:p>
            <a:pPr>
              <a:spcBef>
                <a:spcPct val="50000"/>
              </a:spcBef>
              <a:buClrTx/>
              <a:buSzTx/>
              <a:buFontTx/>
              <a:buNone/>
            </a:pPr>
            <a:r>
              <a:rPr kumimoji="0" lang="en-US" altLang="en-US" sz="1800" b="1">
                <a:solidFill>
                  <a:srgbClr val="000000"/>
                </a:solidFill>
                <a:latin typeface="Arial,Bold" charset="0"/>
              </a:rPr>
              <a:t>NEC SX/ 2 	1984 	160 MHz 	8+ 8K 	256+ var 16</a:t>
            </a:r>
          </a:p>
          <a:p>
            <a:pPr>
              <a:spcBef>
                <a:spcPct val="50000"/>
              </a:spcBef>
              <a:buClrTx/>
              <a:buSzTx/>
              <a:buFontTx/>
              <a:buNone/>
            </a:pPr>
            <a:r>
              <a:rPr kumimoji="0" lang="en-US" altLang="en-US" sz="1800" b="1">
                <a:solidFill>
                  <a:srgbClr val="000000"/>
                </a:solidFill>
                <a:latin typeface="Arial,Bold" charset="0"/>
              </a:rPr>
              <a:t>NEC SX/ 3 	1995 	400 MHz 	8+ 8K 	256+ var 16</a:t>
            </a:r>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8EE58E1-CAC2-2836-F0E4-D76EEA53EFFC}"/>
              </a:ext>
            </a:extLst>
          </p:cNvPr>
          <p:cNvSpPr>
            <a:spLocks noGrp="1" noChangeArrowheads="1"/>
          </p:cNvSpPr>
          <p:nvPr>
            <p:ph type="title"/>
          </p:nvPr>
        </p:nvSpPr>
        <p:spPr/>
        <p:txBody>
          <a:bodyPr/>
          <a:lstStyle/>
          <a:p>
            <a:pPr algn="r">
              <a:defRPr/>
            </a:pPr>
            <a:r>
              <a:rPr lang="hr-HR" altLang="en-US"/>
              <a:t>Cray-1</a:t>
            </a:r>
            <a:endParaRPr lang="en-US" altLang="en-US"/>
          </a:p>
        </p:txBody>
      </p:sp>
      <p:pic>
        <p:nvPicPr>
          <p:cNvPr id="16387" name="Picture 3" descr="cray">
            <a:extLst>
              <a:ext uri="{FF2B5EF4-FFF2-40B4-BE49-F238E27FC236}">
                <a16:creationId xmlns:a16="http://schemas.microsoft.com/office/drawing/2014/main" id="{4C5CFCF1-0DF1-E195-F152-84903C225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524000"/>
            <a:ext cx="3530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Cray-1">
            <a:extLst>
              <a:ext uri="{FF2B5EF4-FFF2-40B4-BE49-F238E27FC236}">
                <a16:creationId xmlns:a16="http://schemas.microsoft.com/office/drawing/2014/main" id="{18E83247-6D31-21E1-6EAB-D184C602E5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
            <a:ext cx="487997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a:extLst>
              <a:ext uri="{FF2B5EF4-FFF2-40B4-BE49-F238E27FC236}">
                <a16:creationId xmlns:a16="http://schemas.microsoft.com/office/drawing/2014/main" id="{74D7B4F5-D930-960E-2D91-C54BD17B3852}"/>
              </a:ext>
            </a:extLst>
          </p:cNvPr>
          <p:cNvSpPr>
            <a:spLocks noChangeArrowheads="1"/>
          </p:cNvSpPr>
          <p:nvPr/>
        </p:nvSpPr>
        <p:spPr bwMode="auto">
          <a:xfrm>
            <a:off x="152400" y="228600"/>
            <a:ext cx="8763000" cy="533400"/>
          </a:xfrm>
          <a:prstGeom prst="rect">
            <a:avLst/>
          </a:prstGeom>
          <a:noFill/>
          <a:ln>
            <a:noFill/>
          </a:ln>
        </p:spPr>
        <p:txBody>
          <a:bodyPr lIns="92075" tIns="46037" rIns="92075" bIns="46037"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pPr>
              <a:defRPr/>
            </a:pPr>
            <a:r>
              <a:rPr kumimoji="1" lang="en-AU" altLang="en-US" sz="4000">
                <a:effectLst>
                  <a:outerShdw blurRad="38100" dist="38100" dir="2700000" algn="tl">
                    <a:srgbClr val="C0C0C0"/>
                  </a:outerShdw>
                </a:effectLst>
                <a:latin typeface="Tahoma" panose="020B0604030504040204" pitchFamily="34" charset="0"/>
              </a:rPr>
              <a:t>Cray-1: </a:t>
            </a:r>
            <a:r>
              <a:rPr kumimoji="1" lang="en-AU" altLang="en-US" b="1">
                <a:effectLst>
                  <a:outerShdw blurRad="38100" dist="38100" dir="2700000" algn="tl">
                    <a:srgbClr val="C0C0C0"/>
                  </a:outerShdw>
                </a:effectLst>
                <a:latin typeface="Tahoma" panose="020B0604030504040204" pitchFamily="34" charset="0"/>
              </a:rPr>
              <a:t>Format</a:t>
            </a:r>
            <a:r>
              <a:rPr kumimoji="1" lang="hr-HR" altLang="en-US" b="1">
                <a:effectLst>
                  <a:outerShdw blurRad="38100" dist="38100" dir="2700000" algn="tl">
                    <a:srgbClr val="C0C0C0"/>
                  </a:outerShdw>
                </a:effectLst>
                <a:latin typeface="Tahoma" panose="020B0604030504040204" pitchFamily="34" charset="0"/>
              </a:rPr>
              <a:t> instrukcija</a:t>
            </a:r>
            <a:endParaRPr kumimoji="1" lang="en-US" altLang="en-US" b="1">
              <a:effectLst>
                <a:outerShdw blurRad="38100" dist="38100" dir="2700000" algn="tl">
                  <a:srgbClr val="C0C0C0"/>
                </a:outerShdw>
              </a:effectLst>
              <a:latin typeface="Tahoma" panose="020B0604030504040204" pitchFamily="34" charset="0"/>
            </a:endParaRPr>
          </a:p>
        </p:txBody>
      </p:sp>
      <p:sp>
        <p:nvSpPr>
          <p:cNvPr id="50179" name="Rectangle 1027">
            <a:extLst>
              <a:ext uri="{FF2B5EF4-FFF2-40B4-BE49-F238E27FC236}">
                <a16:creationId xmlns:a16="http://schemas.microsoft.com/office/drawing/2014/main" id="{6BCAC73F-7EC1-21B5-9C67-885A13480320}"/>
              </a:ext>
            </a:extLst>
          </p:cNvPr>
          <p:cNvSpPr>
            <a:spLocks noChangeArrowheads="1"/>
          </p:cNvSpPr>
          <p:nvPr/>
        </p:nvSpPr>
        <p:spPr bwMode="auto">
          <a:xfrm>
            <a:off x="457200" y="990600"/>
            <a:ext cx="8458200" cy="1600200"/>
          </a:xfrm>
          <a:prstGeom prst="rect">
            <a:avLst/>
          </a:prstGeom>
          <a:noFill/>
          <a:ln>
            <a:noFill/>
          </a:ln>
        </p:spPr>
        <p:txBody>
          <a:bodyPr lIns="92075" tIns="46037" rIns="92075" bIns="46037"/>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20000"/>
              </a:spcBef>
              <a:buClr>
                <a:schemeClr val="accent1"/>
              </a:buClr>
              <a:buSzPct val="85000"/>
              <a:buFont typeface="Wingdings 2" panose="05020102010507070707" pitchFamily="18" charset="2"/>
              <a:buChar char="ã"/>
              <a:defRPr/>
            </a:pPr>
            <a:r>
              <a:rPr kumimoji="1" lang="en-AU" altLang="en-US">
                <a:solidFill>
                  <a:schemeClr val="accent1"/>
                </a:solidFill>
                <a:effectLst>
                  <a:outerShdw blurRad="38100" dist="38100" dir="2700000" algn="tl">
                    <a:srgbClr val="C0C0C0"/>
                  </a:outerShdw>
                </a:effectLst>
                <a:latin typeface="Tahoma" panose="020B0604030504040204" pitchFamily="34" charset="0"/>
              </a:rPr>
              <a:t>Binar</a:t>
            </a:r>
            <a:r>
              <a:rPr kumimoji="1" lang="hr-HR" altLang="en-US">
                <a:solidFill>
                  <a:schemeClr val="accent1"/>
                </a:solidFill>
                <a:effectLst>
                  <a:outerShdw blurRad="38100" dist="38100" dir="2700000" algn="tl">
                    <a:srgbClr val="C0C0C0"/>
                  </a:outerShdw>
                </a:effectLst>
                <a:latin typeface="Tahoma" panose="020B0604030504040204" pitchFamily="34" charset="0"/>
              </a:rPr>
              <a:t>ne</a:t>
            </a:r>
            <a:r>
              <a:rPr kumimoji="1" lang="en-AU" altLang="en-US">
                <a:solidFill>
                  <a:schemeClr val="accent1"/>
                </a:solidFill>
                <a:effectLst>
                  <a:outerShdw blurRad="38100" dist="38100" dir="2700000" algn="tl">
                    <a:srgbClr val="C0C0C0"/>
                  </a:outerShdw>
                </a:effectLst>
                <a:latin typeface="Tahoma" panose="020B0604030504040204" pitchFamily="34" charset="0"/>
              </a:rPr>
              <a:t> aritmeti</a:t>
            </a:r>
            <a:r>
              <a:rPr kumimoji="1" lang="hr-HR" altLang="en-US">
                <a:solidFill>
                  <a:schemeClr val="accent1"/>
                </a:solidFill>
                <a:effectLst>
                  <a:outerShdw blurRad="38100" dist="38100" dir="2700000" algn="tl">
                    <a:srgbClr val="C0C0C0"/>
                  </a:outerShdw>
                </a:effectLst>
                <a:latin typeface="Tahoma" panose="020B0604030504040204" pitchFamily="34" charset="0"/>
              </a:rPr>
              <a:t>čke i logiške</a:t>
            </a:r>
            <a:r>
              <a:rPr kumimoji="1" lang="en-AU" altLang="en-US">
                <a:solidFill>
                  <a:schemeClr val="accent1"/>
                </a:solidFill>
                <a:effectLst>
                  <a:outerShdw blurRad="38100" dist="38100" dir="2700000" algn="tl">
                    <a:srgbClr val="C0C0C0"/>
                  </a:outerShdw>
                </a:effectLst>
                <a:latin typeface="Tahoma" panose="020B0604030504040204" pitchFamily="34" charset="0"/>
              </a:rPr>
              <a:t> instru</a:t>
            </a:r>
            <a:r>
              <a:rPr kumimoji="1" lang="hr-HR" altLang="en-US">
                <a:solidFill>
                  <a:schemeClr val="accent1"/>
                </a:solidFill>
                <a:effectLst>
                  <a:outerShdw blurRad="38100" dist="38100" dir="2700000" algn="tl">
                    <a:srgbClr val="C0C0C0"/>
                  </a:outerShdw>
                </a:effectLst>
                <a:latin typeface="Tahoma" panose="020B0604030504040204" pitchFamily="34" charset="0"/>
              </a:rPr>
              <a:t>kcije, 16-bitne</a:t>
            </a:r>
            <a:r>
              <a:rPr kumimoji="1" lang="en-AU" altLang="en-US">
                <a:solidFill>
                  <a:schemeClr val="accent1"/>
                </a:solidFill>
                <a:effectLst>
                  <a:outerShdw blurRad="38100" dist="38100" dir="2700000" algn="tl">
                    <a:srgbClr val="C0C0C0"/>
                  </a:outerShdw>
                </a:effectLst>
                <a:latin typeface="Tahoma" panose="020B0604030504040204" pitchFamily="34" charset="0"/>
              </a:rPr>
              <a:t> (a)</a:t>
            </a:r>
          </a:p>
          <a:p>
            <a:pPr>
              <a:spcBef>
                <a:spcPct val="20000"/>
              </a:spcBef>
              <a:buClr>
                <a:schemeClr val="accent1"/>
              </a:buClr>
              <a:buSzPct val="85000"/>
              <a:buFont typeface="Wingdings 2" panose="05020102010507070707" pitchFamily="18" charset="2"/>
              <a:buChar char="ã"/>
              <a:defRPr/>
            </a:pPr>
            <a:r>
              <a:rPr kumimoji="1" lang="en-AU" altLang="en-US">
                <a:solidFill>
                  <a:schemeClr val="accent1"/>
                </a:solidFill>
                <a:effectLst>
                  <a:outerShdw blurRad="38100" dist="38100" dir="2700000" algn="tl">
                    <a:srgbClr val="C0C0C0"/>
                  </a:outerShdw>
                </a:effectLst>
                <a:latin typeface="Tahoma" panose="020B0604030504040204" pitchFamily="34" charset="0"/>
              </a:rPr>
              <a:t>Unar</a:t>
            </a:r>
            <a:r>
              <a:rPr kumimoji="1" lang="hr-HR" altLang="en-US">
                <a:solidFill>
                  <a:schemeClr val="accent1"/>
                </a:solidFill>
                <a:effectLst>
                  <a:outerShdw blurRad="38100" dist="38100" dir="2700000" algn="tl">
                    <a:srgbClr val="C0C0C0"/>
                  </a:outerShdw>
                </a:effectLst>
                <a:latin typeface="Tahoma" panose="020B0604030504040204" pitchFamily="34" charset="0"/>
              </a:rPr>
              <a:t>ne </a:t>
            </a:r>
            <a:r>
              <a:rPr kumimoji="1" lang="en-AU" altLang="en-US">
                <a:solidFill>
                  <a:schemeClr val="accent1"/>
                </a:solidFill>
                <a:effectLst>
                  <a:outerShdw blurRad="38100" dist="38100" dir="2700000" algn="tl">
                    <a:srgbClr val="C0C0C0"/>
                  </a:outerShdw>
                </a:effectLst>
                <a:latin typeface="Tahoma" panose="020B0604030504040204" pitchFamily="34" charset="0"/>
              </a:rPr>
              <a:t> shift </a:t>
            </a:r>
            <a:r>
              <a:rPr kumimoji="1" lang="hr-HR" altLang="en-US">
                <a:solidFill>
                  <a:schemeClr val="accent1"/>
                </a:solidFill>
                <a:effectLst>
                  <a:outerShdw blurRad="38100" dist="38100" dir="2700000" algn="tl">
                    <a:srgbClr val="C0C0C0"/>
                  </a:outerShdw>
                </a:effectLst>
                <a:latin typeface="Tahoma" panose="020B0604030504040204" pitchFamily="34" charset="0"/>
              </a:rPr>
              <a:t>i</a:t>
            </a:r>
            <a:r>
              <a:rPr kumimoji="1" lang="en-AU" altLang="en-US">
                <a:solidFill>
                  <a:schemeClr val="accent1"/>
                </a:solidFill>
                <a:effectLst>
                  <a:outerShdw blurRad="38100" dist="38100" dir="2700000" algn="tl">
                    <a:srgbClr val="C0C0C0"/>
                  </a:outerShdw>
                </a:effectLst>
                <a:latin typeface="Tahoma" panose="020B0604030504040204" pitchFamily="34" charset="0"/>
              </a:rPr>
              <a:t> mask instru</a:t>
            </a:r>
            <a:r>
              <a:rPr kumimoji="1" lang="hr-HR" altLang="en-US">
                <a:solidFill>
                  <a:schemeClr val="accent1"/>
                </a:solidFill>
                <a:effectLst>
                  <a:outerShdw blurRad="38100" dist="38100" dir="2700000" algn="tl">
                    <a:srgbClr val="C0C0C0"/>
                  </a:outerShdw>
                </a:effectLst>
                <a:latin typeface="Tahoma" panose="020B0604030504040204" pitchFamily="34" charset="0"/>
              </a:rPr>
              <a:t>k</a:t>
            </a:r>
            <a:r>
              <a:rPr kumimoji="1" lang="en-AU" altLang="en-US">
                <a:solidFill>
                  <a:schemeClr val="accent1"/>
                </a:solidFill>
                <a:effectLst>
                  <a:outerShdw blurRad="38100" dist="38100" dir="2700000" algn="tl">
                    <a:srgbClr val="C0C0C0"/>
                  </a:outerShdw>
                </a:effectLst>
                <a:latin typeface="Tahoma" panose="020B0604030504040204" pitchFamily="34" charset="0"/>
              </a:rPr>
              <a:t>ci</a:t>
            </a:r>
            <a:r>
              <a:rPr kumimoji="1" lang="hr-HR" altLang="en-US">
                <a:solidFill>
                  <a:schemeClr val="accent1"/>
                </a:solidFill>
                <a:effectLst>
                  <a:outerShdw blurRad="38100" dist="38100" dir="2700000" algn="tl">
                    <a:srgbClr val="C0C0C0"/>
                  </a:outerShdw>
                </a:effectLst>
                <a:latin typeface="Tahoma" panose="020B0604030504040204" pitchFamily="34" charset="0"/>
              </a:rPr>
              <a:t>je, 16-bitne</a:t>
            </a:r>
            <a:r>
              <a:rPr kumimoji="1" lang="en-AU" altLang="en-US">
                <a:solidFill>
                  <a:schemeClr val="accent1"/>
                </a:solidFill>
                <a:effectLst>
                  <a:outerShdw blurRad="38100" dist="38100" dir="2700000" algn="tl">
                    <a:srgbClr val="C0C0C0"/>
                  </a:outerShdw>
                </a:effectLst>
                <a:latin typeface="Tahoma" panose="020B0604030504040204" pitchFamily="34" charset="0"/>
              </a:rPr>
              <a:t> (b)</a:t>
            </a:r>
          </a:p>
          <a:p>
            <a:pPr>
              <a:spcBef>
                <a:spcPct val="20000"/>
              </a:spcBef>
              <a:buClr>
                <a:schemeClr val="accent1"/>
              </a:buClr>
              <a:buSzPct val="85000"/>
              <a:buFont typeface="Wingdings 2" panose="05020102010507070707" pitchFamily="18" charset="2"/>
              <a:buChar char="ã"/>
              <a:defRPr/>
            </a:pPr>
            <a:r>
              <a:rPr kumimoji="1" lang="hr-HR" altLang="en-US">
                <a:solidFill>
                  <a:schemeClr val="accent1"/>
                </a:solidFill>
                <a:effectLst>
                  <a:outerShdw blurRad="38100" dist="38100" dir="2700000" algn="tl">
                    <a:srgbClr val="C0C0C0"/>
                  </a:outerShdw>
                </a:effectLst>
                <a:latin typeface="Tahoma" panose="020B0604030504040204" pitchFamily="34" charset="0"/>
              </a:rPr>
              <a:t>Instrukcije obraćanja memoriji, 32-bitne</a:t>
            </a:r>
            <a:r>
              <a:rPr kumimoji="1" lang="en-AU" altLang="en-US">
                <a:solidFill>
                  <a:schemeClr val="accent1"/>
                </a:solidFill>
                <a:effectLst>
                  <a:outerShdw blurRad="38100" dist="38100" dir="2700000" algn="tl">
                    <a:srgbClr val="C0C0C0"/>
                  </a:outerShdw>
                </a:effectLst>
                <a:latin typeface="Tahoma" panose="020B0604030504040204" pitchFamily="34" charset="0"/>
              </a:rPr>
              <a:t> (c)</a:t>
            </a:r>
          </a:p>
        </p:txBody>
      </p:sp>
      <p:pic>
        <p:nvPicPr>
          <p:cNvPr id="22532" name="Picture 1028" descr="CC367558">
            <a:extLst>
              <a:ext uri="{FF2B5EF4-FFF2-40B4-BE49-F238E27FC236}">
                <a16:creationId xmlns:a16="http://schemas.microsoft.com/office/drawing/2014/main" id="{4C3EC896-3BD1-344F-86ED-9648E8AC3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38400"/>
            <a:ext cx="6096000" cy="42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 Box 1029">
            <a:extLst>
              <a:ext uri="{FF2B5EF4-FFF2-40B4-BE49-F238E27FC236}">
                <a16:creationId xmlns:a16="http://schemas.microsoft.com/office/drawing/2014/main" id="{CCF7FAE3-2A3C-8764-6B1B-F1A07139C073}"/>
              </a:ext>
            </a:extLst>
          </p:cNvPr>
          <p:cNvSpPr txBox="1">
            <a:spLocks noChangeArrowheads="1"/>
          </p:cNvSpPr>
          <p:nvPr/>
        </p:nvSpPr>
        <p:spPr bwMode="auto">
          <a:xfrm>
            <a:off x="7146925" y="2698750"/>
            <a:ext cx="392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t>a)</a:t>
            </a:r>
            <a:endParaRPr kumimoji="0" lang="en-US" altLang="en-US" sz="1800"/>
          </a:p>
        </p:txBody>
      </p:sp>
      <p:sp>
        <p:nvSpPr>
          <p:cNvPr id="22534" name="Text Box 1030">
            <a:extLst>
              <a:ext uri="{FF2B5EF4-FFF2-40B4-BE49-F238E27FC236}">
                <a16:creationId xmlns:a16="http://schemas.microsoft.com/office/drawing/2014/main" id="{A99F57F9-AB62-C49B-A25E-8DF7BD939EA6}"/>
              </a:ext>
            </a:extLst>
          </p:cNvPr>
          <p:cNvSpPr txBox="1">
            <a:spLocks noChangeArrowheads="1"/>
          </p:cNvSpPr>
          <p:nvPr/>
        </p:nvSpPr>
        <p:spPr bwMode="auto">
          <a:xfrm>
            <a:off x="7299325" y="4205288"/>
            <a:ext cx="3984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t>b)</a:t>
            </a:r>
            <a:endParaRPr kumimoji="0" lang="en-US" altLang="en-US" sz="1800"/>
          </a:p>
        </p:txBody>
      </p:sp>
      <p:sp>
        <p:nvSpPr>
          <p:cNvPr id="22535" name="Text Box 1031">
            <a:extLst>
              <a:ext uri="{FF2B5EF4-FFF2-40B4-BE49-F238E27FC236}">
                <a16:creationId xmlns:a16="http://schemas.microsoft.com/office/drawing/2014/main" id="{5F1E0C83-A2AE-4549-A3E4-EBC928377EAC}"/>
              </a:ext>
            </a:extLst>
          </p:cNvPr>
          <p:cNvSpPr txBox="1">
            <a:spLocks noChangeArrowheads="1"/>
          </p:cNvSpPr>
          <p:nvPr/>
        </p:nvSpPr>
        <p:spPr bwMode="auto">
          <a:xfrm>
            <a:off x="7451725" y="5711825"/>
            <a:ext cx="376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t>c)</a:t>
            </a:r>
            <a:endParaRPr kumimoji="0" lang="en-US" altLang="en-US" sz="1800"/>
          </a:p>
        </p:txBody>
      </p:sp>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1B727D6-63C5-48E7-726C-5DD5D927F8CC}"/>
              </a:ext>
            </a:extLst>
          </p:cNvPr>
          <p:cNvSpPr>
            <a:spLocks noGrp="1" noChangeArrowheads="1"/>
          </p:cNvSpPr>
          <p:nvPr>
            <p:ph type="title"/>
          </p:nvPr>
        </p:nvSpPr>
        <p:spPr/>
        <p:txBody>
          <a:bodyPr/>
          <a:lstStyle/>
          <a:p>
            <a:pPr>
              <a:defRPr/>
            </a:pPr>
            <a:r>
              <a:rPr lang="en-US" altLang="en-US"/>
              <a:t>Cray-1 set instrukcija</a:t>
            </a:r>
          </a:p>
        </p:txBody>
      </p:sp>
      <p:pic>
        <p:nvPicPr>
          <p:cNvPr id="23555" name="Picture 3" descr="Cray-1i">
            <a:extLst>
              <a:ext uri="{FF2B5EF4-FFF2-40B4-BE49-F238E27FC236}">
                <a16:creationId xmlns:a16="http://schemas.microsoft.com/office/drawing/2014/main" id="{9C019685-A8ED-821D-5CCA-4FB8B9442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571500"/>
            <a:ext cx="6373812"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EAA5FDB-5572-7E5B-5C0E-3BAEDB01D019}"/>
              </a:ext>
            </a:extLst>
          </p:cNvPr>
          <p:cNvSpPr>
            <a:spLocks noGrp="1" noChangeArrowheads="1"/>
          </p:cNvSpPr>
          <p:nvPr>
            <p:ph type="title"/>
          </p:nvPr>
        </p:nvSpPr>
        <p:spPr/>
        <p:txBody>
          <a:bodyPr/>
          <a:lstStyle/>
          <a:p>
            <a:pPr>
              <a:defRPr/>
            </a:pPr>
            <a:r>
              <a:rPr lang="hr-HR" altLang="en-US"/>
              <a:t>Primer </a:t>
            </a:r>
            <a:endParaRPr lang="en-US" altLang="en-US"/>
          </a:p>
        </p:txBody>
      </p:sp>
      <p:sp>
        <p:nvSpPr>
          <p:cNvPr id="24579" name="Rectangle 4">
            <a:extLst>
              <a:ext uri="{FF2B5EF4-FFF2-40B4-BE49-F238E27FC236}">
                <a16:creationId xmlns:a16="http://schemas.microsoft.com/office/drawing/2014/main" id="{D24BAEEC-A4AF-1652-73F7-2596846D67B0}"/>
              </a:ext>
            </a:extLst>
          </p:cNvPr>
          <p:cNvSpPr>
            <a:spLocks noChangeArrowheads="1"/>
          </p:cNvSpPr>
          <p:nvPr/>
        </p:nvSpPr>
        <p:spPr bwMode="auto">
          <a:xfrm>
            <a:off x="1219200" y="1066800"/>
            <a:ext cx="6324600" cy="33528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LD	    F0, a</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ADDI	    R4, Rx, #512	</a:t>
            </a:r>
            <a:r>
              <a:rPr lang="en-US" altLang="ko-KR" sz="2000">
                <a:solidFill>
                  <a:srgbClr val="FF6600"/>
                </a:solidFill>
                <a:latin typeface="Times New Roman" panose="02020603050405020304" pitchFamily="18" charset="0"/>
                <a:ea typeface="Gulim" panose="020B0503020000020004" pitchFamily="34" charset="-127"/>
              </a:rPr>
              <a:t>; </a:t>
            </a:r>
            <a:r>
              <a:rPr lang="hr-HR" altLang="ko-KR" sz="2000">
                <a:solidFill>
                  <a:srgbClr val="FF6600"/>
                </a:solidFill>
                <a:latin typeface="Times New Roman" panose="02020603050405020304" pitchFamily="18" charset="0"/>
              </a:rPr>
              <a:t>poslednja adresa</a:t>
            </a:r>
            <a:endParaRPr lang="en-US" altLang="ko-KR" sz="2000">
              <a:solidFill>
                <a:srgbClr val="FF6600"/>
              </a:solidFill>
              <a:latin typeface="Times New Roman" panose="02020603050405020304" pitchFamily="18" charset="0"/>
              <a:ea typeface="Gulim" panose="020B0503020000020004" pitchFamily="34" charset="-127"/>
            </a:endParaRP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Loop:	LD	    F2, 0(Rx)	</a:t>
            </a:r>
            <a:r>
              <a:rPr lang="en-US" altLang="ko-KR" sz="2000">
                <a:solidFill>
                  <a:srgbClr val="FF6600"/>
                </a:solidFill>
                <a:latin typeface="Times New Roman" panose="02020603050405020304" pitchFamily="18" charset="0"/>
                <a:ea typeface="Gulim" panose="020B0503020000020004" pitchFamily="34" charset="-127"/>
              </a:rPr>
              <a:t>; load X(i)</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MULTD	    F2, F0, F2	</a:t>
            </a:r>
            <a:r>
              <a:rPr lang="en-US" altLang="ko-KR" sz="2000">
                <a:solidFill>
                  <a:srgbClr val="FF6600"/>
                </a:solidFill>
                <a:latin typeface="Times New Roman" panose="02020603050405020304" pitchFamily="18" charset="0"/>
                <a:ea typeface="Gulim" panose="020B0503020000020004" pitchFamily="34" charset="-127"/>
              </a:rPr>
              <a:t>; a x X(i)</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LD	    F4, 0(Ry)	</a:t>
            </a:r>
            <a:r>
              <a:rPr lang="en-US" altLang="ko-KR" sz="2000">
                <a:solidFill>
                  <a:srgbClr val="FF6600"/>
                </a:solidFill>
                <a:latin typeface="Times New Roman" panose="02020603050405020304" pitchFamily="18" charset="0"/>
                <a:ea typeface="Gulim" panose="020B0503020000020004" pitchFamily="34" charset="-127"/>
              </a:rPr>
              <a:t>; load Y(i)</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ADDD	    F4, F2, F4	</a:t>
            </a:r>
            <a:r>
              <a:rPr lang="en-US" altLang="ko-KR" sz="2000">
                <a:solidFill>
                  <a:srgbClr val="FF6600"/>
                </a:solidFill>
                <a:latin typeface="Times New Roman" panose="02020603050405020304" pitchFamily="18" charset="0"/>
                <a:ea typeface="Gulim" panose="020B0503020000020004" pitchFamily="34" charset="-127"/>
              </a:rPr>
              <a:t>; a x X(i) + Y(i)</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SD	    F4, 0(Ry)	</a:t>
            </a:r>
            <a:r>
              <a:rPr lang="en-US" altLang="ko-KR" sz="2000">
                <a:solidFill>
                  <a:srgbClr val="FF6600"/>
                </a:solidFill>
                <a:latin typeface="Times New Roman" panose="02020603050405020304" pitchFamily="18" charset="0"/>
                <a:ea typeface="Gulim" panose="020B0503020000020004" pitchFamily="34" charset="-127"/>
              </a:rPr>
              <a:t>; store </a:t>
            </a:r>
            <a:r>
              <a:rPr lang="hr-HR" altLang="ko-KR" sz="2000">
                <a:solidFill>
                  <a:srgbClr val="FF6600"/>
                </a:solidFill>
                <a:latin typeface="Times New Roman" panose="02020603050405020304" pitchFamily="18" charset="0"/>
              </a:rPr>
              <a:t>u</a:t>
            </a:r>
            <a:r>
              <a:rPr lang="en-US" altLang="ko-KR" sz="2000">
                <a:solidFill>
                  <a:srgbClr val="FF6600"/>
                </a:solidFill>
                <a:latin typeface="Times New Roman" panose="02020603050405020304" pitchFamily="18" charset="0"/>
                <a:ea typeface="Gulim" panose="020B0503020000020004" pitchFamily="34" charset="-127"/>
              </a:rPr>
              <a:t> Y(i)</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ADDI	    Rx, Rx, #8	</a:t>
            </a:r>
            <a:r>
              <a:rPr lang="en-US" altLang="ko-KR" sz="2000">
                <a:solidFill>
                  <a:srgbClr val="FF6600"/>
                </a:solidFill>
                <a:latin typeface="Times New Roman" panose="02020603050405020304" pitchFamily="18" charset="0"/>
                <a:ea typeface="Gulim" panose="020B0503020000020004" pitchFamily="34" charset="-127"/>
              </a:rPr>
              <a:t>; in</a:t>
            </a:r>
            <a:r>
              <a:rPr lang="hr-HR" altLang="ko-KR" sz="2000">
                <a:solidFill>
                  <a:srgbClr val="FF6600"/>
                </a:solidFill>
                <a:latin typeface="Times New Roman" panose="02020603050405020304" pitchFamily="18" charset="0"/>
              </a:rPr>
              <a:t>k</a:t>
            </a:r>
            <a:r>
              <a:rPr lang="en-US" altLang="ko-KR" sz="2000">
                <a:solidFill>
                  <a:srgbClr val="FF6600"/>
                </a:solidFill>
                <a:latin typeface="Times New Roman" panose="02020603050405020304" pitchFamily="18" charset="0"/>
                <a:ea typeface="Gulim" panose="020B0503020000020004" pitchFamily="34" charset="-127"/>
              </a:rPr>
              <a:t>r</a:t>
            </a:r>
            <a:r>
              <a:rPr lang="hr-HR" altLang="ko-KR" sz="2000">
                <a:solidFill>
                  <a:srgbClr val="FF6600"/>
                </a:solidFill>
                <a:latin typeface="Times New Roman" panose="02020603050405020304" pitchFamily="18" charset="0"/>
              </a:rPr>
              <a:t>.</a:t>
            </a:r>
            <a:r>
              <a:rPr lang="en-US" altLang="ko-KR" sz="2000">
                <a:solidFill>
                  <a:srgbClr val="FF6600"/>
                </a:solidFill>
                <a:latin typeface="Times New Roman" panose="02020603050405020304" pitchFamily="18" charset="0"/>
                <a:ea typeface="Gulim" panose="020B0503020000020004" pitchFamily="34" charset="-127"/>
              </a:rPr>
              <a:t> inde</a:t>
            </a:r>
            <a:r>
              <a:rPr lang="hr-HR" altLang="ko-KR" sz="2000">
                <a:solidFill>
                  <a:srgbClr val="FF6600"/>
                </a:solidFill>
                <a:latin typeface="Times New Roman" panose="02020603050405020304" pitchFamily="18" charset="0"/>
              </a:rPr>
              <a:t>ksa za</a:t>
            </a:r>
            <a:r>
              <a:rPr lang="en-US" altLang="ko-KR" sz="2000">
                <a:solidFill>
                  <a:srgbClr val="FF6600"/>
                </a:solidFill>
                <a:latin typeface="Times New Roman" panose="02020603050405020304" pitchFamily="18" charset="0"/>
                <a:ea typeface="Gulim" panose="020B0503020000020004" pitchFamily="34" charset="-127"/>
              </a:rPr>
              <a:t> X</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ADDI	    Ry, Ry, #8	</a:t>
            </a:r>
            <a:r>
              <a:rPr lang="en-US" altLang="ko-KR" sz="2000">
                <a:solidFill>
                  <a:srgbClr val="FF6600"/>
                </a:solidFill>
                <a:latin typeface="Times New Roman" panose="02020603050405020304" pitchFamily="18" charset="0"/>
                <a:ea typeface="Gulim" panose="020B0503020000020004" pitchFamily="34" charset="-127"/>
              </a:rPr>
              <a:t>; in</a:t>
            </a:r>
            <a:r>
              <a:rPr lang="hr-HR" altLang="ko-KR" sz="2000">
                <a:solidFill>
                  <a:srgbClr val="FF6600"/>
                </a:solidFill>
                <a:latin typeface="Times New Roman" panose="02020603050405020304" pitchFamily="18" charset="0"/>
              </a:rPr>
              <a:t>kr. </a:t>
            </a:r>
            <a:r>
              <a:rPr lang="en-US" altLang="ko-KR" sz="2000">
                <a:solidFill>
                  <a:srgbClr val="FF6600"/>
                </a:solidFill>
                <a:latin typeface="Times New Roman" panose="02020603050405020304" pitchFamily="18" charset="0"/>
                <a:ea typeface="Gulim" panose="020B0503020000020004" pitchFamily="34" charset="-127"/>
              </a:rPr>
              <a:t>inde</a:t>
            </a:r>
            <a:r>
              <a:rPr lang="hr-HR" altLang="ko-KR" sz="2000">
                <a:solidFill>
                  <a:srgbClr val="FF6600"/>
                </a:solidFill>
                <a:latin typeface="Times New Roman" panose="02020603050405020304" pitchFamily="18" charset="0"/>
              </a:rPr>
              <a:t>ksa za</a:t>
            </a:r>
            <a:r>
              <a:rPr lang="en-US" altLang="ko-KR" sz="2000">
                <a:solidFill>
                  <a:srgbClr val="FF6600"/>
                </a:solidFill>
                <a:latin typeface="Times New Roman" panose="02020603050405020304" pitchFamily="18" charset="0"/>
                <a:ea typeface="Gulim" panose="020B0503020000020004" pitchFamily="34" charset="-127"/>
              </a:rPr>
              <a:t> Y</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SUB	    R20, R4, Rx	</a:t>
            </a:r>
            <a:r>
              <a:rPr lang="en-US" altLang="ko-KR" sz="2000">
                <a:solidFill>
                  <a:srgbClr val="FF6600"/>
                </a:solidFill>
                <a:latin typeface="Times New Roman" panose="02020603050405020304" pitchFamily="18" charset="0"/>
                <a:ea typeface="Gulim" panose="020B0503020000020004" pitchFamily="34" charset="-127"/>
              </a:rPr>
              <a:t>; </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	BNZ	    R20, loop	</a:t>
            </a:r>
            <a:r>
              <a:rPr lang="en-US" altLang="ko-KR" sz="2000">
                <a:solidFill>
                  <a:srgbClr val="FF6600"/>
                </a:solidFill>
                <a:latin typeface="Times New Roman" panose="02020603050405020304" pitchFamily="18" charset="0"/>
                <a:ea typeface="Gulim" panose="020B0503020000020004" pitchFamily="34" charset="-127"/>
              </a:rPr>
              <a:t>; </a:t>
            </a:r>
            <a:r>
              <a:rPr lang="hr-HR" altLang="ko-KR" sz="2000">
                <a:solidFill>
                  <a:srgbClr val="FF6600"/>
                </a:solidFill>
                <a:latin typeface="Times New Roman" panose="02020603050405020304" pitchFamily="18" charset="0"/>
              </a:rPr>
              <a:t>grananje na početak</a:t>
            </a:r>
            <a:endParaRPr lang="en-US" altLang="ko-KR" sz="2000">
              <a:solidFill>
                <a:srgbClr val="FF6600"/>
              </a:solidFill>
              <a:latin typeface="Times New Roman" panose="02020603050405020304" pitchFamily="18" charset="0"/>
              <a:ea typeface="Gulim" panose="020B0503020000020004" pitchFamily="34" charset="-127"/>
            </a:endParaRPr>
          </a:p>
        </p:txBody>
      </p:sp>
      <p:sp>
        <p:nvSpPr>
          <p:cNvPr id="24580" name="Text Box 5">
            <a:extLst>
              <a:ext uri="{FF2B5EF4-FFF2-40B4-BE49-F238E27FC236}">
                <a16:creationId xmlns:a16="http://schemas.microsoft.com/office/drawing/2014/main" id="{59BFD040-324D-8C7E-C01E-1AD0BA056856}"/>
              </a:ext>
            </a:extLst>
          </p:cNvPr>
          <p:cNvSpPr txBox="1">
            <a:spLocks noChangeArrowheads="1"/>
          </p:cNvSpPr>
          <p:nvPr/>
        </p:nvSpPr>
        <p:spPr bwMode="auto">
          <a:xfrm>
            <a:off x="7772400" y="990600"/>
            <a:ext cx="10461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en-US" altLang="ko-KR" sz="2400">
                <a:solidFill>
                  <a:schemeClr val="tx1"/>
                </a:solidFill>
                <a:latin typeface="Times New Roman" panose="02020603050405020304" pitchFamily="18" charset="0"/>
                <a:ea typeface="Gulim" panose="020B0503020000020004" pitchFamily="34" charset="-127"/>
              </a:rPr>
              <a:t>RISC </a:t>
            </a:r>
            <a:endParaRPr lang="hr-HR" altLang="ko-KR" sz="2400">
              <a:solidFill>
                <a:schemeClr val="tx1"/>
              </a:solidFill>
              <a:latin typeface="Times New Roman" panose="02020603050405020304" pitchFamily="18" charset="0"/>
            </a:endParaRPr>
          </a:p>
          <a:p>
            <a:pPr eaLnBrk="1" latinLnBrk="1" hangingPunct="1">
              <a:spcBef>
                <a:spcPct val="0"/>
              </a:spcBef>
              <a:buClrTx/>
              <a:buSzTx/>
              <a:buFontTx/>
              <a:buNone/>
            </a:pPr>
            <a:r>
              <a:rPr lang="en-US" altLang="ko-KR" sz="2400">
                <a:solidFill>
                  <a:schemeClr val="tx1"/>
                </a:solidFill>
                <a:latin typeface="Times New Roman" panose="02020603050405020304" pitchFamily="18" charset="0"/>
                <a:ea typeface="Gulim" panose="020B0503020000020004" pitchFamily="34" charset="-127"/>
              </a:rPr>
              <a:t>ma</a:t>
            </a:r>
            <a:r>
              <a:rPr lang="hr-HR" altLang="ko-KR" sz="2400">
                <a:solidFill>
                  <a:schemeClr val="tx1"/>
                </a:solidFill>
                <a:latin typeface="Times New Roman" panose="02020603050405020304" pitchFamily="18" charset="0"/>
              </a:rPr>
              <a:t>š</a:t>
            </a:r>
            <a:r>
              <a:rPr lang="en-US" altLang="ko-KR" sz="2400">
                <a:solidFill>
                  <a:schemeClr val="tx1"/>
                </a:solidFill>
                <a:latin typeface="Times New Roman" panose="02020603050405020304" pitchFamily="18" charset="0"/>
                <a:ea typeface="Gulim" panose="020B0503020000020004" pitchFamily="34" charset="-127"/>
              </a:rPr>
              <a:t>in</a:t>
            </a:r>
            <a:r>
              <a:rPr lang="hr-HR" altLang="ko-KR" sz="2400">
                <a:solidFill>
                  <a:schemeClr val="tx1"/>
                </a:solidFill>
                <a:latin typeface="Times New Roman" panose="02020603050405020304" pitchFamily="18" charset="0"/>
              </a:rPr>
              <a:t>a</a:t>
            </a:r>
            <a:endParaRPr lang="en-US" altLang="ko-KR" sz="2400">
              <a:solidFill>
                <a:schemeClr val="tx1"/>
              </a:solidFill>
              <a:latin typeface="Times New Roman" panose="02020603050405020304" pitchFamily="18" charset="0"/>
              <a:ea typeface="Gulim" panose="020B0503020000020004" pitchFamily="34" charset="-127"/>
            </a:endParaRPr>
          </a:p>
        </p:txBody>
      </p:sp>
      <p:sp>
        <p:nvSpPr>
          <p:cNvPr id="24581" name="Oval 6">
            <a:extLst>
              <a:ext uri="{FF2B5EF4-FFF2-40B4-BE49-F238E27FC236}">
                <a16:creationId xmlns:a16="http://schemas.microsoft.com/office/drawing/2014/main" id="{9A1E62FD-79B0-59A3-F891-E99D48D9ECD5}"/>
              </a:ext>
            </a:extLst>
          </p:cNvPr>
          <p:cNvSpPr>
            <a:spLocks noChangeArrowheads="1"/>
          </p:cNvSpPr>
          <p:nvPr/>
        </p:nvSpPr>
        <p:spPr bwMode="auto">
          <a:xfrm>
            <a:off x="4191000" y="1295400"/>
            <a:ext cx="685800" cy="4572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82" name="AutoShape 7">
            <a:extLst>
              <a:ext uri="{FF2B5EF4-FFF2-40B4-BE49-F238E27FC236}">
                <a16:creationId xmlns:a16="http://schemas.microsoft.com/office/drawing/2014/main" id="{796C019D-C705-CF29-DE78-BA1814AE5E4A}"/>
              </a:ext>
            </a:extLst>
          </p:cNvPr>
          <p:cNvSpPr>
            <a:spLocks noChangeArrowheads="1"/>
          </p:cNvSpPr>
          <p:nvPr/>
        </p:nvSpPr>
        <p:spPr bwMode="auto">
          <a:xfrm>
            <a:off x="4572000" y="685800"/>
            <a:ext cx="1219200" cy="533400"/>
          </a:xfrm>
          <a:prstGeom prst="wedgeEllipseCallout">
            <a:avLst>
              <a:gd name="adj1" fmla="val -43750"/>
              <a:gd name="adj2" fmla="val 84227"/>
            </a:avLst>
          </a:prstGeom>
          <a:solidFill>
            <a:srgbClr val="FF99CC"/>
          </a:solidFill>
          <a:ln w="9525">
            <a:solidFill>
              <a:schemeClr val="tx1"/>
            </a:solidFill>
            <a:miter lim="800000"/>
            <a:headEnd/>
            <a:tailEnd/>
          </a:ln>
        </p:spPr>
        <p:txBody>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8 * 64</a:t>
            </a:r>
          </a:p>
        </p:txBody>
      </p:sp>
      <p:sp>
        <p:nvSpPr>
          <p:cNvPr id="24583" name="AutoShape 8">
            <a:extLst>
              <a:ext uri="{FF2B5EF4-FFF2-40B4-BE49-F238E27FC236}">
                <a16:creationId xmlns:a16="http://schemas.microsoft.com/office/drawing/2014/main" id="{BCFD61C3-DA67-B3F9-768D-549F7835413F}"/>
              </a:ext>
            </a:extLst>
          </p:cNvPr>
          <p:cNvSpPr>
            <a:spLocks/>
          </p:cNvSpPr>
          <p:nvPr/>
        </p:nvSpPr>
        <p:spPr bwMode="auto">
          <a:xfrm>
            <a:off x="1828800" y="1828800"/>
            <a:ext cx="228600" cy="2514600"/>
          </a:xfrm>
          <a:prstGeom prst="leftBrace">
            <a:avLst>
              <a:gd name="adj1" fmla="val 91667"/>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84" name="Text Box 9">
            <a:extLst>
              <a:ext uri="{FF2B5EF4-FFF2-40B4-BE49-F238E27FC236}">
                <a16:creationId xmlns:a16="http://schemas.microsoft.com/office/drawing/2014/main" id="{FDA91266-5B9F-3A5C-D60C-37F812113927}"/>
              </a:ext>
            </a:extLst>
          </p:cNvPr>
          <p:cNvSpPr txBox="1">
            <a:spLocks noChangeArrowheads="1"/>
          </p:cNvSpPr>
          <p:nvPr/>
        </p:nvSpPr>
        <p:spPr bwMode="auto">
          <a:xfrm>
            <a:off x="152400" y="2819400"/>
            <a:ext cx="1720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hr-HR" altLang="ko-KR" sz="2000">
                <a:solidFill>
                  <a:srgbClr val="FF6600"/>
                </a:solidFill>
                <a:latin typeface="Times New Roman" panose="02020603050405020304" pitchFamily="18" charset="0"/>
              </a:rPr>
              <a:t>Ponovi</a:t>
            </a:r>
            <a:r>
              <a:rPr lang="en-US" altLang="ko-KR" sz="2000">
                <a:solidFill>
                  <a:srgbClr val="FF6600"/>
                </a:solidFill>
                <a:latin typeface="Times New Roman" panose="02020603050405020304" pitchFamily="18" charset="0"/>
                <a:ea typeface="Gulim" panose="020B0503020000020004" pitchFamily="34" charset="-127"/>
              </a:rPr>
              <a:t> 64 </a:t>
            </a:r>
            <a:r>
              <a:rPr lang="hr-HR" altLang="ko-KR" sz="2000">
                <a:solidFill>
                  <a:srgbClr val="FF6600"/>
                </a:solidFill>
                <a:latin typeface="Times New Roman" panose="02020603050405020304" pitchFamily="18" charset="0"/>
              </a:rPr>
              <a:t>puta</a:t>
            </a:r>
            <a:endParaRPr lang="en-US" altLang="ko-KR" sz="2000">
              <a:solidFill>
                <a:srgbClr val="FF6600"/>
              </a:solidFill>
              <a:latin typeface="Times New Roman" panose="02020603050405020304" pitchFamily="18" charset="0"/>
              <a:ea typeface="Gulim" panose="020B0503020000020004" pitchFamily="34" charset="-127"/>
            </a:endParaRPr>
          </a:p>
        </p:txBody>
      </p:sp>
      <p:sp>
        <p:nvSpPr>
          <p:cNvPr id="24585" name="Rectangle 10">
            <a:extLst>
              <a:ext uri="{FF2B5EF4-FFF2-40B4-BE49-F238E27FC236}">
                <a16:creationId xmlns:a16="http://schemas.microsoft.com/office/drawing/2014/main" id="{3CC4DE02-0F96-FB9F-471C-06CAC675DA33}"/>
              </a:ext>
            </a:extLst>
          </p:cNvPr>
          <p:cNvSpPr>
            <a:spLocks noChangeArrowheads="1"/>
          </p:cNvSpPr>
          <p:nvPr/>
        </p:nvSpPr>
        <p:spPr bwMode="auto">
          <a:xfrm>
            <a:off x="2362200" y="0"/>
            <a:ext cx="2838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en-US" altLang="ko-KR" sz="3600" b="1">
                <a:solidFill>
                  <a:srgbClr val="FFFF00"/>
                </a:solidFill>
                <a:latin typeface="Georgia" panose="02040502050405020303" pitchFamily="18" charset="0"/>
                <a:ea typeface="Gulim" panose="020B0503020000020004" pitchFamily="34" charset="-127"/>
              </a:rPr>
              <a:t>Y = a * X + Y</a:t>
            </a:r>
          </a:p>
        </p:txBody>
      </p:sp>
      <p:sp>
        <p:nvSpPr>
          <p:cNvPr id="24586" name="Oval 11">
            <a:extLst>
              <a:ext uri="{FF2B5EF4-FFF2-40B4-BE49-F238E27FC236}">
                <a16:creationId xmlns:a16="http://schemas.microsoft.com/office/drawing/2014/main" id="{B1C87F71-69FB-47D0-2CCB-BA69AC19273B}"/>
              </a:ext>
            </a:extLst>
          </p:cNvPr>
          <p:cNvSpPr>
            <a:spLocks noChangeArrowheads="1"/>
          </p:cNvSpPr>
          <p:nvPr/>
        </p:nvSpPr>
        <p:spPr bwMode="auto">
          <a:xfrm>
            <a:off x="3276600" y="1938338"/>
            <a:ext cx="533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87" name="Oval 12">
            <a:extLst>
              <a:ext uri="{FF2B5EF4-FFF2-40B4-BE49-F238E27FC236}">
                <a16:creationId xmlns:a16="http://schemas.microsoft.com/office/drawing/2014/main" id="{CE7C8AE8-04D0-1635-C200-6342EA6CA4D9}"/>
              </a:ext>
            </a:extLst>
          </p:cNvPr>
          <p:cNvSpPr>
            <a:spLocks noChangeArrowheads="1"/>
          </p:cNvSpPr>
          <p:nvPr/>
        </p:nvSpPr>
        <p:spPr bwMode="auto">
          <a:xfrm>
            <a:off x="3671888" y="2543175"/>
            <a:ext cx="533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88" name="Oval 13">
            <a:extLst>
              <a:ext uri="{FF2B5EF4-FFF2-40B4-BE49-F238E27FC236}">
                <a16:creationId xmlns:a16="http://schemas.microsoft.com/office/drawing/2014/main" id="{847024E8-D6C0-5DD9-A906-07EFC27B4151}"/>
              </a:ext>
            </a:extLst>
          </p:cNvPr>
          <p:cNvSpPr>
            <a:spLocks noChangeArrowheads="1"/>
          </p:cNvSpPr>
          <p:nvPr/>
        </p:nvSpPr>
        <p:spPr bwMode="auto">
          <a:xfrm>
            <a:off x="3276600" y="2867025"/>
            <a:ext cx="533400" cy="381000"/>
          </a:xfrm>
          <a:prstGeom prst="ellipse">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89" name="Oval 14">
            <a:extLst>
              <a:ext uri="{FF2B5EF4-FFF2-40B4-BE49-F238E27FC236}">
                <a16:creationId xmlns:a16="http://schemas.microsoft.com/office/drawing/2014/main" id="{1F2D8E49-E638-2113-28F7-4BD3C3E75446}"/>
              </a:ext>
            </a:extLst>
          </p:cNvPr>
          <p:cNvSpPr>
            <a:spLocks noChangeArrowheads="1"/>
          </p:cNvSpPr>
          <p:nvPr/>
        </p:nvSpPr>
        <p:spPr bwMode="auto">
          <a:xfrm>
            <a:off x="3276600" y="2514600"/>
            <a:ext cx="533400" cy="381000"/>
          </a:xfrm>
          <a:prstGeom prst="ellipse">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cxnSp>
        <p:nvCxnSpPr>
          <p:cNvPr id="24590" name="AutoShape 15">
            <a:extLst>
              <a:ext uri="{FF2B5EF4-FFF2-40B4-BE49-F238E27FC236}">
                <a16:creationId xmlns:a16="http://schemas.microsoft.com/office/drawing/2014/main" id="{75E9F5F6-FE61-A500-82FA-977BEDC14C70}"/>
              </a:ext>
            </a:extLst>
          </p:cNvPr>
          <p:cNvCxnSpPr>
            <a:cxnSpLocks noChangeShapeType="1"/>
            <a:stCxn id="24586" idx="4"/>
            <a:endCxn id="24587" idx="0"/>
          </p:cNvCxnSpPr>
          <p:nvPr/>
        </p:nvCxnSpPr>
        <p:spPr bwMode="auto">
          <a:xfrm>
            <a:off x="3543300" y="2319338"/>
            <a:ext cx="395288" cy="223837"/>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24591" name="AutoShape 16">
            <a:extLst>
              <a:ext uri="{FF2B5EF4-FFF2-40B4-BE49-F238E27FC236}">
                <a16:creationId xmlns:a16="http://schemas.microsoft.com/office/drawing/2014/main" id="{E57A1C5B-CDB2-A562-F5EE-85D975EB94C5}"/>
              </a:ext>
            </a:extLst>
          </p:cNvPr>
          <p:cNvCxnSpPr>
            <a:cxnSpLocks noChangeShapeType="1"/>
            <a:stCxn id="24589" idx="2"/>
            <a:endCxn id="24588" idx="2"/>
          </p:cNvCxnSpPr>
          <p:nvPr/>
        </p:nvCxnSpPr>
        <p:spPr bwMode="auto">
          <a:xfrm rot="10800000" flipH="1" flipV="1">
            <a:off x="3276600" y="2705100"/>
            <a:ext cx="1588" cy="352425"/>
          </a:xfrm>
          <a:prstGeom prst="curvedConnector3">
            <a:avLst>
              <a:gd name="adj1" fmla="val -14400005"/>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cxnSp>
      <p:sp>
        <p:nvSpPr>
          <p:cNvPr id="24592" name="Rectangle 17">
            <a:extLst>
              <a:ext uri="{FF2B5EF4-FFF2-40B4-BE49-F238E27FC236}">
                <a16:creationId xmlns:a16="http://schemas.microsoft.com/office/drawing/2014/main" id="{FAF6B9AC-9A1A-5183-9E3C-4F5D735936EF}"/>
              </a:ext>
            </a:extLst>
          </p:cNvPr>
          <p:cNvSpPr>
            <a:spLocks noChangeArrowheads="1"/>
          </p:cNvSpPr>
          <p:nvPr/>
        </p:nvSpPr>
        <p:spPr bwMode="auto">
          <a:xfrm>
            <a:off x="1981200" y="4648200"/>
            <a:ext cx="6705600" cy="19050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LD	    	F0, a		</a:t>
            </a:r>
            <a:r>
              <a:rPr lang="en-US" altLang="ko-KR" sz="2000">
                <a:solidFill>
                  <a:srgbClr val="FF6600"/>
                </a:solidFill>
                <a:latin typeface="Times New Roman" panose="02020603050405020304" pitchFamily="18" charset="0"/>
                <a:ea typeface="Gulim" panose="020B0503020000020004" pitchFamily="34" charset="-127"/>
              </a:rPr>
              <a:t>; load s</a:t>
            </a:r>
            <a:r>
              <a:rPr lang="hr-HR" altLang="ko-KR" sz="2000">
                <a:solidFill>
                  <a:srgbClr val="FF6600"/>
                </a:solidFill>
                <a:latin typeface="Times New Roman" panose="02020603050405020304" pitchFamily="18" charset="0"/>
              </a:rPr>
              <a:t>k</a:t>
            </a:r>
            <a:r>
              <a:rPr lang="en-US" altLang="ko-KR" sz="2000">
                <a:solidFill>
                  <a:srgbClr val="FF6600"/>
                </a:solidFill>
                <a:latin typeface="Times New Roman" panose="02020603050405020304" pitchFamily="18" charset="0"/>
                <a:ea typeface="Gulim" panose="020B0503020000020004" pitchFamily="34" charset="-127"/>
              </a:rPr>
              <a:t>alar </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LV	    	V1, Rx		</a:t>
            </a:r>
            <a:r>
              <a:rPr lang="en-US" altLang="ko-KR" sz="2000">
                <a:solidFill>
                  <a:srgbClr val="FF6600"/>
                </a:solidFill>
                <a:latin typeface="Times New Roman" panose="02020603050405020304" pitchFamily="18" charset="0"/>
                <a:ea typeface="Gulim" panose="020B0503020000020004" pitchFamily="34" charset="-127"/>
              </a:rPr>
              <a:t>; load ve</a:t>
            </a:r>
            <a:r>
              <a:rPr lang="hr-HR" altLang="ko-KR" sz="2000">
                <a:solidFill>
                  <a:srgbClr val="FF6600"/>
                </a:solidFill>
                <a:latin typeface="Times New Roman" panose="02020603050405020304" pitchFamily="18" charset="0"/>
              </a:rPr>
              <a:t>k</a:t>
            </a:r>
            <a:r>
              <a:rPr lang="en-US" altLang="ko-KR" sz="2000">
                <a:solidFill>
                  <a:srgbClr val="FF6600"/>
                </a:solidFill>
                <a:latin typeface="Times New Roman" panose="02020603050405020304" pitchFamily="18" charset="0"/>
                <a:ea typeface="Gulim" panose="020B0503020000020004" pitchFamily="34" charset="-127"/>
              </a:rPr>
              <a:t>tor X</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MULTSV	V2, F0, V1	</a:t>
            </a:r>
            <a:r>
              <a:rPr lang="en-US" altLang="ko-KR" sz="2000">
                <a:solidFill>
                  <a:srgbClr val="FF6600"/>
                </a:solidFill>
                <a:latin typeface="Times New Roman" panose="02020603050405020304" pitchFamily="18" charset="0"/>
                <a:ea typeface="Gulim" panose="020B0503020000020004" pitchFamily="34" charset="-127"/>
              </a:rPr>
              <a:t>; </a:t>
            </a:r>
            <a:r>
              <a:rPr lang="hr-HR" altLang="ko-KR" sz="2000">
                <a:solidFill>
                  <a:srgbClr val="FF6600"/>
                </a:solidFill>
                <a:latin typeface="Times New Roman" panose="02020603050405020304" pitchFamily="18" charset="0"/>
              </a:rPr>
              <a:t>množenje vektora i skalara</a:t>
            </a:r>
            <a:endParaRPr lang="en-US" altLang="ko-KR" sz="2000">
              <a:solidFill>
                <a:srgbClr val="FF6600"/>
              </a:solidFill>
              <a:latin typeface="Times New Roman" panose="02020603050405020304" pitchFamily="18" charset="0"/>
              <a:ea typeface="Gulim" panose="020B0503020000020004" pitchFamily="34" charset="-127"/>
            </a:endParaRP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LV		V3, Ry		</a:t>
            </a:r>
            <a:r>
              <a:rPr lang="en-US" altLang="ko-KR" sz="2000">
                <a:solidFill>
                  <a:srgbClr val="FF6600"/>
                </a:solidFill>
                <a:latin typeface="Times New Roman" panose="02020603050405020304" pitchFamily="18" charset="0"/>
                <a:ea typeface="Gulim" panose="020B0503020000020004" pitchFamily="34" charset="-127"/>
              </a:rPr>
              <a:t>; load ve</a:t>
            </a:r>
            <a:r>
              <a:rPr lang="hr-HR" altLang="ko-KR" sz="2000">
                <a:solidFill>
                  <a:srgbClr val="FF6600"/>
                </a:solidFill>
                <a:latin typeface="Times New Roman" panose="02020603050405020304" pitchFamily="18" charset="0"/>
              </a:rPr>
              <a:t>k</a:t>
            </a:r>
            <a:r>
              <a:rPr lang="en-US" altLang="ko-KR" sz="2000">
                <a:solidFill>
                  <a:srgbClr val="FF6600"/>
                </a:solidFill>
                <a:latin typeface="Times New Roman" panose="02020603050405020304" pitchFamily="18" charset="0"/>
                <a:ea typeface="Gulim" panose="020B0503020000020004" pitchFamily="34" charset="-127"/>
              </a:rPr>
              <a:t>tor Y</a:t>
            </a: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ADDV		V4, V2, V3	</a:t>
            </a:r>
            <a:r>
              <a:rPr lang="en-US" altLang="ko-KR" sz="2000">
                <a:solidFill>
                  <a:srgbClr val="FF6600"/>
                </a:solidFill>
                <a:latin typeface="Times New Roman" panose="02020603050405020304" pitchFamily="18" charset="0"/>
                <a:ea typeface="Gulim" panose="020B0503020000020004" pitchFamily="34" charset="-127"/>
              </a:rPr>
              <a:t>; </a:t>
            </a:r>
            <a:r>
              <a:rPr lang="hr-HR" altLang="ko-KR" sz="2000">
                <a:solidFill>
                  <a:srgbClr val="FF6600"/>
                </a:solidFill>
                <a:latin typeface="Times New Roman" panose="02020603050405020304" pitchFamily="18" charset="0"/>
              </a:rPr>
              <a:t>sabiranje</a:t>
            </a:r>
            <a:endParaRPr lang="en-US" altLang="ko-KR" sz="2000">
              <a:solidFill>
                <a:srgbClr val="FF6600"/>
              </a:solidFill>
              <a:latin typeface="Times New Roman" panose="02020603050405020304" pitchFamily="18" charset="0"/>
              <a:ea typeface="Gulim" panose="020B0503020000020004" pitchFamily="34" charset="-127"/>
            </a:endParaRPr>
          </a:p>
          <a:p>
            <a:pPr eaLnBrk="1" latinLnBrk="1" hangingPunct="1">
              <a:spcBef>
                <a:spcPct val="0"/>
              </a:spcBef>
              <a:buClrTx/>
              <a:buSzTx/>
              <a:buFontTx/>
              <a:buNone/>
            </a:pPr>
            <a:r>
              <a:rPr lang="en-US" altLang="ko-KR" sz="2000">
                <a:solidFill>
                  <a:srgbClr val="000000"/>
                </a:solidFill>
                <a:latin typeface="Times New Roman" panose="02020603050405020304" pitchFamily="18" charset="0"/>
                <a:ea typeface="Gulim" panose="020B0503020000020004" pitchFamily="34" charset="-127"/>
              </a:rPr>
              <a:t>SV		Ry, V4		</a:t>
            </a:r>
            <a:r>
              <a:rPr lang="en-US" altLang="ko-KR" sz="2000">
                <a:solidFill>
                  <a:srgbClr val="FF6600"/>
                </a:solidFill>
                <a:latin typeface="Times New Roman" panose="02020603050405020304" pitchFamily="18" charset="0"/>
                <a:ea typeface="Gulim" panose="020B0503020000020004" pitchFamily="34" charset="-127"/>
              </a:rPr>
              <a:t>; store re</a:t>
            </a:r>
            <a:r>
              <a:rPr lang="hr-HR" altLang="ko-KR" sz="2000">
                <a:solidFill>
                  <a:srgbClr val="FF6600"/>
                </a:solidFill>
                <a:latin typeface="Times New Roman" panose="02020603050405020304" pitchFamily="18" charset="0"/>
              </a:rPr>
              <a:t>z</a:t>
            </a:r>
            <a:r>
              <a:rPr lang="en-US" altLang="ko-KR" sz="2000">
                <a:solidFill>
                  <a:srgbClr val="FF6600"/>
                </a:solidFill>
                <a:latin typeface="Times New Roman" panose="02020603050405020304" pitchFamily="18" charset="0"/>
                <a:ea typeface="Gulim" panose="020B0503020000020004" pitchFamily="34" charset="-127"/>
              </a:rPr>
              <a:t>ult</a:t>
            </a:r>
            <a:r>
              <a:rPr lang="hr-HR" altLang="ko-KR" sz="2000">
                <a:solidFill>
                  <a:srgbClr val="FF6600"/>
                </a:solidFill>
                <a:latin typeface="Times New Roman" panose="02020603050405020304" pitchFamily="18" charset="0"/>
              </a:rPr>
              <a:t>at</a:t>
            </a:r>
            <a:endParaRPr lang="en-US" altLang="ko-KR" sz="2000">
              <a:solidFill>
                <a:srgbClr val="FF6600"/>
              </a:solidFill>
              <a:latin typeface="Times New Roman" panose="02020603050405020304" pitchFamily="18" charset="0"/>
              <a:ea typeface="Gulim" panose="020B0503020000020004" pitchFamily="34" charset="-127"/>
            </a:endParaRPr>
          </a:p>
        </p:txBody>
      </p:sp>
      <p:sp>
        <p:nvSpPr>
          <p:cNvPr id="24593" name="AutoShape 18">
            <a:extLst>
              <a:ext uri="{FF2B5EF4-FFF2-40B4-BE49-F238E27FC236}">
                <a16:creationId xmlns:a16="http://schemas.microsoft.com/office/drawing/2014/main" id="{05783FE8-4955-C0A9-785A-A37815191AA4}"/>
              </a:ext>
            </a:extLst>
          </p:cNvPr>
          <p:cNvSpPr>
            <a:spLocks/>
          </p:cNvSpPr>
          <p:nvPr/>
        </p:nvSpPr>
        <p:spPr bwMode="auto">
          <a:xfrm>
            <a:off x="1524000" y="4800600"/>
            <a:ext cx="381000" cy="1600200"/>
          </a:xfrm>
          <a:prstGeom prst="leftBrace">
            <a:avLst>
              <a:gd name="adj1" fmla="val 35000"/>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94" name="Text Box 19">
            <a:extLst>
              <a:ext uri="{FF2B5EF4-FFF2-40B4-BE49-F238E27FC236}">
                <a16:creationId xmlns:a16="http://schemas.microsoft.com/office/drawing/2014/main" id="{A0C6C7B4-4AB7-F675-CF31-EC6CA376DBB6}"/>
              </a:ext>
            </a:extLst>
          </p:cNvPr>
          <p:cNvSpPr txBox="1">
            <a:spLocks noChangeArrowheads="1"/>
          </p:cNvSpPr>
          <p:nvPr/>
        </p:nvSpPr>
        <p:spPr bwMode="auto">
          <a:xfrm>
            <a:off x="152400" y="5410200"/>
            <a:ext cx="1443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latinLnBrk="1" hangingPunct="1">
              <a:spcBef>
                <a:spcPct val="0"/>
              </a:spcBef>
              <a:buClrTx/>
              <a:buSzTx/>
              <a:buFontTx/>
              <a:buNone/>
            </a:pPr>
            <a:r>
              <a:rPr lang="en-US" altLang="ko-KR" sz="2000">
                <a:solidFill>
                  <a:schemeClr val="tx1"/>
                </a:solidFill>
                <a:latin typeface="Times New Roman" panose="02020603050405020304" pitchFamily="18" charset="0"/>
                <a:ea typeface="Gulim" panose="020B0503020000020004" pitchFamily="34" charset="-127"/>
              </a:rPr>
              <a:t>6 instru</a:t>
            </a:r>
            <a:r>
              <a:rPr lang="hr-HR" altLang="ko-KR" sz="2000">
                <a:solidFill>
                  <a:schemeClr val="tx1"/>
                </a:solidFill>
                <a:latin typeface="Times New Roman" panose="02020603050405020304" pitchFamily="18" charset="0"/>
              </a:rPr>
              <a:t>k</a:t>
            </a:r>
            <a:r>
              <a:rPr lang="en-US" altLang="ko-KR" sz="2000">
                <a:solidFill>
                  <a:schemeClr val="tx1"/>
                </a:solidFill>
                <a:latin typeface="Times New Roman" panose="02020603050405020304" pitchFamily="18" charset="0"/>
                <a:ea typeface="Gulim" panose="020B0503020000020004" pitchFamily="34" charset="-127"/>
              </a:rPr>
              <a:t>ci</a:t>
            </a:r>
            <a:r>
              <a:rPr lang="hr-HR" altLang="ko-KR" sz="2000">
                <a:solidFill>
                  <a:schemeClr val="tx1"/>
                </a:solidFill>
                <a:latin typeface="Times New Roman" panose="02020603050405020304" pitchFamily="18" charset="0"/>
              </a:rPr>
              <a:t>ja</a:t>
            </a:r>
            <a:endParaRPr lang="en-US" altLang="ko-KR" sz="2000">
              <a:solidFill>
                <a:schemeClr val="tx1"/>
              </a:solidFill>
              <a:latin typeface="Times New Roman" panose="02020603050405020304" pitchFamily="18" charset="0"/>
              <a:ea typeface="Gulim" panose="020B0503020000020004" pitchFamily="34" charset="-127"/>
            </a:endParaRPr>
          </a:p>
        </p:txBody>
      </p:sp>
      <p:sp>
        <p:nvSpPr>
          <p:cNvPr id="24595" name="Oval 20">
            <a:extLst>
              <a:ext uri="{FF2B5EF4-FFF2-40B4-BE49-F238E27FC236}">
                <a16:creationId xmlns:a16="http://schemas.microsoft.com/office/drawing/2014/main" id="{73041619-8B24-7F01-8CD0-42459E7EC875}"/>
              </a:ext>
            </a:extLst>
          </p:cNvPr>
          <p:cNvSpPr>
            <a:spLocks noChangeArrowheads="1"/>
          </p:cNvSpPr>
          <p:nvPr/>
        </p:nvSpPr>
        <p:spPr bwMode="auto">
          <a:xfrm>
            <a:off x="3805238" y="5257800"/>
            <a:ext cx="533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96" name="Oval 21">
            <a:extLst>
              <a:ext uri="{FF2B5EF4-FFF2-40B4-BE49-F238E27FC236}">
                <a16:creationId xmlns:a16="http://schemas.microsoft.com/office/drawing/2014/main" id="{5C92F1A5-2C29-24A2-266F-7EEFE9B72D9B}"/>
              </a:ext>
            </a:extLst>
          </p:cNvPr>
          <p:cNvSpPr>
            <a:spLocks noChangeArrowheads="1"/>
          </p:cNvSpPr>
          <p:nvPr/>
        </p:nvSpPr>
        <p:spPr bwMode="auto">
          <a:xfrm>
            <a:off x="4238625" y="5867400"/>
            <a:ext cx="533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cxnSp>
        <p:nvCxnSpPr>
          <p:cNvPr id="24597" name="AutoShape 22">
            <a:extLst>
              <a:ext uri="{FF2B5EF4-FFF2-40B4-BE49-F238E27FC236}">
                <a16:creationId xmlns:a16="http://schemas.microsoft.com/office/drawing/2014/main" id="{89817D7E-0882-5515-2C9F-168EF89F30D6}"/>
              </a:ext>
            </a:extLst>
          </p:cNvPr>
          <p:cNvCxnSpPr>
            <a:cxnSpLocks noChangeShapeType="1"/>
            <a:stCxn id="24595" idx="4"/>
            <a:endCxn id="24596" idx="0"/>
          </p:cNvCxnSpPr>
          <p:nvPr/>
        </p:nvCxnSpPr>
        <p:spPr bwMode="auto">
          <a:xfrm>
            <a:off x="4071938" y="5638800"/>
            <a:ext cx="433387" cy="22860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24598" name="Oval 23">
            <a:extLst>
              <a:ext uri="{FF2B5EF4-FFF2-40B4-BE49-F238E27FC236}">
                <a16:creationId xmlns:a16="http://schemas.microsoft.com/office/drawing/2014/main" id="{68F488E3-44D0-29CF-CECF-104904524DE7}"/>
              </a:ext>
            </a:extLst>
          </p:cNvPr>
          <p:cNvSpPr>
            <a:spLocks noChangeArrowheads="1"/>
          </p:cNvSpPr>
          <p:nvPr/>
        </p:nvSpPr>
        <p:spPr bwMode="auto">
          <a:xfrm>
            <a:off x="3781425" y="5867400"/>
            <a:ext cx="533400" cy="381000"/>
          </a:xfrm>
          <a:prstGeom prst="ellipse">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24599" name="Oval 24">
            <a:extLst>
              <a:ext uri="{FF2B5EF4-FFF2-40B4-BE49-F238E27FC236}">
                <a16:creationId xmlns:a16="http://schemas.microsoft.com/office/drawing/2014/main" id="{786F7351-F167-7567-4100-C21060C9A9FE}"/>
              </a:ext>
            </a:extLst>
          </p:cNvPr>
          <p:cNvSpPr>
            <a:spLocks noChangeArrowheads="1"/>
          </p:cNvSpPr>
          <p:nvPr/>
        </p:nvSpPr>
        <p:spPr bwMode="auto">
          <a:xfrm>
            <a:off x="4224338" y="6172200"/>
            <a:ext cx="533400" cy="381000"/>
          </a:xfrm>
          <a:prstGeom prst="ellipse">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cxnSp>
        <p:nvCxnSpPr>
          <p:cNvPr id="24600" name="AutoShape 25">
            <a:extLst>
              <a:ext uri="{FF2B5EF4-FFF2-40B4-BE49-F238E27FC236}">
                <a16:creationId xmlns:a16="http://schemas.microsoft.com/office/drawing/2014/main" id="{118C8716-0C49-D69B-6271-EA9F9B321B8A}"/>
              </a:ext>
            </a:extLst>
          </p:cNvPr>
          <p:cNvCxnSpPr>
            <a:cxnSpLocks noChangeShapeType="1"/>
            <a:stCxn id="24598" idx="4"/>
            <a:endCxn id="24599" idx="2"/>
          </p:cNvCxnSpPr>
          <p:nvPr/>
        </p:nvCxnSpPr>
        <p:spPr bwMode="auto">
          <a:xfrm>
            <a:off x="4048125" y="6248400"/>
            <a:ext cx="176213" cy="114300"/>
          </a:xfrm>
          <a:prstGeom prst="straightConnector1">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cxnSp>
      <p:sp>
        <p:nvSpPr>
          <p:cNvPr id="24601" name="AutoShape 26">
            <a:extLst>
              <a:ext uri="{FF2B5EF4-FFF2-40B4-BE49-F238E27FC236}">
                <a16:creationId xmlns:a16="http://schemas.microsoft.com/office/drawing/2014/main" id="{17D856CF-6B92-BC4A-6D1E-2FD82DA73F9F}"/>
              </a:ext>
            </a:extLst>
          </p:cNvPr>
          <p:cNvSpPr>
            <a:spLocks noChangeArrowheads="1"/>
          </p:cNvSpPr>
          <p:nvPr/>
        </p:nvSpPr>
        <p:spPr bwMode="auto">
          <a:xfrm>
            <a:off x="7543800" y="4114800"/>
            <a:ext cx="1600200" cy="838200"/>
          </a:xfrm>
          <a:prstGeom prst="wedgeEllipseCallout">
            <a:avLst>
              <a:gd name="adj1" fmla="val -25894"/>
              <a:gd name="adj2" fmla="val 70074"/>
            </a:avLst>
          </a:prstGeom>
          <a:solidFill>
            <a:schemeClr val="accent1"/>
          </a:solidFill>
          <a:ln w="9525">
            <a:solidFill>
              <a:schemeClr val="tx1"/>
            </a:solidFill>
            <a:miter lim="800000"/>
            <a:headEnd/>
            <a:tailEnd/>
          </a:ln>
        </p:spPr>
        <p:txBody>
          <a:bodyPr anchor="b"/>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800">
                <a:solidFill>
                  <a:schemeClr val="bg1"/>
                </a:solidFill>
                <a:latin typeface="Arial" panose="020B0604020202020204" pitchFamily="34" charset="0"/>
              </a:rPr>
              <a:t>vektorska mašina</a:t>
            </a:r>
            <a:endParaRPr kumimoji="0" lang="en-US" altLang="en-US" sz="1800">
              <a:solidFill>
                <a:schemeClr val="bg1"/>
              </a:solidFill>
              <a:latin typeface="Arial" panose="020B0604020202020204" pitchFamily="34" charset="0"/>
            </a:endParaRPr>
          </a:p>
        </p:txBody>
      </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5D7D7-3A4A-E241-4C72-661FC2C2621D}"/>
              </a:ext>
            </a:extLst>
          </p:cNvPr>
          <p:cNvSpPr>
            <a:spLocks noGrp="1"/>
          </p:cNvSpPr>
          <p:nvPr>
            <p:ph type="ctrTitle"/>
          </p:nvPr>
        </p:nvSpPr>
        <p:spPr>
          <a:xfrm>
            <a:off x="304800" y="946150"/>
            <a:ext cx="8534400" cy="708025"/>
          </a:xfrm>
        </p:spPr>
        <p:txBody>
          <a:bodyPr/>
          <a:lstStyle/>
          <a:p>
            <a:pPr>
              <a:defRPr/>
            </a:pPr>
            <a:r>
              <a:rPr lang="sr-Latn-RS" dirty="0"/>
              <a:t>Vektorski procesori</a:t>
            </a:r>
            <a:endParaRPr lang="en-US" dirty="0"/>
          </a:p>
        </p:txBody>
      </p:sp>
      <p:sp>
        <p:nvSpPr>
          <p:cNvPr id="4" name="Subtitle 3">
            <a:extLst>
              <a:ext uri="{FF2B5EF4-FFF2-40B4-BE49-F238E27FC236}">
                <a16:creationId xmlns:a16="http://schemas.microsoft.com/office/drawing/2014/main" id="{A13903D0-693F-B44E-1DD7-91BFA3ABCB54}"/>
              </a:ext>
            </a:extLst>
          </p:cNvPr>
          <p:cNvSpPr>
            <a:spLocks noGrp="1"/>
          </p:cNvSpPr>
          <p:nvPr>
            <p:ph type="subTitle" idx="1"/>
          </p:nvPr>
        </p:nvSpPr>
        <p:spPr/>
        <p:txBody>
          <a:bodyPr/>
          <a:lstStyle/>
          <a:p>
            <a:pPr algn="l">
              <a:defRPr/>
            </a:pPr>
            <a:r>
              <a:rPr lang="en-US" dirty="0" err="1"/>
              <a:t>Vektorizacija</a:t>
            </a:r>
            <a:r>
              <a:rPr lang="en-US" dirty="0"/>
              <a:t> </a:t>
            </a:r>
            <a:r>
              <a:rPr lang="en-US" dirty="0" err="1"/>
              <a:t>petlji</a:t>
            </a:r>
            <a:endParaRPr lang="en-US" dirty="0"/>
          </a:p>
        </p:txBody>
      </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1028">
            <a:extLst>
              <a:ext uri="{FF2B5EF4-FFF2-40B4-BE49-F238E27FC236}">
                <a16:creationId xmlns:a16="http://schemas.microsoft.com/office/drawing/2014/main" id="{26381B17-CEB3-782D-DF03-5B66A2415B1A}"/>
              </a:ext>
            </a:extLst>
          </p:cNvPr>
          <p:cNvSpPr>
            <a:spLocks noGrp="1" noChangeArrowheads="1"/>
          </p:cNvSpPr>
          <p:nvPr>
            <p:ph type="title"/>
          </p:nvPr>
        </p:nvSpPr>
        <p:spPr/>
        <p:txBody>
          <a:bodyPr/>
          <a:lstStyle/>
          <a:p>
            <a:pPr>
              <a:defRPr/>
            </a:pPr>
            <a:r>
              <a:rPr lang="hr-HR" altLang="en-US"/>
              <a:t>Vektorizacija petlji</a:t>
            </a:r>
            <a:endParaRPr lang="en-US" altLang="en-US"/>
          </a:p>
        </p:txBody>
      </p:sp>
      <p:sp>
        <p:nvSpPr>
          <p:cNvPr id="2053" name="Rectangle 1029">
            <a:extLst>
              <a:ext uri="{FF2B5EF4-FFF2-40B4-BE49-F238E27FC236}">
                <a16:creationId xmlns:a16="http://schemas.microsoft.com/office/drawing/2014/main" id="{10D4E24D-0BE1-D494-9295-BD0577FD41D5}"/>
              </a:ext>
            </a:extLst>
          </p:cNvPr>
          <p:cNvSpPr>
            <a:spLocks noGrp="1" noChangeArrowheads="1"/>
          </p:cNvSpPr>
          <p:nvPr>
            <p:ph type="body" idx="1"/>
          </p:nvPr>
        </p:nvSpPr>
        <p:spPr/>
        <p:txBody>
          <a:bodyPr/>
          <a:lstStyle/>
          <a:p>
            <a:pPr>
              <a:lnSpc>
                <a:spcPct val="90000"/>
              </a:lnSpc>
              <a:defRPr/>
            </a:pPr>
            <a:r>
              <a:rPr lang="en-US" altLang="en-US" sz="2400" dirty="0"/>
              <a:t>Da bi se </a:t>
            </a:r>
            <a:r>
              <a:rPr lang="en-US" altLang="en-US" sz="2400" dirty="0" err="1"/>
              <a:t>uspe</a:t>
            </a:r>
            <a:r>
              <a:rPr lang="hr-HR" altLang="en-US" sz="2400" dirty="0"/>
              <a:t>š</a:t>
            </a:r>
            <a:r>
              <a:rPr lang="en-US" altLang="en-US" sz="2400" dirty="0"/>
              <a:t>no </a:t>
            </a:r>
            <a:r>
              <a:rPr lang="en-US" altLang="en-US" sz="2400" dirty="0" err="1"/>
              <a:t>koristila</a:t>
            </a:r>
            <a:r>
              <a:rPr lang="en-US" altLang="en-US" sz="2400" dirty="0"/>
              <a:t> </a:t>
            </a:r>
            <a:r>
              <a:rPr lang="en-US" altLang="en-US" sz="2400" dirty="0" err="1"/>
              <a:t>vektorska</a:t>
            </a:r>
            <a:r>
              <a:rPr lang="en-US" altLang="en-US" sz="2400" dirty="0"/>
              <a:t> ma</a:t>
            </a:r>
            <a:r>
              <a:rPr lang="hr-HR" altLang="en-US" sz="2400" dirty="0"/>
              <a:t>š</a:t>
            </a:r>
            <a:r>
              <a:rPr lang="en-US" altLang="en-US" sz="2400" dirty="0" err="1"/>
              <a:t>ina</a:t>
            </a:r>
            <a:r>
              <a:rPr lang="en-US" altLang="en-US" sz="2400" dirty="0"/>
              <a:t> </a:t>
            </a:r>
            <a:r>
              <a:rPr lang="en-US" altLang="en-US" sz="2400" dirty="0" err="1"/>
              <a:t>potrebni</a:t>
            </a:r>
            <a:r>
              <a:rPr lang="en-US" altLang="en-US" sz="2400" dirty="0"/>
              <a:t> </a:t>
            </a:r>
            <a:r>
              <a:rPr lang="en-US" altLang="en-US" sz="2400" dirty="0" err="1"/>
              <a:t>su</a:t>
            </a:r>
            <a:r>
              <a:rPr lang="en-US" altLang="en-US" sz="2400" dirty="0"/>
              <a:t> </a:t>
            </a:r>
            <a:r>
              <a:rPr lang="en-US" altLang="en-US" sz="2400" dirty="0" err="1"/>
              <a:t>ili</a:t>
            </a:r>
            <a:r>
              <a:rPr lang="en-US" altLang="en-US" sz="2400" dirty="0"/>
              <a:t> </a:t>
            </a:r>
            <a:r>
              <a:rPr lang="en-US" altLang="en-US" sz="2400" dirty="0" err="1"/>
              <a:t>efikasni</a:t>
            </a:r>
            <a:r>
              <a:rPr lang="en-US" altLang="en-US" sz="2400" dirty="0"/>
              <a:t> vi</a:t>
            </a:r>
            <a:r>
              <a:rPr lang="hr-HR" altLang="en-US" sz="2400" dirty="0"/>
              <a:t>š</a:t>
            </a:r>
            <a:r>
              <a:rPr lang="en-US" altLang="en-US" sz="2400" dirty="0"/>
              <a:t>i </a:t>
            </a:r>
            <a:r>
              <a:rPr lang="en-US" altLang="en-US" sz="2400" dirty="0" err="1"/>
              <a:t>programski</a:t>
            </a:r>
            <a:r>
              <a:rPr lang="en-US" altLang="en-US" sz="2400" dirty="0"/>
              <a:t> </a:t>
            </a:r>
            <a:r>
              <a:rPr lang="en-US" altLang="en-US" sz="2400" dirty="0" err="1"/>
              <a:t>jezici</a:t>
            </a:r>
            <a:r>
              <a:rPr lang="en-US" altLang="en-US" sz="2400" dirty="0"/>
              <a:t> </a:t>
            </a:r>
            <a:r>
              <a:rPr lang="en-US" altLang="en-US" sz="2400" dirty="0" err="1"/>
              <a:t>ili</a:t>
            </a:r>
            <a:r>
              <a:rPr lang="en-US" altLang="en-US" sz="2400" dirty="0"/>
              <a:t> </a:t>
            </a:r>
            <a:r>
              <a:rPr lang="en-US" altLang="en-US" sz="2400" dirty="0" err="1"/>
              <a:t>vektoriziraju</a:t>
            </a:r>
            <a:r>
              <a:rPr lang="hr-HR" altLang="en-US" sz="2400" dirty="0"/>
              <a:t>ć</a:t>
            </a:r>
            <a:r>
              <a:rPr lang="en-US" altLang="en-US" sz="2400" dirty="0"/>
              <a:t>i </a:t>
            </a:r>
            <a:r>
              <a:rPr lang="en-US" altLang="en-US" sz="2400" dirty="0" err="1"/>
              <a:t>kompajleri</a:t>
            </a:r>
            <a:r>
              <a:rPr lang="en-US" altLang="en-US" sz="2400" dirty="0"/>
              <a:t> . </a:t>
            </a:r>
            <a:endParaRPr lang="hr-HR" altLang="en-US" sz="2400" dirty="0"/>
          </a:p>
          <a:p>
            <a:pPr lvl="1">
              <a:lnSpc>
                <a:spcPct val="90000"/>
              </a:lnSpc>
              <a:defRPr/>
            </a:pPr>
            <a:r>
              <a:rPr lang="en-US" altLang="en-US" sz="2100" dirty="0"/>
              <a:t>U </a:t>
            </a:r>
            <a:r>
              <a:rPr lang="en-US" altLang="en-US" sz="2100" dirty="0" err="1"/>
              <a:t>prvom</a:t>
            </a:r>
            <a:r>
              <a:rPr lang="en-US" altLang="en-US" sz="2100" dirty="0"/>
              <a:t> </a:t>
            </a:r>
            <a:r>
              <a:rPr lang="en-US" altLang="en-US" sz="2100" dirty="0" err="1"/>
              <a:t>slu</a:t>
            </a:r>
            <a:r>
              <a:rPr lang="hr-HR" altLang="en-US" sz="2100" dirty="0"/>
              <a:t>č</a:t>
            </a:r>
            <a:r>
              <a:rPr lang="en-US" altLang="en-US" sz="2100" dirty="0" err="1"/>
              <a:t>aju</a:t>
            </a:r>
            <a:r>
              <a:rPr lang="en-US" altLang="en-US" sz="2100" dirty="0"/>
              <a:t> deo </a:t>
            </a:r>
            <a:r>
              <a:rPr lang="en-US" altLang="en-US" sz="2100" dirty="0" err="1"/>
              <a:t>programa</a:t>
            </a:r>
            <a:r>
              <a:rPr lang="en-US" altLang="en-US" sz="2100" dirty="0"/>
              <a:t> koji se </a:t>
            </a:r>
            <a:r>
              <a:rPr lang="en-US" altLang="en-US" sz="2100" dirty="0" err="1"/>
              <a:t>mo</a:t>
            </a:r>
            <a:r>
              <a:rPr lang="hr-HR" altLang="en-US" sz="2100" dirty="0"/>
              <a:t>ž</a:t>
            </a:r>
            <a:r>
              <a:rPr lang="en-US" altLang="en-US" sz="2100" dirty="0"/>
              <a:t>e </a:t>
            </a:r>
            <a:r>
              <a:rPr lang="en-US" altLang="en-US" sz="2100" dirty="0" err="1"/>
              <a:t>izvr</a:t>
            </a:r>
            <a:r>
              <a:rPr lang="hr-HR" altLang="en-US" sz="2100" dirty="0"/>
              <a:t>š</a:t>
            </a:r>
            <a:r>
              <a:rPr lang="en-US" altLang="en-US" sz="2100" dirty="0" err="1"/>
              <a:t>iti</a:t>
            </a:r>
            <a:r>
              <a:rPr lang="en-US" altLang="en-US" sz="2100" dirty="0"/>
              <a:t> u </a:t>
            </a:r>
            <a:r>
              <a:rPr lang="en-US" altLang="en-US" sz="2100" dirty="0" err="1"/>
              <a:t>vektorskom</a:t>
            </a:r>
            <a:r>
              <a:rPr lang="en-US" altLang="en-US" sz="2100" dirty="0"/>
              <a:t> </a:t>
            </a:r>
            <a:r>
              <a:rPr lang="en-US" altLang="en-US" sz="2100" dirty="0" err="1"/>
              <a:t>obliku</a:t>
            </a:r>
            <a:r>
              <a:rPr lang="en-US" altLang="en-US" sz="2100" dirty="0"/>
              <a:t> </a:t>
            </a:r>
            <a:r>
              <a:rPr lang="en-US" altLang="en-US" sz="2100" dirty="0" err="1"/>
              <a:t>eksplicitno</a:t>
            </a:r>
            <a:r>
              <a:rPr lang="en-US" altLang="en-US" sz="2100" dirty="0"/>
              <a:t> </a:t>
            </a:r>
            <a:r>
              <a:rPr lang="en-US" altLang="en-US" sz="2100" dirty="0" err="1"/>
              <a:t>specificira</a:t>
            </a:r>
            <a:r>
              <a:rPr lang="en-US" altLang="en-US" sz="2100" dirty="0"/>
              <a:t> </a:t>
            </a:r>
            <a:r>
              <a:rPr lang="en-US" altLang="en-US" sz="2100" dirty="0" err="1"/>
              <a:t>programer</a:t>
            </a:r>
            <a:r>
              <a:rPr lang="en-US" altLang="en-US" sz="2100" dirty="0"/>
              <a:t> </a:t>
            </a:r>
            <a:r>
              <a:rPr lang="en-US" altLang="en-US" sz="2100" dirty="0" err="1"/>
              <a:t>kori</a:t>
            </a:r>
            <a:r>
              <a:rPr lang="hr-HR" altLang="en-US" sz="2100" dirty="0"/>
              <a:t>šć</a:t>
            </a:r>
            <a:r>
              <a:rPr lang="en-US" altLang="en-US" sz="2100" dirty="0" err="1"/>
              <a:t>enjem</a:t>
            </a:r>
            <a:r>
              <a:rPr lang="en-US" altLang="en-US" sz="2100" dirty="0"/>
              <a:t> </a:t>
            </a:r>
            <a:r>
              <a:rPr lang="en-US" altLang="en-US" sz="2100" dirty="0" err="1"/>
              <a:t>odgovaraju</a:t>
            </a:r>
            <a:r>
              <a:rPr lang="hr-HR" altLang="en-US" sz="2100" dirty="0"/>
              <a:t>ć</a:t>
            </a:r>
            <a:r>
              <a:rPr lang="en-US" altLang="en-US" sz="2100" dirty="0" err="1"/>
              <a:t>ih</a:t>
            </a:r>
            <a:r>
              <a:rPr lang="en-US" altLang="en-US" sz="2100" dirty="0"/>
              <a:t> </a:t>
            </a:r>
            <a:r>
              <a:rPr lang="en-US" altLang="en-US" sz="2100" dirty="0" err="1"/>
              <a:t>naredbi</a:t>
            </a:r>
            <a:r>
              <a:rPr lang="en-US" altLang="en-US" sz="2100" dirty="0"/>
              <a:t> vi</a:t>
            </a:r>
            <a:r>
              <a:rPr lang="hr-HR" altLang="en-US" sz="2100" dirty="0"/>
              <a:t>š</a:t>
            </a:r>
            <a:r>
              <a:rPr lang="en-US" altLang="en-US" sz="2100" dirty="0" err="1"/>
              <a:t>eg</a:t>
            </a:r>
            <a:r>
              <a:rPr lang="en-US" altLang="en-US" sz="2100" dirty="0"/>
              <a:t> </a:t>
            </a:r>
            <a:r>
              <a:rPr lang="en-US" altLang="en-US" sz="2100" dirty="0" err="1"/>
              <a:t>programskog</a:t>
            </a:r>
            <a:r>
              <a:rPr lang="en-US" altLang="en-US" sz="2100" dirty="0"/>
              <a:t> </a:t>
            </a:r>
            <a:r>
              <a:rPr lang="en-US" altLang="en-US" sz="2100" dirty="0" err="1"/>
              <a:t>jezika</a:t>
            </a:r>
            <a:r>
              <a:rPr lang="en-US" altLang="en-US" sz="2100" dirty="0"/>
              <a:t>. </a:t>
            </a:r>
            <a:endParaRPr lang="hr-HR" altLang="en-US" sz="2100" dirty="0"/>
          </a:p>
          <a:p>
            <a:pPr lvl="1">
              <a:lnSpc>
                <a:spcPct val="90000"/>
              </a:lnSpc>
              <a:defRPr/>
            </a:pPr>
            <a:r>
              <a:rPr lang="en-US" altLang="en-US" sz="2100" dirty="0"/>
              <a:t>U </a:t>
            </a:r>
            <a:r>
              <a:rPr lang="en-US" altLang="en-US" sz="2100" dirty="0" err="1"/>
              <a:t>drugom</a:t>
            </a:r>
            <a:r>
              <a:rPr lang="en-US" altLang="en-US" sz="2100" dirty="0"/>
              <a:t> </a:t>
            </a:r>
            <a:r>
              <a:rPr lang="en-US" altLang="en-US" sz="2100" dirty="0" err="1"/>
              <a:t>slu</a:t>
            </a:r>
            <a:r>
              <a:rPr lang="hr-HR" altLang="en-US" sz="2100" dirty="0"/>
              <a:t>č</a:t>
            </a:r>
            <a:r>
              <a:rPr lang="en-US" altLang="en-US" sz="2100" dirty="0" err="1"/>
              <a:t>aju</a:t>
            </a:r>
            <a:r>
              <a:rPr lang="en-US" altLang="en-US" sz="2100" dirty="0"/>
              <a:t> program je </a:t>
            </a:r>
            <a:r>
              <a:rPr lang="en-US" altLang="en-US" sz="2100" dirty="0" err="1"/>
              <a:t>napisan</a:t>
            </a:r>
            <a:r>
              <a:rPr lang="en-US" altLang="en-US" sz="2100" dirty="0"/>
              <a:t> </a:t>
            </a:r>
            <a:r>
              <a:rPr lang="en-US" altLang="en-US" sz="2100" dirty="0" err="1"/>
              <a:t>na</a:t>
            </a:r>
            <a:r>
              <a:rPr lang="en-US" altLang="en-US" sz="2100" dirty="0"/>
              <a:t> </a:t>
            </a:r>
            <a:r>
              <a:rPr lang="en-US" altLang="en-US" sz="2100" dirty="0" err="1"/>
              <a:t>nekom</a:t>
            </a:r>
            <a:r>
              <a:rPr lang="en-US" altLang="en-US" sz="2100" dirty="0"/>
              <a:t> </a:t>
            </a:r>
            <a:r>
              <a:rPr lang="en-US" altLang="en-US" sz="2100" dirty="0" err="1"/>
              <a:t>standardnom</a:t>
            </a:r>
            <a:r>
              <a:rPr lang="en-US" altLang="en-US" sz="2100" dirty="0"/>
              <a:t> </a:t>
            </a:r>
            <a:r>
              <a:rPr lang="en-US" altLang="en-US" sz="2100" dirty="0" err="1"/>
              <a:t>sekvencijalnom</a:t>
            </a:r>
            <a:r>
              <a:rPr lang="en-US" altLang="en-US" sz="2100" dirty="0"/>
              <a:t> </a:t>
            </a:r>
            <a:r>
              <a:rPr lang="en-US" altLang="en-US" sz="2100" dirty="0" err="1"/>
              <a:t>programskom</a:t>
            </a:r>
            <a:r>
              <a:rPr lang="en-US" altLang="en-US" sz="2100" dirty="0"/>
              <a:t> </a:t>
            </a:r>
            <a:r>
              <a:rPr lang="en-US" altLang="en-US" sz="2100" dirty="0" err="1"/>
              <a:t>jeziku</a:t>
            </a:r>
            <a:r>
              <a:rPr lang="hr-HR" altLang="en-US" sz="2100" dirty="0"/>
              <a:t>,</a:t>
            </a:r>
            <a:r>
              <a:rPr lang="en-US" altLang="en-US" sz="2100" dirty="0"/>
              <a:t> a </a:t>
            </a:r>
            <a:r>
              <a:rPr lang="en-US" altLang="en-US" sz="2100" dirty="0" err="1"/>
              <a:t>kompajler</a:t>
            </a:r>
            <a:r>
              <a:rPr lang="en-US" altLang="en-US" sz="2100" dirty="0"/>
              <a:t> </a:t>
            </a:r>
            <a:r>
              <a:rPr lang="en-US" altLang="en-US" sz="2100" dirty="0" err="1"/>
              <a:t>odredjuje</a:t>
            </a:r>
            <a:r>
              <a:rPr lang="en-US" altLang="en-US" sz="2100" dirty="0"/>
              <a:t> koji deo </a:t>
            </a:r>
            <a:r>
              <a:rPr lang="en-US" altLang="en-US" sz="2100" dirty="0" err="1"/>
              <a:t>programa</a:t>
            </a:r>
            <a:r>
              <a:rPr lang="en-US" altLang="en-US" sz="2100" dirty="0"/>
              <a:t> se </a:t>
            </a:r>
            <a:r>
              <a:rPr lang="en-US" altLang="en-US" sz="2100" dirty="0" err="1"/>
              <a:t>mo</a:t>
            </a:r>
            <a:r>
              <a:rPr lang="hr-HR" altLang="en-US" sz="2100" dirty="0"/>
              <a:t>ž</a:t>
            </a:r>
            <a:r>
              <a:rPr lang="en-US" altLang="en-US" sz="2100" dirty="0"/>
              <a:t>e </a:t>
            </a:r>
            <a:r>
              <a:rPr lang="en-US" altLang="en-US" sz="2100" dirty="0" err="1"/>
              <a:t>vektorizovati</a:t>
            </a:r>
            <a:r>
              <a:rPr lang="en-US" altLang="en-US" sz="2100" dirty="0"/>
              <a:t>. </a:t>
            </a:r>
            <a:endParaRPr lang="hr-HR" altLang="en-US" sz="2100" dirty="0"/>
          </a:p>
          <a:p>
            <a:pPr>
              <a:lnSpc>
                <a:spcPct val="90000"/>
              </a:lnSpc>
              <a:defRPr/>
            </a:pPr>
            <a:r>
              <a:rPr lang="en-US" altLang="en-US" sz="2400" dirty="0" err="1"/>
              <a:t>Jedini</a:t>
            </a:r>
            <a:r>
              <a:rPr lang="en-US" altLang="en-US" sz="2400" dirty="0"/>
              <a:t> </a:t>
            </a:r>
            <a:r>
              <a:rPr lang="en-US" altLang="en-US" sz="2400" dirty="0" err="1"/>
              <a:t>kandidati</a:t>
            </a:r>
            <a:r>
              <a:rPr lang="en-US" altLang="en-US" sz="2400" dirty="0"/>
              <a:t> za </a:t>
            </a:r>
            <a:r>
              <a:rPr lang="en-US" altLang="en-US" sz="2400" dirty="0" err="1"/>
              <a:t>vektorizaciju</a:t>
            </a:r>
            <a:r>
              <a:rPr lang="en-US" altLang="en-US" sz="2400" dirty="0"/>
              <a:t> </a:t>
            </a:r>
            <a:r>
              <a:rPr lang="en-US" altLang="en-US" sz="2400" dirty="0" err="1"/>
              <a:t>su</a:t>
            </a:r>
            <a:r>
              <a:rPr lang="en-US" altLang="en-US" sz="2400" dirty="0"/>
              <a:t> </a:t>
            </a:r>
            <a:r>
              <a:rPr lang="en-US" altLang="en-US" sz="2400" dirty="0" err="1"/>
              <a:t>petlje</a:t>
            </a:r>
            <a:r>
              <a:rPr lang="en-US" altLang="en-US" sz="2400" dirty="0"/>
              <a:t>. </a:t>
            </a:r>
            <a:endParaRPr lang="hr-HR" altLang="en-US" sz="2400" dirty="0"/>
          </a:p>
          <a:p>
            <a:pPr lvl="1">
              <a:lnSpc>
                <a:spcPct val="90000"/>
              </a:lnSpc>
              <a:defRPr/>
            </a:pPr>
            <a:r>
              <a:rPr lang="en-US" altLang="en-US" sz="2100" dirty="0" err="1"/>
              <a:t>Uvek</a:t>
            </a:r>
            <a:r>
              <a:rPr lang="en-US" altLang="en-US" sz="2100" dirty="0"/>
              <a:t> se </a:t>
            </a:r>
            <a:r>
              <a:rPr lang="en-US" altLang="en-US" sz="2100" dirty="0" err="1"/>
              <a:t>vektorizuje</a:t>
            </a:r>
            <a:r>
              <a:rPr lang="en-US" altLang="en-US" sz="2100" dirty="0"/>
              <a:t> </a:t>
            </a:r>
            <a:r>
              <a:rPr lang="en-US" altLang="en-US" sz="2100" dirty="0" err="1"/>
              <a:t>najdublje</a:t>
            </a:r>
            <a:r>
              <a:rPr lang="en-US" altLang="en-US" sz="2100" dirty="0"/>
              <a:t> </a:t>
            </a:r>
            <a:r>
              <a:rPr lang="en-US" altLang="en-US" sz="2100" dirty="0" err="1"/>
              <a:t>ugnje</a:t>
            </a:r>
            <a:r>
              <a:rPr lang="hr-HR" altLang="en-US" sz="2100" dirty="0"/>
              <a:t>ž</a:t>
            </a:r>
            <a:r>
              <a:rPr lang="en-US" altLang="en-US" sz="2100" dirty="0"/>
              <a:t>d</a:t>
            </a:r>
            <a:r>
              <a:rPr lang="hr-HR" altLang="en-US" sz="2100" dirty="0"/>
              <a:t>j</a:t>
            </a:r>
            <a:r>
              <a:rPr lang="en-US" altLang="en-US" sz="2100" dirty="0" err="1"/>
              <a:t>ena</a:t>
            </a:r>
            <a:r>
              <a:rPr lang="en-US" altLang="en-US" sz="2100" dirty="0"/>
              <a:t> </a:t>
            </a:r>
            <a:r>
              <a:rPr lang="en-US" altLang="en-US" sz="2100" dirty="0" err="1"/>
              <a:t>petlja</a:t>
            </a:r>
            <a:r>
              <a:rPr lang="en-US" altLang="en-US" sz="2100" dirty="0"/>
              <a:t>. </a:t>
            </a:r>
            <a:endParaRPr lang="hr-HR" altLang="en-US" sz="2100" dirty="0"/>
          </a:p>
          <a:p>
            <a:pPr>
              <a:lnSpc>
                <a:spcPct val="90000"/>
              </a:lnSpc>
              <a:defRPr/>
            </a:pPr>
            <a:r>
              <a:rPr lang="en-US" altLang="en-US" sz="2400" dirty="0" err="1"/>
              <a:t>Kompajler</a:t>
            </a:r>
            <a:r>
              <a:rPr lang="en-US" altLang="en-US" sz="2400" dirty="0"/>
              <a:t> mora </a:t>
            </a:r>
            <a:r>
              <a:rPr lang="en-US" altLang="en-US" sz="2400" dirty="0" err="1"/>
              <a:t>biti</a:t>
            </a:r>
            <a:r>
              <a:rPr lang="en-US" altLang="en-US" sz="2400" dirty="0"/>
              <a:t> u </a:t>
            </a:r>
            <a:r>
              <a:rPr lang="en-US" altLang="en-US" sz="2400" dirty="0" err="1"/>
              <a:t>stanju</a:t>
            </a:r>
            <a:r>
              <a:rPr lang="en-US" altLang="en-US" sz="2400" dirty="0"/>
              <a:t> da </a:t>
            </a:r>
            <a:r>
              <a:rPr lang="en-US" altLang="en-US" sz="2400" dirty="0" err="1"/>
              <a:t>prepozna</a:t>
            </a:r>
            <a:r>
              <a:rPr lang="en-US" altLang="en-US" sz="2400" dirty="0"/>
              <a:t> da li se </a:t>
            </a:r>
            <a:r>
              <a:rPr lang="en-US" altLang="en-US" sz="2400" dirty="0" err="1"/>
              <a:t>petlja</a:t>
            </a:r>
            <a:r>
              <a:rPr lang="en-US" altLang="en-US" sz="2400" dirty="0"/>
              <a:t> </a:t>
            </a:r>
            <a:r>
              <a:rPr lang="en-US" altLang="en-US" sz="2400" dirty="0" err="1"/>
              <a:t>ili</a:t>
            </a:r>
            <a:r>
              <a:rPr lang="en-US" altLang="en-US" sz="2400" dirty="0"/>
              <a:t> deo </a:t>
            </a:r>
            <a:r>
              <a:rPr lang="en-US" altLang="en-US" sz="2400" dirty="0" err="1"/>
              <a:t>petlje</a:t>
            </a:r>
            <a:r>
              <a:rPr lang="en-US" altLang="en-US" sz="2400" dirty="0"/>
              <a:t> </a:t>
            </a:r>
            <a:r>
              <a:rPr lang="en-US" altLang="en-US" sz="2400" dirty="0" err="1"/>
              <a:t>mo</a:t>
            </a:r>
            <a:r>
              <a:rPr lang="hr-HR" altLang="en-US" sz="2400" dirty="0"/>
              <a:t>ž</a:t>
            </a:r>
            <a:r>
              <a:rPr lang="en-US" altLang="en-US" sz="2400" dirty="0"/>
              <a:t>e </a:t>
            </a:r>
            <a:r>
              <a:rPr lang="en-US" altLang="en-US" sz="2400" dirty="0" err="1"/>
              <a:t>vektorizovati</a:t>
            </a:r>
            <a:r>
              <a:rPr lang="en-US" altLang="en-US" sz="2400" dirty="0"/>
              <a:t>  i da </a:t>
            </a:r>
            <a:r>
              <a:rPr lang="en-US" altLang="en-US" sz="2400" dirty="0" err="1"/>
              <a:t>shodno</a:t>
            </a:r>
            <a:r>
              <a:rPr lang="en-US" altLang="en-US" sz="2400" dirty="0"/>
              <a:t> tome </a:t>
            </a:r>
            <a:r>
              <a:rPr lang="en-US" altLang="en-US" sz="2400" dirty="0" err="1"/>
              <a:t>generi</a:t>
            </a:r>
            <a:r>
              <a:rPr lang="hr-HR" altLang="en-US" sz="2400" dirty="0"/>
              <a:t>š</a:t>
            </a:r>
            <a:r>
              <a:rPr lang="en-US" altLang="en-US" sz="2400" dirty="0"/>
              <a:t>e </a:t>
            </a:r>
            <a:r>
              <a:rPr lang="en-US" altLang="en-US" sz="2400" dirty="0" err="1"/>
              <a:t>odgovaraju</a:t>
            </a:r>
            <a:r>
              <a:rPr lang="hr-HR" altLang="en-US" sz="2400" dirty="0"/>
              <a:t>ć</a:t>
            </a:r>
            <a:r>
              <a:rPr lang="en-US" altLang="en-US" sz="2400" dirty="0"/>
              <a:t>i </a:t>
            </a:r>
            <a:r>
              <a:rPr lang="en-US" altLang="en-US" sz="2400" dirty="0" err="1"/>
              <a:t>vektorski</a:t>
            </a:r>
            <a:r>
              <a:rPr lang="en-US" altLang="en-US" sz="2400" dirty="0"/>
              <a:t> </a:t>
            </a:r>
            <a:r>
              <a:rPr lang="en-US" altLang="en-US" sz="2400" dirty="0" err="1"/>
              <a:t>kod</a:t>
            </a:r>
            <a:r>
              <a:rPr lang="en-US" altLang="en-US" sz="2400" dirty="0"/>
              <a:t>. </a:t>
            </a:r>
            <a:endParaRPr lang="hr-HR" altLang="en-US" sz="2400" dirty="0"/>
          </a:p>
          <a:p>
            <a:pPr lvl="1">
              <a:lnSpc>
                <a:spcPct val="90000"/>
              </a:lnSpc>
              <a:defRPr/>
            </a:pPr>
            <a:r>
              <a:rPr lang="en-US" altLang="en-US" sz="2100" dirty="0"/>
              <a:t>Da bi to u</a:t>
            </a:r>
            <a:r>
              <a:rPr lang="hr-HR" altLang="en-US" sz="2100" dirty="0"/>
              <a:t>č</a:t>
            </a:r>
            <a:r>
              <a:rPr lang="en-US" altLang="en-US" sz="2100" dirty="0" err="1"/>
              <a:t>inio</a:t>
            </a:r>
            <a:r>
              <a:rPr lang="en-US" altLang="en-US" sz="2100" dirty="0"/>
              <a:t> </a:t>
            </a:r>
            <a:r>
              <a:rPr lang="en-US" altLang="en-US" sz="2100" dirty="0" err="1"/>
              <a:t>kompajler</a:t>
            </a:r>
            <a:r>
              <a:rPr lang="en-US" altLang="en-US" sz="2100" dirty="0"/>
              <a:t> mora </a:t>
            </a:r>
            <a:r>
              <a:rPr lang="en-US" altLang="en-US" sz="2100" dirty="0" err="1"/>
              <a:t>utvrditi</a:t>
            </a:r>
            <a:r>
              <a:rPr lang="en-US" altLang="en-US" sz="2100" dirty="0"/>
              <a:t> </a:t>
            </a:r>
            <a:r>
              <a:rPr lang="en-US" altLang="en-US" sz="2100" dirty="0" err="1"/>
              <a:t>koje</a:t>
            </a:r>
            <a:r>
              <a:rPr lang="en-US" altLang="en-US" sz="2100" dirty="0"/>
              <a:t> </a:t>
            </a:r>
            <a:r>
              <a:rPr lang="en-US" altLang="en-US" sz="2100" dirty="0" err="1"/>
              <a:t>zavisnosti</a:t>
            </a:r>
            <a:r>
              <a:rPr lang="en-US" altLang="en-US" sz="2100" dirty="0"/>
              <a:t> </a:t>
            </a:r>
            <a:r>
              <a:rPr lang="en-US" altLang="en-US" sz="2100" dirty="0" err="1"/>
              <a:t>postoje</a:t>
            </a:r>
            <a:r>
              <a:rPr lang="en-US" altLang="en-US" sz="2100" dirty="0"/>
              <a:t> </a:t>
            </a:r>
            <a:r>
              <a:rPr lang="en-US" altLang="en-US" sz="2100" dirty="0" err="1"/>
              <a:t>izmedju</a:t>
            </a:r>
            <a:r>
              <a:rPr lang="en-US" altLang="en-US" sz="2100" dirty="0"/>
              <a:t> </a:t>
            </a:r>
            <a:r>
              <a:rPr lang="en-US" altLang="en-US" sz="2100" dirty="0" err="1"/>
              <a:t>promenljivih</a:t>
            </a:r>
            <a:r>
              <a:rPr lang="en-US" altLang="en-US" sz="2100" dirty="0"/>
              <a:t> u </a:t>
            </a:r>
            <a:r>
              <a:rPr lang="sr-Latn-RS" altLang="en-US" sz="2100" dirty="0"/>
              <a:t>telu </a:t>
            </a:r>
            <a:r>
              <a:rPr lang="en-US" altLang="en-US" sz="2100" dirty="0" err="1"/>
              <a:t>petlji</a:t>
            </a:r>
            <a:r>
              <a:rPr lang="sr-Latn-RS" altLang="en-US" sz="2100" dirty="0"/>
              <a:t>e</a:t>
            </a:r>
            <a:r>
              <a:rPr lang="en-US" altLang="en-US" sz="2100" dirty="0"/>
              <a:t> </a:t>
            </a:r>
            <a:endParaRPr lang="hr-HR" altLang="en-US" sz="2100" dirty="0"/>
          </a:p>
          <a:p>
            <a:pPr lvl="1">
              <a:lnSpc>
                <a:spcPct val="90000"/>
              </a:lnSpc>
              <a:defRPr/>
            </a:pPr>
            <a:r>
              <a:rPr lang="hr-HR" altLang="en-US" sz="2100" dirty="0"/>
              <a:t>Samo RAW hazardi mogu sprečiti vektorizaciju.</a:t>
            </a:r>
            <a:endParaRPr lang="en-US" alt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6">
            <a:extLst>
              <a:ext uri="{FF2B5EF4-FFF2-40B4-BE49-F238E27FC236}">
                <a16:creationId xmlns:a16="http://schemas.microsoft.com/office/drawing/2014/main" id="{1F221A99-FE28-84EB-AA1A-C3E1327C40C7}"/>
              </a:ext>
            </a:extLst>
          </p:cNvPr>
          <p:cNvSpPr>
            <a:spLocks noGrp="1" noChangeArrowheads="1"/>
          </p:cNvSpPr>
          <p:nvPr>
            <p:ph type="title"/>
          </p:nvPr>
        </p:nvSpPr>
        <p:spPr/>
        <p:txBody>
          <a:bodyPr/>
          <a:lstStyle/>
          <a:p>
            <a:pPr>
              <a:defRPr/>
            </a:pPr>
            <a:r>
              <a:rPr lang="hr-HR" altLang="en-US"/>
              <a:t>Primer</a:t>
            </a:r>
            <a:endParaRPr lang="en-US" altLang="en-US"/>
          </a:p>
        </p:txBody>
      </p:sp>
      <p:sp>
        <p:nvSpPr>
          <p:cNvPr id="1031" name="Rectangle 7">
            <a:extLst>
              <a:ext uri="{FF2B5EF4-FFF2-40B4-BE49-F238E27FC236}">
                <a16:creationId xmlns:a16="http://schemas.microsoft.com/office/drawing/2014/main" id="{8E7ED113-68CD-7617-B949-0D533F431AEC}"/>
              </a:ext>
            </a:extLst>
          </p:cNvPr>
          <p:cNvSpPr>
            <a:spLocks noGrp="1" noChangeArrowheads="1"/>
          </p:cNvSpPr>
          <p:nvPr>
            <p:ph type="body" idx="1"/>
          </p:nvPr>
        </p:nvSpPr>
        <p:spPr/>
        <p:txBody>
          <a:bodyPr>
            <a:normAutofit lnSpcReduction="10000"/>
          </a:bodyPr>
          <a:lstStyle/>
          <a:p>
            <a:pPr>
              <a:lnSpc>
                <a:spcPct val="90000"/>
              </a:lnSpc>
              <a:buFont typeface="Wingdings 2" panose="05020102010507070707" pitchFamily="18" charset="2"/>
              <a:buNone/>
              <a:defRPr/>
            </a:pPr>
            <a:r>
              <a:rPr lang="hr-HR" altLang="en-US" dirty="0"/>
              <a:t>			</a:t>
            </a:r>
            <a:r>
              <a:rPr lang="en-US" altLang="en-US" dirty="0"/>
              <a:t>for  i=1 to n</a:t>
            </a:r>
          </a:p>
          <a:p>
            <a:pPr>
              <a:lnSpc>
                <a:spcPct val="90000"/>
              </a:lnSpc>
              <a:buFont typeface="Wingdings 2" panose="05020102010507070707" pitchFamily="18" charset="2"/>
              <a:buNone/>
              <a:defRPr/>
            </a:pPr>
            <a:r>
              <a:rPr lang="en-US" altLang="en-US" dirty="0"/>
              <a:t>	S1	</a:t>
            </a:r>
            <a:r>
              <a:rPr lang="hr-HR" altLang="en-US" dirty="0"/>
              <a:t> 	</a:t>
            </a:r>
            <a:r>
              <a:rPr lang="en-US" altLang="en-US" dirty="0"/>
              <a:t>A(i+1)=A(i)+B(i)</a:t>
            </a:r>
          </a:p>
          <a:p>
            <a:pPr>
              <a:lnSpc>
                <a:spcPct val="90000"/>
              </a:lnSpc>
              <a:buFont typeface="Wingdings 2" panose="05020102010507070707" pitchFamily="18" charset="2"/>
              <a:buNone/>
              <a:defRPr/>
            </a:pPr>
            <a:r>
              <a:rPr lang="en-US" altLang="en-US" dirty="0"/>
              <a:t>	S2	</a:t>
            </a:r>
            <a:r>
              <a:rPr lang="hr-HR" altLang="en-US" dirty="0"/>
              <a:t> 	</a:t>
            </a:r>
            <a:r>
              <a:rPr lang="en-US" altLang="en-US" dirty="0"/>
              <a:t>B(i+1)=B(i)*A(i+1)</a:t>
            </a:r>
          </a:p>
          <a:p>
            <a:pPr>
              <a:lnSpc>
                <a:spcPct val="90000"/>
              </a:lnSpc>
              <a:buFont typeface="Wingdings 2" panose="05020102010507070707" pitchFamily="18" charset="2"/>
              <a:buNone/>
              <a:defRPr/>
            </a:pPr>
            <a:r>
              <a:rPr lang="en-US" altLang="en-US" dirty="0"/>
              <a:t>                </a:t>
            </a:r>
            <a:r>
              <a:rPr lang="en-US" altLang="en-US" dirty="0" err="1"/>
              <a:t>endfor</a:t>
            </a:r>
            <a:endParaRPr lang="hr-HR" altLang="en-US" dirty="0"/>
          </a:p>
          <a:p>
            <a:pPr>
              <a:lnSpc>
                <a:spcPct val="90000"/>
              </a:lnSpc>
              <a:defRPr/>
            </a:pPr>
            <a:r>
              <a:rPr lang="hr-HR" altLang="en-US" dirty="0"/>
              <a:t>U</a:t>
            </a:r>
            <a:r>
              <a:rPr lang="en-US" altLang="en-US" dirty="0"/>
              <a:t> </a:t>
            </a:r>
            <a:r>
              <a:rPr lang="en-US" altLang="en-US" dirty="0" err="1"/>
              <a:t>petlji</a:t>
            </a:r>
            <a:r>
              <a:rPr lang="en-US" altLang="en-US" dirty="0"/>
              <a:t> je </a:t>
            </a:r>
            <a:r>
              <a:rPr lang="en-US" altLang="en-US" dirty="0" err="1"/>
              <a:t>mogu</a:t>
            </a:r>
            <a:r>
              <a:rPr lang="hr-HR" altLang="en-US" dirty="0"/>
              <a:t>ć</a:t>
            </a:r>
            <a:r>
              <a:rPr lang="en-US" altLang="en-US" dirty="0"/>
              <a:t>e </a:t>
            </a:r>
            <a:r>
              <a:rPr lang="en-US" altLang="en-US" dirty="0" err="1"/>
              <a:t>uo</a:t>
            </a:r>
            <a:r>
              <a:rPr lang="hr-HR" altLang="en-US" dirty="0"/>
              <a:t>č</a:t>
            </a:r>
            <a:r>
              <a:rPr lang="en-US" altLang="en-US" dirty="0" err="1"/>
              <a:t>iti</a:t>
            </a:r>
            <a:r>
              <a:rPr lang="en-US" altLang="en-US" dirty="0"/>
              <a:t> </a:t>
            </a:r>
            <a:r>
              <a:rPr lang="en-US" altLang="en-US" dirty="0" err="1"/>
              <a:t>slede</a:t>
            </a:r>
            <a:r>
              <a:rPr lang="hr-HR" altLang="en-US" dirty="0"/>
              <a:t>ć</a:t>
            </a:r>
            <a:r>
              <a:rPr lang="en-US" altLang="en-US" dirty="0"/>
              <a:t>e </a:t>
            </a:r>
            <a:r>
              <a:rPr lang="en-US" altLang="en-US" dirty="0" err="1"/>
              <a:t>zavisnosti</a:t>
            </a:r>
            <a:r>
              <a:rPr lang="hr-HR" altLang="en-US" dirty="0"/>
              <a:t>:</a:t>
            </a:r>
          </a:p>
          <a:p>
            <a:pPr marL="914400" lvl="1" indent="-457200">
              <a:lnSpc>
                <a:spcPct val="90000"/>
              </a:lnSpc>
              <a:buFont typeface="+mj-lt"/>
              <a:buAutoNum type="arabicPeriod"/>
              <a:defRPr/>
            </a:pPr>
            <a:r>
              <a:rPr lang="en-US" altLang="en-US" dirty="0" err="1"/>
              <a:t>Naredba</a:t>
            </a:r>
            <a:r>
              <a:rPr lang="en-US" altLang="en-US" dirty="0"/>
              <a:t> S </a:t>
            </a:r>
            <a:r>
              <a:rPr lang="en-US" altLang="en-US" dirty="0" err="1"/>
              <a:t>koristi</a:t>
            </a:r>
            <a:r>
              <a:rPr lang="en-US" altLang="en-US" dirty="0"/>
              <a:t> </a:t>
            </a:r>
            <a:r>
              <a:rPr lang="en-US" altLang="en-US" dirty="0" err="1"/>
              <a:t>vrednost</a:t>
            </a:r>
            <a:r>
              <a:rPr lang="en-US" altLang="en-US" dirty="0"/>
              <a:t> </a:t>
            </a:r>
            <a:r>
              <a:rPr lang="en-US" altLang="en-US" dirty="0" err="1"/>
              <a:t>koju</a:t>
            </a:r>
            <a:r>
              <a:rPr lang="en-US" altLang="en-US" dirty="0"/>
              <a:t> je S </a:t>
            </a:r>
            <a:r>
              <a:rPr lang="en-US" altLang="en-US" dirty="0" err="1"/>
              <a:t>izra</a:t>
            </a:r>
            <a:r>
              <a:rPr lang="hr-HR" altLang="en-US" dirty="0"/>
              <a:t>č</a:t>
            </a:r>
            <a:r>
              <a:rPr lang="en-US" altLang="en-US" dirty="0" err="1"/>
              <a:t>unala</a:t>
            </a:r>
            <a:r>
              <a:rPr lang="en-US" altLang="en-US" dirty="0"/>
              <a:t> u </a:t>
            </a:r>
            <a:r>
              <a:rPr lang="en-US" altLang="en-US" dirty="0" err="1"/>
              <a:t>prethodnoj</a:t>
            </a:r>
            <a:r>
              <a:rPr lang="en-US" altLang="en-US" dirty="0"/>
              <a:t> </a:t>
            </a:r>
            <a:r>
              <a:rPr lang="en-US" altLang="en-US" dirty="0" err="1"/>
              <a:t>iteraciji</a:t>
            </a:r>
            <a:r>
              <a:rPr lang="en-US" altLang="en-US" dirty="0"/>
              <a:t>. </a:t>
            </a:r>
            <a:endParaRPr lang="hr-HR" altLang="en-US" dirty="0"/>
          </a:p>
          <a:p>
            <a:pPr lvl="2">
              <a:lnSpc>
                <a:spcPct val="90000"/>
              </a:lnSpc>
              <a:defRPr/>
            </a:pPr>
            <a:r>
              <a:rPr lang="en-US" altLang="en-US" dirty="0" err="1"/>
              <a:t>Ovakva</a:t>
            </a:r>
            <a:r>
              <a:rPr lang="en-US" altLang="en-US" dirty="0"/>
              <a:t> </a:t>
            </a:r>
            <a:r>
              <a:rPr lang="en-US" altLang="en-US" dirty="0" err="1"/>
              <a:t>zavisnost</a:t>
            </a:r>
            <a:r>
              <a:rPr lang="en-US" altLang="en-US" dirty="0"/>
              <a:t> </a:t>
            </a:r>
            <a:r>
              <a:rPr lang="en-US" altLang="en-US" dirty="0" err="1"/>
              <a:t>postoji</a:t>
            </a:r>
            <a:r>
              <a:rPr lang="en-US" altLang="en-US" dirty="0"/>
              <a:t> u </a:t>
            </a:r>
            <a:r>
              <a:rPr lang="en-US" altLang="en-US" dirty="0" err="1"/>
              <a:t>ovom</a:t>
            </a:r>
            <a:r>
              <a:rPr lang="en-US" altLang="en-US" dirty="0"/>
              <a:t> </a:t>
            </a:r>
            <a:r>
              <a:rPr lang="en-US" altLang="en-US" dirty="0" err="1"/>
              <a:t>primeru</a:t>
            </a:r>
            <a:r>
              <a:rPr lang="en-US" altLang="en-US" dirty="0"/>
              <a:t>, </a:t>
            </a:r>
            <a:r>
              <a:rPr lang="en-US" altLang="en-US" dirty="0" err="1"/>
              <a:t>jer</a:t>
            </a:r>
            <a:r>
              <a:rPr lang="en-US" altLang="en-US" dirty="0"/>
              <a:t> S1 u i+1-iteraciji </a:t>
            </a:r>
            <a:r>
              <a:rPr lang="en-US" altLang="en-US" dirty="0" err="1"/>
              <a:t>koristi</a:t>
            </a:r>
            <a:r>
              <a:rPr lang="en-US" altLang="en-US" dirty="0"/>
              <a:t> </a:t>
            </a:r>
            <a:r>
              <a:rPr lang="en-US" altLang="en-US" dirty="0" err="1"/>
              <a:t>vrednost</a:t>
            </a:r>
            <a:r>
              <a:rPr lang="en-US" altLang="en-US" dirty="0"/>
              <a:t> A(i) </a:t>
            </a:r>
            <a:r>
              <a:rPr lang="en-US" altLang="en-US" dirty="0" err="1"/>
              <a:t>koja</a:t>
            </a:r>
            <a:r>
              <a:rPr lang="en-US" altLang="en-US" dirty="0"/>
              <a:t> je </a:t>
            </a:r>
            <a:r>
              <a:rPr lang="en-US" altLang="en-US" dirty="0" err="1"/>
              <a:t>izra</a:t>
            </a:r>
            <a:r>
              <a:rPr lang="hr-HR" altLang="en-US" dirty="0"/>
              <a:t>č</a:t>
            </a:r>
            <a:r>
              <a:rPr lang="en-US" altLang="en-US" dirty="0" err="1"/>
              <a:t>unata</a:t>
            </a:r>
            <a:r>
              <a:rPr lang="en-US" altLang="en-US" dirty="0"/>
              <a:t> u i-</a:t>
            </a:r>
            <a:r>
              <a:rPr lang="en-US" altLang="en-US" dirty="0" err="1"/>
              <a:t>toj</a:t>
            </a:r>
            <a:r>
              <a:rPr lang="en-US" altLang="en-US" dirty="0"/>
              <a:t> </a:t>
            </a:r>
            <a:r>
              <a:rPr lang="en-US" altLang="en-US" dirty="0" err="1"/>
              <a:t>iteraciji</a:t>
            </a:r>
            <a:r>
              <a:rPr lang="en-US" altLang="en-US" dirty="0"/>
              <a:t> </a:t>
            </a:r>
            <a:r>
              <a:rPr lang="en-US" altLang="en-US" dirty="0" err="1"/>
              <a:t>kao</a:t>
            </a:r>
            <a:r>
              <a:rPr lang="en-US" altLang="en-US" dirty="0"/>
              <a:t> A(i+1). </a:t>
            </a:r>
            <a:r>
              <a:rPr lang="en-US" altLang="en-US" dirty="0" err="1"/>
              <a:t>Isto</a:t>
            </a:r>
            <a:r>
              <a:rPr lang="en-US" altLang="en-US" dirty="0"/>
              <a:t> </a:t>
            </a:r>
            <a:r>
              <a:rPr lang="en-US" altLang="en-US" dirty="0" err="1"/>
              <a:t>va</a:t>
            </a:r>
            <a:r>
              <a:rPr lang="hr-HR" altLang="en-US" dirty="0"/>
              <a:t>ž</a:t>
            </a:r>
            <a:r>
              <a:rPr lang="en-US" altLang="en-US" dirty="0"/>
              <a:t>i </a:t>
            </a:r>
            <a:r>
              <a:rPr lang="en-US" altLang="en-US" dirty="0" err="1"/>
              <a:t>i</a:t>
            </a:r>
            <a:r>
              <a:rPr lang="en-US" altLang="en-US" dirty="0"/>
              <a:t> za </a:t>
            </a:r>
            <a:r>
              <a:rPr lang="en-US" altLang="en-US" dirty="0" err="1"/>
              <a:t>naredbu</a:t>
            </a:r>
            <a:r>
              <a:rPr lang="en-US" altLang="en-US" dirty="0"/>
              <a:t> S2 </a:t>
            </a:r>
            <a:r>
              <a:rPr lang="en-US" altLang="en-US" dirty="0" err="1"/>
              <a:t>kada</a:t>
            </a:r>
            <a:r>
              <a:rPr lang="en-US" altLang="en-US" dirty="0"/>
              <a:t> </a:t>
            </a:r>
            <a:r>
              <a:rPr lang="en-US" altLang="en-US" dirty="0" err="1"/>
              <a:t>su</a:t>
            </a:r>
            <a:r>
              <a:rPr lang="en-US" altLang="en-US" dirty="0"/>
              <a:t> u </a:t>
            </a:r>
            <a:r>
              <a:rPr lang="en-US" altLang="en-US" dirty="0" err="1"/>
              <a:t>pitanju</a:t>
            </a:r>
            <a:r>
              <a:rPr lang="en-US" altLang="en-US" dirty="0"/>
              <a:t>  B(i) i B(i+1). </a:t>
            </a:r>
            <a:endParaRPr lang="hr-HR" altLang="en-US" dirty="0"/>
          </a:p>
          <a:p>
            <a:pPr marL="914400" lvl="1" indent="-457200">
              <a:lnSpc>
                <a:spcPct val="90000"/>
              </a:lnSpc>
              <a:buFont typeface="+mj-lt"/>
              <a:buAutoNum type="arabicPeriod"/>
              <a:defRPr/>
            </a:pPr>
            <a:r>
              <a:rPr lang="en-US" altLang="en-US" dirty="0"/>
              <a:t>S </a:t>
            </a:r>
            <a:r>
              <a:rPr lang="en-US" altLang="en-US" dirty="0" err="1"/>
              <a:t>koristi</a:t>
            </a:r>
            <a:r>
              <a:rPr lang="en-US" altLang="en-US" dirty="0"/>
              <a:t> </a:t>
            </a:r>
            <a:r>
              <a:rPr lang="en-US" altLang="en-US" dirty="0" err="1"/>
              <a:t>vrednost</a:t>
            </a:r>
            <a:r>
              <a:rPr lang="en-US" altLang="en-US" dirty="0"/>
              <a:t> </a:t>
            </a:r>
            <a:r>
              <a:rPr lang="en-US" altLang="en-US" dirty="0" err="1"/>
              <a:t>koju</a:t>
            </a:r>
            <a:r>
              <a:rPr lang="en-US" altLang="en-US" dirty="0"/>
              <a:t> </a:t>
            </a:r>
            <a:r>
              <a:rPr lang="en-US" altLang="en-US" dirty="0" err="1"/>
              <a:t>ra</a:t>
            </a:r>
            <a:r>
              <a:rPr lang="hr-HR" altLang="en-US" dirty="0"/>
              <a:t>č</a:t>
            </a:r>
            <a:r>
              <a:rPr lang="en-US" altLang="en-US" dirty="0" err="1"/>
              <a:t>una</a:t>
            </a:r>
            <a:r>
              <a:rPr lang="en-US" altLang="en-US" dirty="0"/>
              <a:t> </a:t>
            </a:r>
            <a:r>
              <a:rPr lang="sr-Latn-RS" altLang="en-US" dirty="0"/>
              <a:t>neka druga instrukcija </a:t>
            </a:r>
            <a:r>
              <a:rPr lang="en-US" altLang="en-US" dirty="0"/>
              <a:t>u </a:t>
            </a:r>
            <a:r>
              <a:rPr lang="en-US" altLang="en-US" dirty="0" err="1"/>
              <a:t>prethodnoj</a:t>
            </a:r>
            <a:r>
              <a:rPr lang="en-US" altLang="en-US" dirty="0"/>
              <a:t> </a:t>
            </a:r>
            <a:r>
              <a:rPr lang="en-US" altLang="en-US" dirty="0" err="1"/>
              <a:t>iteraciji</a:t>
            </a:r>
            <a:r>
              <a:rPr lang="en-US" altLang="en-US" dirty="0"/>
              <a:t>. </a:t>
            </a:r>
            <a:endParaRPr lang="hr-HR" altLang="en-US" dirty="0"/>
          </a:p>
          <a:p>
            <a:pPr lvl="2">
              <a:lnSpc>
                <a:spcPct val="90000"/>
              </a:lnSpc>
              <a:defRPr/>
            </a:pPr>
            <a:r>
              <a:rPr lang="en-US" altLang="en-US" dirty="0"/>
              <a:t>I </a:t>
            </a:r>
            <a:r>
              <a:rPr lang="en-US" altLang="en-US" dirty="0" err="1"/>
              <a:t>ovakav</a:t>
            </a:r>
            <a:r>
              <a:rPr lang="en-US" altLang="en-US" dirty="0"/>
              <a:t> tip </a:t>
            </a:r>
            <a:r>
              <a:rPr lang="en-US" altLang="en-US" dirty="0" err="1"/>
              <a:t>zavisnosti</a:t>
            </a:r>
            <a:r>
              <a:rPr lang="en-US" altLang="en-US" dirty="0"/>
              <a:t> </a:t>
            </a:r>
            <a:r>
              <a:rPr lang="en-US" altLang="en-US" dirty="0" err="1"/>
              <a:t>postoji</a:t>
            </a:r>
            <a:r>
              <a:rPr lang="en-US" altLang="en-US" dirty="0"/>
              <a:t> u </a:t>
            </a:r>
            <a:r>
              <a:rPr lang="en-US" altLang="en-US" dirty="0" err="1"/>
              <a:t>ovom</a:t>
            </a:r>
            <a:r>
              <a:rPr lang="en-US" altLang="en-US" dirty="0"/>
              <a:t> </a:t>
            </a:r>
            <a:r>
              <a:rPr lang="en-US" altLang="en-US" dirty="0" err="1"/>
              <a:t>primeru</a:t>
            </a:r>
            <a:r>
              <a:rPr lang="hr-HR" altLang="en-US" dirty="0"/>
              <a:t>:</a:t>
            </a:r>
            <a:r>
              <a:rPr lang="en-US" altLang="en-US" dirty="0"/>
              <a:t> S1 </a:t>
            </a:r>
            <a:r>
              <a:rPr lang="en-US" altLang="en-US" dirty="0" err="1"/>
              <a:t>koristi</a:t>
            </a:r>
            <a:r>
              <a:rPr lang="en-US" altLang="en-US" dirty="0"/>
              <a:t> </a:t>
            </a:r>
            <a:r>
              <a:rPr lang="en-US" altLang="en-US" dirty="0" err="1"/>
              <a:t>vrednost</a:t>
            </a:r>
            <a:r>
              <a:rPr lang="en-US" altLang="en-US" dirty="0"/>
              <a:t> B(i) u i+1-iteraciji </a:t>
            </a:r>
            <a:r>
              <a:rPr lang="en-US" altLang="en-US" dirty="0" err="1"/>
              <a:t>koja</a:t>
            </a:r>
            <a:r>
              <a:rPr lang="en-US" altLang="en-US" dirty="0"/>
              <a:t> je </a:t>
            </a:r>
            <a:r>
              <a:rPr lang="en-US" altLang="en-US" dirty="0" err="1"/>
              <a:t>izra</a:t>
            </a:r>
            <a:r>
              <a:rPr lang="hr-HR" altLang="en-US" dirty="0"/>
              <a:t>č</a:t>
            </a:r>
            <a:r>
              <a:rPr lang="en-US" altLang="en-US" dirty="0" err="1"/>
              <a:t>unata</a:t>
            </a:r>
            <a:r>
              <a:rPr lang="en-US" altLang="en-US" dirty="0"/>
              <a:t> </a:t>
            </a:r>
            <a:r>
              <a:rPr lang="en-US" altLang="en-US" dirty="0" err="1"/>
              <a:t>kao</a:t>
            </a:r>
            <a:r>
              <a:rPr lang="en-US" altLang="en-US" dirty="0"/>
              <a:t> B(i+1) u i-</a:t>
            </a:r>
            <a:r>
              <a:rPr lang="en-US" altLang="en-US" dirty="0" err="1"/>
              <a:t>toj</a:t>
            </a:r>
            <a:r>
              <a:rPr lang="en-US" altLang="en-US" dirty="0"/>
              <a:t> </a:t>
            </a:r>
            <a:r>
              <a:rPr lang="en-US" altLang="en-US" dirty="0" err="1"/>
              <a:t>iteraciji</a:t>
            </a:r>
            <a:r>
              <a:rPr lang="en-US" altLang="en-US" dirty="0"/>
              <a:t> </a:t>
            </a:r>
            <a:endParaRPr lang="hr-HR" altLang="en-US" dirty="0"/>
          </a:p>
          <a:p>
            <a:pPr marL="914400" lvl="1" indent="-457200">
              <a:lnSpc>
                <a:spcPct val="90000"/>
              </a:lnSpc>
              <a:buFont typeface="+mj-lt"/>
              <a:buAutoNum type="arabicPeriod"/>
              <a:defRPr/>
            </a:pPr>
            <a:r>
              <a:rPr lang="en-US" altLang="en-US" dirty="0"/>
              <a:t>S2 </a:t>
            </a:r>
            <a:r>
              <a:rPr lang="en-US" altLang="en-US" dirty="0" err="1"/>
              <a:t>koristi</a:t>
            </a:r>
            <a:r>
              <a:rPr lang="en-US" altLang="en-US" dirty="0"/>
              <a:t> </a:t>
            </a:r>
            <a:r>
              <a:rPr lang="en-US" altLang="en-US" dirty="0" err="1"/>
              <a:t>vrednost</a:t>
            </a:r>
            <a:r>
              <a:rPr lang="en-US" altLang="en-US" dirty="0"/>
              <a:t> </a:t>
            </a:r>
            <a:r>
              <a:rPr lang="en-US" altLang="en-US" dirty="0" err="1"/>
              <a:t>izra</a:t>
            </a:r>
            <a:r>
              <a:rPr lang="hr-HR" altLang="en-US" dirty="0"/>
              <a:t>č</a:t>
            </a:r>
            <a:r>
              <a:rPr lang="en-US" altLang="en-US" dirty="0" err="1"/>
              <a:t>unatu</a:t>
            </a:r>
            <a:r>
              <a:rPr lang="en-US" altLang="en-US" dirty="0"/>
              <a:t> u S1 u </a:t>
            </a:r>
            <a:r>
              <a:rPr lang="en-US" altLang="en-US" dirty="0" err="1"/>
              <a:t>istoj</a:t>
            </a:r>
            <a:r>
              <a:rPr lang="en-US" altLang="en-US" dirty="0"/>
              <a:t> </a:t>
            </a:r>
            <a:r>
              <a:rPr lang="en-US" altLang="en-US" dirty="0" err="1"/>
              <a:t>iteraciji</a:t>
            </a:r>
            <a:r>
              <a:rPr lang="en-US" altLang="en-US" dirty="0"/>
              <a:t>, </a:t>
            </a:r>
            <a:endParaRPr lang="hr-HR" altLang="en-US" dirty="0"/>
          </a:p>
          <a:p>
            <a:pPr lvl="2">
              <a:lnSpc>
                <a:spcPct val="90000"/>
              </a:lnSpc>
              <a:defRPr/>
            </a:pPr>
            <a:r>
              <a:rPr lang="en-US" altLang="en-US" dirty="0" err="1"/>
              <a:t>tj</a:t>
            </a:r>
            <a:r>
              <a:rPr lang="en-US" altLang="en-US" dirty="0"/>
              <a:t>. A(i+1) </a:t>
            </a:r>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373F324-4940-F844-DC7A-36C2E03EF673}"/>
              </a:ext>
            </a:extLst>
          </p:cNvPr>
          <p:cNvSpPr>
            <a:spLocks noGrp="1" noChangeArrowheads="1"/>
          </p:cNvSpPr>
          <p:nvPr>
            <p:ph type="title"/>
          </p:nvPr>
        </p:nvSpPr>
        <p:spPr/>
        <p:txBody>
          <a:bodyPr/>
          <a:lstStyle/>
          <a:p>
            <a:pPr>
              <a:defRPr/>
            </a:pPr>
            <a:r>
              <a:rPr lang="hr-HR" altLang="en-US"/>
              <a:t>Zašto do ovih zavisnost dolazi?</a:t>
            </a:r>
            <a:endParaRPr lang="en-US" altLang="en-US"/>
          </a:p>
        </p:txBody>
      </p:sp>
      <p:sp>
        <p:nvSpPr>
          <p:cNvPr id="5123" name="Rectangle 3">
            <a:extLst>
              <a:ext uri="{FF2B5EF4-FFF2-40B4-BE49-F238E27FC236}">
                <a16:creationId xmlns:a16="http://schemas.microsoft.com/office/drawing/2014/main" id="{2D4D0362-DF40-91B4-F8E5-7FB309C96ECE}"/>
              </a:ext>
            </a:extLst>
          </p:cNvPr>
          <p:cNvSpPr>
            <a:spLocks noGrp="1" noChangeArrowheads="1"/>
          </p:cNvSpPr>
          <p:nvPr>
            <p:ph type="body" idx="1"/>
          </p:nvPr>
        </p:nvSpPr>
        <p:spPr/>
        <p:txBody>
          <a:bodyPr/>
          <a:lstStyle/>
          <a:p>
            <a:pPr>
              <a:defRPr/>
            </a:pPr>
            <a:r>
              <a:rPr lang="en-US" altLang="en-US">
                <a:cs typeface="Times New Roman" panose="02020603050405020304" pitchFamily="18" charset="0"/>
              </a:rPr>
              <a:t>Po</a:t>
            </a:r>
            <a:r>
              <a:rPr lang="hr-HR" altLang="en-US"/>
              <a:t>š</a:t>
            </a:r>
            <a:r>
              <a:rPr lang="en-US" altLang="en-US">
                <a:cs typeface="Times New Roman" panose="02020603050405020304" pitchFamily="18" charset="0"/>
              </a:rPr>
              <a:t>to su vektorske operacije proto</a:t>
            </a:r>
            <a:r>
              <a:rPr lang="hr-HR" altLang="en-US"/>
              <a:t>č</a:t>
            </a:r>
            <a:r>
              <a:rPr lang="en-US" altLang="en-US">
                <a:cs typeface="Times New Roman" panose="02020603050405020304" pitchFamily="18" charset="0"/>
              </a:rPr>
              <a:t>ne i latentnost mo</a:t>
            </a:r>
            <a:r>
              <a:rPr lang="hr-HR" altLang="en-US"/>
              <a:t>ž</a:t>
            </a:r>
            <a:r>
              <a:rPr lang="en-US" altLang="en-US">
                <a:cs typeface="Times New Roman" panose="02020603050405020304" pitchFamily="18" charset="0"/>
              </a:rPr>
              <a:t>e biti veoma duga, prethodna iteracija mo</a:t>
            </a:r>
            <a:r>
              <a:rPr lang="hr-HR" altLang="en-US"/>
              <a:t>ž</a:t>
            </a:r>
            <a:r>
              <a:rPr lang="en-US" altLang="en-US">
                <a:cs typeface="Times New Roman" panose="02020603050405020304" pitchFamily="18" charset="0"/>
              </a:rPr>
              <a:t>e da se ne zavr</a:t>
            </a:r>
            <a:r>
              <a:rPr lang="hr-HR" altLang="en-US"/>
              <a:t>š</a:t>
            </a:r>
            <a:r>
              <a:rPr lang="en-US" altLang="en-US">
                <a:cs typeface="Times New Roman" panose="02020603050405020304" pitchFamily="18" charset="0"/>
              </a:rPr>
              <a:t>i a da slede</a:t>
            </a:r>
            <a:r>
              <a:rPr lang="hr-HR" altLang="en-US"/>
              <a:t>ć</a:t>
            </a:r>
            <a:r>
              <a:rPr lang="en-US" altLang="en-US">
                <a:cs typeface="Times New Roman" panose="02020603050405020304" pitchFamily="18" charset="0"/>
              </a:rPr>
              <a:t>a ve</a:t>
            </a:r>
            <a:r>
              <a:rPr lang="hr-HR" altLang="en-US"/>
              <a:t>ć</a:t>
            </a:r>
            <a:r>
              <a:rPr lang="en-US" altLang="en-US">
                <a:cs typeface="Times New Roman" panose="02020603050405020304" pitchFamily="18" charset="0"/>
              </a:rPr>
              <a:t> otpo</a:t>
            </a:r>
            <a:r>
              <a:rPr lang="hr-HR" altLang="en-US"/>
              <a:t>č</a:t>
            </a:r>
            <a:r>
              <a:rPr lang="en-US" altLang="en-US">
                <a:cs typeface="Times New Roman" panose="02020603050405020304" pitchFamily="18" charset="0"/>
              </a:rPr>
              <a:t>ne. </a:t>
            </a:r>
            <a:endParaRPr lang="hr-HR" altLang="en-US"/>
          </a:p>
          <a:p>
            <a:pPr lvl="1">
              <a:defRPr/>
            </a:pPr>
            <a:r>
              <a:rPr lang="en-US" altLang="en-US">
                <a:cs typeface="Times New Roman" panose="02020603050405020304" pitchFamily="18" charset="0"/>
              </a:rPr>
              <a:t>Tj. i+1-iteracija mo</a:t>
            </a:r>
            <a:r>
              <a:rPr lang="hr-HR" altLang="en-US"/>
              <a:t>ž</a:t>
            </a:r>
            <a:r>
              <a:rPr lang="en-US" altLang="en-US">
                <a:cs typeface="Times New Roman" panose="02020603050405020304" pitchFamily="18" charset="0"/>
              </a:rPr>
              <a:t>e otpo</a:t>
            </a:r>
            <a:r>
              <a:rPr lang="hr-HR" altLang="en-US"/>
              <a:t>č</a:t>
            </a:r>
            <a:r>
              <a:rPr lang="en-US" altLang="en-US">
                <a:cs typeface="Times New Roman" panose="02020603050405020304" pitchFamily="18" charset="0"/>
              </a:rPr>
              <a:t>eti a da se i-ta iteracije ne zavr</a:t>
            </a:r>
            <a:r>
              <a:rPr lang="hr-HR" altLang="en-US"/>
              <a:t>š</a:t>
            </a:r>
            <a:r>
              <a:rPr lang="en-US" altLang="en-US">
                <a:cs typeface="Times New Roman" panose="02020603050405020304" pitchFamily="18" charset="0"/>
              </a:rPr>
              <a:t>i. </a:t>
            </a:r>
            <a:endParaRPr lang="hr-HR" altLang="en-US"/>
          </a:p>
          <a:p>
            <a:pPr lvl="1">
              <a:defRPr/>
            </a:pPr>
            <a:r>
              <a:rPr lang="en-US" altLang="en-US">
                <a:cs typeface="Times New Roman" panose="02020603050405020304" pitchFamily="18" charset="0"/>
              </a:rPr>
              <a:t>Tako se mo</a:t>
            </a:r>
            <a:r>
              <a:rPr lang="hr-HR" altLang="en-US"/>
              <a:t>ž</a:t>
            </a:r>
            <a:r>
              <a:rPr lang="en-US" altLang="en-US">
                <a:cs typeface="Times New Roman" panose="02020603050405020304" pitchFamily="18" charset="0"/>
              </a:rPr>
              <a:t>e desiti da se rezultat i-te iteracije ne upi</a:t>
            </a:r>
            <a:r>
              <a:rPr lang="hr-HR" altLang="en-US"/>
              <a:t>š</a:t>
            </a:r>
            <a:r>
              <a:rPr lang="en-US" altLang="en-US">
                <a:cs typeface="Times New Roman" panose="02020603050405020304" pitchFamily="18" charset="0"/>
              </a:rPr>
              <a:t>e, a da i+1-iteracija krene. </a:t>
            </a:r>
            <a:endParaRPr lang="hr-HR" altLang="en-US"/>
          </a:p>
          <a:p>
            <a:pPr lvl="1">
              <a:defRPr/>
            </a:pPr>
            <a:r>
              <a:rPr lang="en-US" altLang="en-US">
                <a:cs typeface="Times New Roman" panose="02020603050405020304" pitchFamily="18" charset="0"/>
              </a:rPr>
              <a:t>Shodno tome, ako postoje situacije tipa 1 i 2, vektorizacija petlje </a:t>
            </a:r>
            <a:r>
              <a:rPr lang="hr-HR" altLang="en-US"/>
              <a:t>ć</a:t>
            </a:r>
            <a:r>
              <a:rPr lang="en-US" altLang="en-US">
                <a:cs typeface="Times New Roman" panose="02020603050405020304" pitchFamily="18" charset="0"/>
              </a:rPr>
              <a:t>e dovesti do RAW hazarda (hazarda koji vektorska ma</a:t>
            </a:r>
            <a:r>
              <a:rPr lang="hr-HR" altLang="en-US"/>
              <a:t>š</a:t>
            </a:r>
            <a:r>
              <a:rPr lang="en-US" altLang="en-US">
                <a:cs typeface="Times New Roman" panose="02020603050405020304" pitchFamily="18" charset="0"/>
              </a:rPr>
              <a:t>ina ne proverava). </a:t>
            </a:r>
            <a:endParaRPr lang="hr-HR" altLang="en-US"/>
          </a:p>
          <a:p>
            <a:pPr lvl="1">
              <a:defRPr/>
            </a:pPr>
            <a:r>
              <a:rPr lang="en-US" altLang="en-US">
                <a:cs typeface="Times New Roman" panose="02020603050405020304" pitchFamily="18" charset="0"/>
              </a:rPr>
              <a:t>Zbog toga se ovakve petlje ne mogu vektorizovati</a:t>
            </a:r>
            <a:r>
              <a:rPr lang="en-US" altLang="en-US"/>
              <a:t> </a:t>
            </a:r>
          </a:p>
        </p:txBody>
      </p:sp>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FDCE493-4DAA-DC5B-D7CC-575B69A952D1}"/>
              </a:ext>
            </a:extLst>
          </p:cNvPr>
          <p:cNvSpPr>
            <a:spLocks noGrp="1" noChangeArrowheads="1"/>
          </p:cNvSpPr>
          <p:nvPr>
            <p:ph type="title"/>
          </p:nvPr>
        </p:nvSpPr>
        <p:spPr/>
        <p:txBody>
          <a:bodyPr/>
          <a:lstStyle/>
          <a:p>
            <a:pPr>
              <a:defRPr/>
            </a:pPr>
            <a:r>
              <a:rPr lang="hr-HR" altLang="en-US"/>
              <a:t>Analiza zavisnosti</a:t>
            </a:r>
            <a:endParaRPr lang="en-US" altLang="en-US"/>
          </a:p>
        </p:txBody>
      </p:sp>
      <p:sp>
        <p:nvSpPr>
          <p:cNvPr id="6147" name="Rectangle 3">
            <a:extLst>
              <a:ext uri="{FF2B5EF4-FFF2-40B4-BE49-F238E27FC236}">
                <a16:creationId xmlns:a16="http://schemas.microsoft.com/office/drawing/2014/main" id="{7FEF256B-B385-32FB-B1AA-A7020ECB6FB5}"/>
              </a:ext>
            </a:extLst>
          </p:cNvPr>
          <p:cNvSpPr>
            <a:spLocks noGrp="1" noChangeArrowheads="1"/>
          </p:cNvSpPr>
          <p:nvPr>
            <p:ph type="body" sz="half" idx="1"/>
          </p:nvPr>
        </p:nvSpPr>
        <p:spPr/>
        <p:txBody>
          <a:bodyPr>
            <a:normAutofit/>
          </a:bodyPr>
          <a:lstStyle/>
          <a:p>
            <a:pPr marL="533400" indent="-533400" algn="just">
              <a:lnSpc>
                <a:spcPct val="90000"/>
              </a:lnSpc>
              <a:defRPr/>
            </a:pPr>
            <a:r>
              <a:rPr lang="en-US" altLang="en-US" sz="2400" dirty="0" err="1">
                <a:cs typeface="Times New Roman" panose="02020603050405020304" pitchFamily="18" charset="0"/>
              </a:rPr>
              <a:t>Zavisnost</a:t>
            </a:r>
            <a:r>
              <a:rPr lang="en-US" altLang="en-US" sz="2400" dirty="0">
                <a:cs typeface="Times New Roman" panose="02020603050405020304" pitchFamily="18" charset="0"/>
              </a:rPr>
              <a:t> se mo</a:t>
            </a:r>
            <a:r>
              <a:rPr lang="hr-HR" altLang="en-US" sz="2400" dirty="0"/>
              <a:t>ž</a:t>
            </a:r>
            <a:r>
              <a:rPr lang="en-US" altLang="en-US" sz="2400" dirty="0">
                <a:cs typeface="Times New Roman" panose="02020603050405020304" pitchFamily="18" charset="0"/>
              </a:rPr>
              <a:t>e </a:t>
            </a:r>
            <a:r>
              <a:rPr lang="en-US" altLang="en-US" sz="2400" dirty="0" err="1">
                <a:cs typeface="Times New Roman" panose="02020603050405020304" pitchFamily="18" charset="0"/>
              </a:rPr>
              <a:t>uo</a:t>
            </a:r>
            <a:r>
              <a:rPr lang="hr-HR" altLang="en-US" sz="2400" dirty="0"/>
              <a:t>č</a:t>
            </a:r>
            <a:r>
              <a:rPr lang="en-US" altLang="en-US" sz="2400" dirty="0" err="1">
                <a:cs typeface="Times New Roman" panose="02020603050405020304" pitchFamily="18" charset="0"/>
              </a:rPr>
              <a:t>iti</a:t>
            </a:r>
            <a:r>
              <a:rPr lang="en-US" altLang="en-US" sz="2400" dirty="0">
                <a:cs typeface="Times New Roman" panose="02020603050405020304" pitchFamily="18" charset="0"/>
              </a:rPr>
              <a:t> </a:t>
            </a:r>
            <a:r>
              <a:rPr lang="en-US" altLang="en-US" sz="2400" dirty="0" err="1">
                <a:cs typeface="Times New Roman" panose="02020603050405020304" pitchFamily="18" charset="0"/>
              </a:rPr>
              <a:t>ako</a:t>
            </a:r>
            <a:r>
              <a:rPr lang="en-US" altLang="en-US" sz="2400" dirty="0">
                <a:cs typeface="Times New Roman" panose="02020603050405020304" pitchFamily="18" charset="0"/>
              </a:rPr>
              <a:t> se </a:t>
            </a:r>
            <a:r>
              <a:rPr lang="en-US" altLang="en-US" sz="2400" dirty="0" err="1">
                <a:cs typeface="Times New Roman" panose="02020603050405020304" pitchFamily="18" charset="0"/>
              </a:rPr>
              <a:t>izvr</a:t>
            </a:r>
            <a:r>
              <a:rPr lang="hr-HR" altLang="en-US" sz="2400" dirty="0"/>
              <a:t>š</a:t>
            </a:r>
            <a:r>
              <a:rPr lang="en-US" altLang="en-US" sz="2400" dirty="0" err="1">
                <a:cs typeface="Times New Roman" panose="02020603050405020304" pitchFamily="18" charset="0"/>
              </a:rPr>
              <a:t>i</a:t>
            </a:r>
            <a:r>
              <a:rPr lang="en-US" altLang="en-US" sz="2400" dirty="0">
                <a:cs typeface="Times New Roman" panose="02020603050405020304" pitchFamily="18" charset="0"/>
              </a:rPr>
              <a:t> </a:t>
            </a:r>
            <a:r>
              <a:rPr lang="en-US" altLang="en-US" sz="2400" dirty="0" err="1">
                <a:cs typeface="Times New Roman" panose="02020603050405020304" pitchFamily="18" charset="0"/>
              </a:rPr>
              <a:t>razvijanje</a:t>
            </a:r>
            <a:r>
              <a:rPr lang="en-US" altLang="en-US" sz="2400" dirty="0">
                <a:cs typeface="Times New Roman" panose="02020603050405020304" pitchFamily="18" charset="0"/>
              </a:rPr>
              <a:t> </a:t>
            </a:r>
            <a:r>
              <a:rPr lang="en-US" altLang="en-US" sz="2400" dirty="0" err="1">
                <a:cs typeface="Times New Roman" panose="02020603050405020304" pitchFamily="18" charset="0"/>
              </a:rPr>
              <a:t>petlje</a:t>
            </a:r>
            <a:r>
              <a:rPr lang="en-US" altLang="en-US" sz="2400" dirty="0">
                <a:cs typeface="Times New Roman" panose="02020603050405020304" pitchFamily="18" charset="0"/>
              </a:rPr>
              <a:t> </a:t>
            </a:r>
            <a:r>
              <a:rPr lang="en-US" altLang="en-US" sz="2400" dirty="0" err="1">
                <a:cs typeface="Times New Roman" panose="02020603050405020304" pitchFamily="18" charset="0"/>
              </a:rPr>
              <a:t>po</a:t>
            </a:r>
            <a:r>
              <a:rPr lang="en-US" altLang="en-US" sz="2400" dirty="0">
                <a:cs typeface="Times New Roman" panose="02020603050405020304" pitchFamily="18" charset="0"/>
              </a:rPr>
              <a:t> </a:t>
            </a:r>
            <a:r>
              <a:rPr lang="en-US" altLang="en-US" sz="2400" dirty="0" err="1">
                <a:cs typeface="Times New Roman" panose="02020603050405020304" pitchFamily="18" charset="0"/>
              </a:rPr>
              <a:t>indeksnoj</a:t>
            </a:r>
            <a:r>
              <a:rPr lang="en-US" altLang="en-US" sz="2400" dirty="0">
                <a:cs typeface="Times New Roman" panose="02020603050405020304" pitchFamily="18" charset="0"/>
              </a:rPr>
              <a:t> </a:t>
            </a:r>
            <a:r>
              <a:rPr lang="en-US" altLang="en-US" sz="2400" dirty="0" err="1">
                <a:cs typeface="Times New Roman" panose="02020603050405020304" pitchFamily="18" charset="0"/>
              </a:rPr>
              <a:t>promenljivoj</a:t>
            </a:r>
            <a:r>
              <a:rPr lang="en-US" altLang="en-US" sz="2400" dirty="0">
                <a:latin typeface="Times Roman YU" pitchFamily="18" charset="0"/>
                <a:cs typeface="Times New Roman" panose="02020603050405020304" pitchFamily="18" charset="0"/>
              </a:rPr>
              <a:t>:</a:t>
            </a:r>
            <a:endParaRPr lang="en-US" altLang="en-US" sz="24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latin typeface="Times Roman YU" pitchFamily="18" charset="0"/>
                <a:cs typeface="Times New Roman" panose="02020603050405020304" pitchFamily="18" charset="0"/>
              </a:rPr>
              <a:t>for </a:t>
            </a:r>
            <a:r>
              <a:rPr lang="en-US" altLang="en-US" sz="2100" dirty="0" err="1">
                <a:latin typeface="Times Roman YU" pitchFamily="18" charset="0"/>
                <a:cs typeface="Times New Roman" panose="02020603050405020304" pitchFamily="18" charset="0"/>
              </a:rPr>
              <a:t>i</a:t>
            </a:r>
            <a:r>
              <a:rPr lang="en-US" altLang="en-US" sz="2100" dirty="0">
                <a:latin typeface="Times Roman YU" pitchFamily="18" charset="0"/>
                <a:cs typeface="Times New Roman" panose="02020603050405020304" pitchFamily="18" charset="0"/>
              </a:rPr>
              <a:t>=1 to 100 </a:t>
            </a:r>
            <a:endParaRPr lang="en-US" altLang="en-US" sz="21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latin typeface="Times Roman YU" pitchFamily="18" charset="0"/>
                <a:cs typeface="Times New Roman" panose="02020603050405020304" pitchFamily="18" charset="0"/>
              </a:rPr>
              <a:t>		A(i+1)=A(</a:t>
            </a:r>
            <a:r>
              <a:rPr lang="en-US" altLang="en-US" sz="2100" dirty="0" err="1">
                <a:latin typeface="Times Roman YU" pitchFamily="18" charset="0"/>
                <a:cs typeface="Times New Roman" panose="02020603050405020304" pitchFamily="18" charset="0"/>
              </a:rPr>
              <a:t>i</a:t>
            </a:r>
            <a:r>
              <a:rPr lang="en-US" altLang="en-US" sz="2100" dirty="0">
                <a:latin typeface="Times Roman YU" pitchFamily="18" charset="0"/>
                <a:cs typeface="Times New Roman" panose="02020603050405020304" pitchFamily="18" charset="0"/>
              </a:rPr>
              <a:t>)+B(</a:t>
            </a:r>
            <a:r>
              <a:rPr lang="en-US" altLang="en-US" sz="2100" dirty="0" err="1">
                <a:latin typeface="Times Roman YU" pitchFamily="18" charset="0"/>
                <a:cs typeface="Times New Roman" panose="02020603050405020304" pitchFamily="18" charset="0"/>
              </a:rPr>
              <a:t>i</a:t>
            </a:r>
            <a:r>
              <a:rPr lang="en-US" altLang="en-US" sz="2100" dirty="0">
                <a:latin typeface="Times Roman YU" pitchFamily="18" charset="0"/>
                <a:cs typeface="Times New Roman" panose="02020603050405020304" pitchFamily="18" charset="0"/>
              </a:rPr>
              <a:t>)</a:t>
            </a:r>
            <a:endParaRPr lang="en-US" altLang="en-US" sz="21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latin typeface="Times Roman YU" pitchFamily="18" charset="0"/>
                <a:cs typeface="Times New Roman" panose="02020603050405020304" pitchFamily="18" charset="0"/>
              </a:rPr>
              <a:t>		B(i+1)=B(</a:t>
            </a:r>
            <a:r>
              <a:rPr lang="en-US" altLang="en-US" sz="2100" dirty="0" err="1">
                <a:latin typeface="Times Roman YU" pitchFamily="18" charset="0"/>
                <a:cs typeface="Times New Roman" panose="02020603050405020304" pitchFamily="18" charset="0"/>
              </a:rPr>
              <a:t>i</a:t>
            </a:r>
            <a:r>
              <a:rPr lang="en-US" altLang="en-US" sz="2100" dirty="0">
                <a:latin typeface="Times Roman YU" pitchFamily="18" charset="0"/>
                <a:cs typeface="Times New Roman" panose="02020603050405020304" pitchFamily="18" charset="0"/>
              </a:rPr>
              <a:t>)*A(i+1)</a:t>
            </a:r>
            <a:endParaRPr lang="en-US" altLang="en-US" sz="2100" dirty="0">
              <a:cs typeface="Times New Roman" panose="02020603050405020304" pitchFamily="18" charset="0"/>
            </a:endParaRPr>
          </a:p>
          <a:p>
            <a:pPr marL="895350" lvl="1" indent="-438150">
              <a:lnSpc>
                <a:spcPct val="90000"/>
              </a:lnSpc>
              <a:buFont typeface="Wingdings" panose="05000000000000000000" pitchFamily="2" charset="2"/>
              <a:buNone/>
              <a:defRPr/>
            </a:pPr>
            <a:r>
              <a:rPr lang="en-US" altLang="en-US" sz="2100" dirty="0"/>
              <a:t> </a:t>
            </a:r>
            <a:r>
              <a:rPr lang="en-US" altLang="en-US" sz="2100" dirty="0" err="1"/>
              <a:t>endfor</a:t>
            </a:r>
            <a:endParaRPr lang="hr-HR" altLang="en-US" sz="2100" dirty="0"/>
          </a:p>
          <a:p>
            <a:pPr marL="895350" lvl="1" indent="-438150" algn="just">
              <a:lnSpc>
                <a:spcPct val="90000"/>
              </a:lnSpc>
              <a:defRPr/>
            </a:pPr>
            <a:r>
              <a:rPr lang="en-US" altLang="en-US" sz="2100" dirty="0" err="1">
                <a:cs typeface="Times New Roman" panose="02020603050405020304" pitchFamily="18" charset="0"/>
              </a:rPr>
              <a:t>za</a:t>
            </a:r>
            <a:r>
              <a:rPr lang="en-US" altLang="en-US" sz="2100" dirty="0">
                <a:cs typeface="Times New Roman" panose="02020603050405020304" pitchFamily="18" charset="0"/>
              </a:rPr>
              <a:t> </a:t>
            </a:r>
            <a:r>
              <a:rPr lang="en-US" altLang="en-US" sz="2100" dirty="0" err="1">
                <a:cs typeface="Times New Roman" panose="02020603050405020304" pitchFamily="18" charset="0"/>
              </a:rPr>
              <a:t>i</a:t>
            </a:r>
            <a:r>
              <a:rPr lang="en-US" altLang="en-US" sz="2100" dirty="0">
                <a:cs typeface="Times New Roman" panose="02020603050405020304" pitchFamily="18" charset="0"/>
              </a:rPr>
              <a:t>=1</a:t>
            </a:r>
          </a:p>
          <a:p>
            <a:pPr marL="895350" lvl="1" indent="-438150" algn="just">
              <a:lnSpc>
                <a:spcPct val="90000"/>
              </a:lnSpc>
              <a:buFont typeface="Wingdings" panose="05000000000000000000" pitchFamily="2" charset="2"/>
              <a:buNone/>
              <a:defRPr/>
            </a:pPr>
            <a:r>
              <a:rPr lang="en-US" altLang="en-US" sz="2100" dirty="0">
                <a:cs typeface="Times New Roman" panose="02020603050405020304" pitchFamily="18" charset="0"/>
              </a:rPr>
              <a:t>	</a:t>
            </a:r>
            <a:r>
              <a:rPr lang="en-US" altLang="en-US" sz="2100" dirty="0">
                <a:latin typeface="Times Roman YU" pitchFamily="18" charset="0"/>
                <a:cs typeface="Times New Roman" panose="02020603050405020304" pitchFamily="18" charset="0"/>
              </a:rPr>
              <a:t>A(2)=A(1)+B(1)</a:t>
            </a:r>
            <a:endParaRPr lang="en-US" altLang="en-US" sz="21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cs typeface="Times New Roman" panose="02020603050405020304" pitchFamily="18" charset="0"/>
              </a:rPr>
              <a:t>	</a:t>
            </a:r>
            <a:r>
              <a:rPr lang="en-US" altLang="en-US" sz="2100" dirty="0">
                <a:latin typeface="Times Roman YU" pitchFamily="18" charset="0"/>
                <a:cs typeface="Times New Roman" panose="02020603050405020304" pitchFamily="18" charset="0"/>
              </a:rPr>
              <a:t>B(2)=B(1)*A(2)</a:t>
            </a:r>
            <a:endParaRPr lang="en-US" altLang="en-US" sz="21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latin typeface="Times Roman YU" pitchFamily="18" charset="0"/>
                <a:cs typeface="Times New Roman" panose="02020603050405020304" pitchFamily="18" charset="0"/>
              </a:rPr>
              <a:t>_____________________</a:t>
            </a:r>
            <a:endParaRPr lang="en-US" altLang="en-US" sz="2100" dirty="0">
              <a:cs typeface="Times New Roman" panose="02020603050405020304" pitchFamily="18" charset="0"/>
            </a:endParaRPr>
          </a:p>
          <a:p>
            <a:pPr marL="895350" lvl="1" indent="-438150" algn="just">
              <a:lnSpc>
                <a:spcPct val="90000"/>
              </a:lnSpc>
              <a:defRPr/>
            </a:pPr>
            <a:r>
              <a:rPr lang="en-US" altLang="en-US" sz="2100" dirty="0">
                <a:cs typeface="Times New Roman" panose="02020603050405020304" pitchFamily="18" charset="0"/>
              </a:rPr>
              <a:t> </a:t>
            </a:r>
            <a:r>
              <a:rPr lang="en-US" altLang="en-US" sz="2100" dirty="0" err="1">
                <a:cs typeface="Times New Roman" panose="02020603050405020304" pitchFamily="18" charset="0"/>
              </a:rPr>
              <a:t>i</a:t>
            </a:r>
            <a:r>
              <a:rPr lang="en-US" altLang="en-US" sz="2100" dirty="0">
                <a:cs typeface="Times New Roman" panose="02020603050405020304" pitchFamily="18" charset="0"/>
              </a:rPr>
              <a:t>=2 	</a:t>
            </a:r>
            <a:endParaRPr lang="hr-HR" altLang="en-US" sz="2100" dirty="0"/>
          </a:p>
          <a:p>
            <a:pPr marL="895350" lvl="1" indent="-438150" algn="just">
              <a:lnSpc>
                <a:spcPct val="90000"/>
              </a:lnSpc>
              <a:buFont typeface="Wingdings" panose="05000000000000000000" pitchFamily="2" charset="2"/>
              <a:buNone/>
              <a:defRPr/>
            </a:pPr>
            <a:r>
              <a:rPr lang="hr-HR" altLang="en-US" sz="2100" dirty="0">
                <a:latin typeface="Times New Roman" panose="02020603050405020304" pitchFamily="18" charset="0"/>
              </a:rPr>
              <a:t>	</a:t>
            </a:r>
            <a:r>
              <a:rPr lang="en-US" altLang="en-US" sz="2100" dirty="0">
                <a:latin typeface="Times Roman YU" pitchFamily="18" charset="0"/>
                <a:cs typeface="Times New Roman" panose="02020603050405020304" pitchFamily="18" charset="0"/>
              </a:rPr>
              <a:t>A(3)=A(2)+B(2)</a:t>
            </a:r>
            <a:endParaRPr lang="en-US" altLang="en-US" sz="2100" dirty="0">
              <a:cs typeface="Times New Roman" panose="02020603050405020304" pitchFamily="18" charset="0"/>
            </a:endParaRPr>
          </a:p>
          <a:p>
            <a:pPr marL="895350" lvl="1" indent="-438150" algn="just">
              <a:lnSpc>
                <a:spcPct val="90000"/>
              </a:lnSpc>
              <a:buFont typeface="Wingdings" panose="05000000000000000000" pitchFamily="2" charset="2"/>
              <a:buNone/>
              <a:defRPr/>
            </a:pPr>
            <a:r>
              <a:rPr lang="en-US" altLang="en-US" sz="2100" dirty="0">
                <a:cs typeface="Times New Roman" panose="02020603050405020304" pitchFamily="18" charset="0"/>
              </a:rPr>
              <a:t>	</a:t>
            </a:r>
            <a:r>
              <a:rPr lang="en-US" altLang="en-US" sz="2100" dirty="0">
                <a:latin typeface="Times Roman YU" pitchFamily="18" charset="0"/>
                <a:cs typeface="Times New Roman" panose="02020603050405020304" pitchFamily="18" charset="0"/>
              </a:rPr>
              <a:t>B(3)=B(2)*A(3)</a:t>
            </a:r>
            <a:endParaRPr lang="en-US" altLang="en-US" sz="2100" dirty="0">
              <a:cs typeface="Times New Roman" panose="02020603050405020304" pitchFamily="18" charset="0"/>
            </a:endParaRPr>
          </a:p>
          <a:p>
            <a:pPr marL="895350" lvl="1" indent="-438150">
              <a:lnSpc>
                <a:spcPct val="90000"/>
              </a:lnSpc>
              <a:defRPr/>
            </a:pPr>
            <a:r>
              <a:rPr lang="hr-HR" altLang="en-US" sz="2100" dirty="0">
                <a:latin typeface="Times New Roman" panose="02020603050405020304" pitchFamily="18" charset="0"/>
              </a:rPr>
              <a:t>Crvene s</a:t>
            </a:r>
            <a:r>
              <a:rPr lang="en-US" altLang="en-US" sz="2100" dirty="0" err="1">
                <a:latin typeface="Times Roman YU" pitchFamily="18" charset="0"/>
                <a:cs typeface="Times New Roman" panose="02020603050405020304" pitchFamily="18" charset="0"/>
              </a:rPr>
              <a:t>trelice</a:t>
            </a:r>
            <a:r>
              <a:rPr lang="en-US" altLang="en-US" sz="2100" dirty="0">
                <a:latin typeface="Times Roman YU" pitchFamily="18" charset="0"/>
                <a:cs typeface="Times New Roman" panose="02020603050405020304" pitchFamily="18" charset="0"/>
              </a:rPr>
              <a:t> </a:t>
            </a:r>
            <a:r>
              <a:rPr lang="en-US" altLang="en-US" sz="2100" dirty="0" err="1">
                <a:latin typeface="Times Roman YU" pitchFamily="18" charset="0"/>
                <a:cs typeface="Times New Roman" panose="02020603050405020304" pitchFamily="18" charset="0"/>
              </a:rPr>
              <a:t>prikazuju</a:t>
            </a:r>
            <a:r>
              <a:rPr lang="en-US" altLang="en-US" sz="2100" dirty="0">
                <a:latin typeface="Times Roman YU" pitchFamily="18" charset="0"/>
                <a:cs typeface="Times New Roman" panose="02020603050405020304" pitchFamily="18" charset="0"/>
              </a:rPr>
              <a:t> </a:t>
            </a:r>
            <a:r>
              <a:rPr lang="en-US" altLang="en-US" sz="2100" dirty="0" err="1">
                <a:latin typeface="Times Roman YU" pitchFamily="18" charset="0"/>
                <a:cs typeface="Times New Roman" panose="02020603050405020304" pitchFamily="18" charset="0"/>
              </a:rPr>
              <a:t>zavisnosti</a:t>
            </a:r>
            <a:r>
              <a:rPr lang="en-US" altLang="en-US" sz="2100" dirty="0">
                <a:latin typeface="Times Roman YU" pitchFamily="18" charset="0"/>
                <a:cs typeface="Times New Roman" panose="02020603050405020304" pitchFamily="18" charset="0"/>
              </a:rPr>
              <a:t> </a:t>
            </a:r>
            <a:r>
              <a:rPr lang="en-US" altLang="en-US" sz="2100" dirty="0" err="1">
                <a:latin typeface="Times Roman YU" pitchFamily="18" charset="0"/>
                <a:cs typeface="Times New Roman" panose="02020603050405020304" pitchFamily="18" charset="0"/>
              </a:rPr>
              <a:t>izmedju</a:t>
            </a:r>
            <a:r>
              <a:rPr lang="en-US" altLang="en-US" sz="2100" dirty="0">
                <a:latin typeface="Times Roman YU" pitchFamily="18" charset="0"/>
                <a:cs typeface="Times New Roman" panose="02020603050405020304" pitchFamily="18" charset="0"/>
              </a:rPr>
              <a:t> </a:t>
            </a:r>
            <a:r>
              <a:rPr lang="en-US" altLang="en-US" sz="2100" dirty="0" err="1">
                <a:latin typeface="Times Roman YU" pitchFamily="18" charset="0"/>
                <a:cs typeface="Times New Roman" panose="02020603050405020304" pitchFamily="18" charset="0"/>
              </a:rPr>
              <a:t>iteracija</a:t>
            </a:r>
            <a:r>
              <a:rPr lang="en-US" altLang="en-US" sz="2100" dirty="0">
                <a:latin typeface="Times Roman YU" pitchFamily="18" charset="0"/>
                <a:cs typeface="Times New Roman" panose="02020603050405020304" pitchFamily="18" charset="0"/>
              </a:rPr>
              <a:t>.</a:t>
            </a:r>
            <a:r>
              <a:rPr lang="en-US" altLang="en-US" sz="2100" dirty="0"/>
              <a:t> </a:t>
            </a:r>
          </a:p>
        </p:txBody>
      </p:sp>
      <p:sp>
        <p:nvSpPr>
          <p:cNvPr id="6157" name="Rectangle 13">
            <a:extLst>
              <a:ext uri="{FF2B5EF4-FFF2-40B4-BE49-F238E27FC236}">
                <a16:creationId xmlns:a16="http://schemas.microsoft.com/office/drawing/2014/main" id="{99FA1BBF-5BE5-656B-CFEA-3D40616C85D1}"/>
              </a:ext>
            </a:extLst>
          </p:cNvPr>
          <p:cNvSpPr>
            <a:spLocks noGrp="1" noChangeArrowheads="1"/>
          </p:cNvSpPr>
          <p:nvPr>
            <p:ph type="body" sz="half" idx="2"/>
          </p:nvPr>
        </p:nvSpPr>
        <p:spPr/>
        <p:txBody>
          <a:bodyPr/>
          <a:lstStyle/>
          <a:p>
            <a:pPr>
              <a:lnSpc>
                <a:spcPct val="90000"/>
              </a:lnSpc>
              <a:defRPr/>
            </a:pPr>
            <a:r>
              <a:rPr lang="en-US" altLang="en-US" sz="2000" dirty="0">
                <a:cs typeface="Times New Roman" panose="02020603050405020304" pitchFamily="18" charset="0"/>
              </a:rPr>
              <a:t>U </a:t>
            </a:r>
            <a:r>
              <a:rPr lang="en-US" altLang="en-US" sz="2000" dirty="0" err="1">
                <a:cs typeface="Times New Roman" panose="02020603050405020304" pitchFamily="18" charset="0"/>
              </a:rPr>
              <a:t>situaciji</a:t>
            </a:r>
            <a:r>
              <a:rPr lang="en-US" altLang="en-US" sz="2000" dirty="0">
                <a:cs typeface="Times New Roman" panose="02020603050405020304" pitchFamily="18" charset="0"/>
              </a:rPr>
              <a:t> 3 </a:t>
            </a:r>
            <a:r>
              <a:rPr lang="en-US" altLang="en-US" sz="2000" dirty="0" err="1">
                <a:cs typeface="Times New Roman" panose="02020603050405020304" pitchFamily="18" charset="0"/>
              </a:rPr>
              <a:t>noramlni</a:t>
            </a:r>
            <a:r>
              <a:rPr lang="en-US" altLang="en-US" sz="2000" dirty="0">
                <a:cs typeface="Times New Roman" panose="02020603050405020304" pitchFamily="18" charset="0"/>
              </a:rPr>
              <a:t> </a:t>
            </a:r>
            <a:r>
              <a:rPr lang="en-US" altLang="en-US" sz="2000" dirty="0" err="1">
                <a:cs typeface="Times New Roman" panose="02020603050405020304" pitchFamily="18" charset="0"/>
              </a:rPr>
              <a:t>hardver</a:t>
            </a:r>
            <a:r>
              <a:rPr lang="en-US" altLang="en-US" sz="2000" dirty="0">
                <a:cs typeface="Times New Roman" panose="02020603050405020304" pitchFamily="18" charset="0"/>
              </a:rPr>
              <a:t> </a:t>
            </a:r>
            <a:r>
              <a:rPr lang="en-US" altLang="en-US" sz="2000" dirty="0" err="1">
                <a:cs typeface="Times New Roman" panose="02020603050405020304" pitchFamily="18" charset="0"/>
              </a:rPr>
              <a:t>za</a:t>
            </a:r>
            <a:r>
              <a:rPr lang="en-US" altLang="en-US" sz="2000" dirty="0">
                <a:cs typeface="Times New Roman" panose="02020603050405020304" pitchFamily="18" charset="0"/>
              </a:rPr>
              <a:t> </a:t>
            </a:r>
            <a:r>
              <a:rPr lang="en-US" altLang="en-US" sz="2000" dirty="0" err="1">
                <a:cs typeface="Times New Roman" panose="02020603050405020304" pitchFamily="18" charset="0"/>
              </a:rPr>
              <a:t>detekciju</a:t>
            </a:r>
            <a:r>
              <a:rPr lang="en-US" altLang="en-US" sz="2000" dirty="0">
                <a:cs typeface="Times New Roman" panose="02020603050405020304" pitchFamily="18" charset="0"/>
              </a:rPr>
              <a:t> </a:t>
            </a:r>
            <a:r>
              <a:rPr lang="en-US" altLang="en-US" sz="2000" dirty="0" err="1">
                <a:cs typeface="Times New Roman" panose="02020603050405020304" pitchFamily="18" charset="0"/>
              </a:rPr>
              <a:t>zavisnosti</a:t>
            </a:r>
            <a:r>
              <a:rPr lang="en-US" altLang="en-US" sz="2000" dirty="0">
                <a:cs typeface="Times New Roman" panose="02020603050405020304" pitchFamily="18" charset="0"/>
              </a:rPr>
              <a:t> mo</a:t>
            </a:r>
            <a:r>
              <a:rPr lang="hr-HR" altLang="en-US" sz="2000" dirty="0"/>
              <a:t>ž</a:t>
            </a:r>
            <a:r>
              <a:rPr lang="en-US" altLang="en-US" sz="2000" dirty="0">
                <a:cs typeface="Times New Roman" panose="02020603050405020304" pitchFamily="18" charset="0"/>
              </a:rPr>
              <a:t>e </a:t>
            </a:r>
            <a:r>
              <a:rPr lang="en-US" altLang="en-US" sz="2000" dirty="0" err="1">
                <a:cs typeface="Times New Roman" panose="02020603050405020304" pitchFamily="18" charset="0"/>
              </a:rPr>
              <a:t>otkriti</a:t>
            </a:r>
            <a:r>
              <a:rPr lang="en-US" altLang="en-US" sz="2000" dirty="0">
                <a:cs typeface="Times New Roman" panose="02020603050405020304" pitchFamily="18" charset="0"/>
              </a:rPr>
              <a:t> </a:t>
            </a:r>
            <a:r>
              <a:rPr lang="en-US" altLang="en-US" sz="2000" dirty="0" err="1">
                <a:cs typeface="Times New Roman" panose="02020603050405020304" pitchFamily="18" charset="0"/>
              </a:rPr>
              <a:t>ovaj</a:t>
            </a:r>
            <a:r>
              <a:rPr lang="en-US" altLang="en-US" sz="2000" dirty="0">
                <a:cs typeface="Times New Roman" panose="02020603050405020304" pitchFamily="18" charset="0"/>
              </a:rPr>
              <a:t> hazard </a:t>
            </a:r>
            <a:r>
              <a:rPr lang="en-US" altLang="en-US" sz="2000"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zaustaviti</a:t>
            </a:r>
            <a:r>
              <a:rPr lang="en-US" altLang="en-US" sz="2000" dirty="0">
                <a:cs typeface="Times New Roman" panose="02020603050405020304" pitchFamily="18" charset="0"/>
              </a:rPr>
              <a:t> </a:t>
            </a:r>
            <a:r>
              <a:rPr lang="en-US" altLang="en-US" sz="2000" dirty="0" err="1">
                <a:cs typeface="Times New Roman" panose="02020603050405020304" pitchFamily="18" charset="0"/>
              </a:rPr>
              <a:t>izdavanje</a:t>
            </a:r>
            <a:r>
              <a:rPr lang="en-US" altLang="en-US" sz="2000" dirty="0">
                <a:cs typeface="Times New Roman" panose="02020603050405020304" pitchFamily="18" charset="0"/>
              </a:rPr>
              <a:t> </a:t>
            </a:r>
            <a:r>
              <a:rPr lang="en-US" altLang="en-US" sz="2000" dirty="0" err="1">
                <a:cs typeface="Times New Roman" panose="02020603050405020304" pitchFamily="18" charset="0"/>
              </a:rPr>
              <a:t>vektorske</a:t>
            </a:r>
            <a:r>
              <a:rPr lang="en-US" altLang="en-US" sz="2000" dirty="0">
                <a:cs typeface="Times New Roman" panose="02020603050405020304" pitchFamily="18" charset="0"/>
              </a:rPr>
              <a:t> </a:t>
            </a:r>
            <a:r>
              <a:rPr lang="en-US" altLang="en-US" sz="2000" dirty="0" err="1">
                <a:cs typeface="Times New Roman" panose="02020603050405020304" pitchFamily="18" charset="0"/>
              </a:rPr>
              <a:t>instrukcije</a:t>
            </a:r>
            <a:r>
              <a:rPr lang="en-US" altLang="en-US" sz="2000" dirty="0">
                <a:cs typeface="Times New Roman" panose="02020603050405020304" pitchFamily="18" charset="0"/>
              </a:rPr>
              <a:t>. </a:t>
            </a:r>
            <a:endParaRPr lang="hr-HR" altLang="en-US" sz="2000" dirty="0"/>
          </a:p>
          <a:p>
            <a:pPr lvl="1">
              <a:lnSpc>
                <a:spcPct val="90000"/>
              </a:lnSpc>
              <a:defRPr/>
            </a:pPr>
            <a:r>
              <a:rPr lang="en-US" altLang="en-US" sz="1900" dirty="0" err="1">
                <a:cs typeface="Times New Roman" panose="02020603050405020304" pitchFamily="18" charset="0"/>
              </a:rPr>
              <a:t>Zbog</a:t>
            </a:r>
            <a:r>
              <a:rPr lang="en-US" altLang="en-US" sz="1900" dirty="0">
                <a:cs typeface="Times New Roman" panose="02020603050405020304" pitchFamily="18" charset="0"/>
              </a:rPr>
              <a:t> toga </a:t>
            </a:r>
            <a:r>
              <a:rPr lang="en-US" altLang="en-US" sz="1900" dirty="0" err="1">
                <a:cs typeface="Times New Roman" panose="02020603050405020304" pitchFamily="18" charset="0"/>
              </a:rPr>
              <a:t>petlje</a:t>
            </a:r>
            <a:r>
              <a:rPr lang="en-US" altLang="en-US" sz="1900" dirty="0">
                <a:cs typeface="Times New Roman" panose="02020603050405020304" pitchFamily="18" charset="0"/>
              </a:rPr>
              <a:t> </a:t>
            </a:r>
            <a:r>
              <a:rPr lang="en-US" altLang="en-US" sz="1900" dirty="0" err="1">
                <a:cs typeface="Times New Roman" panose="02020603050405020304" pitchFamily="18" charset="0"/>
              </a:rPr>
              <a:t>koje</a:t>
            </a:r>
            <a:r>
              <a:rPr lang="en-US" altLang="en-US" sz="1900" dirty="0">
                <a:cs typeface="Times New Roman" panose="02020603050405020304" pitchFamily="18" charset="0"/>
              </a:rPr>
              <a:t> </a:t>
            </a:r>
            <a:r>
              <a:rPr lang="en-US" altLang="en-US" sz="1900" dirty="0" err="1">
                <a:cs typeface="Times New Roman" panose="02020603050405020304" pitchFamily="18" charset="0"/>
              </a:rPr>
              <a:t>sadr</a:t>
            </a:r>
            <a:r>
              <a:rPr lang="hr-HR" altLang="en-US" sz="1900" dirty="0"/>
              <a:t>ž</a:t>
            </a:r>
            <a:r>
              <a:rPr lang="en-US" altLang="en-US" sz="1900" dirty="0">
                <a:cs typeface="Times New Roman" panose="02020603050405020304" pitchFamily="18" charset="0"/>
              </a:rPr>
              <a:t>e </a:t>
            </a:r>
            <a:r>
              <a:rPr lang="en-US" altLang="en-US" sz="1900" dirty="0" err="1">
                <a:cs typeface="Times New Roman" panose="02020603050405020304" pitchFamily="18" charset="0"/>
              </a:rPr>
              <a:t>samo</a:t>
            </a:r>
            <a:r>
              <a:rPr lang="en-US" altLang="en-US" sz="1900" dirty="0">
                <a:cs typeface="Times New Roman" panose="02020603050405020304" pitchFamily="18" charset="0"/>
              </a:rPr>
              <a:t> </a:t>
            </a:r>
            <a:r>
              <a:rPr lang="en-US" altLang="en-US" sz="1900" dirty="0" err="1">
                <a:cs typeface="Times New Roman" panose="02020603050405020304" pitchFamily="18" charset="0"/>
              </a:rPr>
              <a:t>ovakve</a:t>
            </a:r>
            <a:r>
              <a:rPr lang="en-US" altLang="en-US" sz="1900" dirty="0">
                <a:cs typeface="Times New Roman" panose="02020603050405020304" pitchFamily="18" charset="0"/>
              </a:rPr>
              <a:t> </a:t>
            </a:r>
            <a:r>
              <a:rPr lang="en-US" altLang="en-US" sz="1900" dirty="0" err="1">
                <a:cs typeface="Times New Roman" panose="02020603050405020304" pitchFamily="18" charset="0"/>
              </a:rPr>
              <a:t>zavisnosti</a:t>
            </a:r>
            <a:r>
              <a:rPr lang="en-US" altLang="en-US" sz="1900" dirty="0">
                <a:cs typeface="Times New Roman" panose="02020603050405020304" pitchFamily="18" charset="0"/>
              </a:rPr>
              <a:t> </a:t>
            </a:r>
            <a:r>
              <a:rPr lang="en-US" altLang="en-US" sz="1900" dirty="0" err="1">
                <a:cs typeface="Times New Roman" panose="02020603050405020304" pitchFamily="18" charset="0"/>
              </a:rPr>
              <a:t>mogu</a:t>
            </a:r>
            <a:r>
              <a:rPr lang="en-US" altLang="en-US" sz="1900" dirty="0">
                <a:cs typeface="Times New Roman" panose="02020603050405020304" pitchFamily="18" charset="0"/>
              </a:rPr>
              <a:t> </a:t>
            </a:r>
            <a:r>
              <a:rPr lang="en-US" altLang="en-US" sz="1900" dirty="0" err="1">
                <a:cs typeface="Times New Roman" panose="02020603050405020304" pitchFamily="18" charset="0"/>
              </a:rPr>
              <a:t>biti</a:t>
            </a:r>
            <a:r>
              <a:rPr lang="en-US" altLang="en-US" sz="1900" dirty="0">
                <a:cs typeface="Times New Roman" panose="02020603050405020304" pitchFamily="18" charset="0"/>
              </a:rPr>
              <a:t> </a:t>
            </a:r>
            <a:r>
              <a:rPr lang="en-US" altLang="en-US" sz="1900" dirty="0" err="1">
                <a:cs typeface="Times New Roman" panose="02020603050405020304" pitchFamily="18" charset="0"/>
              </a:rPr>
              <a:t>vektorizovane</a:t>
            </a:r>
            <a:r>
              <a:rPr lang="en-US" altLang="en-US" sz="1900" dirty="0">
                <a:cs typeface="Times New Roman" panose="02020603050405020304" pitchFamily="18" charset="0"/>
              </a:rPr>
              <a:t>. </a:t>
            </a:r>
            <a:endParaRPr lang="hr-HR" altLang="en-US" sz="1900" dirty="0"/>
          </a:p>
          <a:p>
            <a:pPr lvl="1">
              <a:lnSpc>
                <a:spcPct val="90000"/>
              </a:lnSpc>
              <a:defRPr/>
            </a:pPr>
            <a:r>
              <a:rPr lang="en-US" altLang="en-US" sz="1900" i="1" dirty="0" err="1">
                <a:solidFill>
                  <a:schemeClr val="accent1"/>
                </a:solidFill>
                <a:cs typeface="Times New Roman" panose="02020603050405020304" pitchFamily="18" charset="0"/>
              </a:rPr>
              <a:t>Zavisnosti</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koje</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su</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posledica</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kori</a:t>
            </a:r>
            <a:r>
              <a:rPr lang="hr-HR" altLang="en-US" sz="1900" i="1" dirty="0">
                <a:solidFill>
                  <a:schemeClr val="accent1"/>
                </a:solidFill>
              </a:rPr>
              <a:t>šć</a:t>
            </a:r>
            <a:r>
              <a:rPr lang="en-US" altLang="en-US" sz="1900" i="1" dirty="0" err="1">
                <a:solidFill>
                  <a:schemeClr val="accent1"/>
                </a:solidFill>
                <a:cs typeface="Times New Roman" panose="02020603050405020304" pitchFamily="18" charset="0"/>
              </a:rPr>
              <a:t>enja</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vrednosti</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izvra</a:t>
            </a:r>
            <a:r>
              <a:rPr lang="hr-HR" altLang="en-US" sz="1900" i="1" dirty="0">
                <a:solidFill>
                  <a:schemeClr val="accent1"/>
                </a:solidFill>
              </a:rPr>
              <a:t>č</a:t>
            </a:r>
            <a:r>
              <a:rPr lang="en-US" altLang="en-US" sz="1900" i="1" dirty="0" err="1">
                <a:solidFill>
                  <a:schemeClr val="accent1"/>
                </a:solidFill>
                <a:cs typeface="Times New Roman" panose="02020603050405020304" pitchFamily="18" charset="0"/>
              </a:rPr>
              <a:t>unatih</a:t>
            </a:r>
            <a:r>
              <a:rPr lang="en-US" altLang="en-US" sz="1900" i="1" dirty="0">
                <a:solidFill>
                  <a:schemeClr val="accent1"/>
                </a:solidFill>
                <a:cs typeface="Times New Roman" panose="02020603050405020304" pitchFamily="18" charset="0"/>
              </a:rPr>
              <a:t> u </a:t>
            </a:r>
            <a:r>
              <a:rPr lang="en-US" altLang="en-US" sz="1900" i="1" dirty="0" err="1">
                <a:solidFill>
                  <a:schemeClr val="accent1"/>
                </a:solidFill>
                <a:cs typeface="Times New Roman" panose="02020603050405020304" pitchFamily="18" charset="0"/>
              </a:rPr>
              <a:t>nekoj</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od</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prethodnih</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iteracija</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zovu</a:t>
            </a:r>
            <a:r>
              <a:rPr lang="en-US" altLang="en-US" sz="1900" i="1" dirty="0">
                <a:solidFill>
                  <a:schemeClr val="accent1"/>
                </a:solidFill>
                <a:cs typeface="Times New Roman" panose="02020603050405020304" pitchFamily="18" charset="0"/>
              </a:rPr>
              <a:t> se </a:t>
            </a:r>
            <a:r>
              <a:rPr lang="en-US" altLang="en-US" sz="1900" b="1" i="1" dirty="0">
                <a:cs typeface="Times New Roman" panose="02020603050405020304" pitchFamily="18" charset="0"/>
              </a:rPr>
              <a:t>loop-carry</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prenos</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iz</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petlje</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zavisnosti</a:t>
            </a:r>
            <a:r>
              <a:rPr lang="en-US" altLang="en-US" sz="1900" i="1" dirty="0">
                <a:cs typeface="Times New Roman" panose="02020603050405020304" pitchFamily="18" charset="0"/>
              </a:rPr>
              <a:t> </a:t>
            </a:r>
            <a:endParaRPr lang="hr-HR" altLang="en-US" sz="1900" i="1" dirty="0"/>
          </a:p>
          <a:p>
            <a:pPr lvl="1">
              <a:lnSpc>
                <a:spcPct val="90000"/>
              </a:lnSpc>
              <a:defRPr/>
            </a:pPr>
            <a:r>
              <a:rPr lang="en-US" altLang="en-US" sz="1900" dirty="0" err="1">
                <a:cs typeface="Times New Roman" panose="02020603050405020304" pitchFamily="18" charset="0"/>
              </a:rPr>
              <a:t>Prvi</a:t>
            </a:r>
            <a:r>
              <a:rPr lang="en-US" altLang="en-US" sz="1900" dirty="0">
                <a:cs typeface="Times New Roman" panose="02020603050405020304" pitchFamily="18" charset="0"/>
              </a:rPr>
              <a:t> </a:t>
            </a:r>
            <a:r>
              <a:rPr lang="en-US" altLang="en-US" sz="1900" dirty="0" err="1">
                <a:cs typeface="Times New Roman" panose="02020603050405020304" pitchFamily="18" charset="0"/>
              </a:rPr>
              <a:t>zadatak</a:t>
            </a:r>
            <a:r>
              <a:rPr lang="en-US" altLang="en-US" sz="1900" dirty="0">
                <a:cs typeface="Times New Roman" panose="02020603050405020304" pitchFamily="18" charset="0"/>
              </a:rPr>
              <a:t> </a:t>
            </a:r>
            <a:r>
              <a:rPr lang="en-US" altLang="en-US" sz="1900" dirty="0" err="1">
                <a:cs typeface="Times New Roman" panose="02020603050405020304" pitchFamily="18" charset="0"/>
              </a:rPr>
              <a:t>kompajlera</a:t>
            </a:r>
            <a:r>
              <a:rPr lang="en-US" altLang="en-US" sz="1900" dirty="0">
                <a:cs typeface="Times New Roman" panose="02020603050405020304" pitchFamily="18" charset="0"/>
              </a:rPr>
              <a:t> je </a:t>
            </a:r>
            <a:r>
              <a:rPr lang="en-US" altLang="en-US" sz="1900" dirty="0" err="1">
                <a:cs typeface="Times New Roman" panose="02020603050405020304" pitchFamily="18" charset="0"/>
              </a:rPr>
              <a:t>da</a:t>
            </a:r>
            <a:r>
              <a:rPr lang="en-US" altLang="en-US" sz="1900" dirty="0">
                <a:cs typeface="Times New Roman" panose="02020603050405020304" pitchFamily="18" charset="0"/>
              </a:rPr>
              <a:t> </a:t>
            </a:r>
            <a:r>
              <a:rPr lang="en-US" altLang="en-US" sz="1900" dirty="0" err="1">
                <a:cs typeface="Times New Roman" panose="02020603050405020304" pitchFamily="18" charset="0"/>
              </a:rPr>
              <a:t>utvrdi</a:t>
            </a:r>
            <a:r>
              <a:rPr lang="en-US" altLang="en-US" sz="1900" dirty="0">
                <a:cs typeface="Times New Roman" panose="02020603050405020304" pitchFamily="18" charset="0"/>
              </a:rPr>
              <a:t> </a:t>
            </a:r>
            <a:r>
              <a:rPr lang="en-US" altLang="en-US" sz="1900" dirty="0" err="1">
                <a:cs typeface="Times New Roman" panose="02020603050405020304" pitchFamily="18" charset="0"/>
              </a:rPr>
              <a:t>da</a:t>
            </a:r>
            <a:r>
              <a:rPr lang="en-US" altLang="en-US" sz="1900" dirty="0">
                <a:cs typeface="Times New Roman" panose="02020603050405020304" pitchFamily="18" charset="0"/>
              </a:rPr>
              <a:t> </a:t>
            </a:r>
            <a:r>
              <a:rPr lang="en-US" altLang="en-US" sz="1900" dirty="0" err="1">
                <a:cs typeface="Times New Roman" panose="02020603050405020304" pitchFamily="18" charset="0"/>
              </a:rPr>
              <a:t>li</a:t>
            </a:r>
            <a:r>
              <a:rPr lang="en-US" altLang="en-US" sz="1900" dirty="0">
                <a:cs typeface="Times New Roman" panose="02020603050405020304" pitchFamily="18" charset="0"/>
              </a:rPr>
              <a:t> u </a:t>
            </a:r>
            <a:r>
              <a:rPr lang="en-US" altLang="en-US" sz="1900" dirty="0" err="1">
                <a:cs typeface="Times New Roman" panose="02020603050405020304" pitchFamily="18" charset="0"/>
              </a:rPr>
              <a:t>petlji</a:t>
            </a:r>
            <a:r>
              <a:rPr lang="en-US" altLang="en-US" sz="1900" dirty="0">
                <a:cs typeface="Times New Roman" panose="02020603050405020304" pitchFamily="18" charset="0"/>
              </a:rPr>
              <a:t> </a:t>
            </a:r>
            <a:r>
              <a:rPr lang="en-US" altLang="en-US" sz="1900" dirty="0" err="1">
                <a:cs typeface="Times New Roman" panose="02020603050405020304" pitchFamily="18" charset="0"/>
              </a:rPr>
              <a:t>postoje</a:t>
            </a:r>
            <a:r>
              <a:rPr lang="en-US" altLang="en-US" sz="1900" dirty="0">
                <a:cs typeface="Times New Roman" panose="02020603050405020304" pitchFamily="18" charset="0"/>
              </a:rPr>
              <a:t> loop-carry </a:t>
            </a:r>
            <a:r>
              <a:rPr lang="en-US" altLang="en-US" sz="1900" dirty="0" err="1">
                <a:cs typeface="Times New Roman" panose="02020603050405020304" pitchFamily="18" charset="0"/>
              </a:rPr>
              <a:t>zavisnosti</a:t>
            </a:r>
            <a:r>
              <a:rPr lang="en-US" altLang="en-US" sz="1900" dirty="0">
                <a:cs typeface="Times New Roman" panose="02020603050405020304" pitchFamily="18" charset="0"/>
              </a:rPr>
              <a:t>. </a:t>
            </a:r>
            <a:endParaRPr lang="hr-HR" altLang="en-US" sz="1900" dirty="0"/>
          </a:p>
          <a:p>
            <a:pPr lvl="1">
              <a:lnSpc>
                <a:spcPct val="90000"/>
              </a:lnSpc>
              <a:defRPr/>
            </a:pPr>
            <a:r>
              <a:rPr lang="en-US" altLang="en-US" sz="1900" dirty="0" err="1">
                <a:cs typeface="Times New Roman" panose="02020603050405020304" pitchFamily="18" charset="0"/>
              </a:rPr>
              <a:t>Kompajler</a:t>
            </a:r>
            <a:r>
              <a:rPr lang="en-US" altLang="en-US" sz="1900" dirty="0">
                <a:cs typeface="Times New Roman" panose="02020603050405020304" pitchFamily="18" charset="0"/>
              </a:rPr>
              <a:t> to </a:t>
            </a:r>
            <a:r>
              <a:rPr lang="en-US" altLang="en-US" sz="1900" dirty="0" err="1">
                <a:cs typeface="Times New Roman" panose="02020603050405020304" pitchFamily="18" charset="0"/>
              </a:rPr>
              <a:t>ostvaruje</a:t>
            </a:r>
            <a:r>
              <a:rPr lang="en-US" altLang="en-US" sz="1900" dirty="0">
                <a:cs typeface="Times New Roman" panose="02020603050405020304" pitchFamily="18" charset="0"/>
              </a:rPr>
              <a:t> </a:t>
            </a:r>
            <a:r>
              <a:rPr lang="en-US" altLang="en-US" sz="1900" dirty="0" err="1">
                <a:cs typeface="Times New Roman" panose="02020603050405020304" pitchFamily="18" charset="0"/>
              </a:rPr>
              <a:t>pomo</a:t>
            </a:r>
            <a:r>
              <a:rPr lang="hr-HR" altLang="en-US" sz="1900" dirty="0"/>
              <a:t>ć</a:t>
            </a:r>
            <a:r>
              <a:rPr lang="en-US" altLang="en-US" sz="1900" dirty="0">
                <a:cs typeface="Times New Roman" panose="02020603050405020304" pitchFamily="18" charset="0"/>
              </a:rPr>
              <a:t>u </a:t>
            </a:r>
            <a:r>
              <a:rPr lang="en-US" altLang="en-US" sz="1900" dirty="0" err="1">
                <a:cs typeface="Times New Roman" panose="02020603050405020304" pitchFamily="18" charset="0"/>
              </a:rPr>
              <a:t>algoritma</a:t>
            </a:r>
            <a:r>
              <a:rPr lang="en-US" altLang="en-US" sz="1900" dirty="0">
                <a:cs typeface="Times New Roman" panose="02020603050405020304" pitchFamily="18" charset="0"/>
              </a:rPr>
              <a:t> </a:t>
            </a:r>
            <a:r>
              <a:rPr lang="en-US" altLang="en-US" sz="1900" dirty="0" err="1">
                <a:cs typeface="Times New Roman" panose="02020603050405020304" pitchFamily="18" charset="0"/>
              </a:rPr>
              <a:t>za</a:t>
            </a:r>
            <a:r>
              <a:rPr lang="en-US" altLang="en-US" sz="1900" dirty="0">
                <a:cs typeface="Times New Roman" panose="02020603050405020304" pitchFamily="18" charset="0"/>
              </a:rPr>
              <a:t> </a:t>
            </a:r>
            <a:r>
              <a:rPr lang="en-US" altLang="en-US" sz="1900" dirty="0" err="1">
                <a:cs typeface="Times New Roman" panose="02020603050405020304" pitchFamily="18" charset="0"/>
              </a:rPr>
              <a:t>analizu</a:t>
            </a:r>
            <a:r>
              <a:rPr lang="en-US" altLang="en-US" sz="1900" dirty="0">
                <a:cs typeface="Times New Roman" panose="02020603050405020304" pitchFamily="18" charset="0"/>
              </a:rPr>
              <a:t> </a:t>
            </a:r>
            <a:r>
              <a:rPr lang="en-US" altLang="en-US" sz="1900" dirty="0" err="1">
                <a:cs typeface="Times New Roman" panose="02020603050405020304" pitchFamily="18" charset="0"/>
              </a:rPr>
              <a:t>zavisnosti</a:t>
            </a:r>
            <a:r>
              <a:rPr lang="en-US" altLang="en-US" sz="1900" i="1" dirty="0">
                <a:cs typeface="Times New Roman" panose="02020603050405020304" pitchFamily="18" charset="0"/>
              </a:rPr>
              <a:t> </a:t>
            </a:r>
            <a:endParaRPr lang="hr-HR" altLang="en-US" sz="1900" i="1" dirty="0"/>
          </a:p>
          <a:p>
            <a:pPr lvl="1" algn="just">
              <a:lnSpc>
                <a:spcPct val="90000"/>
              </a:lnSpc>
              <a:defRPr/>
            </a:pPr>
            <a:r>
              <a:rPr lang="en-US" altLang="en-US" sz="1900" dirty="0" err="1">
                <a:cs typeface="Times New Roman" panose="02020603050405020304" pitchFamily="18" charset="0"/>
              </a:rPr>
              <a:t>analiza</a:t>
            </a:r>
            <a:r>
              <a:rPr lang="en-US" altLang="en-US" sz="1900" dirty="0">
                <a:cs typeface="Times New Roman" panose="02020603050405020304" pitchFamily="18" charset="0"/>
              </a:rPr>
              <a:t> mo</a:t>
            </a:r>
            <a:r>
              <a:rPr lang="hr-HR" altLang="en-US" sz="1900" dirty="0"/>
              <a:t>ž</a:t>
            </a:r>
            <a:r>
              <a:rPr lang="en-US" altLang="en-US" sz="1900" dirty="0">
                <a:cs typeface="Times New Roman" panose="02020603050405020304" pitchFamily="18" charset="0"/>
              </a:rPr>
              <a:t>e </a:t>
            </a:r>
            <a:r>
              <a:rPr lang="en-US" altLang="en-US" sz="1900" dirty="0" err="1">
                <a:cs typeface="Times New Roman" panose="02020603050405020304" pitchFamily="18" charset="0"/>
              </a:rPr>
              <a:t>biti</a:t>
            </a:r>
            <a:r>
              <a:rPr lang="en-US" altLang="en-US" sz="1900" dirty="0">
                <a:cs typeface="Times New Roman" panose="02020603050405020304" pitchFamily="18" charset="0"/>
              </a:rPr>
              <a:t> </a:t>
            </a:r>
            <a:r>
              <a:rPr lang="en-US" altLang="en-US" sz="1900" dirty="0" err="1">
                <a:cs typeface="Times New Roman" panose="02020603050405020304" pitchFamily="18" charset="0"/>
              </a:rPr>
              <a:t>veoma</a:t>
            </a:r>
            <a:r>
              <a:rPr lang="en-US" altLang="en-US" sz="1900" dirty="0">
                <a:cs typeface="Times New Roman" panose="02020603050405020304" pitchFamily="18" charset="0"/>
              </a:rPr>
              <a:t> </a:t>
            </a:r>
            <a:r>
              <a:rPr lang="en-US" altLang="en-US" sz="1900" dirty="0" err="1">
                <a:cs typeface="Times New Roman" panose="02020603050405020304" pitchFamily="18" charset="0"/>
              </a:rPr>
              <a:t>kompleksna</a:t>
            </a:r>
            <a:r>
              <a:rPr lang="en-US" altLang="en-US" sz="1900" i="1" dirty="0">
                <a:latin typeface="Times Roman YU" pitchFamily="18" charset="0"/>
                <a:cs typeface="Times New Roman" panose="02020603050405020304" pitchFamily="18" charset="0"/>
              </a:rPr>
              <a:t>.</a:t>
            </a:r>
            <a:endParaRPr lang="en-US" altLang="en-US" sz="1900" i="1" dirty="0">
              <a:latin typeface="Times New Roman" panose="02020603050405020304" pitchFamily="18" charset="0"/>
            </a:endParaRPr>
          </a:p>
        </p:txBody>
      </p:sp>
      <p:sp>
        <p:nvSpPr>
          <p:cNvPr id="30725" name="Line 10">
            <a:extLst>
              <a:ext uri="{FF2B5EF4-FFF2-40B4-BE49-F238E27FC236}">
                <a16:creationId xmlns:a16="http://schemas.microsoft.com/office/drawing/2014/main" id="{C14D3E24-B953-4ECB-091B-2DC1F13F5DD0}"/>
              </a:ext>
            </a:extLst>
          </p:cNvPr>
          <p:cNvSpPr>
            <a:spLocks noChangeShapeType="1"/>
          </p:cNvSpPr>
          <p:nvPr/>
        </p:nvSpPr>
        <p:spPr bwMode="auto">
          <a:xfrm>
            <a:off x="1600200" y="4191000"/>
            <a:ext cx="533400" cy="14478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30726" name="Line 11">
            <a:extLst>
              <a:ext uri="{FF2B5EF4-FFF2-40B4-BE49-F238E27FC236}">
                <a16:creationId xmlns:a16="http://schemas.microsoft.com/office/drawing/2014/main" id="{9AD69FC6-868E-FB6D-13EC-6962AEEE9B92}"/>
              </a:ext>
            </a:extLst>
          </p:cNvPr>
          <p:cNvSpPr>
            <a:spLocks noChangeShapeType="1"/>
          </p:cNvSpPr>
          <p:nvPr/>
        </p:nvSpPr>
        <p:spPr bwMode="auto">
          <a:xfrm>
            <a:off x="1480868" y="4572000"/>
            <a:ext cx="1295400" cy="9144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30727" name="Line 12">
            <a:extLst>
              <a:ext uri="{FF2B5EF4-FFF2-40B4-BE49-F238E27FC236}">
                <a16:creationId xmlns:a16="http://schemas.microsoft.com/office/drawing/2014/main" id="{0FE3B45F-6807-08DF-41B1-6DF28A13CBA7}"/>
              </a:ext>
            </a:extLst>
          </p:cNvPr>
          <p:cNvSpPr>
            <a:spLocks noChangeShapeType="1"/>
          </p:cNvSpPr>
          <p:nvPr/>
        </p:nvSpPr>
        <p:spPr bwMode="auto">
          <a:xfrm>
            <a:off x="1524000" y="4572000"/>
            <a:ext cx="533400" cy="12954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30728" name="Line 14">
            <a:extLst>
              <a:ext uri="{FF2B5EF4-FFF2-40B4-BE49-F238E27FC236}">
                <a16:creationId xmlns:a16="http://schemas.microsoft.com/office/drawing/2014/main" id="{5BA1C133-AF14-1388-9ABB-1CFD79085B9E}"/>
              </a:ext>
            </a:extLst>
          </p:cNvPr>
          <p:cNvSpPr>
            <a:spLocks noChangeShapeType="1"/>
          </p:cNvSpPr>
          <p:nvPr/>
        </p:nvSpPr>
        <p:spPr bwMode="auto">
          <a:xfrm>
            <a:off x="1447800" y="4191000"/>
            <a:ext cx="1143000" cy="2286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30729" name="AutoShape 16">
            <a:extLst>
              <a:ext uri="{FF2B5EF4-FFF2-40B4-BE49-F238E27FC236}">
                <a16:creationId xmlns:a16="http://schemas.microsoft.com/office/drawing/2014/main" id="{83041814-EF51-2D2C-07D3-BFC5FB716195}"/>
              </a:ext>
            </a:extLst>
          </p:cNvPr>
          <p:cNvSpPr>
            <a:spLocks noChangeArrowheads="1"/>
          </p:cNvSpPr>
          <p:nvPr/>
        </p:nvSpPr>
        <p:spPr bwMode="auto">
          <a:xfrm>
            <a:off x="3276600" y="3124200"/>
            <a:ext cx="1371600" cy="762000"/>
          </a:xfrm>
          <a:prstGeom prst="wedgeEllipseCallout">
            <a:avLst>
              <a:gd name="adj1" fmla="val -105109"/>
              <a:gd name="adj2" fmla="val 112947"/>
            </a:avLst>
          </a:prstGeom>
          <a:solidFill>
            <a:schemeClr val="accent1"/>
          </a:solidFill>
          <a:ln w="9525">
            <a:solidFill>
              <a:schemeClr val="tx1"/>
            </a:solidFill>
            <a:miter lim="800000"/>
            <a:headEnd/>
            <a:tailEnd/>
          </a:ln>
        </p:spPr>
        <p:txBody>
          <a:bodyPr anchor="b"/>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600">
                <a:solidFill>
                  <a:schemeClr val="tx2"/>
                </a:solidFill>
              </a:rPr>
              <a:t>klasičan RAW</a:t>
            </a:r>
            <a:endParaRPr kumimoji="0" lang="en-US" altLang="en-US" sz="1600">
              <a:solidFill>
                <a:schemeClr val="tx2"/>
              </a:solidFill>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5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15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615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615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615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615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0D21E0E-A1F0-28E3-8CED-4B013ABF699F}"/>
              </a:ext>
            </a:extLst>
          </p:cNvPr>
          <p:cNvSpPr>
            <a:spLocks noGrp="1" noChangeArrowheads="1"/>
          </p:cNvSpPr>
          <p:nvPr>
            <p:ph type="title"/>
          </p:nvPr>
        </p:nvSpPr>
        <p:spPr/>
        <p:txBody>
          <a:bodyPr/>
          <a:lstStyle/>
          <a:p>
            <a:pPr>
              <a:defRPr/>
            </a:pPr>
            <a:r>
              <a:rPr lang="hr-HR" altLang="en-US"/>
              <a:t>Analiza zavisnosti</a:t>
            </a:r>
            <a:endParaRPr lang="en-US" altLang="en-US"/>
          </a:p>
        </p:txBody>
      </p:sp>
      <p:sp>
        <p:nvSpPr>
          <p:cNvPr id="8195" name="Rectangle 3">
            <a:extLst>
              <a:ext uri="{FF2B5EF4-FFF2-40B4-BE49-F238E27FC236}">
                <a16:creationId xmlns:a16="http://schemas.microsoft.com/office/drawing/2014/main" id="{821C47BC-B9C2-3A70-53D0-F8C0D9EC2AB0}"/>
              </a:ext>
            </a:extLst>
          </p:cNvPr>
          <p:cNvSpPr>
            <a:spLocks noGrp="1" noChangeArrowheads="1"/>
          </p:cNvSpPr>
          <p:nvPr>
            <p:ph type="body" idx="1"/>
          </p:nvPr>
        </p:nvSpPr>
        <p:spPr/>
        <p:txBody>
          <a:bodyPr>
            <a:normAutofit fontScale="92500" lnSpcReduction="20000"/>
          </a:bodyPr>
          <a:lstStyle/>
          <a:p>
            <a:pPr marL="533400" indent="-533400">
              <a:defRPr/>
            </a:pPr>
            <a:r>
              <a:rPr lang="en-US" altLang="en-US" dirty="0" err="1">
                <a:cs typeface="Times New Roman" panose="02020603050405020304" pitchFamily="18" charset="0"/>
              </a:rPr>
              <a:t>Najjednostavniji</a:t>
            </a:r>
            <a:r>
              <a:rPr lang="en-US" altLang="en-US" dirty="0">
                <a:cs typeface="Times New Roman" panose="02020603050405020304" pitchFamily="18" charset="0"/>
              </a:rPr>
              <a:t> </a:t>
            </a:r>
            <a:r>
              <a:rPr lang="en-US" altLang="en-US" dirty="0" err="1">
                <a:cs typeface="Times New Roman" panose="02020603050405020304" pitchFamily="18" charset="0"/>
              </a:rPr>
              <a:t>slu</a:t>
            </a:r>
            <a:r>
              <a:rPr lang="hr-HR" altLang="en-US" dirty="0"/>
              <a:t>č</a:t>
            </a:r>
            <a:r>
              <a:rPr lang="en-US" altLang="en-US" dirty="0" err="1">
                <a:cs typeface="Times New Roman" panose="02020603050405020304" pitchFamily="18" charset="0"/>
              </a:rPr>
              <a:t>aj</a:t>
            </a:r>
            <a:r>
              <a:rPr lang="en-US" altLang="en-US" dirty="0">
                <a:cs typeface="Times New Roman" panose="02020603050405020304" pitchFamily="18" charset="0"/>
              </a:rPr>
              <a:t> </a:t>
            </a:r>
            <a:r>
              <a:rPr lang="en-US" altLang="en-US" dirty="0" err="1">
                <a:cs typeface="Times New Roman" panose="02020603050405020304" pitchFamily="18" charset="0"/>
              </a:rPr>
              <a:t>nastupa</a:t>
            </a:r>
            <a:r>
              <a:rPr lang="en-US" altLang="en-US" dirty="0">
                <a:cs typeface="Times New Roman" panose="02020603050405020304" pitchFamily="18" charset="0"/>
              </a:rPr>
              <a:t> </a:t>
            </a:r>
            <a:r>
              <a:rPr lang="en-US" altLang="en-US" dirty="0" err="1">
                <a:cs typeface="Times New Roman" panose="02020603050405020304" pitchFamily="18" charset="0"/>
              </a:rPr>
              <a:t>kada</a:t>
            </a:r>
            <a:r>
              <a:rPr lang="en-US" altLang="en-US" dirty="0">
                <a:cs typeface="Times New Roman" panose="02020603050405020304" pitchFamily="18" charset="0"/>
              </a:rPr>
              <a:t> se </a:t>
            </a:r>
            <a:r>
              <a:rPr lang="en-US" altLang="en-US" dirty="0" err="1">
                <a:cs typeface="Times New Roman" panose="02020603050405020304" pitchFamily="18" charset="0"/>
              </a:rPr>
              <a:t>ime</a:t>
            </a:r>
            <a:r>
              <a:rPr lang="en-US" altLang="en-US" dirty="0">
                <a:cs typeface="Times New Roman" panose="02020603050405020304" pitchFamily="18" charset="0"/>
              </a:rPr>
              <a:t> </a:t>
            </a:r>
            <a:r>
              <a:rPr lang="en-US" altLang="en-US" dirty="0" err="1">
                <a:cs typeface="Times New Roman" panose="02020603050405020304" pitchFamily="18" charset="0"/>
              </a:rPr>
              <a:t>polja</a:t>
            </a:r>
            <a:r>
              <a:rPr lang="en-US" altLang="en-US" dirty="0">
                <a:cs typeface="Times New Roman" panose="02020603050405020304" pitchFamily="18" charset="0"/>
              </a:rPr>
              <a:t> </a:t>
            </a:r>
            <a:r>
              <a:rPr lang="en-US" altLang="en-US" dirty="0" err="1">
                <a:cs typeface="Times New Roman" panose="02020603050405020304" pitchFamily="18" charset="0"/>
              </a:rPr>
              <a:t>nalazi</a:t>
            </a:r>
            <a:r>
              <a:rPr lang="en-US" altLang="en-US" dirty="0">
                <a:cs typeface="Times New Roman" panose="02020603050405020304" pitchFamily="18" charset="0"/>
              </a:rPr>
              <a:t> </a:t>
            </a:r>
            <a:r>
              <a:rPr lang="en-US" altLang="en-US" dirty="0" err="1">
                <a:cs typeface="Times New Roman" panose="02020603050405020304" pitchFamily="18" charset="0"/>
              </a:rPr>
              <a:t>samo</a:t>
            </a:r>
            <a:r>
              <a:rPr lang="en-US" altLang="en-US" dirty="0">
                <a:cs typeface="Times New Roman" panose="02020603050405020304" pitchFamily="18" charset="0"/>
              </a:rPr>
              <a:t> </a:t>
            </a:r>
            <a:r>
              <a:rPr lang="en-US" altLang="en-US" dirty="0" err="1">
                <a:cs typeface="Times New Roman" panose="02020603050405020304" pitchFamily="18" charset="0"/>
              </a:rPr>
              <a:t>sa</a:t>
            </a:r>
            <a:r>
              <a:rPr lang="en-US" altLang="en-US" dirty="0">
                <a:cs typeface="Times New Roman" panose="02020603050405020304" pitchFamily="18" charset="0"/>
              </a:rPr>
              <a:t> </a:t>
            </a:r>
            <a:r>
              <a:rPr lang="en-US" altLang="en-US" dirty="0" err="1">
                <a:cs typeface="Times New Roman" panose="02020603050405020304" pitchFamily="18" charset="0"/>
              </a:rPr>
              <a:t>jedne</a:t>
            </a:r>
            <a:r>
              <a:rPr lang="en-US" altLang="en-US" dirty="0">
                <a:cs typeface="Times New Roman" panose="02020603050405020304" pitchFamily="18" charset="0"/>
              </a:rPr>
              <a:t> </a:t>
            </a:r>
            <a:r>
              <a:rPr lang="en-US" altLang="en-US" dirty="0" err="1">
                <a:cs typeface="Times New Roman" panose="02020603050405020304" pitchFamily="18" charset="0"/>
              </a:rPr>
              <a:t>strane</a:t>
            </a:r>
            <a:r>
              <a:rPr lang="en-US" altLang="en-US" dirty="0">
                <a:cs typeface="Times New Roman" panose="02020603050405020304" pitchFamily="18" charset="0"/>
              </a:rPr>
              <a:t> </a:t>
            </a:r>
            <a:r>
              <a:rPr lang="en-US" altLang="en-US" dirty="0" err="1">
                <a:cs typeface="Times New Roman" panose="02020603050405020304" pitchFamily="18" charset="0"/>
              </a:rPr>
              <a:t>naredbe</a:t>
            </a:r>
            <a:r>
              <a:rPr lang="en-US" altLang="en-US" dirty="0">
                <a:cs typeface="Times New Roman" panose="02020603050405020304" pitchFamily="18" charset="0"/>
              </a:rPr>
              <a:t> </a:t>
            </a:r>
            <a:r>
              <a:rPr lang="en-US" altLang="en-US" dirty="0" err="1">
                <a:cs typeface="Times New Roman" panose="02020603050405020304" pitchFamily="18" charset="0"/>
              </a:rPr>
              <a:t>dodeljivanja</a:t>
            </a:r>
            <a:r>
              <a:rPr lang="en-US" altLang="en-US" dirty="0"/>
              <a:t> </a:t>
            </a:r>
            <a:endParaRPr lang="hr-HR" altLang="en-US" dirty="0"/>
          </a:p>
          <a:p>
            <a:pPr marL="895350" lvl="1" indent="-438150" algn="just">
              <a:buFont typeface="Wingdings" panose="05000000000000000000" pitchFamily="2" charset="2"/>
              <a:buNone/>
              <a:defRPr/>
            </a:pPr>
            <a:r>
              <a:rPr lang="hr-HR" altLang="en-US" dirty="0"/>
              <a:t>	</a:t>
            </a:r>
            <a:r>
              <a:rPr lang="en-US" altLang="en-US" dirty="0">
                <a:cs typeface="Times New Roman" panose="02020603050405020304" pitchFamily="18" charset="0"/>
              </a:rPr>
              <a:t>for i=1 to 100</a:t>
            </a:r>
          </a:p>
          <a:p>
            <a:pPr marL="895350" lvl="1" indent="-438150" algn="just">
              <a:buFont typeface="Wingdings" panose="05000000000000000000" pitchFamily="2" charset="2"/>
              <a:buNone/>
              <a:defRPr/>
            </a:pPr>
            <a:r>
              <a:rPr lang="en-US" altLang="en-US" dirty="0">
                <a:cs typeface="Times New Roman" panose="02020603050405020304" pitchFamily="18" charset="0"/>
              </a:rPr>
              <a:t>		A(i)=B(i)+C(i)</a:t>
            </a:r>
          </a:p>
          <a:p>
            <a:pPr marL="895350" lvl="1" indent="-438150" algn="just">
              <a:buFont typeface="Wingdings" panose="05000000000000000000" pitchFamily="2" charset="2"/>
              <a:buNone/>
              <a:defRPr/>
            </a:pPr>
            <a:r>
              <a:rPr lang="en-US" altLang="en-US" dirty="0">
                <a:cs typeface="Times New Roman" panose="02020603050405020304" pitchFamily="18" charset="0"/>
              </a:rPr>
              <a:t>		D(i)=</a:t>
            </a:r>
            <a:r>
              <a:rPr lang="sr-Latn-RS" altLang="en-US" dirty="0">
                <a:cs typeface="Times New Roman" panose="02020603050405020304" pitchFamily="18" charset="0"/>
              </a:rPr>
              <a:t>E</a:t>
            </a:r>
            <a:r>
              <a:rPr lang="en-US" altLang="en-US" dirty="0">
                <a:cs typeface="Times New Roman" panose="02020603050405020304" pitchFamily="18" charset="0"/>
              </a:rPr>
              <a:t>(i)*</a:t>
            </a:r>
            <a:r>
              <a:rPr lang="sr-Latn-RS" altLang="en-US" dirty="0">
                <a:cs typeface="Times New Roman" panose="02020603050405020304" pitchFamily="18" charset="0"/>
              </a:rPr>
              <a:t>F</a:t>
            </a:r>
            <a:r>
              <a:rPr lang="en-US" altLang="en-US" dirty="0">
                <a:cs typeface="Times New Roman" panose="02020603050405020304" pitchFamily="18" charset="0"/>
              </a:rPr>
              <a:t>(i)</a:t>
            </a:r>
          </a:p>
          <a:p>
            <a:pPr marL="895350" lvl="1" indent="-438150">
              <a:buFont typeface="Wingdings" panose="05000000000000000000" pitchFamily="2" charset="2"/>
              <a:buNone/>
              <a:defRPr/>
            </a:pPr>
            <a:r>
              <a:rPr lang="en-US" altLang="en-US" dirty="0">
                <a:cs typeface="Times New Roman" panose="02020603050405020304" pitchFamily="18" charset="0"/>
              </a:rPr>
              <a:t>    </a:t>
            </a:r>
            <a:r>
              <a:rPr lang="en-US" altLang="en-US" dirty="0" err="1">
                <a:cs typeface="Times New Roman" panose="02020603050405020304" pitchFamily="18" charset="0"/>
              </a:rPr>
              <a:t>endfor</a:t>
            </a:r>
            <a:r>
              <a:rPr lang="en-US" altLang="en-US" dirty="0"/>
              <a:t> </a:t>
            </a:r>
            <a:endParaRPr lang="hr-HR" altLang="en-US" dirty="0"/>
          </a:p>
          <a:p>
            <a:pPr marL="533400" indent="-533400">
              <a:defRPr/>
            </a:pPr>
            <a:r>
              <a:rPr lang="en-US" altLang="en-US" dirty="0">
                <a:cs typeface="Times New Roman" panose="02020603050405020304" pitchFamily="18" charset="0"/>
              </a:rPr>
              <a:t>U </a:t>
            </a:r>
            <a:r>
              <a:rPr lang="en-US" altLang="en-US" dirty="0" err="1">
                <a:cs typeface="Times New Roman" panose="02020603050405020304" pitchFamily="18" charset="0"/>
              </a:rPr>
              <a:t>ovom</a:t>
            </a:r>
            <a:r>
              <a:rPr lang="en-US" altLang="en-US" dirty="0">
                <a:cs typeface="Times New Roman" panose="02020603050405020304" pitchFamily="18" charset="0"/>
              </a:rPr>
              <a:t> </a:t>
            </a:r>
            <a:r>
              <a:rPr lang="en-US" altLang="en-US" dirty="0" err="1">
                <a:cs typeface="Times New Roman" panose="02020603050405020304" pitchFamily="18" charset="0"/>
              </a:rPr>
              <a:t>slu</a:t>
            </a:r>
            <a:r>
              <a:rPr lang="hr-HR" altLang="en-US" dirty="0"/>
              <a:t>č</a:t>
            </a:r>
            <a:r>
              <a:rPr lang="en-US" altLang="en-US" dirty="0" err="1">
                <a:cs typeface="Times New Roman" panose="02020603050405020304" pitchFamily="18" charset="0"/>
              </a:rPr>
              <a:t>aju</a:t>
            </a:r>
            <a:r>
              <a:rPr lang="en-US" altLang="en-US" dirty="0">
                <a:cs typeface="Times New Roman" panose="02020603050405020304" pitchFamily="18" charset="0"/>
              </a:rPr>
              <a:t> ne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do</a:t>
            </a:r>
            <a:r>
              <a:rPr lang="hr-HR" altLang="en-US" dirty="0"/>
              <a:t>ć</a:t>
            </a:r>
            <a:r>
              <a:rPr lang="en-US" altLang="en-US" dirty="0">
                <a:cs typeface="Times New Roman" panose="02020603050405020304" pitchFamily="18" charset="0"/>
              </a:rPr>
              <a:t>i do loop-carry </a:t>
            </a:r>
            <a:r>
              <a:rPr lang="en-US" altLang="en-US" dirty="0" err="1">
                <a:cs typeface="Times New Roman" panose="02020603050405020304" pitchFamily="18" charset="0"/>
              </a:rPr>
              <a:t>zavisnosti</a:t>
            </a:r>
            <a:r>
              <a:rPr lang="en-US" altLang="en-US" dirty="0">
                <a:cs typeface="Times New Roman" panose="02020603050405020304" pitchFamily="18" charset="0"/>
              </a:rPr>
              <a:t>. </a:t>
            </a:r>
            <a:endParaRPr lang="sr-Latn-RS" altLang="en-US" dirty="0">
              <a:cs typeface="Times New Roman" panose="02020603050405020304" pitchFamily="18" charset="0"/>
            </a:endParaRPr>
          </a:p>
          <a:p>
            <a:pPr marL="895350" lvl="1" indent="-438150" algn="just">
              <a:buFont typeface="Wingdings" panose="05000000000000000000" pitchFamily="2" charset="2"/>
              <a:buNone/>
              <a:defRPr/>
            </a:pPr>
            <a:r>
              <a:rPr lang="en-US" altLang="en-US" dirty="0">
                <a:cs typeface="Times New Roman" panose="02020603050405020304" pitchFamily="18" charset="0"/>
              </a:rPr>
              <a:t>for i=1 to 100</a:t>
            </a:r>
          </a:p>
          <a:p>
            <a:pPr marL="895350" lvl="1" indent="-438150" algn="just">
              <a:buFont typeface="Wingdings" panose="05000000000000000000" pitchFamily="2" charset="2"/>
              <a:buNone/>
              <a:defRPr/>
            </a:pPr>
            <a:r>
              <a:rPr lang="en-US" altLang="en-US" dirty="0">
                <a:cs typeface="Times New Roman" panose="02020603050405020304" pitchFamily="18" charset="0"/>
              </a:rPr>
              <a:t>		A(i)=B(i)+C(i)</a:t>
            </a:r>
          </a:p>
          <a:p>
            <a:pPr marL="895350" lvl="1" indent="-438150" algn="just">
              <a:buFont typeface="Wingdings" panose="05000000000000000000" pitchFamily="2" charset="2"/>
              <a:buNone/>
              <a:defRPr/>
            </a:pPr>
            <a:r>
              <a:rPr lang="en-US" altLang="en-US" dirty="0">
                <a:cs typeface="Times New Roman" panose="02020603050405020304" pitchFamily="18" charset="0"/>
              </a:rPr>
              <a:t>		D(i)=</a:t>
            </a:r>
            <a:r>
              <a:rPr lang="sr-Latn-RS" altLang="en-US" dirty="0">
                <a:cs typeface="Times New Roman" panose="02020603050405020304" pitchFamily="18" charset="0"/>
              </a:rPr>
              <a:t>A</a:t>
            </a:r>
            <a:r>
              <a:rPr lang="en-US" altLang="en-US" dirty="0">
                <a:cs typeface="Times New Roman" panose="02020603050405020304" pitchFamily="18" charset="0"/>
              </a:rPr>
              <a:t>(i)*</a:t>
            </a:r>
            <a:r>
              <a:rPr lang="sr-Latn-RS" altLang="en-US" dirty="0">
                <a:cs typeface="Times New Roman" panose="02020603050405020304" pitchFamily="18" charset="0"/>
              </a:rPr>
              <a:t>E</a:t>
            </a:r>
            <a:r>
              <a:rPr lang="en-US" altLang="en-US" dirty="0">
                <a:cs typeface="Times New Roman" panose="02020603050405020304" pitchFamily="18" charset="0"/>
              </a:rPr>
              <a:t>(i)</a:t>
            </a:r>
          </a:p>
          <a:p>
            <a:pPr marL="895350" lvl="1" indent="-438150">
              <a:buFont typeface="Wingdings" panose="05000000000000000000" pitchFamily="2" charset="2"/>
              <a:buNone/>
              <a:defRPr/>
            </a:pPr>
            <a:r>
              <a:rPr lang="en-US" altLang="en-US" dirty="0">
                <a:cs typeface="Times New Roman" panose="02020603050405020304" pitchFamily="18" charset="0"/>
              </a:rPr>
              <a:t>    </a:t>
            </a:r>
            <a:r>
              <a:rPr lang="en-US" altLang="en-US" dirty="0" err="1">
                <a:cs typeface="Times New Roman" panose="02020603050405020304" pitchFamily="18" charset="0"/>
              </a:rPr>
              <a:t>endfor</a:t>
            </a:r>
            <a:r>
              <a:rPr lang="en-US" altLang="en-US" dirty="0"/>
              <a:t> </a:t>
            </a:r>
            <a:endParaRPr lang="hr-HR" altLang="en-US" dirty="0"/>
          </a:p>
          <a:p>
            <a:pPr marL="533400" indent="-533400">
              <a:defRPr/>
            </a:pPr>
            <a:r>
              <a:rPr lang="sr-Latn-RS" altLang="en-US" dirty="0">
                <a:cs typeface="Times New Roman" panose="02020603050405020304" pitchFamily="18" charset="0"/>
              </a:rPr>
              <a:t>Ni u</a:t>
            </a:r>
            <a:r>
              <a:rPr lang="en-US" altLang="en-US" dirty="0">
                <a:cs typeface="Times New Roman" panose="02020603050405020304" pitchFamily="18" charset="0"/>
              </a:rPr>
              <a:t> </a:t>
            </a:r>
            <a:r>
              <a:rPr lang="en-US" altLang="en-US" dirty="0" err="1">
                <a:cs typeface="Times New Roman" panose="02020603050405020304" pitchFamily="18" charset="0"/>
              </a:rPr>
              <a:t>ovom</a:t>
            </a:r>
            <a:r>
              <a:rPr lang="en-US" altLang="en-US" dirty="0">
                <a:cs typeface="Times New Roman" panose="02020603050405020304" pitchFamily="18" charset="0"/>
              </a:rPr>
              <a:t> </a:t>
            </a:r>
            <a:r>
              <a:rPr lang="en-US" altLang="en-US" dirty="0" err="1">
                <a:cs typeface="Times New Roman" panose="02020603050405020304" pitchFamily="18" charset="0"/>
              </a:rPr>
              <a:t>slu</a:t>
            </a:r>
            <a:r>
              <a:rPr lang="hr-HR" altLang="en-US" dirty="0"/>
              <a:t>č</a:t>
            </a:r>
            <a:r>
              <a:rPr lang="en-US" altLang="en-US" dirty="0" err="1">
                <a:cs typeface="Times New Roman" panose="02020603050405020304" pitchFamily="18" charset="0"/>
              </a:rPr>
              <a:t>aju</a:t>
            </a:r>
            <a:r>
              <a:rPr lang="en-US" altLang="en-US" dirty="0">
                <a:cs typeface="Times New Roman" panose="02020603050405020304" pitchFamily="18" charset="0"/>
              </a:rPr>
              <a:t> ne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do</a:t>
            </a:r>
            <a:r>
              <a:rPr lang="hr-HR" altLang="en-US" dirty="0"/>
              <a:t>ć</a:t>
            </a:r>
            <a:r>
              <a:rPr lang="en-US" altLang="en-US" dirty="0">
                <a:cs typeface="Times New Roman" panose="02020603050405020304" pitchFamily="18" charset="0"/>
              </a:rPr>
              <a:t>i do loop-carry </a:t>
            </a:r>
            <a:r>
              <a:rPr lang="en-US" altLang="en-US" dirty="0" err="1">
                <a:cs typeface="Times New Roman" panose="02020603050405020304" pitchFamily="18" charset="0"/>
              </a:rPr>
              <a:t>zavisnosti</a:t>
            </a:r>
            <a:r>
              <a:rPr lang="en-US" altLang="en-US" dirty="0">
                <a:cs typeface="Times New Roman" panose="02020603050405020304" pitchFamily="18" charset="0"/>
              </a:rPr>
              <a:t>.</a:t>
            </a:r>
            <a:endParaRPr lang="hr-HR" altLang="en-US" dirty="0"/>
          </a:p>
          <a:p>
            <a:pPr marL="895350" lvl="1" indent="-438150">
              <a:defRPr/>
            </a:pPr>
            <a:r>
              <a:rPr lang="en-US" altLang="en-US" dirty="0">
                <a:cs typeface="Times New Roman" panose="02020603050405020304" pitchFamily="18" charset="0"/>
              </a:rPr>
              <a:t>Tre</a:t>
            </a:r>
            <a:r>
              <a:rPr lang="hr-HR" altLang="en-US" dirty="0"/>
              <a:t>ć</a:t>
            </a:r>
            <a:r>
              <a:rPr lang="en-US" altLang="en-US" dirty="0">
                <a:cs typeface="Times New Roman" panose="02020603050405020304" pitchFamily="18" charset="0"/>
              </a:rPr>
              <a:t>i tip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postoji</a:t>
            </a:r>
            <a:r>
              <a:rPr lang="en-US" altLang="en-US" dirty="0">
                <a:cs typeface="Times New Roman" panose="02020603050405020304" pitchFamily="18" charset="0"/>
              </a:rPr>
              <a:t>, </a:t>
            </a:r>
            <a:r>
              <a:rPr lang="en-US" altLang="en-US" dirty="0" err="1">
                <a:cs typeface="Times New Roman" panose="02020603050405020304" pitchFamily="18" charset="0"/>
              </a:rPr>
              <a:t>ali</a:t>
            </a:r>
            <a:r>
              <a:rPr lang="en-US" altLang="en-US" dirty="0">
                <a:cs typeface="Times New Roman" panose="02020603050405020304" pitchFamily="18" charset="0"/>
              </a:rPr>
              <a:t> </a:t>
            </a:r>
            <a:r>
              <a:rPr lang="en-US" altLang="en-US" dirty="0" err="1">
                <a:cs typeface="Times New Roman" panose="02020603050405020304" pitchFamily="18" charset="0"/>
              </a:rPr>
              <a:t>ovaj</a:t>
            </a:r>
            <a:r>
              <a:rPr lang="en-US" altLang="en-US" dirty="0">
                <a:cs typeface="Times New Roman" panose="02020603050405020304" pitchFamily="18" charset="0"/>
              </a:rPr>
              <a:t> tip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procesor</a:t>
            </a:r>
            <a:r>
              <a:rPr lang="en-US" altLang="en-US" dirty="0">
                <a:cs typeface="Times New Roman" panose="02020603050405020304" pitchFamily="18" charset="0"/>
              </a:rPr>
              <a:t>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a:t>
            </a:r>
            <a:r>
              <a:rPr lang="en-US" altLang="en-US" dirty="0" err="1">
                <a:cs typeface="Times New Roman" panose="02020603050405020304" pitchFamily="18" charset="0"/>
              </a:rPr>
              <a:t>detektovati</a:t>
            </a:r>
            <a:r>
              <a:rPr lang="en-US" altLang="en-US" dirty="0">
                <a:cs typeface="Times New Roman" panose="02020603050405020304" pitchFamily="18" charset="0"/>
              </a:rPr>
              <a:t> i </a:t>
            </a:r>
            <a:r>
              <a:rPr lang="en-US" altLang="en-US" dirty="0" err="1">
                <a:cs typeface="Times New Roman" panose="02020603050405020304" pitchFamily="18" charset="0"/>
              </a:rPr>
              <a:t>zaustaviti</a:t>
            </a:r>
            <a:r>
              <a:rPr lang="en-US" altLang="en-US" dirty="0">
                <a:cs typeface="Times New Roman" panose="02020603050405020304" pitchFamily="18" charset="0"/>
              </a:rPr>
              <a:t> </a:t>
            </a:r>
            <a:r>
              <a:rPr lang="en-US" altLang="en-US" dirty="0" err="1">
                <a:cs typeface="Times New Roman" panose="02020603050405020304" pitchFamily="18" charset="0"/>
              </a:rPr>
              <a:t>izdavanje</a:t>
            </a:r>
            <a:r>
              <a:rPr lang="en-US" altLang="en-US" dirty="0">
                <a:cs typeface="Times New Roman" panose="02020603050405020304" pitchFamily="18" charset="0"/>
              </a:rPr>
              <a:t> </a:t>
            </a:r>
            <a:r>
              <a:rPr lang="en-US" altLang="en-US" dirty="0" err="1">
                <a:cs typeface="Times New Roman" panose="02020603050405020304" pitchFamily="18" charset="0"/>
              </a:rPr>
              <a:t>naredbe</a:t>
            </a:r>
            <a:r>
              <a:rPr lang="en-US" altLang="en-US" dirty="0">
                <a:cs typeface="Times New Roman" panose="02020603050405020304" pitchFamily="18" charset="0"/>
              </a:rPr>
              <a:t> za </a:t>
            </a:r>
            <a:r>
              <a:rPr lang="en-US" altLang="en-US" dirty="0" err="1">
                <a:cs typeface="Times New Roman" panose="02020603050405020304" pitchFamily="18" charset="0"/>
              </a:rPr>
              <a:t>mno</a:t>
            </a:r>
            <a:r>
              <a:rPr lang="hr-HR" altLang="en-US" dirty="0"/>
              <a:t>ž</a:t>
            </a:r>
            <a:r>
              <a:rPr lang="en-US" altLang="en-US" dirty="0" err="1">
                <a:cs typeface="Times New Roman" panose="02020603050405020304" pitchFamily="18" charset="0"/>
              </a:rPr>
              <a:t>enje</a:t>
            </a:r>
            <a:r>
              <a:rPr lang="en-US" altLang="en-US" dirty="0">
                <a:cs typeface="Times New Roman" panose="02020603050405020304" pitchFamily="18" charset="0"/>
              </a:rPr>
              <a:t>, </a:t>
            </a:r>
            <a:r>
              <a:rPr lang="en-US" altLang="en-US" dirty="0" err="1">
                <a:cs typeface="Times New Roman" panose="02020603050405020304" pitchFamily="18" charset="0"/>
              </a:rPr>
              <a:t>mada</a:t>
            </a:r>
            <a:r>
              <a:rPr lang="en-US" altLang="en-US" dirty="0">
                <a:cs typeface="Times New Roman" panose="02020603050405020304" pitchFamily="18" charset="0"/>
              </a:rPr>
              <a:t> bi + i * </a:t>
            </a:r>
            <a:r>
              <a:rPr lang="en-US" altLang="en-US" dirty="0" err="1">
                <a:cs typeface="Times New Roman" panose="02020603050405020304" pitchFamily="18" charset="0"/>
              </a:rPr>
              <a:t>mogle</a:t>
            </a:r>
            <a:r>
              <a:rPr lang="en-US" altLang="en-US" dirty="0">
                <a:cs typeface="Times New Roman" panose="02020603050405020304" pitchFamily="18" charset="0"/>
              </a:rPr>
              <a:t> </a:t>
            </a:r>
            <a:r>
              <a:rPr lang="en-US" altLang="en-US" dirty="0" err="1">
                <a:cs typeface="Times New Roman" panose="02020603050405020304" pitchFamily="18" charset="0"/>
              </a:rPr>
              <a:t>paralelno</a:t>
            </a:r>
            <a:r>
              <a:rPr lang="en-US" altLang="en-US" dirty="0">
                <a:cs typeface="Times New Roman" panose="02020603050405020304" pitchFamily="18" charset="0"/>
              </a:rPr>
              <a:t> da se </a:t>
            </a:r>
            <a:r>
              <a:rPr lang="en-US" altLang="en-US" dirty="0" err="1">
                <a:cs typeface="Times New Roman" panose="02020603050405020304" pitchFamily="18" charset="0"/>
              </a:rPr>
              <a:t>izvr</a:t>
            </a:r>
            <a:r>
              <a:rPr lang="hr-HR" altLang="en-US" dirty="0"/>
              <a:t>š</a:t>
            </a:r>
            <a:r>
              <a:rPr lang="en-US" altLang="en-US" dirty="0" err="1">
                <a:cs typeface="Times New Roman" panose="02020603050405020304" pitchFamily="18" charset="0"/>
              </a:rPr>
              <a:t>avaju</a:t>
            </a:r>
            <a:r>
              <a:rPr lang="en-US" altLang="en-US" dirty="0">
                <a:cs typeface="Times New Roman" panose="02020603050405020304" pitchFamily="18" charset="0"/>
              </a:rPr>
              <a:t> </a:t>
            </a:r>
            <a:r>
              <a:rPr lang="en-US" altLang="en-US" dirty="0" err="1">
                <a:cs typeface="Times New Roman" panose="02020603050405020304" pitchFamily="18" charset="0"/>
              </a:rPr>
              <a:t>jer</a:t>
            </a:r>
            <a:r>
              <a:rPr lang="en-US" altLang="en-US" dirty="0">
                <a:cs typeface="Times New Roman" panose="02020603050405020304" pitchFamily="18" charset="0"/>
              </a:rPr>
              <a:t> ne </a:t>
            </a:r>
            <a:r>
              <a:rPr lang="en-US" altLang="en-US" dirty="0" err="1">
                <a:cs typeface="Times New Roman" panose="02020603050405020304" pitchFamily="18" charset="0"/>
              </a:rPr>
              <a:t>koriste</a:t>
            </a:r>
            <a:r>
              <a:rPr lang="en-US" altLang="en-US" dirty="0">
                <a:cs typeface="Times New Roman" panose="02020603050405020304" pitchFamily="18" charset="0"/>
              </a:rPr>
              <a:t> </a:t>
            </a:r>
            <a:r>
              <a:rPr lang="en-US" altLang="en-US" dirty="0" err="1">
                <a:cs typeface="Times New Roman" panose="02020603050405020304" pitchFamily="18" charset="0"/>
              </a:rPr>
              <a:t>iste</a:t>
            </a:r>
            <a:r>
              <a:rPr lang="en-US" altLang="en-US" dirty="0">
                <a:cs typeface="Times New Roman" panose="02020603050405020304" pitchFamily="18" charset="0"/>
              </a:rPr>
              <a:t> </a:t>
            </a:r>
            <a:r>
              <a:rPr lang="en-US" altLang="en-US" dirty="0" err="1">
                <a:cs typeface="Times New Roman" panose="02020603050405020304" pitchFamily="18" charset="0"/>
              </a:rPr>
              <a:t>funkcionalne</a:t>
            </a:r>
            <a:r>
              <a:rPr lang="en-US" altLang="en-US" dirty="0">
                <a:cs typeface="Times New Roman" panose="02020603050405020304" pitchFamily="18" charset="0"/>
              </a:rPr>
              <a:t> </a:t>
            </a:r>
            <a:r>
              <a:rPr lang="en-US" altLang="en-US" dirty="0" err="1">
                <a:cs typeface="Times New Roman" panose="02020603050405020304" pitchFamily="18" charset="0"/>
              </a:rPr>
              <a:t>jedinice</a:t>
            </a:r>
            <a:r>
              <a:rPr lang="en-US" altLang="en-US" dirty="0">
                <a:cs typeface="Times New Roman" panose="02020603050405020304" pitchFamily="18" charset="0"/>
              </a:rPr>
              <a:t>.</a:t>
            </a:r>
            <a:r>
              <a:rPr lang="en-US" altLang="en-US" dirty="0"/>
              <a:t> </a:t>
            </a:r>
          </a:p>
        </p:txBody>
      </p:sp>
    </p:spTree>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58EC290-7D74-38C5-0C28-EA9D93D2ED1F}"/>
              </a:ext>
            </a:extLst>
          </p:cNvPr>
          <p:cNvSpPr>
            <a:spLocks noGrp="1" noChangeArrowheads="1"/>
          </p:cNvSpPr>
          <p:nvPr>
            <p:ph type="title"/>
          </p:nvPr>
        </p:nvSpPr>
        <p:spPr/>
        <p:txBody>
          <a:bodyPr/>
          <a:lstStyle/>
          <a:p>
            <a:pPr>
              <a:defRPr/>
            </a:pPr>
            <a:r>
              <a:rPr lang="hr-HR" altLang="en-US"/>
              <a:t>Analiza zavisnosti</a:t>
            </a:r>
            <a:endParaRPr lang="en-US" altLang="en-US"/>
          </a:p>
        </p:txBody>
      </p:sp>
      <p:sp>
        <p:nvSpPr>
          <p:cNvPr id="10243" name="Rectangle 3">
            <a:extLst>
              <a:ext uri="{FF2B5EF4-FFF2-40B4-BE49-F238E27FC236}">
                <a16:creationId xmlns:a16="http://schemas.microsoft.com/office/drawing/2014/main" id="{9EE34E5C-6CCD-DFCB-3273-F5DB43FCD2EA}"/>
              </a:ext>
            </a:extLst>
          </p:cNvPr>
          <p:cNvSpPr>
            <a:spLocks noGrp="1" noChangeArrowheads="1"/>
          </p:cNvSpPr>
          <p:nvPr>
            <p:ph type="body" idx="1"/>
          </p:nvPr>
        </p:nvSpPr>
        <p:spPr/>
        <p:txBody>
          <a:bodyPr/>
          <a:lstStyle/>
          <a:p>
            <a:pPr marL="533400" indent="-533400">
              <a:defRPr/>
            </a:pPr>
            <a:r>
              <a:rPr lang="hr-HR" altLang="en-US"/>
              <a:t>Č</a:t>
            </a:r>
            <a:r>
              <a:rPr lang="en-US" altLang="en-US">
                <a:cs typeface="Times New Roman" panose="02020603050405020304" pitchFamily="18" charset="0"/>
              </a:rPr>
              <a:t>esto se isto ime pojavljuje i kako izvor i kao odredi</a:t>
            </a:r>
            <a:r>
              <a:rPr lang="hr-HR" altLang="en-US"/>
              <a:t>š</a:t>
            </a:r>
            <a:r>
              <a:rPr lang="en-US" altLang="en-US">
                <a:cs typeface="Times New Roman" panose="02020603050405020304" pitchFamily="18" charset="0"/>
              </a:rPr>
              <a:t>te unutar petlje</a:t>
            </a:r>
            <a:r>
              <a:rPr lang="hr-HR" altLang="en-US"/>
              <a:t>:</a:t>
            </a:r>
          </a:p>
          <a:p>
            <a:pPr marL="895350" lvl="1" indent="-438150" algn="just">
              <a:buFont typeface="Wingdings" panose="05000000000000000000" pitchFamily="2" charset="2"/>
              <a:buNone/>
              <a:defRPr/>
            </a:pPr>
            <a:r>
              <a:rPr lang="hr-HR" altLang="en-US"/>
              <a:t>	</a:t>
            </a:r>
            <a:r>
              <a:rPr lang="en-US" altLang="en-US"/>
              <a:t>for</a:t>
            </a:r>
            <a:r>
              <a:rPr lang="en-US" altLang="en-US">
                <a:cs typeface="Times New Roman" panose="02020603050405020304" pitchFamily="18" charset="0"/>
              </a:rPr>
              <a:t> 10 i=1 to 100</a:t>
            </a:r>
          </a:p>
          <a:p>
            <a:pPr marL="895350" lvl="1" indent="-438150" algn="just">
              <a:buFont typeface="Wingdings" panose="05000000000000000000" pitchFamily="2" charset="2"/>
              <a:buNone/>
              <a:defRPr/>
            </a:pPr>
            <a:r>
              <a:rPr lang="en-US" altLang="en-US">
                <a:cs typeface="Times New Roman" panose="02020603050405020304" pitchFamily="18" charset="0"/>
              </a:rPr>
              <a:t>		y(i)=ax(i)+y(i)</a:t>
            </a:r>
          </a:p>
          <a:p>
            <a:pPr marL="895350" lvl="1" indent="-438150">
              <a:buFont typeface="Wingdings" panose="05000000000000000000" pitchFamily="2" charset="2"/>
              <a:buNone/>
              <a:defRPr/>
            </a:pPr>
            <a:r>
              <a:rPr lang="en-US" altLang="en-US">
                <a:cs typeface="Times New Roman" panose="02020603050405020304" pitchFamily="18" charset="0"/>
              </a:rPr>
              <a:t>     endfor</a:t>
            </a:r>
            <a:r>
              <a:rPr lang="en-US" altLang="en-US"/>
              <a:t> </a:t>
            </a:r>
            <a:endParaRPr lang="hr-HR" altLang="en-US"/>
          </a:p>
          <a:p>
            <a:pPr marL="533400" indent="-533400">
              <a:defRPr/>
            </a:pPr>
            <a:r>
              <a:rPr lang="en-US" altLang="en-US">
                <a:cs typeface="Times New Roman" panose="02020603050405020304" pitchFamily="18" charset="0"/>
              </a:rPr>
              <a:t>U ovom slu</a:t>
            </a:r>
            <a:r>
              <a:rPr lang="hr-HR" altLang="en-US"/>
              <a:t>č</a:t>
            </a:r>
            <a:r>
              <a:rPr lang="en-US" altLang="en-US">
                <a:cs typeface="Times New Roman" panose="02020603050405020304" pitchFamily="18" charset="0"/>
              </a:rPr>
              <a:t>aju ne postoji loop-carry  zavisnost jer rezultat izra</a:t>
            </a:r>
            <a:r>
              <a:rPr lang="hr-HR" altLang="en-US"/>
              <a:t>č</a:t>
            </a:r>
            <a:r>
              <a:rPr lang="en-US" altLang="en-US">
                <a:cs typeface="Times New Roman" panose="02020603050405020304" pitchFamily="18" charset="0"/>
              </a:rPr>
              <a:t>unavanja </a:t>
            </a:r>
            <a:r>
              <a:rPr lang="en-US" altLang="en-US" i="1">
                <a:solidFill>
                  <a:schemeClr val="hlink"/>
                </a:solidFill>
                <a:cs typeface="Times New Roman" panose="02020603050405020304" pitchFamily="18" charset="0"/>
              </a:rPr>
              <a:t>y</a:t>
            </a:r>
            <a:r>
              <a:rPr lang="en-US" altLang="en-US">
                <a:cs typeface="Times New Roman" panose="02020603050405020304" pitchFamily="18" charset="0"/>
              </a:rPr>
              <a:t> ne zavisi od prethodnog izra</a:t>
            </a:r>
            <a:r>
              <a:rPr lang="hr-HR" altLang="en-US"/>
              <a:t>č</a:t>
            </a:r>
            <a:r>
              <a:rPr lang="en-US" altLang="en-US">
                <a:cs typeface="Times New Roman" panose="02020603050405020304" pitchFamily="18" charset="0"/>
              </a:rPr>
              <a:t>unavanja. </a:t>
            </a:r>
            <a:endParaRPr lang="hr-HR" altLang="en-US"/>
          </a:p>
          <a:p>
            <a:pPr marL="895350" lvl="1" indent="-438150">
              <a:defRPr/>
            </a:pPr>
            <a:r>
              <a:rPr lang="en-US" altLang="en-US">
                <a:cs typeface="Times New Roman" panose="02020603050405020304" pitchFamily="18" charset="0"/>
              </a:rPr>
              <a:t>Ovaj problem se mo</a:t>
            </a:r>
            <a:r>
              <a:rPr lang="hr-HR" altLang="en-US"/>
              <a:t>ž</a:t>
            </a:r>
            <a:r>
              <a:rPr lang="en-US" altLang="en-US">
                <a:cs typeface="Times New Roman" panose="02020603050405020304" pitchFamily="18" charset="0"/>
              </a:rPr>
              <a:t>e re</a:t>
            </a:r>
            <a:r>
              <a:rPr lang="hr-HR" altLang="en-US"/>
              <a:t>š</a:t>
            </a:r>
            <a:r>
              <a:rPr lang="en-US" altLang="en-US">
                <a:cs typeface="Times New Roman" panose="02020603050405020304" pitchFamily="18" charset="0"/>
              </a:rPr>
              <a:t>iti preimenovanjem promenljivih</a:t>
            </a:r>
            <a:r>
              <a:rPr lang="en-US" altLang="en-US"/>
              <a:t> </a:t>
            </a:r>
          </a:p>
        </p:txBody>
      </p:sp>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D0875F9-F2FD-B648-629B-CAD719F34EA9}"/>
              </a:ext>
            </a:extLst>
          </p:cNvPr>
          <p:cNvSpPr>
            <a:spLocks noGrp="1" noChangeArrowheads="1"/>
          </p:cNvSpPr>
          <p:nvPr>
            <p:ph type="title"/>
          </p:nvPr>
        </p:nvSpPr>
        <p:spPr/>
        <p:txBody>
          <a:bodyPr/>
          <a:lstStyle/>
          <a:p>
            <a:pPr>
              <a:defRPr/>
            </a:pPr>
            <a:r>
              <a:rPr lang="hr-HR" altLang="en-US"/>
              <a:t>Analiza zavisnosti</a:t>
            </a:r>
            <a:endParaRPr lang="en-US" altLang="en-US"/>
          </a:p>
        </p:txBody>
      </p:sp>
      <p:sp>
        <p:nvSpPr>
          <p:cNvPr id="11267" name="Rectangle 3">
            <a:extLst>
              <a:ext uri="{FF2B5EF4-FFF2-40B4-BE49-F238E27FC236}">
                <a16:creationId xmlns:a16="http://schemas.microsoft.com/office/drawing/2014/main" id="{311B7726-D1B7-E8DC-9C51-EA77E7533A29}"/>
              </a:ext>
            </a:extLst>
          </p:cNvPr>
          <p:cNvSpPr>
            <a:spLocks noGrp="1" noChangeArrowheads="1"/>
          </p:cNvSpPr>
          <p:nvPr>
            <p:ph type="body" idx="1"/>
          </p:nvPr>
        </p:nvSpPr>
        <p:spPr/>
        <p:txBody>
          <a:bodyPr/>
          <a:lstStyle/>
          <a:p>
            <a:pPr marL="533400" indent="-533400" algn="just">
              <a:defRPr/>
            </a:pPr>
            <a:r>
              <a:rPr lang="hr-HR" altLang="en-US"/>
              <a:t>S</a:t>
            </a:r>
            <a:r>
              <a:rPr lang="en-US" altLang="en-US">
                <a:cs typeface="Times New Roman" panose="02020603050405020304" pitchFamily="18" charset="0"/>
              </a:rPr>
              <a:t>lede</a:t>
            </a:r>
            <a:r>
              <a:rPr lang="hr-HR" altLang="en-US"/>
              <a:t>ć</a:t>
            </a:r>
            <a:r>
              <a:rPr lang="en-US" altLang="en-US">
                <a:cs typeface="Times New Roman" panose="02020603050405020304" pitchFamily="18" charset="0"/>
              </a:rPr>
              <a:t>a petlja, koja se </a:t>
            </a:r>
            <a:r>
              <a:rPr lang="hr-HR" altLang="en-US"/>
              <a:t>č</a:t>
            </a:r>
            <a:r>
              <a:rPr lang="en-US" altLang="en-US">
                <a:cs typeface="Times New Roman" panose="02020603050405020304" pitchFamily="18" charset="0"/>
              </a:rPr>
              <a:t>esto zove rekurentna petlja, sadr</a:t>
            </a:r>
            <a:r>
              <a:rPr lang="hr-HR" altLang="en-US"/>
              <a:t>ž</a:t>
            </a:r>
            <a:r>
              <a:rPr lang="en-US" altLang="en-US">
                <a:cs typeface="Times New Roman" panose="02020603050405020304" pitchFamily="18" charset="0"/>
              </a:rPr>
              <a:t>i loop-carry  zavisnost:</a:t>
            </a:r>
            <a:endParaRPr lang="hr-HR" altLang="en-US"/>
          </a:p>
          <a:p>
            <a:pPr marL="895350" lvl="1" indent="-438150" algn="just">
              <a:buFont typeface="Wingdings" panose="05000000000000000000" pitchFamily="2" charset="2"/>
              <a:buNone/>
              <a:defRPr/>
            </a:pPr>
            <a:r>
              <a:rPr lang="hr-HR" altLang="en-US"/>
              <a:t>		</a:t>
            </a:r>
            <a:r>
              <a:rPr lang="en-US" altLang="en-US">
                <a:cs typeface="Times New Roman" panose="02020603050405020304" pitchFamily="18" charset="0"/>
              </a:rPr>
              <a:t>for i=2 to 100</a:t>
            </a:r>
          </a:p>
          <a:p>
            <a:pPr marL="895350" lvl="1" indent="-438150" algn="just">
              <a:buFont typeface="Wingdings" panose="05000000000000000000" pitchFamily="2" charset="2"/>
              <a:buNone/>
              <a:defRPr/>
            </a:pPr>
            <a:r>
              <a:rPr lang="en-US" altLang="en-US">
                <a:cs typeface="Times New Roman" panose="02020603050405020304" pitchFamily="18" charset="0"/>
              </a:rPr>
              <a:t>		y(i)=y(i-1)+y(i)</a:t>
            </a:r>
          </a:p>
          <a:p>
            <a:pPr marL="895350" lvl="1" indent="-438150" algn="just">
              <a:buFont typeface="Wingdings" panose="05000000000000000000" pitchFamily="2" charset="2"/>
              <a:buNone/>
              <a:defRPr/>
            </a:pPr>
            <a:r>
              <a:rPr lang="en-US" altLang="en-US">
                <a:cs typeface="Times New Roman" panose="02020603050405020304" pitchFamily="18" charset="0"/>
              </a:rPr>
              <a:t>    endfor</a:t>
            </a:r>
            <a:r>
              <a:rPr lang="en-US" altLang="en-US">
                <a:latin typeface="Times New Roman" panose="02020603050405020304" pitchFamily="18" charset="0"/>
              </a:rPr>
              <a:t> </a:t>
            </a:r>
            <a:endParaRPr lang="hr-HR" altLang="en-US">
              <a:latin typeface="Times New Roman" panose="02020603050405020304" pitchFamily="18" charset="0"/>
            </a:endParaRPr>
          </a:p>
          <a:p>
            <a:pPr marL="533400" indent="-533400" algn="just">
              <a:defRPr/>
            </a:pPr>
            <a:r>
              <a:rPr lang="en-US" altLang="en-US">
                <a:cs typeface="Times New Roman" panose="02020603050405020304" pitchFamily="18" charset="0"/>
              </a:rPr>
              <a:t>Zavisnost se mo</a:t>
            </a:r>
            <a:r>
              <a:rPr lang="hr-HR" altLang="en-US"/>
              <a:t>ž</a:t>
            </a:r>
            <a:r>
              <a:rPr lang="en-US" altLang="en-US">
                <a:cs typeface="Times New Roman" panose="02020603050405020304" pitchFamily="18" charset="0"/>
              </a:rPr>
              <a:t>e uo</a:t>
            </a:r>
            <a:r>
              <a:rPr lang="hr-HR" altLang="en-US"/>
              <a:t>č</a:t>
            </a:r>
            <a:r>
              <a:rPr lang="en-US" altLang="en-US">
                <a:cs typeface="Times New Roman" panose="02020603050405020304" pitchFamily="18" charset="0"/>
              </a:rPr>
              <a:t>iti razvijanjem petlje:</a:t>
            </a:r>
          </a:p>
          <a:p>
            <a:pPr marL="895350" lvl="1" indent="-438150" algn="just">
              <a:buFont typeface="Wingdings" panose="05000000000000000000" pitchFamily="2" charset="2"/>
              <a:buNone/>
              <a:defRPr/>
            </a:pPr>
            <a:r>
              <a:rPr lang="en-US" altLang="en-US">
                <a:cs typeface="Times New Roman" panose="02020603050405020304" pitchFamily="18" charset="0"/>
              </a:rPr>
              <a:t>za i=2		y(2)=y(1)+y(2)</a:t>
            </a:r>
          </a:p>
          <a:p>
            <a:pPr marL="895350" lvl="1" indent="-438150" algn="just">
              <a:buFont typeface="Wingdings" panose="05000000000000000000" pitchFamily="2" charset="2"/>
              <a:buNone/>
              <a:defRPr/>
            </a:pPr>
            <a:r>
              <a:rPr lang="hr-HR" altLang="en-US"/>
              <a:t>     </a:t>
            </a:r>
            <a:r>
              <a:rPr lang="en-US" altLang="en-US">
                <a:cs typeface="Times New Roman" panose="02020603050405020304" pitchFamily="18" charset="0"/>
              </a:rPr>
              <a:t>________________________</a:t>
            </a:r>
          </a:p>
          <a:p>
            <a:pPr marL="895350" lvl="1" indent="-438150" algn="just">
              <a:buFont typeface="Wingdings" panose="05000000000000000000" pitchFamily="2" charset="2"/>
              <a:buNone/>
              <a:defRPr/>
            </a:pPr>
            <a:r>
              <a:rPr lang="en-US" altLang="en-US">
                <a:cs typeface="Times New Roman" panose="02020603050405020304" pitchFamily="18" charset="0"/>
              </a:rPr>
              <a:t> </a:t>
            </a:r>
          </a:p>
          <a:p>
            <a:pPr marL="895350" lvl="1" indent="-438150" algn="just">
              <a:buFont typeface="Wingdings" panose="05000000000000000000" pitchFamily="2" charset="2"/>
              <a:buNone/>
              <a:defRPr/>
            </a:pPr>
            <a:r>
              <a:rPr lang="en-US" altLang="en-US">
                <a:cs typeface="Times New Roman" panose="02020603050405020304" pitchFamily="18" charset="0"/>
              </a:rPr>
              <a:t>za i=3		y(3)=y(2)+y(3)</a:t>
            </a:r>
          </a:p>
          <a:p>
            <a:pPr marL="895350" lvl="1" indent="-438150" algn="just">
              <a:buFont typeface="Wingdings" panose="05000000000000000000" pitchFamily="2" charset="2"/>
              <a:buNone/>
              <a:defRPr/>
            </a:pPr>
            <a:endParaRPr lang="en-US" altLang="en-US"/>
          </a:p>
          <a:p>
            <a:pPr marL="533400" indent="-533400">
              <a:defRPr/>
            </a:pPr>
            <a:endParaRPr lang="en-US" altLang="en-US"/>
          </a:p>
        </p:txBody>
      </p:sp>
      <p:sp>
        <p:nvSpPr>
          <p:cNvPr id="33796" name="Line 4">
            <a:extLst>
              <a:ext uri="{FF2B5EF4-FFF2-40B4-BE49-F238E27FC236}">
                <a16:creationId xmlns:a16="http://schemas.microsoft.com/office/drawing/2014/main" id="{25801E87-B94C-8529-5DE4-70394B80D3F1}"/>
              </a:ext>
            </a:extLst>
          </p:cNvPr>
          <p:cNvSpPr>
            <a:spLocks noChangeShapeType="1"/>
          </p:cNvSpPr>
          <p:nvPr/>
        </p:nvSpPr>
        <p:spPr bwMode="auto">
          <a:xfrm>
            <a:off x="3200400" y="3962400"/>
            <a:ext cx="609600" cy="8382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C2875B7-3B23-5063-ECAE-55663CFA2350}"/>
              </a:ext>
            </a:extLst>
          </p:cNvPr>
          <p:cNvSpPr>
            <a:spLocks noGrp="1" noChangeArrowheads="1"/>
          </p:cNvSpPr>
          <p:nvPr>
            <p:ph type="title"/>
          </p:nvPr>
        </p:nvSpPr>
        <p:spPr>
          <a:xfrm>
            <a:off x="0" y="0"/>
            <a:ext cx="9144000" cy="1066800"/>
          </a:xfrm>
        </p:spPr>
        <p:txBody>
          <a:bodyPr/>
          <a:lstStyle/>
          <a:p>
            <a:pPr>
              <a:defRPr/>
            </a:pPr>
            <a:r>
              <a:rPr lang="hr-HR" altLang="en-US" sz="3200"/>
              <a:t>Kako kompajler detektuje loop carry zavisnosti generalno?</a:t>
            </a:r>
            <a:endParaRPr lang="en-US" altLang="en-US" sz="3200"/>
          </a:p>
        </p:txBody>
      </p:sp>
      <p:sp>
        <p:nvSpPr>
          <p:cNvPr id="70659" name="Rectangle 3">
            <a:extLst>
              <a:ext uri="{FF2B5EF4-FFF2-40B4-BE49-F238E27FC236}">
                <a16:creationId xmlns:a16="http://schemas.microsoft.com/office/drawing/2014/main" id="{3B115B1B-037B-800A-0E72-73E5660568DB}"/>
              </a:ext>
            </a:extLst>
          </p:cNvPr>
          <p:cNvSpPr>
            <a:spLocks noGrp="1" noChangeArrowheads="1"/>
          </p:cNvSpPr>
          <p:nvPr>
            <p:ph type="body" idx="1"/>
          </p:nvPr>
        </p:nvSpPr>
        <p:spPr>
          <a:xfrm>
            <a:off x="0" y="1219200"/>
            <a:ext cx="9144000" cy="5638800"/>
          </a:xfrm>
        </p:spPr>
        <p:txBody>
          <a:bodyPr>
            <a:normAutofit fontScale="92500" lnSpcReduction="10000"/>
          </a:bodyPr>
          <a:lstStyle/>
          <a:p>
            <a:pPr>
              <a:buFont typeface="Wingdings 2" panose="05020102010507070707" pitchFamily="18" charset="2"/>
              <a:buNone/>
              <a:defRPr/>
            </a:pPr>
            <a:r>
              <a:rPr lang="en-US" altLang="en-US" sz="2400" dirty="0"/>
              <a:t>for i</a:t>
            </a:r>
            <a:r>
              <a:rPr lang="en-US" altLang="en-US" sz="2400" baseline="-25000" dirty="0"/>
              <a:t>1</a:t>
            </a:r>
            <a:r>
              <a:rPr lang="en-US" altLang="en-US" sz="2400" dirty="0"/>
              <a:t>=L</a:t>
            </a:r>
            <a:r>
              <a:rPr lang="en-US" altLang="en-US" sz="2400" baseline="-25000" dirty="0"/>
              <a:t>1</a:t>
            </a:r>
            <a:r>
              <a:rPr lang="en-US" altLang="en-US" sz="2400" dirty="0"/>
              <a:t>,U</a:t>
            </a:r>
            <a:r>
              <a:rPr lang="en-US" altLang="en-US" sz="2400" baseline="-25000" dirty="0"/>
              <a:t>1</a:t>
            </a:r>
          </a:p>
          <a:p>
            <a:pPr>
              <a:buFont typeface="Wingdings 2" panose="05020102010507070707" pitchFamily="18" charset="2"/>
              <a:buNone/>
              <a:defRPr/>
            </a:pPr>
            <a:r>
              <a:rPr lang="en-US" altLang="en-US" sz="2400" dirty="0"/>
              <a:t>	for i</a:t>
            </a:r>
            <a:r>
              <a:rPr lang="en-US" altLang="en-US" sz="2400" baseline="-25000" dirty="0"/>
              <a:t>2</a:t>
            </a:r>
            <a:r>
              <a:rPr lang="en-US" altLang="en-US" sz="2400" dirty="0"/>
              <a:t>=</a:t>
            </a:r>
            <a:r>
              <a:rPr lang="sr-Latn-CS" altLang="en-US" sz="2400" dirty="0"/>
              <a:t>L</a:t>
            </a:r>
            <a:r>
              <a:rPr lang="en-US" altLang="en-US" sz="2400" baseline="-25000" dirty="0"/>
              <a:t>2</a:t>
            </a:r>
            <a:r>
              <a:rPr lang="en-US" altLang="en-US" sz="2400" dirty="0"/>
              <a:t>,U</a:t>
            </a:r>
            <a:r>
              <a:rPr lang="en-US" altLang="en-US" sz="2400" baseline="-25000" dirty="0"/>
              <a:t>2</a:t>
            </a:r>
          </a:p>
          <a:p>
            <a:pPr>
              <a:defRPr/>
            </a:pPr>
            <a:endParaRPr lang="en-US" altLang="en-US" sz="2400" dirty="0"/>
          </a:p>
          <a:p>
            <a:pPr>
              <a:buFont typeface="Wingdings 2" panose="05020102010507070707" pitchFamily="18" charset="2"/>
              <a:buNone/>
              <a:defRPr/>
            </a:pPr>
            <a:r>
              <a:rPr lang="en-US" altLang="en-US" sz="2400" dirty="0"/>
              <a:t>		for </a:t>
            </a:r>
            <a:r>
              <a:rPr lang="sr-Latn-CS" altLang="en-US" sz="2400" dirty="0"/>
              <a:t>i</a:t>
            </a:r>
            <a:r>
              <a:rPr lang="en-US" altLang="en-US" sz="2400" baseline="-25000" dirty="0"/>
              <a:t>n</a:t>
            </a:r>
            <a:r>
              <a:rPr lang="en-US" altLang="en-US" sz="2400" dirty="0"/>
              <a:t>=</a:t>
            </a:r>
            <a:r>
              <a:rPr lang="en-US" altLang="en-US" sz="2400" dirty="0" err="1"/>
              <a:t>L</a:t>
            </a:r>
            <a:r>
              <a:rPr lang="en-US" altLang="en-US" sz="2400" baseline="-25000" dirty="0" err="1"/>
              <a:t>n</a:t>
            </a:r>
            <a:r>
              <a:rPr lang="en-US" altLang="en-US" sz="2400" dirty="0" err="1"/>
              <a:t>,U</a:t>
            </a:r>
            <a:r>
              <a:rPr lang="en-US" altLang="en-US" sz="2400" baseline="-25000" dirty="0" err="1"/>
              <a:t>n</a:t>
            </a:r>
            <a:endParaRPr lang="en-US" altLang="en-US" sz="2400" baseline="-25000" dirty="0"/>
          </a:p>
          <a:p>
            <a:pPr>
              <a:buFont typeface="Wingdings 2" panose="05020102010507070707" pitchFamily="18" charset="2"/>
              <a:buNone/>
              <a:defRPr/>
            </a:pPr>
            <a:r>
              <a:rPr lang="en-US" altLang="en-US" sz="2400" dirty="0"/>
              <a:t>S1:   A(f(i</a:t>
            </a:r>
            <a:r>
              <a:rPr lang="en-US" altLang="en-US" sz="2400" baseline="-25000" dirty="0"/>
              <a:t>1</a:t>
            </a:r>
            <a:r>
              <a:rPr lang="en-US" altLang="en-US" sz="2400" dirty="0"/>
              <a:t>,i</a:t>
            </a:r>
            <a:r>
              <a:rPr lang="en-US" altLang="en-US" sz="2400" baseline="-25000" dirty="0"/>
              <a:t>2</a:t>
            </a:r>
            <a:r>
              <a:rPr lang="en-US" altLang="en-US" sz="2400" dirty="0"/>
              <a:t>,….,i</a:t>
            </a:r>
            <a:r>
              <a:rPr lang="en-US" altLang="en-US" sz="2400" baseline="-25000" dirty="0"/>
              <a:t>n</a:t>
            </a:r>
            <a:r>
              <a:rPr lang="en-US" altLang="en-US" sz="2400" dirty="0"/>
              <a:t>))=…..</a:t>
            </a:r>
          </a:p>
          <a:p>
            <a:pPr>
              <a:buFont typeface="Wingdings 2" panose="05020102010507070707" pitchFamily="18" charset="2"/>
              <a:buNone/>
              <a:defRPr/>
            </a:pPr>
            <a:r>
              <a:rPr lang="en-US" altLang="en-US" sz="2400" dirty="0"/>
              <a:t>S2:    ……..=A(g(i</a:t>
            </a:r>
            <a:r>
              <a:rPr lang="en-US" altLang="en-US" sz="2400" baseline="-25000" dirty="0"/>
              <a:t>1</a:t>
            </a:r>
            <a:r>
              <a:rPr lang="en-US" altLang="en-US" sz="2400" dirty="0"/>
              <a:t>,i</a:t>
            </a:r>
            <a:r>
              <a:rPr lang="en-US" altLang="en-US" sz="2400" baseline="-25000" dirty="0"/>
              <a:t>2</a:t>
            </a:r>
            <a:r>
              <a:rPr lang="en-US" altLang="en-US" sz="2400" dirty="0"/>
              <a:t>,….,i</a:t>
            </a:r>
            <a:r>
              <a:rPr lang="en-US" altLang="en-US" sz="2400" baseline="-25000" dirty="0"/>
              <a:t>n</a:t>
            </a:r>
            <a:r>
              <a:rPr lang="en-US" altLang="en-US" sz="2400" dirty="0"/>
              <a:t>))</a:t>
            </a:r>
          </a:p>
          <a:p>
            <a:pPr>
              <a:defRPr/>
            </a:pPr>
            <a:r>
              <a:rPr lang="en-US" altLang="en-US" sz="2400" dirty="0" err="1"/>
              <a:t>iterativni</a:t>
            </a:r>
            <a:r>
              <a:rPr lang="en-US" altLang="en-US" sz="2400" dirty="0"/>
              <a:t> vector, I je </a:t>
            </a:r>
            <a:r>
              <a:rPr lang="en-US" altLang="en-US" sz="2400" dirty="0" err="1"/>
              <a:t>celobrojni</a:t>
            </a:r>
            <a:r>
              <a:rPr lang="en-US" altLang="en-US" sz="2400" dirty="0"/>
              <a:t> vector I=(i1,i2,..,in), </a:t>
            </a:r>
            <a:r>
              <a:rPr lang="en-US" altLang="en-US" sz="2400" dirty="0" err="1"/>
              <a:t>pri</a:t>
            </a:r>
            <a:r>
              <a:rPr lang="en-US" altLang="en-US" sz="2400" dirty="0"/>
              <a:t> </a:t>
            </a:r>
            <a:r>
              <a:rPr lang="sr-Latn-RS" altLang="en-US" sz="2400" dirty="0"/>
              <a:t>čemu </a:t>
            </a:r>
            <a:r>
              <a:rPr lang="en-US" altLang="en-US" sz="2400" dirty="0"/>
              <a:t>element i</a:t>
            </a:r>
            <a:r>
              <a:rPr lang="sr-Latn-RS" altLang="en-US" sz="2400" dirty="0"/>
              <a:t>k predstavlja vrednost iterativnog indeksa i</a:t>
            </a:r>
            <a:r>
              <a:rPr lang="sr-Latn-RS" altLang="en-US" sz="2400" baseline="-25000" dirty="0"/>
              <a:t>k</a:t>
            </a:r>
            <a:r>
              <a:rPr lang="sr-Latn-RS" altLang="en-US" sz="2400" dirty="0"/>
              <a:t> na nivou k </a:t>
            </a:r>
            <a:endParaRPr lang="en-US" altLang="en-US" sz="2400" dirty="0"/>
          </a:p>
          <a:p>
            <a:pPr>
              <a:defRPr/>
            </a:pPr>
            <a:r>
              <a:rPr lang="en-US" altLang="en-US" sz="2400" dirty="0"/>
              <a:t>LC </a:t>
            </a:r>
            <a:r>
              <a:rPr lang="sr-Latn-CS" altLang="en-US" sz="2400" dirty="0"/>
              <a:t>zavisnost postoji ako postoje dva iterativna vektora I i J, I</a:t>
            </a:r>
            <a:r>
              <a:rPr lang="en-US" altLang="en-US" sz="2400" dirty="0"/>
              <a:t>&lt;J, </a:t>
            </a:r>
            <a:r>
              <a:rPr lang="en-US" altLang="en-US" sz="2400" dirty="0" err="1"/>
              <a:t>takva</a:t>
            </a:r>
            <a:r>
              <a:rPr lang="en-US" altLang="en-US" sz="2400" dirty="0"/>
              <a:t> da </a:t>
            </a:r>
            <a:r>
              <a:rPr lang="sr-Latn-CS" altLang="en-US" sz="2400" dirty="0"/>
              <a:t>važi da je f(I)=g(J)</a:t>
            </a:r>
          </a:p>
          <a:p>
            <a:pPr>
              <a:defRPr/>
            </a:pPr>
            <a:r>
              <a:rPr lang="sr-Latn-CS" altLang="en-US" sz="2400" dirty="0"/>
              <a:t>problem se svodi na rešavanje sistema celobrojnih jednačiina (Diofantove jednačine)</a:t>
            </a:r>
          </a:p>
          <a:p>
            <a:pPr>
              <a:defRPr/>
            </a:pPr>
            <a:r>
              <a:rPr lang="sr-Latn-CS" altLang="en-US" sz="2400" dirty="0"/>
              <a:t>Problem je np komleksan</a:t>
            </a:r>
          </a:p>
          <a:p>
            <a:pPr lvl="1">
              <a:defRPr/>
            </a:pPr>
            <a:r>
              <a:rPr lang="sr-Latn-CS" altLang="en-US" sz="2100" dirty="0"/>
              <a:t>sprovode se jednostavniji testovi koji samo daju dovoljne uslove (ali ne i potrebne) za postojanje zavisnosti</a:t>
            </a:r>
            <a:endParaRPr lang="en-US" altLang="en-US" sz="2100" dirty="0"/>
          </a:p>
        </p:txBody>
      </p:sp>
      <p:sp>
        <p:nvSpPr>
          <p:cNvPr id="34820" name="Line 4">
            <a:extLst>
              <a:ext uri="{FF2B5EF4-FFF2-40B4-BE49-F238E27FC236}">
                <a16:creationId xmlns:a16="http://schemas.microsoft.com/office/drawing/2014/main" id="{F7C6B02B-9DAE-9192-0D83-BFADB4FD12CC}"/>
              </a:ext>
            </a:extLst>
          </p:cNvPr>
          <p:cNvSpPr>
            <a:spLocks noChangeShapeType="1"/>
          </p:cNvSpPr>
          <p:nvPr/>
        </p:nvSpPr>
        <p:spPr bwMode="auto">
          <a:xfrm>
            <a:off x="1219200" y="2057400"/>
            <a:ext cx="609600" cy="3810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168E0-2242-B574-9078-D730D630D619}"/>
              </a:ext>
            </a:extLst>
          </p:cNvPr>
          <p:cNvSpPr>
            <a:spLocks noGrp="1"/>
          </p:cNvSpPr>
          <p:nvPr>
            <p:ph type="title"/>
          </p:nvPr>
        </p:nvSpPr>
        <p:spPr/>
        <p:txBody>
          <a:bodyPr/>
          <a:lstStyle/>
          <a:p>
            <a:endParaRPr lang="sr-Latn-RS"/>
          </a:p>
        </p:txBody>
      </p:sp>
      <p:sp>
        <p:nvSpPr>
          <p:cNvPr id="3" name="Content Placeholder 2">
            <a:extLst>
              <a:ext uri="{FF2B5EF4-FFF2-40B4-BE49-F238E27FC236}">
                <a16:creationId xmlns:a16="http://schemas.microsoft.com/office/drawing/2014/main" id="{C66C3C88-285A-0574-2D9F-67EEDAD3FE84}"/>
              </a:ext>
            </a:extLst>
          </p:cNvPr>
          <p:cNvSpPr>
            <a:spLocks noGrp="1"/>
          </p:cNvSpPr>
          <p:nvPr>
            <p:ph idx="1"/>
          </p:nvPr>
        </p:nvSpPr>
        <p:spPr/>
        <p:txBody>
          <a:bodyPr/>
          <a:lstStyle/>
          <a:p>
            <a:r>
              <a:rPr lang="sr-Latn-RS" dirty="0"/>
              <a:t>Da bi bilo koji test mogli da primenimo petlja mora da bude normalizovana, tj. da indeksna promenljiva krece od 0 (ili 1) i da se menja sa korakom 1.</a:t>
            </a:r>
          </a:p>
          <a:p>
            <a:pPr marL="857250" lvl="2" indent="0">
              <a:buNone/>
            </a:pPr>
            <a:r>
              <a:rPr lang="sr-Latn-RS" dirty="0"/>
              <a:t>for (i = 2; i &lt;= 100;  i= i+3)</a:t>
            </a:r>
          </a:p>
          <a:p>
            <a:pPr marL="857250" lvl="2" indent="0">
              <a:buNone/>
            </a:pPr>
            <a:r>
              <a:rPr lang="sr-Latn-RS" dirty="0"/>
              <a:t>		Z[i] = 0;</a:t>
            </a:r>
          </a:p>
          <a:p>
            <a:r>
              <a:rPr lang="sr-Latn-RS" dirty="0"/>
              <a:t>Normalizovana petlja:</a:t>
            </a:r>
          </a:p>
          <a:p>
            <a:pPr lvl="2" eaLnBrk="1" hangingPunct="1">
              <a:buNone/>
            </a:pPr>
            <a:r>
              <a:rPr lang="en-US" altLang="sr-Latn-RS" dirty="0">
                <a:solidFill>
                  <a:schemeClr val="bg2"/>
                </a:solidFill>
              </a:rPr>
              <a:t>for (i</a:t>
            </a:r>
            <a:r>
              <a:rPr lang="en-US" altLang="sr-Latn-RS" baseline="30000" dirty="0">
                <a:solidFill>
                  <a:schemeClr val="bg2"/>
                </a:solidFill>
              </a:rPr>
              <a:t>n </a:t>
            </a:r>
            <a:r>
              <a:rPr lang="en-US" altLang="sr-Latn-RS" dirty="0">
                <a:solidFill>
                  <a:schemeClr val="bg2"/>
                </a:solidFill>
              </a:rPr>
              <a:t>= 0; i</a:t>
            </a:r>
            <a:r>
              <a:rPr lang="en-US" altLang="sr-Latn-RS" baseline="30000" dirty="0">
                <a:solidFill>
                  <a:schemeClr val="bg2"/>
                </a:solidFill>
              </a:rPr>
              <a:t>n</a:t>
            </a:r>
            <a:r>
              <a:rPr lang="en-US" altLang="sr-Latn-RS" baseline="-25000" dirty="0">
                <a:solidFill>
                  <a:schemeClr val="bg2"/>
                </a:solidFill>
              </a:rPr>
              <a:t> </a:t>
            </a:r>
            <a:r>
              <a:rPr lang="en-US" altLang="sr-Latn-RS" dirty="0">
                <a:solidFill>
                  <a:schemeClr val="bg2"/>
                </a:solidFill>
              </a:rPr>
              <a:t>&lt;= 32; i</a:t>
            </a:r>
            <a:r>
              <a:rPr lang="en-US" altLang="sr-Latn-RS" baseline="30000" dirty="0">
                <a:solidFill>
                  <a:schemeClr val="bg2"/>
                </a:solidFill>
              </a:rPr>
              <a:t>n</a:t>
            </a:r>
            <a:r>
              <a:rPr lang="en-US" altLang="sr-Latn-RS" baseline="-25000" dirty="0">
                <a:solidFill>
                  <a:schemeClr val="bg2"/>
                </a:solidFill>
              </a:rPr>
              <a:t> </a:t>
            </a:r>
            <a:r>
              <a:rPr lang="en-US" altLang="sr-Latn-RS" dirty="0">
                <a:solidFill>
                  <a:schemeClr val="bg2"/>
                </a:solidFill>
              </a:rPr>
              <a:t>++)</a:t>
            </a:r>
          </a:p>
          <a:p>
            <a:pPr lvl="2" eaLnBrk="1" hangingPunct="1">
              <a:buNone/>
            </a:pPr>
            <a:r>
              <a:rPr lang="en-US" altLang="sr-Latn-RS" dirty="0">
                <a:solidFill>
                  <a:schemeClr val="bg2"/>
                </a:solidFill>
              </a:rPr>
              <a:t>		  Z[2 + 3* i</a:t>
            </a:r>
            <a:r>
              <a:rPr lang="en-US" altLang="sr-Latn-RS" baseline="30000" dirty="0">
                <a:solidFill>
                  <a:schemeClr val="bg2"/>
                </a:solidFill>
              </a:rPr>
              <a:t>n</a:t>
            </a:r>
            <a:r>
              <a:rPr lang="en-US" altLang="sr-Latn-RS" dirty="0">
                <a:solidFill>
                  <a:schemeClr val="bg2"/>
                </a:solidFill>
              </a:rPr>
              <a:t>] = 0;</a:t>
            </a:r>
          </a:p>
          <a:p>
            <a:endParaRPr lang="sr-Latn-RS" dirty="0"/>
          </a:p>
          <a:p>
            <a:r>
              <a:rPr lang="sr-Latn-RS" altLang="sr-Latn-RS" dirty="0">
                <a:solidFill>
                  <a:srgbClr val="C00000"/>
                </a:solidFill>
              </a:rPr>
              <a:t>U opštem slučaju </a:t>
            </a:r>
            <a:r>
              <a:rPr lang="en-US" altLang="sr-Latn-RS" dirty="0">
                <a:solidFill>
                  <a:srgbClr val="C00000"/>
                </a:solidFill>
              </a:rPr>
              <a:t> i</a:t>
            </a:r>
            <a:r>
              <a:rPr lang="en-US" altLang="sr-Latn-RS" baseline="30000" dirty="0">
                <a:solidFill>
                  <a:srgbClr val="C00000"/>
                </a:solidFill>
              </a:rPr>
              <a:t>n</a:t>
            </a:r>
            <a:r>
              <a:rPr lang="en-US" altLang="sr-Latn-RS" dirty="0">
                <a:solidFill>
                  <a:srgbClr val="C00000"/>
                </a:solidFill>
              </a:rPr>
              <a:t> = (i – </a:t>
            </a:r>
            <a:r>
              <a:rPr lang="en-US" altLang="sr-Latn-RS" dirty="0" err="1">
                <a:solidFill>
                  <a:srgbClr val="C00000"/>
                </a:solidFill>
              </a:rPr>
              <a:t>lowerBound</a:t>
            </a:r>
            <a:r>
              <a:rPr lang="en-US" altLang="sr-Latn-RS" dirty="0">
                <a:solidFill>
                  <a:srgbClr val="C00000"/>
                </a:solidFill>
              </a:rPr>
              <a:t>) / </a:t>
            </a:r>
            <a:r>
              <a:rPr lang="en-US" altLang="sr-Latn-RS" dirty="0" err="1">
                <a:solidFill>
                  <a:srgbClr val="C00000"/>
                </a:solidFill>
              </a:rPr>
              <a:t>i</a:t>
            </a:r>
            <a:r>
              <a:rPr lang="en-US" altLang="sr-Latn-RS" baseline="-25000" dirty="0" err="1">
                <a:solidFill>
                  <a:srgbClr val="C00000"/>
                </a:solidFill>
              </a:rPr>
              <a:t>step</a:t>
            </a:r>
            <a:endParaRPr lang="en-US" altLang="sr-Latn-RS" baseline="-25000" dirty="0">
              <a:solidFill>
                <a:srgbClr val="C00000"/>
              </a:solidFill>
            </a:endParaRPr>
          </a:p>
          <a:p>
            <a:r>
              <a:rPr lang="sr-Latn-RS" dirty="0"/>
              <a:t>Gornja granica: (uperBound-lowerBound) </a:t>
            </a:r>
            <a:r>
              <a:rPr lang="en-US" dirty="0"/>
              <a:t>/</a:t>
            </a:r>
            <a:r>
              <a:rPr lang="en-US" altLang="sr-Latn-RS" dirty="0" err="1">
                <a:solidFill>
                  <a:srgbClr val="C00000"/>
                </a:solidFill>
              </a:rPr>
              <a:t>i</a:t>
            </a:r>
            <a:r>
              <a:rPr lang="en-US" altLang="sr-Latn-RS" baseline="-25000" dirty="0" err="1">
                <a:solidFill>
                  <a:srgbClr val="C00000"/>
                </a:solidFill>
              </a:rPr>
              <a:t>step</a:t>
            </a:r>
            <a:endParaRPr lang="sr-Latn-RS" dirty="0"/>
          </a:p>
        </p:txBody>
      </p:sp>
    </p:spTree>
    <p:extLst>
      <p:ext uri="{BB962C8B-B14F-4D97-AF65-F5344CB8AC3E}">
        <p14:creationId xmlns:p14="http://schemas.microsoft.com/office/powerpoint/2010/main" val="3816652803"/>
      </p:ext>
    </p:extLst>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38D4-59F7-87A8-2226-1ECDDB32F30D}"/>
              </a:ext>
            </a:extLst>
          </p:cNvPr>
          <p:cNvSpPr>
            <a:spLocks noGrp="1"/>
          </p:cNvSpPr>
          <p:nvPr>
            <p:ph type="title"/>
          </p:nvPr>
        </p:nvSpPr>
        <p:spPr/>
        <p:txBody>
          <a:bodyPr/>
          <a:lstStyle/>
          <a:p>
            <a:r>
              <a:rPr lang="sr-Latn-RS" dirty="0"/>
              <a:t>Primer2: ugnježđene petlje</a:t>
            </a:r>
          </a:p>
        </p:txBody>
      </p:sp>
      <p:sp>
        <p:nvSpPr>
          <p:cNvPr id="3" name="Content Placeholder 2">
            <a:extLst>
              <a:ext uri="{FF2B5EF4-FFF2-40B4-BE49-F238E27FC236}">
                <a16:creationId xmlns:a16="http://schemas.microsoft.com/office/drawing/2014/main" id="{1C5A3F3D-956A-495F-4E68-4AB5BC7132D6}"/>
              </a:ext>
            </a:extLst>
          </p:cNvPr>
          <p:cNvSpPr>
            <a:spLocks noGrp="1"/>
          </p:cNvSpPr>
          <p:nvPr>
            <p:ph idx="1"/>
          </p:nvPr>
        </p:nvSpPr>
        <p:spPr/>
        <p:txBody>
          <a:bodyPr/>
          <a:lstStyle/>
          <a:p>
            <a:pPr lvl="2" eaLnBrk="1" hangingPunct="1">
              <a:lnSpc>
                <a:spcPct val="70000"/>
              </a:lnSpc>
              <a:buNone/>
            </a:pPr>
            <a:r>
              <a:rPr lang="en-US" altLang="sr-Latn-RS" dirty="0">
                <a:solidFill>
                  <a:schemeClr val="tx1"/>
                </a:solidFill>
              </a:rPr>
              <a:t>for (i = 3; i &lt;= 7;  i++)</a:t>
            </a:r>
          </a:p>
          <a:p>
            <a:pPr lvl="2" eaLnBrk="1" hangingPunct="1">
              <a:lnSpc>
                <a:spcPct val="70000"/>
              </a:lnSpc>
              <a:buNone/>
            </a:pPr>
            <a:r>
              <a:rPr lang="en-US" altLang="sr-Latn-RS" dirty="0">
                <a:solidFill>
                  <a:schemeClr val="tx1"/>
                </a:solidFill>
              </a:rPr>
              <a:t>	       for (j = 6; j &gt;= 2; j = j – 2 )</a:t>
            </a:r>
          </a:p>
          <a:p>
            <a:pPr lvl="2" eaLnBrk="1" hangingPunct="1">
              <a:lnSpc>
                <a:spcPct val="70000"/>
              </a:lnSpc>
              <a:buNone/>
            </a:pPr>
            <a:r>
              <a:rPr lang="en-US" altLang="sr-Latn-RS" dirty="0">
                <a:solidFill>
                  <a:schemeClr val="tx1"/>
                </a:solidFill>
              </a:rPr>
              <a:t>		     Z[i, j] = Z[i, j+2] + 1</a:t>
            </a:r>
          </a:p>
          <a:p>
            <a:r>
              <a:rPr lang="sr-Latn-RS" dirty="0"/>
              <a:t>Normalizovani oblik</a:t>
            </a:r>
          </a:p>
          <a:p>
            <a:endParaRPr lang="sr-Latn-RS" dirty="0"/>
          </a:p>
          <a:p>
            <a:pPr lvl="2" eaLnBrk="1" hangingPunct="1">
              <a:buNone/>
            </a:pPr>
            <a:r>
              <a:rPr lang="en-US" altLang="sr-Latn-RS" dirty="0">
                <a:solidFill>
                  <a:schemeClr val="tx1"/>
                </a:solidFill>
              </a:rPr>
              <a:t>for (i</a:t>
            </a:r>
            <a:r>
              <a:rPr lang="sr-Latn-RS" altLang="sr-Latn-RS" baseline="30000" dirty="0">
                <a:solidFill>
                  <a:schemeClr val="tx1"/>
                </a:solidFill>
              </a:rPr>
              <a:t>n</a:t>
            </a:r>
            <a:r>
              <a:rPr lang="en-US" altLang="sr-Latn-RS" dirty="0">
                <a:solidFill>
                  <a:schemeClr val="tx1"/>
                </a:solidFill>
              </a:rPr>
              <a:t> = 0; i</a:t>
            </a:r>
            <a:r>
              <a:rPr lang="sr-Latn-RS" altLang="sr-Latn-RS" baseline="30000" dirty="0">
                <a:solidFill>
                  <a:schemeClr val="tx1"/>
                </a:solidFill>
              </a:rPr>
              <a:t>n</a:t>
            </a:r>
            <a:r>
              <a:rPr lang="en-US" altLang="sr-Latn-RS" dirty="0">
                <a:solidFill>
                  <a:schemeClr val="tx1"/>
                </a:solidFill>
              </a:rPr>
              <a:t> &lt;= 4;  i++)</a:t>
            </a:r>
          </a:p>
          <a:p>
            <a:pPr lvl="2" eaLnBrk="1" hangingPunct="1">
              <a:buNone/>
            </a:pPr>
            <a:r>
              <a:rPr lang="en-US" altLang="sr-Latn-RS" dirty="0">
                <a:solidFill>
                  <a:schemeClr val="tx1"/>
                </a:solidFill>
              </a:rPr>
              <a:t>	       for (j</a:t>
            </a:r>
            <a:r>
              <a:rPr lang="sr-Latn-RS" altLang="sr-Latn-RS" baseline="30000" dirty="0">
                <a:solidFill>
                  <a:schemeClr val="tx1"/>
                </a:solidFill>
              </a:rPr>
              <a:t>n</a:t>
            </a:r>
            <a:r>
              <a:rPr lang="en-US" altLang="sr-Latn-RS" dirty="0">
                <a:solidFill>
                  <a:schemeClr val="tx1"/>
                </a:solidFill>
              </a:rPr>
              <a:t> = 0; j</a:t>
            </a:r>
            <a:r>
              <a:rPr lang="sr-Latn-RS" altLang="sr-Latn-RS" baseline="30000" dirty="0">
                <a:solidFill>
                  <a:schemeClr val="tx1"/>
                </a:solidFill>
              </a:rPr>
              <a:t>n</a:t>
            </a:r>
            <a:r>
              <a:rPr lang="en-US" altLang="sr-Latn-RS" dirty="0">
                <a:solidFill>
                  <a:schemeClr val="tx1"/>
                </a:solidFill>
              </a:rPr>
              <a:t> &lt;= 2; </a:t>
            </a:r>
            <a:r>
              <a:rPr lang="en-US" altLang="sr-Latn-RS" dirty="0" err="1">
                <a:solidFill>
                  <a:schemeClr val="tx1"/>
                </a:solidFill>
              </a:rPr>
              <a:t>j++</a:t>
            </a:r>
            <a:r>
              <a:rPr lang="en-US" altLang="sr-Latn-RS" dirty="0">
                <a:solidFill>
                  <a:schemeClr val="tx1"/>
                </a:solidFill>
              </a:rPr>
              <a:t> )</a:t>
            </a:r>
          </a:p>
          <a:p>
            <a:pPr lvl="2" eaLnBrk="1" hangingPunct="1">
              <a:buNone/>
            </a:pPr>
            <a:r>
              <a:rPr lang="en-US" altLang="sr-Latn-RS" dirty="0">
                <a:solidFill>
                  <a:schemeClr val="tx1"/>
                </a:solidFill>
              </a:rPr>
              <a:t>		     Z[3 + i</a:t>
            </a:r>
            <a:r>
              <a:rPr lang="sr-Latn-RS" altLang="sr-Latn-RS" baseline="30000" dirty="0">
                <a:solidFill>
                  <a:schemeClr val="tx1"/>
                </a:solidFill>
              </a:rPr>
              <a:t>n</a:t>
            </a:r>
            <a:r>
              <a:rPr lang="en-US" altLang="sr-Latn-RS" dirty="0">
                <a:solidFill>
                  <a:schemeClr val="tx1"/>
                </a:solidFill>
              </a:rPr>
              <a:t>, 6 - j</a:t>
            </a:r>
            <a:r>
              <a:rPr lang="sr-Latn-RS" altLang="sr-Latn-RS" baseline="30000" dirty="0">
                <a:solidFill>
                  <a:schemeClr val="tx1"/>
                </a:solidFill>
              </a:rPr>
              <a:t>n</a:t>
            </a:r>
            <a:r>
              <a:rPr lang="en-US" altLang="sr-Latn-RS" dirty="0">
                <a:solidFill>
                  <a:schemeClr val="tx1"/>
                </a:solidFill>
              </a:rPr>
              <a:t>*2] = Z[3 + i</a:t>
            </a:r>
            <a:r>
              <a:rPr lang="sr-Latn-RS" altLang="sr-Latn-RS" baseline="30000" dirty="0">
                <a:solidFill>
                  <a:schemeClr val="tx1"/>
                </a:solidFill>
              </a:rPr>
              <a:t>n</a:t>
            </a:r>
            <a:r>
              <a:rPr lang="en-US" altLang="sr-Latn-RS" dirty="0">
                <a:solidFill>
                  <a:schemeClr val="tx1"/>
                </a:solidFill>
              </a:rPr>
              <a:t>, 6 - j</a:t>
            </a:r>
            <a:r>
              <a:rPr lang="sr-Latn-RS" altLang="sr-Latn-RS" baseline="30000" dirty="0">
                <a:solidFill>
                  <a:schemeClr val="tx1"/>
                </a:solidFill>
              </a:rPr>
              <a:t>n</a:t>
            </a:r>
            <a:r>
              <a:rPr lang="en-US" altLang="sr-Latn-RS" dirty="0">
                <a:solidFill>
                  <a:schemeClr val="tx1"/>
                </a:solidFill>
              </a:rPr>
              <a:t>*2+2] + 1</a:t>
            </a:r>
          </a:p>
          <a:p>
            <a:pPr marL="0" indent="0">
              <a:buNone/>
            </a:pPr>
            <a:endParaRPr lang="sr-Latn-RS" dirty="0"/>
          </a:p>
          <a:p>
            <a:pPr marL="0" indent="0">
              <a:buNone/>
            </a:pPr>
            <a:endParaRPr lang="sr-Latn-RS" dirty="0"/>
          </a:p>
        </p:txBody>
      </p:sp>
    </p:spTree>
    <p:extLst>
      <p:ext uri="{BB962C8B-B14F-4D97-AF65-F5344CB8AC3E}">
        <p14:creationId xmlns:p14="http://schemas.microsoft.com/office/powerpoint/2010/main" val="1469702042"/>
      </p:ext>
    </p:extLst>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22231E4-D7C2-6591-FB5B-431400920EF3}"/>
              </a:ext>
            </a:extLst>
          </p:cNvPr>
          <p:cNvSpPr>
            <a:spLocks noGrp="1" noChangeArrowheads="1"/>
          </p:cNvSpPr>
          <p:nvPr>
            <p:ph type="title"/>
          </p:nvPr>
        </p:nvSpPr>
        <p:spPr/>
        <p:txBody>
          <a:bodyPr/>
          <a:lstStyle/>
          <a:p>
            <a:pPr>
              <a:defRPr/>
            </a:pPr>
            <a:r>
              <a:rPr lang="en-US" altLang="en-US" dirty="0"/>
              <a:t>NZD (</a:t>
            </a:r>
            <a:r>
              <a:rPr lang="hr-HR" altLang="en-US" dirty="0"/>
              <a:t>GCD</a:t>
            </a:r>
            <a:r>
              <a:rPr lang="en-US" altLang="en-US" dirty="0"/>
              <a:t>)</a:t>
            </a:r>
            <a:r>
              <a:rPr lang="hr-HR" altLang="en-US" dirty="0"/>
              <a:t> test za jednostruke petlje</a:t>
            </a:r>
            <a:endParaRPr lang="en-US" altLang="en-US" dirty="0"/>
          </a:p>
        </p:txBody>
      </p:sp>
      <p:sp>
        <p:nvSpPr>
          <p:cNvPr id="12291" name="Rectangle 3">
            <a:extLst>
              <a:ext uri="{FF2B5EF4-FFF2-40B4-BE49-F238E27FC236}">
                <a16:creationId xmlns:a16="http://schemas.microsoft.com/office/drawing/2014/main" id="{0618C42A-B909-B54D-6E9B-CF319D94924D}"/>
              </a:ext>
            </a:extLst>
          </p:cNvPr>
          <p:cNvSpPr>
            <a:spLocks noGrp="1" noChangeArrowheads="1"/>
          </p:cNvSpPr>
          <p:nvPr>
            <p:ph type="body" idx="1"/>
          </p:nvPr>
        </p:nvSpPr>
        <p:spPr/>
        <p:txBody>
          <a:bodyPr/>
          <a:lstStyle/>
          <a:p>
            <a:pPr>
              <a:defRPr/>
            </a:pPr>
            <a:r>
              <a:rPr lang="en-US" altLang="en-US"/>
              <a:t>Pretpostavi</a:t>
            </a:r>
            <a:r>
              <a:rPr lang="hr-HR" altLang="en-US"/>
              <a:t>m</a:t>
            </a:r>
            <a:r>
              <a:rPr lang="en-US" altLang="en-US"/>
              <a:t>o da se u petlji vr</a:t>
            </a:r>
            <a:r>
              <a:rPr lang="hr-HR" altLang="en-US"/>
              <a:t>š</a:t>
            </a:r>
            <a:r>
              <a:rPr lang="en-US" altLang="en-US"/>
              <a:t>i upis u element polja sa indeksom </a:t>
            </a:r>
            <a:r>
              <a:rPr lang="hr-HR" altLang="en-US"/>
              <a:t>a*i+b, </a:t>
            </a:r>
            <a:r>
              <a:rPr lang="en-US" altLang="en-US"/>
              <a:t> a da se pristupa elementu sa indeksom</a:t>
            </a:r>
            <a:r>
              <a:rPr lang="hr-HR" altLang="en-US"/>
              <a:t> c*i+</a:t>
            </a:r>
            <a:r>
              <a:rPr lang="en-US" altLang="en-US"/>
              <a:t> </a:t>
            </a:r>
            <a:r>
              <a:rPr lang="hr-HR" altLang="en-US"/>
              <a:t>d, </a:t>
            </a:r>
            <a:r>
              <a:rPr lang="en-US" altLang="en-US"/>
              <a:t>gde je </a:t>
            </a:r>
            <a:r>
              <a:rPr lang="hr-HR" altLang="en-US"/>
              <a:t>i</a:t>
            </a:r>
            <a:r>
              <a:rPr lang="en-US" altLang="en-US"/>
              <a:t> indeks petlje koji se kre</a:t>
            </a:r>
            <a:r>
              <a:rPr lang="hr-HR" altLang="en-US"/>
              <a:t>ć</a:t>
            </a:r>
            <a:r>
              <a:rPr lang="en-US" altLang="en-US"/>
              <a:t>e u granicama od m do n. </a:t>
            </a:r>
            <a:endParaRPr lang="hr-HR" altLang="en-US"/>
          </a:p>
          <a:p>
            <a:pPr>
              <a:defRPr/>
            </a:pPr>
            <a:r>
              <a:rPr lang="en-US" altLang="en-US"/>
              <a:t>Loop-carry zavisnost postoji ako va</a:t>
            </a:r>
            <a:r>
              <a:rPr lang="hr-HR" altLang="en-US"/>
              <a:t>ž</a:t>
            </a:r>
            <a:r>
              <a:rPr lang="en-US" altLang="en-US"/>
              <a:t>i slede</a:t>
            </a:r>
            <a:r>
              <a:rPr lang="hr-HR" altLang="en-US"/>
              <a:t>ć</a:t>
            </a:r>
            <a:r>
              <a:rPr lang="en-US" altLang="en-US"/>
              <a:t>e</a:t>
            </a:r>
            <a:r>
              <a:rPr lang="hr-HR" altLang="en-US"/>
              <a:t>:</a:t>
            </a:r>
          </a:p>
          <a:p>
            <a:pPr lvl="1">
              <a:defRPr/>
            </a:pPr>
            <a:r>
              <a:rPr lang="en-US" altLang="en-US"/>
              <a:t>Postoje dva iterativna indeksa j i k (j &lt; k), oba unutar granica petlje, tako da se u petlji pamti rezultat u element sa indeksom </a:t>
            </a:r>
            <a:r>
              <a:rPr lang="hr-HR" altLang="en-US"/>
              <a:t>a*j+b</a:t>
            </a:r>
            <a:r>
              <a:rPr lang="en-US" altLang="en-US"/>
              <a:t>, a zatim se pribavlja (</a:t>
            </a:r>
            <a:r>
              <a:rPr lang="hr-HR" altLang="en-US"/>
              <a:t>č</a:t>
            </a:r>
            <a:r>
              <a:rPr lang="en-US" altLang="en-US"/>
              <a:t>ita) isti element kada je indeksiran sa </a:t>
            </a:r>
            <a:r>
              <a:rPr lang="hr-HR" altLang="en-US"/>
              <a:t>c*k+d</a:t>
            </a:r>
            <a:r>
              <a:rPr lang="en-US" altLang="en-US"/>
              <a:t>, tj. kada je </a:t>
            </a:r>
            <a:r>
              <a:rPr lang="hr-HR" altLang="en-US"/>
              <a:t>a*j+b</a:t>
            </a:r>
            <a:r>
              <a:rPr lang="en-US" altLang="en-US"/>
              <a:t> = </a:t>
            </a:r>
            <a:r>
              <a:rPr lang="hr-HR" altLang="en-US"/>
              <a:t>c*k+d.</a:t>
            </a:r>
          </a:p>
          <a:p>
            <a:pPr>
              <a:defRPr/>
            </a:pPr>
            <a:r>
              <a:rPr lang="en-US" altLang="en-US"/>
              <a:t>Jednostavan i dovoljan test koji se koristi za detekciju zavisnosti je NZD (najve</a:t>
            </a:r>
            <a:r>
              <a:rPr lang="hr-HR" altLang="en-US"/>
              <a:t>ć</a:t>
            </a:r>
            <a:r>
              <a:rPr lang="en-US" altLang="en-US"/>
              <a:t>i zajedni</a:t>
            </a:r>
            <a:r>
              <a:rPr lang="hr-HR" altLang="en-US"/>
              <a:t>č</a:t>
            </a:r>
            <a:r>
              <a:rPr lang="en-US" altLang="en-US"/>
              <a:t>ki delilac) test</a:t>
            </a:r>
            <a:r>
              <a:rPr lang="hr-HR" altLang="en-US"/>
              <a:t>. (GCD)</a:t>
            </a:r>
            <a:r>
              <a:rPr lang="en-US" altLang="en-US"/>
              <a:t>  </a:t>
            </a:r>
          </a:p>
        </p:txBody>
      </p:sp>
    </p:spTree>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AB55085-B940-7FFD-B872-A6D1B8095B9D}"/>
              </a:ext>
            </a:extLst>
          </p:cNvPr>
          <p:cNvSpPr>
            <a:spLocks noGrp="1" noChangeArrowheads="1"/>
          </p:cNvSpPr>
          <p:nvPr>
            <p:ph type="title"/>
          </p:nvPr>
        </p:nvSpPr>
        <p:spPr/>
        <p:txBody>
          <a:bodyPr/>
          <a:lstStyle/>
          <a:p>
            <a:pPr>
              <a:defRPr/>
            </a:pPr>
            <a:r>
              <a:rPr lang="hr-HR" altLang="en-US"/>
              <a:t>NZD test</a:t>
            </a:r>
            <a:endParaRPr lang="en-US" altLang="en-US"/>
          </a:p>
        </p:txBody>
      </p:sp>
      <p:sp>
        <p:nvSpPr>
          <p:cNvPr id="13315" name="Rectangle 3">
            <a:extLst>
              <a:ext uri="{FF2B5EF4-FFF2-40B4-BE49-F238E27FC236}">
                <a16:creationId xmlns:a16="http://schemas.microsoft.com/office/drawing/2014/main" id="{DB70B98F-BE4D-7D6D-34CC-789A83605464}"/>
              </a:ext>
            </a:extLst>
          </p:cNvPr>
          <p:cNvSpPr>
            <a:spLocks noGrp="1" noChangeArrowheads="1"/>
          </p:cNvSpPr>
          <p:nvPr>
            <p:ph type="body" idx="1"/>
          </p:nvPr>
        </p:nvSpPr>
        <p:spPr>
          <a:xfrm>
            <a:off x="0" y="708025"/>
            <a:ext cx="8991600" cy="6149975"/>
          </a:xfrm>
        </p:spPr>
        <p:txBody>
          <a:bodyPr/>
          <a:lstStyle/>
          <a:p>
            <a:pPr algn="just">
              <a:defRPr/>
            </a:pPr>
            <a:r>
              <a:rPr lang="hr-HR" altLang="en-US"/>
              <a:t>A</a:t>
            </a:r>
            <a:r>
              <a:rPr lang="en-US" altLang="en-US">
                <a:cs typeface="Times New Roman" panose="02020603050405020304" pitchFamily="18" charset="0"/>
              </a:rPr>
              <a:t>ko loop-carry zavisnost postoji tada </a:t>
            </a:r>
            <a:r>
              <a:rPr lang="en-US" altLang="en-US">
                <a:solidFill>
                  <a:schemeClr val="hlink"/>
                </a:solidFill>
                <a:cs typeface="Times New Roman" panose="02020603050405020304" pitchFamily="18" charset="0"/>
              </a:rPr>
              <a:t>NZD(</a:t>
            </a:r>
            <a:r>
              <a:rPr lang="en-US" altLang="en-US" i="1">
                <a:solidFill>
                  <a:schemeClr val="hlink"/>
                </a:solidFill>
                <a:cs typeface="Times New Roman" panose="02020603050405020304" pitchFamily="18" charset="0"/>
              </a:rPr>
              <a:t>c</a:t>
            </a:r>
            <a:r>
              <a:rPr lang="en-US" altLang="en-US">
                <a:solidFill>
                  <a:schemeClr val="hlink"/>
                </a:solidFill>
                <a:cs typeface="Times New Roman" panose="02020603050405020304" pitchFamily="18" charset="0"/>
              </a:rPr>
              <a:t>, </a:t>
            </a:r>
            <a:r>
              <a:rPr lang="en-US" altLang="en-US" i="1">
                <a:solidFill>
                  <a:schemeClr val="hlink"/>
                </a:solidFill>
                <a:cs typeface="Times New Roman" panose="02020603050405020304" pitchFamily="18" charset="0"/>
              </a:rPr>
              <a:t>a</a:t>
            </a:r>
            <a:r>
              <a:rPr lang="en-US" altLang="en-US">
                <a:solidFill>
                  <a:schemeClr val="hlink"/>
                </a:solidFill>
                <a:cs typeface="Times New Roman" panose="02020603050405020304" pitchFamily="18" charset="0"/>
              </a:rPr>
              <a:t>)</a:t>
            </a:r>
            <a:r>
              <a:rPr lang="en-US" altLang="en-US">
                <a:cs typeface="Times New Roman" panose="02020603050405020304" pitchFamily="18" charset="0"/>
              </a:rPr>
              <a:t> mora deliti </a:t>
            </a:r>
            <a:r>
              <a:rPr lang="en-US" altLang="en-US">
                <a:solidFill>
                  <a:schemeClr val="hlink"/>
                </a:solidFill>
                <a:cs typeface="Times New Roman" panose="02020603050405020304" pitchFamily="18" charset="0"/>
              </a:rPr>
              <a:t>(</a:t>
            </a:r>
            <a:r>
              <a:rPr lang="en-US" altLang="en-US" i="1">
                <a:solidFill>
                  <a:schemeClr val="hlink"/>
                </a:solidFill>
                <a:cs typeface="Times New Roman" panose="02020603050405020304" pitchFamily="18" charset="0"/>
              </a:rPr>
              <a:t>d</a:t>
            </a:r>
            <a:r>
              <a:rPr lang="en-US" altLang="en-US">
                <a:solidFill>
                  <a:schemeClr val="hlink"/>
                </a:solidFill>
                <a:cs typeface="Times New Roman" panose="02020603050405020304" pitchFamily="18" charset="0"/>
              </a:rPr>
              <a:t> – </a:t>
            </a:r>
            <a:r>
              <a:rPr lang="en-US" altLang="en-US" i="1">
                <a:solidFill>
                  <a:schemeClr val="hlink"/>
                </a:solidFill>
                <a:cs typeface="Times New Roman" panose="02020603050405020304" pitchFamily="18" charset="0"/>
              </a:rPr>
              <a:t>b</a:t>
            </a:r>
            <a:r>
              <a:rPr lang="en-US" altLang="en-US">
                <a:solidFill>
                  <a:schemeClr val="hlink"/>
                </a:solidFill>
                <a:cs typeface="Times New Roman" panose="02020603050405020304" pitchFamily="18" charset="0"/>
              </a:rPr>
              <a:t>)</a:t>
            </a:r>
            <a:r>
              <a:rPr lang="en-US" altLang="en-US">
                <a:cs typeface="Times New Roman" panose="02020603050405020304" pitchFamily="18" charset="0"/>
              </a:rPr>
              <a:t> bez ostatka (ba</a:t>
            </a:r>
            <a:r>
              <a:rPr lang="hr-HR" altLang="en-US"/>
              <a:t>š</a:t>
            </a:r>
            <a:r>
              <a:rPr lang="en-US" altLang="en-US">
                <a:cs typeface="Times New Roman" panose="02020603050405020304" pitchFamily="18" charset="0"/>
              </a:rPr>
              <a:t> </a:t>
            </a:r>
            <a:r>
              <a:rPr lang="en-US" altLang="en-US">
                <a:solidFill>
                  <a:schemeClr val="hlink"/>
                </a:solidFill>
                <a:cs typeface="Times New Roman" panose="02020603050405020304" pitchFamily="18" charset="0"/>
              </a:rPr>
              <a:t>(</a:t>
            </a:r>
            <a:r>
              <a:rPr lang="en-US" altLang="en-US" i="1">
                <a:solidFill>
                  <a:schemeClr val="hlink"/>
                </a:solidFill>
                <a:cs typeface="Times New Roman" panose="02020603050405020304" pitchFamily="18" charset="0"/>
              </a:rPr>
              <a:t>d</a:t>
            </a:r>
            <a:r>
              <a:rPr lang="en-US" altLang="en-US">
                <a:solidFill>
                  <a:schemeClr val="hlink"/>
                </a:solidFill>
                <a:cs typeface="Times New Roman" panose="02020603050405020304" pitchFamily="18" charset="0"/>
              </a:rPr>
              <a:t> – </a:t>
            </a:r>
            <a:r>
              <a:rPr lang="en-US" altLang="en-US" i="1">
                <a:solidFill>
                  <a:schemeClr val="hlink"/>
                </a:solidFill>
                <a:cs typeface="Times New Roman" panose="02020603050405020304" pitchFamily="18" charset="0"/>
              </a:rPr>
              <a:t>b</a:t>
            </a:r>
            <a:r>
              <a:rPr lang="en-US" altLang="en-US">
                <a:solidFill>
                  <a:schemeClr val="hlink"/>
                </a:solidFill>
                <a:cs typeface="Times New Roman" panose="02020603050405020304" pitchFamily="18" charset="0"/>
              </a:rPr>
              <a:t>)</a:t>
            </a:r>
            <a:r>
              <a:rPr lang="en-US" altLang="en-US">
                <a:cs typeface="Times New Roman" panose="02020603050405020304" pitchFamily="18" charset="0"/>
              </a:rPr>
              <a:t> jer je </a:t>
            </a:r>
            <a:r>
              <a:rPr lang="en-US" altLang="en-US" i="1">
                <a:solidFill>
                  <a:schemeClr val="hlink"/>
                </a:solidFill>
                <a:cs typeface="Times New Roman" panose="02020603050405020304" pitchFamily="18" charset="0"/>
              </a:rPr>
              <a:t>j </a:t>
            </a:r>
            <a:r>
              <a:rPr lang="en-US" altLang="en-US">
                <a:solidFill>
                  <a:schemeClr val="hlink"/>
                </a:solidFill>
                <a:cs typeface="Times New Roman" panose="02020603050405020304" pitchFamily="18" charset="0"/>
              </a:rPr>
              <a:t>&lt; </a:t>
            </a:r>
            <a:r>
              <a:rPr lang="en-US" altLang="en-US" i="1">
                <a:solidFill>
                  <a:schemeClr val="hlink"/>
                </a:solidFill>
                <a:cs typeface="Times New Roman" panose="02020603050405020304" pitchFamily="18" charset="0"/>
              </a:rPr>
              <a:t>k</a:t>
            </a:r>
            <a:r>
              <a:rPr lang="en-US" altLang="en-US">
                <a:cs typeface="Times New Roman" panose="02020603050405020304" pitchFamily="18" charset="0"/>
              </a:rPr>
              <a:t> ). </a:t>
            </a:r>
            <a:endParaRPr lang="hr-HR" altLang="en-US"/>
          </a:p>
          <a:p>
            <a:pPr algn="just">
              <a:defRPr/>
            </a:pPr>
            <a:r>
              <a:rPr lang="en-US" altLang="en-US">
                <a:cs typeface="Times New Roman" panose="02020603050405020304" pitchFamily="18" charset="0"/>
              </a:rPr>
              <a:t>NZD test je dovoljan da garantuje da nema nikakve zavisnosti</a:t>
            </a:r>
            <a:r>
              <a:rPr lang="hr-HR" altLang="en-US"/>
              <a:t>.</a:t>
            </a:r>
          </a:p>
          <a:p>
            <a:pPr algn="just">
              <a:defRPr/>
            </a:pPr>
            <a:r>
              <a:rPr lang="hr-HR" altLang="en-US"/>
              <a:t>M</a:t>
            </a:r>
            <a:r>
              <a:rPr lang="en-US" altLang="en-US">
                <a:cs typeface="Times New Roman" panose="02020603050405020304" pitchFamily="18" charset="0"/>
              </a:rPr>
              <a:t>o</a:t>
            </a:r>
            <a:r>
              <a:rPr lang="hr-HR" altLang="en-US"/>
              <a:t>ž</a:t>
            </a:r>
            <a:r>
              <a:rPr lang="en-US" altLang="en-US">
                <a:cs typeface="Times New Roman" panose="02020603050405020304" pitchFamily="18" charset="0"/>
              </a:rPr>
              <a:t>e se desiti da NZD test da odgovor da zavisnost postoji a da nema nikakve zavisnosti. </a:t>
            </a:r>
            <a:endParaRPr lang="hr-HR" altLang="en-US"/>
          </a:p>
          <a:p>
            <a:pPr lvl="1" algn="just">
              <a:defRPr/>
            </a:pPr>
            <a:r>
              <a:rPr lang="en-US" altLang="en-US">
                <a:cs typeface="Times New Roman" panose="02020603050405020304" pitchFamily="18" charset="0"/>
              </a:rPr>
              <a:t>Ovo mo</a:t>
            </a:r>
            <a:r>
              <a:rPr lang="hr-HR" altLang="en-US"/>
              <a:t>ž</a:t>
            </a:r>
            <a:r>
              <a:rPr lang="en-US" altLang="en-US">
                <a:cs typeface="Times New Roman" panose="02020603050405020304" pitchFamily="18" charset="0"/>
              </a:rPr>
              <a:t>e da nastupi zato </a:t>
            </a:r>
            <a:r>
              <a:rPr lang="hr-HR" altLang="en-US"/>
              <a:t>š</a:t>
            </a:r>
            <a:r>
              <a:rPr lang="en-US" altLang="en-US">
                <a:cs typeface="Times New Roman" panose="02020603050405020304" pitchFamily="18" charset="0"/>
              </a:rPr>
              <a:t>to NZD test ne uzima u obzir granice petlje</a:t>
            </a:r>
            <a:r>
              <a:rPr lang="en-US" altLang="en-US">
                <a:latin typeface="Times Roman YU" pitchFamily="18" charset="0"/>
                <a:cs typeface="Times New Roman" panose="02020603050405020304" pitchFamily="18" charset="0"/>
              </a:rPr>
              <a:t>.</a:t>
            </a:r>
            <a:endParaRPr lang="en-US" altLang="en-US">
              <a:cs typeface="Times New Roman" panose="02020603050405020304" pitchFamily="18" charset="0"/>
            </a:endParaRPr>
          </a:p>
          <a:p>
            <a:pPr>
              <a:buFont typeface="Wingdings 2" panose="05020102010507070707" pitchFamily="18" charset="2"/>
              <a:buNone/>
              <a:defRPr/>
            </a:pPr>
            <a:endParaRPr lang="en-US" altLang="en-US"/>
          </a:p>
        </p:txBody>
      </p:sp>
    </p:spTree>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4A63B65-77F8-F198-93A7-CF614626E137}"/>
              </a:ext>
            </a:extLst>
          </p:cNvPr>
          <p:cNvSpPr>
            <a:spLocks noGrp="1" noChangeArrowheads="1"/>
          </p:cNvSpPr>
          <p:nvPr>
            <p:ph type="title"/>
          </p:nvPr>
        </p:nvSpPr>
        <p:spPr/>
        <p:txBody>
          <a:bodyPr/>
          <a:lstStyle/>
          <a:p>
            <a:pPr>
              <a:defRPr/>
            </a:pPr>
            <a:r>
              <a:rPr lang="hr-HR" altLang="en-US"/>
              <a:t>Primer1</a:t>
            </a:r>
            <a:endParaRPr lang="en-US" altLang="en-US"/>
          </a:p>
        </p:txBody>
      </p:sp>
      <p:sp>
        <p:nvSpPr>
          <p:cNvPr id="14339" name="Rectangle 3">
            <a:extLst>
              <a:ext uri="{FF2B5EF4-FFF2-40B4-BE49-F238E27FC236}">
                <a16:creationId xmlns:a16="http://schemas.microsoft.com/office/drawing/2014/main" id="{27AF92D8-5550-B96A-E7E9-791B59DFE4CF}"/>
              </a:ext>
            </a:extLst>
          </p:cNvPr>
          <p:cNvSpPr>
            <a:spLocks noGrp="1" noChangeArrowheads="1"/>
          </p:cNvSpPr>
          <p:nvPr>
            <p:ph type="body" idx="1"/>
          </p:nvPr>
        </p:nvSpPr>
        <p:spPr/>
        <p:txBody>
          <a:bodyPr/>
          <a:lstStyle/>
          <a:p>
            <a:pPr marL="533400" indent="-533400" algn="just">
              <a:defRPr/>
            </a:pPr>
            <a:r>
              <a:rPr lang="en-US" altLang="en-US">
                <a:cs typeface="Times New Roman" panose="02020603050405020304" pitchFamily="18" charset="0"/>
              </a:rPr>
              <a:t>Kori</a:t>
            </a:r>
            <a:r>
              <a:rPr lang="hr-HR" altLang="en-US"/>
              <a:t>šć</a:t>
            </a:r>
            <a:r>
              <a:rPr lang="en-US" altLang="en-US">
                <a:cs typeface="Times New Roman" panose="02020603050405020304" pitchFamily="18" charset="0"/>
              </a:rPr>
              <a:t>enjem NZD testa utvrditi da li postoji loop-cary zavisnost u slede</a:t>
            </a:r>
            <a:r>
              <a:rPr lang="hr-HR" altLang="en-US"/>
              <a:t>ć</a:t>
            </a:r>
            <a:r>
              <a:rPr lang="en-US" altLang="en-US">
                <a:cs typeface="Times New Roman" panose="02020603050405020304" pitchFamily="18" charset="0"/>
              </a:rPr>
              <a:t>oj petlji:</a:t>
            </a:r>
          </a:p>
          <a:p>
            <a:pPr marL="895350" lvl="1" indent="-438150" algn="just">
              <a:buFont typeface="Wingdings" panose="05000000000000000000" pitchFamily="2" charset="2"/>
              <a:buNone/>
              <a:defRPr/>
            </a:pPr>
            <a:r>
              <a:rPr lang="hr-HR" altLang="en-US">
                <a:latin typeface="Times New Roman" panose="02020603050405020304" pitchFamily="18" charset="0"/>
              </a:rPr>
              <a:t>		</a:t>
            </a:r>
            <a:r>
              <a:rPr lang="en-US" altLang="en-US">
                <a:cs typeface="Times New Roman" panose="02020603050405020304" pitchFamily="18" charset="0"/>
              </a:rPr>
              <a:t>for i=1 to 100</a:t>
            </a:r>
          </a:p>
          <a:p>
            <a:pPr marL="895350" lvl="1" indent="-438150" algn="just">
              <a:buFont typeface="Wingdings" panose="05000000000000000000" pitchFamily="2" charset="2"/>
              <a:buNone/>
              <a:defRPr/>
            </a:pPr>
            <a:r>
              <a:rPr lang="en-US" altLang="en-US">
                <a:cs typeface="Times New Roman" panose="02020603050405020304" pitchFamily="18" charset="0"/>
              </a:rPr>
              <a:t>		x(2*i+3)=x(2*i)+k</a:t>
            </a:r>
          </a:p>
          <a:p>
            <a:pPr marL="895350" lvl="1" indent="-438150">
              <a:buFont typeface="Wingdings" panose="05000000000000000000" pitchFamily="2" charset="2"/>
              <a:buNone/>
              <a:defRPr/>
            </a:pPr>
            <a:r>
              <a:rPr lang="en-US" altLang="en-US">
                <a:cs typeface="Times New Roman" panose="02020603050405020304" pitchFamily="18" charset="0"/>
              </a:rPr>
              <a:t>     endfor</a:t>
            </a:r>
            <a:r>
              <a:rPr lang="en-US" altLang="en-US"/>
              <a:t> </a:t>
            </a:r>
            <a:endParaRPr lang="hr-HR" altLang="en-US"/>
          </a:p>
          <a:p>
            <a:pPr marL="533400" indent="-533400">
              <a:defRPr/>
            </a:pPr>
            <a:r>
              <a:rPr lang="hr-HR" altLang="en-US"/>
              <a:t>Rešenje</a:t>
            </a:r>
          </a:p>
          <a:p>
            <a:pPr marL="533400" indent="-533400">
              <a:defRPr/>
            </a:pPr>
            <a:endParaRPr lang="hr-HR" altLang="en-US"/>
          </a:p>
          <a:p>
            <a:pPr marL="533400" indent="-533400">
              <a:buFont typeface="Wingdings 2" panose="05020102010507070707" pitchFamily="18" charset="2"/>
              <a:buNone/>
              <a:defRPr/>
            </a:pPr>
            <a:endParaRPr lang="hr-HR" altLang="en-US"/>
          </a:p>
          <a:p>
            <a:pPr marL="1295400" lvl="2" indent="-381000" algn="just">
              <a:defRPr/>
            </a:pPr>
            <a:r>
              <a:rPr lang="en-US" altLang="en-US">
                <a:cs typeface="Times New Roman" panose="02020603050405020304" pitchFamily="18" charset="0"/>
              </a:rPr>
              <a:t>Po</a:t>
            </a:r>
            <a:r>
              <a:rPr lang="hr-HR" altLang="en-US"/>
              <a:t>š</a:t>
            </a:r>
            <a:r>
              <a:rPr lang="en-US" altLang="en-US">
                <a:cs typeface="Times New Roman" panose="02020603050405020304" pitchFamily="18" charset="0"/>
              </a:rPr>
              <a:t>to 2 ne deli –3 bez ostatka to nema loop-cary zavisnosti. </a:t>
            </a:r>
            <a:endParaRPr lang="hr-HR" altLang="en-US"/>
          </a:p>
          <a:p>
            <a:pPr marL="1295400" lvl="2" indent="-381000" algn="just">
              <a:defRPr/>
            </a:pPr>
            <a:r>
              <a:rPr lang="en-US" altLang="en-US">
                <a:cs typeface="Times New Roman" panose="02020603050405020304" pitchFamily="18" charset="0"/>
              </a:rPr>
              <a:t>Ako razvijemo petlju vide</a:t>
            </a:r>
            <a:r>
              <a:rPr lang="hr-HR" altLang="en-US"/>
              <a:t>ć</a:t>
            </a:r>
            <a:r>
              <a:rPr lang="en-US" altLang="en-US">
                <a:cs typeface="Times New Roman" panose="02020603050405020304" pitchFamily="18" charset="0"/>
              </a:rPr>
              <a:t>emo da zavisnosti zaista nema:</a:t>
            </a:r>
            <a:endParaRPr lang="hr-HR" altLang="en-US"/>
          </a:p>
          <a:p>
            <a:pPr marL="1295400" lvl="2" indent="-381000" algn="just">
              <a:buFont typeface="Wingdings" panose="05000000000000000000" pitchFamily="2" charset="2"/>
              <a:buNone/>
              <a:defRPr/>
            </a:pPr>
            <a:r>
              <a:rPr lang="hr-HR" altLang="en-US"/>
              <a:t>		</a:t>
            </a:r>
            <a:r>
              <a:rPr lang="en-US" altLang="en-US">
                <a:solidFill>
                  <a:schemeClr val="accent1"/>
                </a:solidFill>
                <a:latin typeface="Times Roman YU" pitchFamily="18" charset="0"/>
                <a:cs typeface="Times New Roman" panose="02020603050405020304" pitchFamily="18" charset="0"/>
              </a:rPr>
              <a:t>i=1	x(5)=x(2)+k</a:t>
            </a:r>
            <a:endParaRPr lang="en-US" altLang="en-US">
              <a:solidFill>
                <a:schemeClr val="accent1"/>
              </a:solidFill>
              <a:cs typeface="Times New Roman" panose="02020603050405020304" pitchFamily="18" charset="0"/>
            </a:endParaRPr>
          </a:p>
          <a:p>
            <a:pPr marL="1295400" lvl="2" indent="-381000" algn="just">
              <a:buFont typeface="Wingdings" panose="05000000000000000000" pitchFamily="2" charset="2"/>
              <a:buNone/>
              <a:defRPr/>
            </a:pPr>
            <a:r>
              <a:rPr lang="en-US" altLang="en-US">
                <a:solidFill>
                  <a:schemeClr val="accent1"/>
                </a:solidFill>
                <a:latin typeface="Times Roman YU" pitchFamily="18" charset="0"/>
                <a:cs typeface="Times New Roman" panose="02020603050405020304" pitchFamily="18" charset="0"/>
              </a:rPr>
              <a:t>	</a:t>
            </a:r>
            <a:r>
              <a:rPr lang="hr-HR" altLang="en-US">
                <a:solidFill>
                  <a:schemeClr val="accent1"/>
                </a:solidFill>
              </a:rPr>
              <a:t>	</a:t>
            </a:r>
            <a:r>
              <a:rPr lang="en-US" altLang="en-US">
                <a:solidFill>
                  <a:schemeClr val="accent1"/>
                </a:solidFill>
                <a:latin typeface="Times Roman YU" pitchFamily="18" charset="0"/>
                <a:cs typeface="Times New Roman" panose="02020603050405020304" pitchFamily="18" charset="0"/>
              </a:rPr>
              <a:t>i=2	x(7)=x(4)+k</a:t>
            </a:r>
            <a:endParaRPr lang="en-US" altLang="en-US">
              <a:solidFill>
                <a:schemeClr val="accent1"/>
              </a:solidFill>
              <a:cs typeface="Times New Roman" panose="02020603050405020304" pitchFamily="18" charset="0"/>
            </a:endParaRPr>
          </a:p>
          <a:p>
            <a:pPr marL="1295400" lvl="2" indent="-381000" algn="just">
              <a:buFont typeface="Wingdings" panose="05000000000000000000" pitchFamily="2" charset="2"/>
              <a:buNone/>
              <a:defRPr/>
            </a:pPr>
            <a:r>
              <a:rPr lang="en-US" altLang="en-US">
                <a:solidFill>
                  <a:schemeClr val="accent1"/>
                </a:solidFill>
                <a:latin typeface="Times Roman YU" pitchFamily="18" charset="0"/>
                <a:cs typeface="Times New Roman" panose="02020603050405020304" pitchFamily="18" charset="0"/>
              </a:rPr>
              <a:t>	</a:t>
            </a:r>
            <a:r>
              <a:rPr lang="hr-HR" altLang="en-US">
                <a:solidFill>
                  <a:schemeClr val="accent1"/>
                </a:solidFill>
              </a:rPr>
              <a:t>	</a:t>
            </a:r>
            <a:r>
              <a:rPr lang="en-US" altLang="en-US">
                <a:solidFill>
                  <a:schemeClr val="accent1"/>
                </a:solidFill>
                <a:latin typeface="Times Roman YU" pitchFamily="18" charset="0"/>
                <a:cs typeface="Times New Roman" panose="02020603050405020304" pitchFamily="18" charset="0"/>
              </a:rPr>
              <a:t>i=3	x(9)=x(6)+k</a:t>
            </a:r>
            <a:endParaRPr lang="hr-HR" altLang="en-US"/>
          </a:p>
          <a:p>
            <a:pPr marL="533400" indent="-533400">
              <a:buFont typeface="Wingdings 2" panose="05020102010507070707" pitchFamily="18" charset="2"/>
              <a:buNone/>
              <a:defRPr/>
            </a:pPr>
            <a:endParaRPr lang="en-US" altLang="en-US"/>
          </a:p>
        </p:txBody>
      </p:sp>
      <p:sp>
        <p:nvSpPr>
          <p:cNvPr id="39940" name="Rectangle 5">
            <a:extLst>
              <a:ext uri="{FF2B5EF4-FFF2-40B4-BE49-F238E27FC236}">
                <a16:creationId xmlns:a16="http://schemas.microsoft.com/office/drawing/2014/main" id="{2FB56543-E76F-78DF-8AA3-CCD0FF41582E}"/>
              </a:ext>
            </a:extLst>
          </p:cNvPr>
          <p:cNvSpPr>
            <a:spLocks noChangeArrowheads="1"/>
          </p:cNvSpPr>
          <p:nvPr/>
        </p:nvSpPr>
        <p:spPr bwMode="auto">
          <a:xfrm>
            <a:off x="3600450" y="3109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graphicFrame>
        <p:nvGraphicFramePr>
          <p:cNvPr id="39941" name="Object 4">
            <a:extLst>
              <a:ext uri="{FF2B5EF4-FFF2-40B4-BE49-F238E27FC236}">
                <a16:creationId xmlns:a16="http://schemas.microsoft.com/office/drawing/2014/main" id="{86707AFE-F62D-9DAB-7FB0-E5158E9AC7C6}"/>
              </a:ext>
            </a:extLst>
          </p:cNvPr>
          <p:cNvGraphicFramePr>
            <a:graphicFrameLocks noChangeAspect="1"/>
          </p:cNvGraphicFramePr>
          <p:nvPr/>
        </p:nvGraphicFramePr>
        <p:xfrm>
          <a:off x="2438400" y="3124200"/>
          <a:ext cx="3733800" cy="1227138"/>
        </p:xfrm>
        <a:graphic>
          <a:graphicData uri="http://schemas.openxmlformats.org/presentationml/2006/ole">
            <mc:AlternateContent xmlns:mc="http://schemas.openxmlformats.org/markup-compatibility/2006">
              <mc:Choice xmlns:v="urn:schemas-microsoft-com:vml" Requires="v">
                <p:oleObj r:id="rId2" imgW="1943100" imgH="635000" progId="Equation.3">
                  <p:embed/>
                </p:oleObj>
              </mc:Choice>
              <mc:Fallback>
                <p:oleObj r:id="rId2" imgW="1943100" imgH="6350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124200"/>
                        <a:ext cx="373380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4782756-6BCD-0902-39FE-8B766F49077C}"/>
              </a:ext>
            </a:extLst>
          </p:cNvPr>
          <p:cNvSpPr>
            <a:spLocks noGrp="1" noChangeArrowheads="1"/>
          </p:cNvSpPr>
          <p:nvPr>
            <p:ph type="title"/>
          </p:nvPr>
        </p:nvSpPr>
        <p:spPr/>
        <p:txBody>
          <a:bodyPr/>
          <a:lstStyle/>
          <a:p>
            <a:pPr>
              <a:defRPr/>
            </a:pPr>
            <a:r>
              <a:rPr lang="hr-HR" altLang="en-US"/>
              <a:t>Primer2</a:t>
            </a:r>
            <a:endParaRPr lang="en-US" altLang="en-US"/>
          </a:p>
        </p:txBody>
      </p:sp>
      <p:sp>
        <p:nvSpPr>
          <p:cNvPr id="15363" name="Rectangle 3">
            <a:extLst>
              <a:ext uri="{FF2B5EF4-FFF2-40B4-BE49-F238E27FC236}">
                <a16:creationId xmlns:a16="http://schemas.microsoft.com/office/drawing/2014/main" id="{1630A32C-9E26-39EE-D1EE-189A20099578}"/>
              </a:ext>
            </a:extLst>
          </p:cNvPr>
          <p:cNvSpPr>
            <a:spLocks noGrp="1" noChangeArrowheads="1"/>
          </p:cNvSpPr>
          <p:nvPr>
            <p:ph type="body" idx="1"/>
          </p:nvPr>
        </p:nvSpPr>
        <p:spPr/>
        <p:txBody>
          <a:bodyPr/>
          <a:lstStyle/>
          <a:p>
            <a:pPr marL="533400" indent="-533400" algn="just">
              <a:defRPr/>
            </a:pPr>
            <a:r>
              <a:rPr lang="en-US" altLang="en-US">
                <a:cs typeface="Times New Roman" panose="02020603050405020304" pitchFamily="18" charset="0"/>
              </a:rPr>
              <a:t>Kori</a:t>
            </a:r>
            <a:r>
              <a:rPr lang="hr-HR" altLang="en-US"/>
              <a:t>šć</a:t>
            </a:r>
            <a:r>
              <a:rPr lang="en-US" altLang="en-US">
                <a:cs typeface="Times New Roman" panose="02020603050405020304" pitchFamily="18" charset="0"/>
              </a:rPr>
              <a:t>enjem NZD testa utvrditi da li postoji loop-cary zavisnost u slede</a:t>
            </a:r>
            <a:r>
              <a:rPr lang="hr-HR" altLang="en-US"/>
              <a:t>ć</a:t>
            </a:r>
            <a:r>
              <a:rPr lang="en-US" altLang="en-US">
                <a:cs typeface="Times New Roman" panose="02020603050405020304" pitchFamily="18" charset="0"/>
              </a:rPr>
              <a:t>oj petlji</a:t>
            </a:r>
            <a:r>
              <a:rPr lang="en-US" altLang="en-US">
                <a:latin typeface="Times Roman YU" pitchFamily="18" charset="0"/>
                <a:cs typeface="Times New Roman" panose="02020603050405020304" pitchFamily="18" charset="0"/>
              </a:rPr>
              <a:t>:</a:t>
            </a:r>
            <a:endParaRPr lang="en-US" altLang="en-US">
              <a:cs typeface="Times New Roman" panose="02020603050405020304" pitchFamily="18" charset="0"/>
            </a:endParaRPr>
          </a:p>
          <a:p>
            <a:pPr marL="1295400" lvl="2" indent="-381000" algn="just">
              <a:buFont typeface="Wingdings" panose="05000000000000000000" pitchFamily="2" charset="2"/>
              <a:buNone/>
              <a:defRPr/>
            </a:pPr>
            <a:r>
              <a:rPr lang="en-US" altLang="en-US">
                <a:latin typeface="Times Roman YU" pitchFamily="18" charset="0"/>
                <a:cs typeface="Times New Roman" panose="02020603050405020304" pitchFamily="18" charset="0"/>
              </a:rPr>
              <a:t>		for i=2, 100, 2</a:t>
            </a:r>
            <a:endParaRPr lang="en-US" altLang="en-US">
              <a:cs typeface="Times New Roman" panose="02020603050405020304" pitchFamily="18" charset="0"/>
            </a:endParaRPr>
          </a:p>
          <a:p>
            <a:pPr marL="1295400" lvl="2" indent="-381000" algn="just">
              <a:buFont typeface="Wingdings" panose="05000000000000000000" pitchFamily="2" charset="2"/>
              <a:buNone/>
              <a:defRPr/>
            </a:pPr>
            <a:r>
              <a:rPr lang="en-US" altLang="en-US">
                <a:latin typeface="Times Roman YU" pitchFamily="18" charset="0"/>
                <a:cs typeface="Times New Roman" panose="02020603050405020304" pitchFamily="18" charset="0"/>
              </a:rPr>
              <a:t>		x(50*i+1)=x(i-1)+k</a:t>
            </a:r>
            <a:endParaRPr lang="en-US" altLang="en-US">
              <a:cs typeface="Times New Roman" panose="02020603050405020304" pitchFamily="18" charset="0"/>
            </a:endParaRPr>
          </a:p>
          <a:p>
            <a:pPr marL="1295400" lvl="2" indent="-381000" algn="just">
              <a:buFont typeface="Wingdings" panose="05000000000000000000" pitchFamily="2" charset="2"/>
              <a:buNone/>
              <a:defRPr/>
            </a:pPr>
            <a:r>
              <a:rPr lang="en-US" altLang="en-US">
                <a:latin typeface="Times Roman YU" pitchFamily="18" charset="0"/>
                <a:cs typeface="Times New Roman" panose="02020603050405020304" pitchFamily="18" charset="0"/>
              </a:rPr>
              <a:t>              endfor</a:t>
            </a:r>
            <a:endParaRPr lang="hr-HR" altLang="en-US">
              <a:latin typeface="Times New Roman" panose="02020603050405020304" pitchFamily="18" charset="0"/>
            </a:endParaRPr>
          </a:p>
          <a:p>
            <a:pPr marL="533400" indent="-533400" algn="just">
              <a:defRPr/>
            </a:pPr>
            <a:r>
              <a:rPr lang="en-US" altLang="en-US">
                <a:cs typeface="Times New Roman" panose="02020603050405020304" pitchFamily="18" charset="0"/>
              </a:rPr>
              <a:t>RE</a:t>
            </a:r>
            <a:r>
              <a:rPr lang="hr-HR" altLang="en-US"/>
              <a:t>Š</a:t>
            </a:r>
            <a:r>
              <a:rPr lang="en-US" altLang="en-US">
                <a:cs typeface="Times New Roman" panose="02020603050405020304" pitchFamily="18" charset="0"/>
              </a:rPr>
              <a:t>ENJE: </a:t>
            </a:r>
            <a:endParaRPr lang="hr-HR" altLang="en-US"/>
          </a:p>
          <a:p>
            <a:pPr marL="895350" lvl="1" indent="-438150" algn="just">
              <a:defRPr/>
            </a:pPr>
            <a:r>
              <a:rPr lang="en-US" altLang="en-US">
                <a:cs typeface="Times New Roman" panose="02020603050405020304" pitchFamily="18" charset="0"/>
              </a:rPr>
              <a:t>Da bi NZD test mogao da se primeni prvo treba normalizovati petlju, po</a:t>
            </a:r>
            <a:r>
              <a:rPr lang="hr-HR" altLang="en-US"/>
              <a:t>š</a:t>
            </a:r>
            <a:r>
              <a:rPr lang="en-US" altLang="en-US">
                <a:cs typeface="Times New Roman" panose="02020603050405020304" pitchFamily="18" charset="0"/>
              </a:rPr>
              <a:t>to se u primeru indeks petlje uve</a:t>
            </a:r>
            <a:r>
              <a:rPr lang="hr-HR" altLang="en-US"/>
              <a:t>ć</a:t>
            </a:r>
            <a:r>
              <a:rPr lang="en-US" altLang="en-US">
                <a:cs typeface="Times New Roman" panose="02020603050405020304" pitchFamily="18" charset="0"/>
              </a:rPr>
              <a:t>ava sa korakom 2. </a:t>
            </a:r>
            <a:endParaRPr lang="hr-HR" altLang="en-US"/>
          </a:p>
          <a:p>
            <a:pPr marL="895350" lvl="1" indent="-438150" algn="just">
              <a:defRPr/>
            </a:pPr>
            <a:r>
              <a:rPr lang="en-US" altLang="en-US">
                <a:cs typeface="Times New Roman" panose="02020603050405020304" pitchFamily="18" charset="0"/>
              </a:rPr>
              <a:t>Normalizovana petlja ima slede</a:t>
            </a:r>
            <a:r>
              <a:rPr lang="hr-HR" altLang="en-US"/>
              <a:t>ć</a:t>
            </a:r>
            <a:r>
              <a:rPr lang="en-US" altLang="en-US">
                <a:cs typeface="Times New Roman" panose="02020603050405020304" pitchFamily="18" charset="0"/>
              </a:rPr>
              <a:t>i izgled</a:t>
            </a:r>
            <a:r>
              <a:rPr lang="en-US" altLang="en-US"/>
              <a:t> </a:t>
            </a:r>
            <a:endParaRPr lang="hr-HR" altLang="en-US"/>
          </a:p>
          <a:p>
            <a:pPr marL="1295400" lvl="2" indent="-381000" algn="just">
              <a:buFont typeface="Wingdings" panose="05000000000000000000" pitchFamily="2" charset="2"/>
              <a:buNone/>
              <a:defRPr/>
            </a:pPr>
            <a:r>
              <a:rPr lang="hr-HR" altLang="en-US">
                <a:latin typeface="Times New Roman" panose="02020603050405020304" pitchFamily="18" charset="0"/>
              </a:rPr>
              <a:t>		</a:t>
            </a:r>
            <a:r>
              <a:rPr lang="en-US" altLang="en-US">
                <a:latin typeface="Times Roman YU" pitchFamily="18" charset="0"/>
                <a:cs typeface="Times New Roman" panose="02020603050405020304" pitchFamily="18" charset="0"/>
              </a:rPr>
              <a:t>for i=1, 50</a:t>
            </a:r>
            <a:endParaRPr lang="en-US" altLang="en-US">
              <a:cs typeface="Times New Roman" panose="02020603050405020304" pitchFamily="18" charset="0"/>
            </a:endParaRPr>
          </a:p>
          <a:p>
            <a:pPr marL="1295400" lvl="2" indent="-381000" algn="just">
              <a:buFont typeface="Wingdings" panose="05000000000000000000" pitchFamily="2" charset="2"/>
              <a:buNone/>
              <a:defRPr/>
            </a:pPr>
            <a:r>
              <a:rPr lang="en-US" altLang="en-US">
                <a:latin typeface="Times Roman YU" pitchFamily="18" charset="0"/>
                <a:cs typeface="Times New Roman" panose="02020603050405020304" pitchFamily="18" charset="0"/>
              </a:rPr>
              <a:t>		x(100*i+1)=x(2*i-1)+k</a:t>
            </a:r>
            <a:endParaRPr lang="en-US" altLang="en-US">
              <a:cs typeface="Times New Roman" panose="02020603050405020304" pitchFamily="18" charset="0"/>
            </a:endParaRPr>
          </a:p>
          <a:p>
            <a:pPr marL="1295400" lvl="2" indent="-381000" algn="just">
              <a:buFont typeface="Wingdings" panose="05000000000000000000" pitchFamily="2" charset="2"/>
              <a:buNone/>
              <a:defRPr/>
            </a:pPr>
            <a:r>
              <a:rPr lang="hr-HR" altLang="en-US">
                <a:latin typeface="Times New Roman" panose="02020603050405020304" pitchFamily="18" charset="0"/>
              </a:rPr>
              <a:t>	</a:t>
            </a:r>
            <a:r>
              <a:rPr lang="en-US" altLang="en-US">
                <a:latin typeface="Times Roman YU" pitchFamily="18" charset="0"/>
                <a:cs typeface="Times New Roman" panose="02020603050405020304" pitchFamily="18" charset="0"/>
              </a:rPr>
              <a:t>        endfor</a:t>
            </a:r>
            <a:r>
              <a:rPr lang="en-US" altLang="en-US"/>
              <a:t> </a:t>
            </a:r>
          </a:p>
          <a:p>
            <a:pPr marL="533400" indent="-533400">
              <a:buFont typeface="Wingdings 2" panose="05020102010507070707" pitchFamily="18" charset="2"/>
              <a:buNone/>
              <a:defRPr/>
            </a:pPr>
            <a:endParaRPr lang="en-US" altLang="en-US"/>
          </a:p>
        </p:txBody>
      </p:sp>
      <p:graphicFrame>
        <p:nvGraphicFramePr>
          <p:cNvPr id="40964" name="Object 4">
            <a:extLst>
              <a:ext uri="{FF2B5EF4-FFF2-40B4-BE49-F238E27FC236}">
                <a16:creationId xmlns:a16="http://schemas.microsoft.com/office/drawing/2014/main" id="{0228081B-5FFD-4786-6758-76DFEC34AE51}"/>
              </a:ext>
            </a:extLst>
          </p:cNvPr>
          <p:cNvGraphicFramePr>
            <a:graphicFrameLocks noChangeAspect="1"/>
          </p:cNvGraphicFramePr>
          <p:nvPr/>
        </p:nvGraphicFramePr>
        <p:xfrm>
          <a:off x="5791200" y="4953000"/>
          <a:ext cx="2819400" cy="955675"/>
        </p:xfrm>
        <a:graphic>
          <a:graphicData uri="http://schemas.openxmlformats.org/presentationml/2006/ole">
            <mc:AlternateContent xmlns:mc="http://schemas.openxmlformats.org/markup-compatibility/2006">
              <mc:Choice xmlns:v="urn:schemas-microsoft-com:vml" Requires="v">
                <p:oleObj name="Equation" r:id="rId2" imgW="1612900" imgH="546100" progId="Equation.3">
                  <p:embed/>
                </p:oleObj>
              </mc:Choice>
              <mc:Fallback>
                <p:oleObj name="Equation" r:id="rId2" imgW="1612900" imgH="546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953000"/>
                        <a:ext cx="2819400"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5" name="Text Box 5">
            <a:extLst>
              <a:ext uri="{FF2B5EF4-FFF2-40B4-BE49-F238E27FC236}">
                <a16:creationId xmlns:a16="http://schemas.microsoft.com/office/drawing/2014/main" id="{427253D0-58EE-F591-D19B-04922CB2D8D0}"/>
              </a:ext>
            </a:extLst>
          </p:cNvPr>
          <p:cNvSpPr txBox="1">
            <a:spLocks noChangeArrowheads="1"/>
          </p:cNvSpPr>
          <p:nvPr/>
        </p:nvSpPr>
        <p:spPr bwMode="auto">
          <a:xfrm>
            <a:off x="4784725" y="6086475"/>
            <a:ext cx="4130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r>
              <a:rPr kumimoji="0" lang="hr-HR" altLang="en-US" sz="1800"/>
              <a:t>NZD test prolazi, mada nema loop carry zavisnosti</a:t>
            </a:r>
            <a:endParaRPr kumimoji="0" lang="en-US" altLang="en-US" sz="1800"/>
          </a:p>
        </p:txBody>
      </p:sp>
      <p:sp>
        <p:nvSpPr>
          <p:cNvPr id="40966" name="Line 6">
            <a:extLst>
              <a:ext uri="{FF2B5EF4-FFF2-40B4-BE49-F238E27FC236}">
                <a16:creationId xmlns:a16="http://schemas.microsoft.com/office/drawing/2014/main" id="{620A294C-AA99-1D30-9088-E2A5BA8B1D1C}"/>
              </a:ext>
            </a:extLst>
          </p:cNvPr>
          <p:cNvSpPr>
            <a:spLocks noChangeShapeType="1"/>
          </p:cNvSpPr>
          <p:nvPr/>
        </p:nvSpPr>
        <p:spPr bwMode="auto">
          <a:xfrm flipV="1">
            <a:off x="5334000" y="5943600"/>
            <a:ext cx="1981200" cy="3810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0967" name="Oval 7">
            <a:extLst>
              <a:ext uri="{FF2B5EF4-FFF2-40B4-BE49-F238E27FC236}">
                <a16:creationId xmlns:a16="http://schemas.microsoft.com/office/drawing/2014/main" id="{181E2474-D4A7-C0DD-E329-41BEB2BE4FF0}"/>
              </a:ext>
            </a:extLst>
          </p:cNvPr>
          <p:cNvSpPr>
            <a:spLocks noChangeArrowheads="1"/>
          </p:cNvSpPr>
          <p:nvPr/>
        </p:nvSpPr>
        <p:spPr bwMode="auto">
          <a:xfrm>
            <a:off x="8229600" y="5334000"/>
            <a:ext cx="228600" cy="228600"/>
          </a:xfrm>
          <a:prstGeom prst="ellipse">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
        <p:nvSpPr>
          <p:cNvPr id="40968" name="Oval 8">
            <a:extLst>
              <a:ext uri="{FF2B5EF4-FFF2-40B4-BE49-F238E27FC236}">
                <a16:creationId xmlns:a16="http://schemas.microsoft.com/office/drawing/2014/main" id="{D5C94B6A-D03A-B032-9056-03CF83215E22}"/>
              </a:ext>
            </a:extLst>
          </p:cNvPr>
          <p:cNvSpPr>
            <a:spLocks noChangeArrowheads="1"/>
          </p:cNvSpPr>
          <p:nvPr/>
        </p:nvSpPr>
        <p:spPr bwMode="auto">
          <a:xfrm>
            <a:off x="7239000" y="5638800"/>
            <a:ext cx="304800" cy="304800"/>
          </a:xfrm>
          <a:prstGeom prst="ellipse">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spcBef>
                <a:spcPct val="0"/>
              </a:spcBef>
              <a:buClrTx/>
              <a:buSzTx/>
              <a:buFontTx/>
              <a:buNone/>
            </a:pPr>
            <a:endParaRPr kumimoji="0" lang="sr-Latn-RS" altLang="sr-Latn-RS" sz="1800">
              <a:solidFill>
                <a:schemeClr val="tx1"/>
              </a:solidFill>
              <a:latin typeface="Arial" panose="020B0604020202020204" pitchFamily="34" charset="0"/>
            </a:endParaRPr>
          </a:p>
        </p:txBody>
      </p:sp>
    </p:spTree>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E165BBE-1C6F-5098-839E-565E72AF3E92}"/>
              </a:ext>
            </a:extLst>
          </p:cNvPr>
          <p:cNvSpPr>
            <a:spLocks noGrp="1" noChangeArrowheads="1"/>
          </p:cNvSpPr>
          <p:nvPr>
            <p:ph type="title"/>
          </p:nvPr>
        </p:nvSpPr>
        <p:spPr/>
        <p:txBody>
          <a:bodyPr/>
          <a:lstStyle/>
          <a:p>
            <a:pPr>
              <a:defRPr/>
            </a:pPr>
            <a:r>
              <a:rPr lang="hr-HR" altLang="en-US"/>
              <a:t>Primer2 – nast.</a:t>
            </a:r>
            <a:endParaRPr lang="en-US" altLang="en-US"/>
          </a:p>
        </p:txBody>
      </p:sp>
      <p:sp>
        <p:nvSpPr>
          <p:cNvPr id="16387" name="Rectangle 3">
            <a:extLst>
              <a:ext uri="{FF2B5EF4-FFF2-40B4-BE49-F238E27FC236}">
                <a16:creationId xmlns:a16="http://schemas.microsoft.com/office/drawing/2014/main" id="{441E1DCE-B7B1-656B-DA57-423CC69436BE}"/>
              </a:ext>
            </a:extLst>
          </p:cNvPr>
          <p:cNvSpPr>
            <a:spLocks noGrp="1" noChangeArrowheads="1"/>
          </p:cNvSpPr>
          <p:nvPr>
            <p:ph type="body" idx="1"/>
          </p:nvPr>
        </p:nvSpPr>
        <p:spPr/>
        <p:txBody>
          <a:bodyPr/>
          <a:lstStyle/>
          <a:p>
            <a:pPr>
              <a:defRPr/>
            </a:pPr>
            <a:r>
              <a:rPr lang="hr-HR" altLang="en-US"/>
              <a:t>Zašto je NZD dao odgovor da loop carry zavisnost postoji?</a:t>
            </a:r>
          </a:p>
          <a:p>
            <a:pPr lvl="1">
              <a:defRPr/>
            </a:pPr>
            <a:r>
              <a:rPr lang="hr-HR" altLang="en-US"/>
              <a:t>zato što test ne uzima u obzir granice petlje!</a:t>
            </a:r>
          </a:p>
          <a:p>
            <a:pPr lvl="2" algn="just">
              <a:buFont typeface="Wingdings" panose="05000000000000000000" pitchFamily="2" charset="2"/>
              <a:buNone/>
              <a:defRPr/>
            </a:pPr>
            <a:r>
              <a:rPr lang="hr-HR" altLang="en-US">
                <a:latin typeface="Times New Roman" panose="02020603050405020304" pitchFamily="18" charset="0"/>
              </a:rPr>
              <a:t>	</a:t>
            </a:r>
            <a:r>
              <a:rPr lang="en-US" altLang="en-US">
                <a:latin typeface="Times Roman YU" pitchFamily="18" charset="0"/>
                <a:cs typeface="Times New Roman" panose="02020603050405020304" pitchFamily="18" charset="0"/>
              </a:rPr>
              <a:t>i=1	x(101)=x(1)+k</a:t>
            </a:r>
            <a:endParaRPr lang="en-US" altLang="en-US">
              <a:cs typeface="Times New Roman" panose="02020603050405020304" pitchFamily="18" charset="0"/>
            </a:endParaRP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	  .</a:t>
            </a:r>
            <a:endParaRPr lang="en-US" altLang="en-US">
              <a:cs typeface="Times New Roman" panose="02020603050405020304" pitchFamily="18" charset="0"/>
            </a:endParaRP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	  .</a:t>
            </a:r>
            <a:endParaRPr lang="en-US" altLang="en-US">
              <a:cs typeface="Times New Roman" panose="02020603050405020304" pitchFamily="18" charset="0"/>
            </a:endParaRP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	  .</a:t>
            </a: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	i=50	x(5001)=x(99)+k</a:t>
            </a:r>
            <a:endParaRPr lang="en-US" altLang="en-US">
              <a:cs typeface="Times New Roman" panose="02020603050405020304" pitchFamily="18" charset="0"/>
            </a:endParaRP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____________________________</a:t>
            </a:r>
            <a:endParaRPr lang="en-US" altLang="en-US">
              <a:cs typeface="Times New Roman" panose="02020603050405020304" pitchFamily="18" charset="0"/>
            </a:endParaRPr>
          </a:p>
          <a:p>
            <a:pPr lvl="2" algn="just">
              <a:buFont typeface="Wingdings" panose="05000000000000000000" pitchFamily="2" charset="2"/>
              <a:buNone/>
              <a:defRPr/>
            </a:pPr>
            <a:r>
              <a:rPr lang="en-US" altLang="en-US">
                <a:latin typeface="Times Roman YU" pitchFamily="18" charset="0"/>
                <a:cs typeface="Times New Roman" panose="02020603050405020304" pitchFamily="18" charset="0"/>
              </a:rPr>
              <a:t>	i=51	x(5101)=x(101)+k</a:t>
            </a:r>
            <a:endParaRPr lang="en-US" altLang="en-US">
              <a:cs typeface="Times New Roman" panose="02020603050405020304" pitchFamily="18" charset="0"/>
            </a:endParaRPr>
          </a:p>
          <a:p>
            <a:pPr lvl="2">
              <a:buFont typeface="Wingdings" panose="05000000000000000000" pitchFamily="2" charset="2"/>
              <a:buNone/>
              <a:defRPr/>
            </a:pPr>
            <a:endParaRPr lang="en-US" altLang="en-US"/>
          </a:p>
        </p:txBody>
      </p:sp>
      <p:sp>
        <p:nvSpPr>
          <p:cNvPr id="41988" name="Line 4">
            <a:extLst>
              <a:ext uri="{FF2B5EF4-FFF2-40B4-BE49-F238E27FC236}">
                <a16:creationId xmlns:a16="http://schemas.microsoft.com/office/drawing/2014/main" id="{3BA5C52A-B7AC-56FC-9203-DE3B33CC9F9F}"/>
              </a:ext>
            </a:extLst>
          </p:cNvPr>
          <p:cNvSpPr>
            <a:spLocks noChangeShapeType="1"/>
          </p:cNvSpPr>
          <p:nvPr/>
        </p:nvSpPr>
        <p:spPr bwMode="auto">
          <a:xfrm>
            <a:off x="2362200" y="2438400"/>
            <a:ext cx="914400" cy="19812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1989" name="AutoShape 5">
            <a:extLst>
              <a:ext uri="{FF2B5EF4-FFF2-40B4-BE49-F238E27FC236}">
                <a16:creationId xmlns:a16="http://schemas.microsoft.com/office/drawing/2014/main" id="{09AC0D82-452B-270C-C207-9B79213E8389}"/>
              </a:ext>
            </a:extLst>
          </p:cNvPr>
          <p:cNvSpPr>
            <a:spLocks noChangeArrowheads="1"/>
          </p:cNvSpPr>
          <p:nvPr/>
        </p:nvSpPr>
        <p:spPr bwMode="auto">
          <a:xfrm>
            <a:off x="5715000" y="2743200"/>
            <a:ext cx="2514600" cy="1447800"/>
          </a:xfrm>
          <a:prstGeom prst="wedgeRoundRectCallout">
            <a:avLst>
              <a:gd name="adj1" fmla="val -84093"/>
              <a:gd name="adj2" fmla="val 60306"/>
              <a:gd name="adj3" fmla="val 16667"/>
            </a:avLst>
          </a:prstGeom>
          <a:solidFill>
            <a:schemeClr val="accent1"/>
          </a:solidFill>
          <a:ln w="9525">
            <a:solidFill>
              <a:schemeClr val="tx1"/>
            </a:solidFill>
            <a:miter lim="800000"/>
            <a:headEnd/>
            <a:tailEnd/>
          </a:ln>
        </p:spPr>
        <p:txBody>
          <a:bodyPr anchor="b"/>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a:spcBef>
                <a:spcPct val="0"/>
              </a:spcBef>
              <a:buClrTx/>
              <a:buSzTx/>
              <a:buFontTx/>
              <a:buNone/>
            </a:pPr>
            <a:r>
              <a:rPr kumimoji="0" lang="hr-HR" altLang="en-US" sz="1800">
                <a:solidFill>
                  <a:schemeClr val="bg1"/>
                </a:solidFill>
                <a:latin typeface="Arial" panose="020B0604020202020204" pitchFamily="34" charset="0"/>
              </a:rPr>
              <a:t>zavisnost postoji izmedju 1. i 51. iteracije (ali su granice 1,50 !)</a:t>
            </a:r>
            <a:endParaRPr kumimoji="0" lang="en-US" altLang="en-US" sz="1800">
              <a:solidFill>
                <a:schemeClr val="bg1"/>
              </a:solidFill>
              <a:latin typeface="Arial" panose="020B0604020202020204" pitchFamily="34" charset="0"/>
            </a:endParaRPr>
          </a:p>
        </p:txBody>
      </p:sp>
    </p:spTree>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DC82B5A-EE52-4B41-BE25-2F61F03B1EE9}"/>
              </a:ext>
            </a:extLst>
          </p:cNvPr>
          <p:cNvSpPr>
            <a:spLocks noGrp="1"/>
          </p:cNvSpPr>
          <p:nvPr>
            <p:ph type="title" idx="4294967295"/>
          </p:nvPr>
        </p:nvSpPr>
        <p:spPr>
          <a:xfrm>
            <a:off x="0" y="25400"/>
            <a:ext cx="3306763" cy="657225"/>
          </a:xfrm>
        </p:spPr>
        <p:txBody>
          <a:bodyPr wrap="none" lIns="91440" tIns="45720" rIns="91440" bIns="45720"/>
          <a:lstStyle/>
          <a:p>
            <a:pPr>
              <a:defRPr/>
            </a:pPr>
            <a:r>
              <a:rPr lang="en-US" altLang="en-US"/>
              <a:t>GCD Test</a:t>
            </a:r>
          </a:p>
        </p:txBody>
      </p:sp>
      <p:sp>
        <p:nvSpPr>
          <p:cNvPr id="3" name="Content Placeholder 2">
            <a:extLst>
              <a:ext uri="{FF2B5EF4-FFF2-40B4-BE49-F238E27FC236}">
                <a16:creationId xmlns:a16="http://schemas.microsoft.com/office/drawing/2014/main" id="{9FB97DDA-8335-4CC8-AEE0-AF707C60672B}"/>
              </a:ext>
            </a:extLst>
          </p:cNvPr>
          <p:cNvSpPr>
            <a:spLocks noGrp="1"/>
          </p:cNvSpPr>
          <p:nvPr>
            <p:ph idx="4294967295"/>
          </p:nvPr>
        </p:nvSpPr>
        <p:spPr>
          <a:xfrm>
            <a:off x="466725" y="1192212"/>
            <a:ext cx="8229600" cy="4724400"/>
          </a:xfrm>
          <a:ln>
            <a:miter lim="800000"/>
            <a:headEnd/>
            <a:tailEnd/>
          </a:ln>
        </p:spPr>
        <p:txBody>
          <a:bodyPr lIns="91440" tIns="45720" rIns="91440" bIns="45720"/>
          <a:lstStyle/>
          <a:p>
            <a:pPr eaLnBrk="1" hangingPunct="1">
              <a:buClr>
                <a:srgbClr val="000066"/>
              </a:buClr>
              <a:buSzTx/>
              <a:buFont typeface="Wingdings" pitchFamily="2" charset="2"/>
              <a:buChar char="q"/>
              <a:defRPr/>
            </a:pPr>
            <a:r>
              <a:rPr kumimoji="0" lang="sr-Latn-RS" sz="2200" kern="0" dirty="0">
                <a:solidFill>
                  <a:srgbClr val="000066"/>
                </a:solidFill>
                <a:effectLst/>
              </a:rPr>
              <a:t>Može se primeniti i kada je indeks polja linearna funkcija indeksnih promenljivih</a:t>
            </a:r>
            <a:endParaRPr kumimoji="0" lang="en-US" sz="2200" kern="0" dirty="0">
              <a:solidFill>
                <a:srgbClr val="000066"/>
              </a:solidFill>
              <a:effectLst/>
            </a:endParaRPr>
          </a:p>
          <a:p>
            <a:pPr lvl="1" eaLnBrk="1" hangingPunct="1">
              <a:buClr>
                <a:srgbClr val="000066"/>
              </a:buClr>
              <a:buSzTx/>
              <a:buFont typeface="Wingdings" panose="05000000000000000000" pitchFamily="2" charset="2"/>
              <a:buChar char="q"/>
              <a:defRPr/>
            </a:pPr>
            <a:r>
              <a:rPr kumimoji="0" lang="sr-Latn-RS" sz="1900" kern="0" dirty="0">
                <a:solidFill>
                  <a:srgbClr val="000066"/>
                </a:solidFill>
                <a:effectLst/>
              </a:rPr>
              <a:t>Npr.</a:t>
            </a:r>
            <a:endParaRPr kumimoji="0" lang="en-US" sz="1900" kern="0" dirty="0">
              <a:solidFill>
                <a:srgbClr val="000066"/>
              </a:solidFill>
              <a:effectLst/>
            </a:endParaRPr>
          </a:p>
          <a:p>
            <a:pPr marL="1681163" lvl="4" indent="-339725" eaLnBrk="1" hangingPunct="1">
              <a:buClr>
                <a:srgbClr val="000066"/>
              </a:buClr>
              <a:buFontTx/>
              <a:buNone/>
              <a:defRPr/>
            </a:pPr>
            <a:r>
              <a:rPr kumimoji="0" lang="en-US" sz="1600" kern="0" dirty="0">
                <a:solidFill>
                  <a:srgbClr val="002060"/>
                </a:solidFill>
                <a:effectLst>
                  <a:outerShdw blurRad="38100" dist="38100" dir="2700000" algn="tl">
                    <a:srgbClr val="000000">
                      <a:alpha val="43137"/>
                    </a:srgbClr>
                  </a:outerShdw>
                </a:effectLst>
              </a:rPr>
              <a:t>for </a:t>
            </a:r>
            <a:r>
              <a:rPr kumimoji="0" lang="en-US" sz="1600" kern="0" dirty="0" err="1">
                <a:solidFill>
                  <a:srgbClr val="002060"/>
                </a:solidFill>
                <a:effectLst>
                  <a:outerShdw blurRad="38100" dist="38100" dir="2700000" algn="tl">
                    <a:srgbClr val="000000">
                      <a:alpha val="43137"/>
                    </a:srgbClr>
                  </a:outerShdw>
                </a:effectLst>
              </a:rPr>
              <a:t>i</a:t>
            </a:r>
            <a:r>
              <a:rPr kumimoji="0" lang="en-US" sz="1600" kern="0" dirty="0">
                <a:solidFill>
                  <a:srgbClr val="002060"/>
                </a:solidFill>
                <a:effectLst>
                  <a:outerShdw blurRad="38100" dist="38100" dir="2700000" algn="tl">
                    <a:srgbClr val="000000">
                      <a:alpha val="43137"/>
                    </a:srgbClr>
                  </a:outerShdw>
                </a:effectLst>
              </a:rPr>
              <a:t> = </a:t>
            </a:r>
            <a:r>
              <a:rPr kumimoji="0" lang="en-US" sz="1600" kern="0" dirty="0" err="1">
                <a:solidFill>
                  <a:srgbClr val="002060"/>
                </a:solidFill>
                <a:effectLst>
                  <a:outerShdw blurRad="38100" dist="38100" dir="2700000" algn="tl">
                    <a:srgbClr val="000000">
                      <a:alpha val="43137"/>
                    </a:srgbClr>
                  </a:outerShdw>
                </a:effectLst>
              </a:rPr>
              <a:t>li,hi</a:t>
            </a:r>
            <a:endParaRPr kumimoji="0" lang="en-US" sz="1600" kern="0" dirty="0">
              <a:solidFill>
                <a:srgbClr val="002060"/>
              </a:solidFill>
              <a:effectLst>
                <a:outerShdw blurRad="38100" dist="38100" dir="2700000" algn="tl">
                  <a:srgbClr val="000000">
                    <a:alpha val="43137"/>
                  </a:srgbClr>
                </a:outerShdw>
              </a:effectLst>
            </a:endParaRPr>
          </a:p>
          <a:p>
            <a:pPr marL="2138363" lvl="5" indent="-339725" fontAlgn="base">
              <a:lnSpc>
                <a:spcPct val="100000"/>
              </a:lnSpc>
              <a:spcBef>
                <a:spcPct val="20000"/>
              </a:spcBef>
              <a:spcAft>
                <a:spcPct val="0"/>
              </a:spcAft>
              <a:buClr>
                <a:srgbClr val="000066"/>
              </a:buClr>
              <a:buFontTx/>
              <a:buNone/>
              <a:defRPr/>
            </a:pPr>
            <a:r>
              <a:rPr lang="en-US" sz="1600" kern="0" dirty="0">
                <a:solidFill>
                  <a:srgbClr val="002060"/>
                </a:solidFill>
                <a:effectLst>
                  <a:outerShdw blurRad="38100" dist="38100" dir="2700000" algn="tl">
                    <a:srgbClr val="000000">
                      <a:alpha val="43137"/>
                    </a:srgbClr>
                  </a:outerShdw>
                </a:effectLst>
              </a:rPr>
              <a:t>for j = </a:t>
            </a:r>
            <a:r>
              <a:rPr lang="en-US" sz="1600" kern="0" dirty="0" err="1">
                <a:solidFill>
                  <a:srgbClr val="002060"/>
                </a:solidFill>
                <a:effectLst>
                  <a:outerShdw blurRad="38100" dist="38100" dir="2700000" algn="tl">
                    <a:srgbClr val="000000">
                      <a:alpha val="43137"/>
                    </a:srgbClr>
                  </a:outerShdw>
                </a:effectLst>
              </a:rPr>
              <a:t>lj,hj</a:t>
            </a:r>
            <a:endParaRPr lang="en-US" sz="1600" kern="0" dirty="0">
              <a:solidFill>
                <a:srgbClr val="002060"/>
              </a:solidFill>
              <a:effectLst>
                <a:outerShdw blurRad="38100" dist="38100" dir="2700000" algn="tl">
                  <a:srgbClr val="000000">
                    <a:alpha val="43137"/>
                  </a:srgbClr>
                </a:outerShdw>
              </a:effectLst>
            </a:endParaRPr>
          </a:p>
          <a:p>
            <a:pPr marL="2595563" lvl="6" indent="-339725" fontAlgn="base">
              <a:lnSpc>
                <a:spcPct val="100000"/>
              </a:lnSpc>
              <a:spcBef>
                <a:spcPct val="20000"/>
              </a:spcBef>
              <a:spcAft>
                <a:spcPct val="0"/>
              </a:spcAft>
              <a:buClr>
                <a:srgbClr val="000066"/>
              </a:buClr>
              <a:buFontTx/>
              <a:buNone/>
              <a:defRPr/>
            </a:pPr>
            <a:r>
              <a:rPr lang="en-US" sz="1600" kern="0" dirty="0">
                <a:solidFill>
                  <a:srgbClr val="002060"/>
                </a:solidFill>
                <a:effectLst>
                  <a:outerShdw blurRad="38100" dist="38100" dir="2700000" algn="tl">
                    <a:srgbClr val="000000">
                      <a:alpha val="43137"/>
                    </a:srgbClr>
                  </a:outerShdw>
                </a:effectLst>
              </a:rPr>
              <a:t>A(a1*</a:t>
            </a:r>
            <a:r>
              <a:rPr lang="en-US" sz="1600" kern="0" dirty="0" err="1">
                <a:solidFill>
                  <a:srgbClr val="002060"/>
                </a:solidFill>
                <a:effectLst>
                  <a:outerShdw blurRad="38100" dist="38100" dir="2700000" algn="tl">
                    <a:srgbClr val="000000">
                      <a:alpha val="43137"/>
                    </a:srgbClr>
                  </a:outerShdw>
                </a:effectLst>
              </a:rPr>
              <a:t>i</a:t>
            </a:r>
            <a:r>
              <a:rPr lang="en-US" sz="1600" kern="0" dirty="0">
                <a:solidFill>
                  <a:srgbClr val="002060"/>
                </a:solidFill>
                <a:effectLst>
                  <a:outerShdw blurRad="38100" dist="38100" dir="2700000" algn="tl">
                    <a:srgbClr val="000000">
                      <a:alpha val="43137"/>
                    </a:srgbClr>
                  </a:outerShdw>
                </a:effectLst>
              </a:rPr>
              <a:t> + a2*j + a0) = ... A(b1*</a:t>
            </a:r>
            <a:r>
              <a:rPr lang="en-US" sz="1600" kern="0" dirty="0" err="1">
                <a:solidFill>
                  <a:srgbClr val="002060"/>
                </a:solidFill>
                <a:effectLst>
                  <a:outerShdw blurRad="38100" dist="38100" dir="2700000" algn="tl">
                    <a:srgbClr val="000000">
                      <a:alpha val="43137"/>
                    </a:srgbClr>
                  </a:outerShdw>
                </a:effectLst>
              </a:rPr>
              <a:t>i</a:t>
            </a:r>
            <a:r>
              <a:rPr lang="en-US" sz="1600" kern="0" dirty="0">
                <a:solidFill>
                  <a:srgbClr val="002060"/>
                </a:solidFill>
                <a:effectLst>
                  <a:outerShdw blurRad="38100" dist="38100" dir="2700000" algn="tl">
                    <a:srgbClr val="000000">
                      <a:alpha val="43137"/>
                    </a:srgbClr>
                  </a:outerShdw>
                </a:effectLst>
              </a:rPr>
              <a:t> + b2*j + b0) ...</a:t>
            </a:r>
          </a:p>
          <a:p>
            <a:pPr marL="2138363" lvl="5" indent="-339725" fontAlgn="base">
              <a:lnSpc>
                <a:spcPct val="100000"/>
              </a:lnSpc>
              <a:spcBef>
                <a:spcPct val="20000"/>
              </a:spcBef>
              <a:spcAft>
                <a:spcPct val="0"/>
              </a:spcAft>
              <a:buClr>
                <a:srgbClr val="000066"/>
              </a:buClr>
              <a:buFontTx/>
              <a:buNone/>
              <a:defRPr/>
            </a:pPr>
            <a:r>
              <a:rPr lang="en-US" sz="1600" kern="0" dirty="0" err="1">
                <a:solidFill>
                  <a:srgbClr val="002060"/>
                </a:solidFill>
                <a:effectLst>
                  <a:outerShdw blurRad="38100" dist="38100" dir="2700000" algn="tl">
                    <a:srgbClr val="000000">
                      <a:alpha val="43137"/>
                    </a:srgbClr>
                  </a:outerShdw>
                </a:effectLst>
              </a:rPr>
              <a:t>enddo</a:t>
            </a:r>
            <a:endParaRPr lang="en-US" sz="1600" kern="0" dirty="0">
              <a:solidFill>
                <a:srgbClr val="002060"/>
              </a:solidFill>
              <a:effectLst>
                <a:outerShdw blurRad="38100" dist="38100" dir="2700000" algn="tl">
                  <a:srgbClr val="000000">
                    <a:alpha val="43137"/>
                  </a:srgbClr>
                </a:outerShdw>
              </a:effectLst>
            </a:endParaRPr>
          </a:p>
          <a:p>
            <a:pPr marL="1681163" lvl="4" indent="-339725" eaLnBrk="1" hangingPunct="1">
              <a:buClr>
                <a:srgbClr val="000066"/>
              </a:buClr>
              <a:buFontTx/>
              <a:buNone/>
              <a:defRPr/>
            </a:pPr>
            <a:r>
              <a:rPr kumimoji="0" lang="en-US" sz="1600" kern="0" dirty="0" err="1">
                <a:solidFill>
                  <a:srgbClr val="002060"/>
                </a:solidFill>
                <a:effectLst>
                  <a:outerShdw blurRad="38100" dist="38100" dir="2700000" algn="tl">
                    <a:srgbClr val="000000">
                      <a:alpha val="43137"/>
                    </a:srgbClr>
                  </a:outerShdw>
                </a:effectLst>
              </a:rPr>
              <a:t>enddo</a:t>
            </a:r>
            <a:endParaRPr kumimoji="0" lang="en-US" sz="2000" kern="0" dirty="0">
              <a:solidFill>
                <a:srgbClr val="002060"/>
              </a:solidFill>
              <a:effectLst>
                <a:outerShdw blurRad="38100" dist="38100" dir="2700000" algn="tl">
                  <a:srgbClr val="000000">
                    <a:alpha val="43137"/>
                  </a:srgbClr>
                </a:outerShdw>
              </a:effectLst>
            </a:endParaRPr>
          </a:p>
          <a:p>
            <a:pPr eaLnBrk="1" hangingPunct="1">
              <a:buClr>
                <a:srgbClr val="000066"/>
              </a:buClr>
              <a:buSzTx/>
              <a:buFont typeface="Wingdings" pitchFamily="2" charset="2"/>
              <a:buChar char="q"/>
              <a:defRPr/>
            </a:pPr>
            <a:r>
              <a:rPr kumimoji="0" lang="sr-Latn-RS" sz="2400" kern="0" dirty="0">
                <a:solidFill>
                  <a:srgbClr val="000066"/>
                </a:solidFill>
                <a:effectLst/>
              </a:rPr>
              <a:t>Ako loop-carry zavisnost postoji tada</a:t>
            </a:r>
            <a:endParaRPr kumimoji="0" lang="en-US" sz="2400" kern="0" dirty="0">
              <a:solidFill>
                <a:srgbClr val="000066"/>
              </a:solidFill>
              <a:effectLst/>
            </a:endParaRPr>
          </a:p>
          <a:p>
            <a:pPr marL="669925" lvl="1" indent="-325438" eaLnBrk="1" hangingPunct="1">
              <a:buClr>
                <a:srgbClr val="000066"/>
              </a:buClr>
              <a:buSzTx/>
              <a:buFont typeface="Wingdings" panose="05000000000000000000" pitchFamily="2" charset="2"/>
              <a:buChar char="Ø"/>
              <a:defRPr/>
            </a:pPr>
            <a:r>
              <a:rPr kumimoji="0" lang="en-US" sz="2200" kern="0" dirty="0">
                <a:solidFill>
                  <a:srgbClr val="000066"/>
                </a:solidFill>
                <a:effectLst/>
              </a:rPr>
              <a:t>a1*i1 - b1*i2 + a2*j1 – b2*j2 = b0 – a0</a:t>
            </a:r>
          </a:p>
          <a:p>
            <a:pPr marL="669925" lvl="1" indent="-325438" eaLnBrk="1" hangingPunct="1">
              <a:buClr>
                <a:srgbClr val="000066"/>
              </a:buClr>
              <a:buSzTx/>
              <a:buFont typeface="Wingdings" panose="05000000000000000000" pitchFamily="2" charset="2"/>
              <a:buChar char="Ø"/>
              <a:defRPr/>
            </a:pPr>
            <a:r>
              <a:rPr kumimoji="0" lang="sr-Latn-RS" sz="2200" kern="0" dirty="0">
                <a:solidFill>
                  <a:srgbClr val="000066"/>
                </a:solidFill>
                <a:effectLst/>
              </a:rPr>
              <a:t>Celobrojna rešenja postoje ako </a:t>
            </a:r>
          </a:p>
          <a:p>
            <a:pPr marL="669925" lvl="1" indent="-325438" eaLnBrk="1" hangingPunct="1">
              <a:buClr>
                <a:srgbClr val="000066"/>
              </a:buClr>
              <a:buSzTx/>
              <a:buFont typeface="Wingdings" panose="05000000000000000000" pitchFamily="2" charset="2"/>
              <a:buChar char="Ø"/>
              <a:defRPr/>
            </a:pPr>
            <a:r>
              <a:rPr kumimoji="0" lang="en-US" sz="2200" kern="0" dirty="0" err="1">
                <a:solidFill>
                  <a:srgbClr val="FF0000"/>
                </a:solidFill>
                <a:effectLst/>
              </a:rPr>
              <a:t>gcd</a:t>
            </a:r>
            <a:r>
              <a:rPr kumimoji="0" lang="en-US" sz="2200" kern="0" dirty="0">
                <a:solidFill>
                  <a:srgbClr val="FF0000"/>
                </a:solidFill>
                <a:effectLst/>
              </a:rPr>
              <a:t>(a1,a2,b1,b2)</a:t>
            </a:r>
            <a:r>
              <a:rPr kumimoji="0" lang="en-US" sz="2200" kern="0" dirty="0">
                <a:solidFill>
                  <a:srgbClr val="000066"/>
                </a:solidFill>
                <a:effectLst/>
              </a:rPr>
              <a:t> </a:t>
            </a:r>
            <a:r>
              <a:rPr kumimoji="0" lang="sr-Latn-RS" sz="2200" kern="0" dirty="0">
                <a:solidFill>
                  <a:srgbClr val="000066"/>
                </a:solidFill>
                <a:effectLst/>
              </a:rPr>
              <a:t>deli</a:t>
            </a:r>
            <a:r>
              <a:rPr kumimoji="0" lang="en-US" sz="2200" kern="0" dirty="0">
                <a:solidFill>
                  <a:srgbClr val="000066"/>
                </a:solidFill>
                <a:effectLst/>
              </a:rPr>
              <a:t> </a:t>
            </a:r>
            <a:r>
              <a:rPr kumimoji="0" lang="en-US" sz="2200" kern="0" dirty="0">
                <a:solidFill>
                  <a:srgbClr val="FF0000"/>
                </a:solidFill>
                <a:effectLst/>
              </a:rPr>
              <a:t>b0 – a0</a:t>
            </a:r>
          </a:p>
          <a:p>
            <a:pPr eaLnBrk="1" hangingPunct="1">
              <a:buClr>
                <a:srgbClr val="000066"/>
              </a:buClr>
              <a:buSzTx/>
              <a:buFont typeface="Wingdings" pitchFamily="2" charset="2"/>
              <a:buChar char="q"/>
              <a:defRPr/>
            </a:pPr>
            <a:endParaRPr kumimoji="0" lang="en-US" sz="2400" kern="0" dirty="0">
              <a:solidFill>
                <a:srgbClr val="000066"/>
              </a:solidFill>
              <a:effectLst/>
            </a:endParaRPr>
          </a:p>
        </p:txBody>
      </p:sp>
    </p:spTree>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4">
            <a:extLst>
              <a:ext uri="{FF2B5EF4-FFF2-40B4-BE49-F238E27FC236}">
                <a16:creationId xmlns:a16="http://schemas.microsoft.com/office/drawing/2014/main" id="{FE79910B-9369-7834-7E2A-2F0EA5644E76}"/>
              </a:ext>
            </a:extLst>
          </p:cNvPr>
          <p:cNvSpPr>
            <a:spLocks noGrp="1" noChangeArrowheads="1"/>
          </p:cNvSpPr>
          <p:nvPr>
            <p:ph type="title"/>
          </p:nvPr>
        </p:nvSpPr>
        <p:spPr/>
        <p:txBody>
          <a:bodyPr/>
          <a:lstStyle/>
          <a:p>
            <a:pPr>
              <a:defRPr/>
            </a:pPr>
            <a:r>
              <a:rPr lang="sr-Latn-RS" altLang="en-US" dirty="0"/>
              <a:t>Primer</a:t>
            </a:r>
            <a:endParaRPr lang="en-US" altLang="en-US" dirty="0"/>
          </a:p>
        </p:txBody>
      </p:sp>
      <p:pic>
        <p:nvPicPr>
          <p:cNvPr id="43011" name="Picture 5">
            <a:extLst>
              <a:ext uri="{FF2B5EF4-FFF2-40B4-BE49-F238E27FC236}">
                <a16:creationId xmlns:a16="http://schemas.microsoft.com/office/drawing/2014/main" id="{68E89711-A718-79E0-BF49-B6EEDAC5FC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12850"/>
            <a:ext cx="7746428" cy="54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952DBBE-3532-A1E1-8D06-3D5E13FB3FDB}"/>
              </a:ext>
            </a:extLst>
          </p:cNvPr>
          <p:cNvSpPr>
            <a:spLocks noGrp="1" noChangeArrowheads="1"/>
          </p:cNvSpPr>
          <p:nvPr>
            <p:ph type="title"/>
          </p:nvPr>
        </p:nvSpPr>
        <p:spPr/>
        <p:txBody>
          <a:bodyPr/>
          <a:lstStyle/>
          <a:p>
            <a:pPr>
              <a:defRPr/>
            </a:pPr>
            <a:r>
              <a:rPr lang="hr-HR" altLang="en-US"/>
              <a:t>Ograničenja NZD testa</a:t>
            </a:r>
            <a:endParaRPr lang="en-US" altLang="en-US"/>
          </a:p>
        </p:txBody>
      </p:sp>
      <p:sp>
        <p:nvSpPr>
          <p:cNvPr id="17411" name="Rectangle 3">
            <a:extLst>
              <a:ext uri="{FF2B5EF4-FFF2-40B4-BE49-F238E27FC236}">
                <a16:creationId xmlns:a16="http://schemas.microsoft.com/office/drawing/2014/main" id="{5D9E8358-AA1E-8E3A-5C79-07FE12EBF524}"/>
              </a:ext>
            </a:extLst>
          </p:cNvPr>
          <p:cNvSpPr>
            <a:spLocks noGrp="1" noChangeArrowheads="1"/>
          </p:cNvSpPr>
          <p:nvPr>
            <p:ph type="body" idx="1"/>
          </p:nvPr>
        </p:nvSpPr>
        <p:spPr/>
        <p:txBody>
          <a:bodyPr/>
          <a:lstStyle/>
          <a:p>
            <a:pPr algn="just">
              <a:defRPr/>
            </a:pPr>
            <a:r>
              <a:rPr lang="en-US" altLang="en-US" dirty="0" err="1">
                <a:cs typeface="Times New Roman" panose="02020603050405020304" pitchFamily="18" charset="0"/>
              </a:rPr>
              <a:t>Nije</a:t>
            </a:r>
            <a:r>
              <a:rPr lang="en-US" altLang="en-US" dirty="0">
                <a:cs typeface="Times New Roman" panose="02020603050405020304" pitchFamily="18" charset="0"/>
              </a:rPr>
              <a:t> </a:t>
            </a:r>
            <a:r>
              <a:rPr lang="en-US" altLang="en-US" dirty="0" err="1">
                <a:cs typeface="Times New Roman" panose="02020603050405020304" pitchFamily="18" charset="0"/>
              </a:rPr>
              <a:t>uvek</a:t>
            </a:r>
            <a:r>
              <a:rPr lang="en-US" altLang="en-US" dirty="0">
                <a:cs typeface="Times New Roman" panose="02020603050405020304" pitchFamily="18" charset="0"/>
              </a:rPr>
              <a:t> </a:t>
            </a:r>
            <a:r>
              <a:rPr lang="en-US" altLang="en-US" dirty="0" err="1">
                <a:cs typeface="Times New Roman" panose="02020603050405020304" pitchFamily="18" charset="0"/>
              </a:rPr>
              <a:t>mogu</a:t>
            </a:r>
            <a:r>
              <a:rPr lang="hr-HR" altLang="en-US" dirty="0"/>
              <a:t>ć</a:t>
            </a:r>
            <a:r>
              <a:rPr lang="en-US" altLang="en-US" dirty="0">
                <a:cs typeface="Times New Roman" panose="02020603050405020304" pitchFamily="18" charset="0"/>
              </a:rPr>
              <a:t>e NZD </a:t>
            </a:r>
            <a:r>
              <a:rPr lang="en-US" altLang="en-US" dirty="0" err="1">
                <a:cs typeface="Times New Roman" panose="02020603050405020304" pitchFamily="18" charset="0"/>
              </a:rPr>
              <a:t>testom</a:t>
            </a:r>
            <a:r>
              <a:rPr lang="en-US" altLang="en-US" dirty="0">
                <a:cs typeface="Times New Roman" panose="02020603050405020304" pitchFamily="18" charset="0"/>
              </a:rPr>
              <a:t> </a:t>
            </a:r>
            <a:r>
              <a:rPr lang="en-US" altLang="en-US" dirty="0" err="1">
                <a:cs typeface="Times New Roman" panose="02020603050405020304" pitchFamily="18" charset="0"/>
              </a:rPr>
              <a:t>utvrditi</a:t>
            </a:r>
            <a:r>
              <a:rPr lang="en-US" altLang="en-US" dirty="0">
                <a:cs typeface="Times New Roman" panose="02020603050405020304" pitchFamily="18" charset="0"/>
              </a:rPr>
              <a:t> </a:t>
            </a:r>
            <a:r>
              <a:rPr lang="en-US" altLang="en-US" dirty="0" err="1">
                <a:cs typeface="Times New Roman" panose="02020603050405020304" pitchFamily="18" charset="0"/>
              </a:rPr>
              <a:t>postojanje</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hr-HR" altLang="en-US" dirty="0"/>
              <a:t>:</a:t>
            </a:r>
            <a:r>
              <a:rPr lang="en-US" altLang="en-US" dirty="0">
                <a:cs typeface="Times New Roman" panose="02020603050405020304" pitchFamily="18" charset="0"/>
              </a:rPr>
              <a:t> </a:t>
            </a:r>
            <a:endParaRPr lang="hr-HR" altLang="en-US" dirty="0"/>
          </a:p>
          <a:p>
            <a:pPr lvl="1" algn="just">
              <a:defRPr/>
            </a:pPr>
            <a:r>
              <a:rPr lang="en-US" altLang="en-US" dirty="0">
                <a:cs typeface="Times New Roman" panose="02020603050405020304" pitchFamily="18" charset="0"/>
              </a:rPr>
              <a:t>S </a:t>
            </a:r>
            <a:r>
              <a:rPr lang="en-US" altLang="en-US" dirty="0" err="1">
                <a:cs typeface="Times New Roman" panose="02020603050405020304" pitchFamily="18" charset="0"/>
              </a:rPr>
              <a:t>obzirom</a:t>
            </a:r>
            <a:r>
              <a:rPr lang="en-US" altLang="en-US" dirty="0">
                <a:cs typeface="Times New Roman" panose="02020603050405020304" pitchFamily="18" charset="0"/>
              </a:rPr>
              <a:t> da se </a:t>
            </a:r>
            <a:r>
              <a:rPr lang="en-US" altLang="en-US" dirty="0" err="1">
                <a:cs typeface="Times New Roman" panose="02020603050405020304" pitchFamily="18" charset="0"/>
              </a:rPr>
              <a:t>analiza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izvodi</a:t>
            </a:r>
            <a:r>
              <a:rPr lang="en-US" altLang="en-US" dirty="0">
                <a:cs typeface="Times New Roman" panose="02020603050405020304" pitchFamily="18" charset="0"/>
              </a:rPr>
              <a:t> u </a:t>
            </a:r>
            <a:r>
              <a:rPr lang="en-US" altLang="en-US" dirty="0" err="1">
                <a:cs typeface="Times New Roman" panose="02020603050405020304" pitchFamily="18" charset="0"/>
              </a:rPr>
              <a:t>fazi</a:t>
            </a:r>
            <a:r>
              <a:rPr lang="en-US" altLang="en-US" dirty="0">
                <a:cs typeface="Times New Roman" panose="02020603050405020304" pitchFamily="18" charset="0"/>
              </a:rPr>
              <a:t> </a:t>
            </a:r>
            <a:r>
              <a:rPr lang="en-US" altLang="en-US" dirty="0" err="1">
                <a:cs typeface="Times New Roman" panose="02020603050405020304" pitchFamily="18" charset="0"/>
              </a:rPr>
              <a:t>kompilacije</a:t>
            </a:r>
            <a:r>
              <a:rPr lang="en-US" altLang="en-US" dirty="0">
                <a:cs typeface="Times New Roman" panose="02020603050405020304" pitchFamily="18" charset="0"/>
              </a:rPr>
              <a:t>, </a:t>
            </a:r>
            <a:r>
              <a:rPr lang="en-US" altLang="en-US" dirty="0" err="1">
                <a:cs typeface="Times New Roman" panose="02020603050405020304" pitchFamily="18" charset="0"/>
              </a:rPr>
              <a:t>vrednosti</a:t>
            </a:r>
            <a:r>
              <a:rPr lang="en-US" altLang="en-US" dirty="0">
                <a:cs typeface="Times New Roman" panose="02020603050405020304" pitchFamily="18" charset="0"/>
              </a:rPr>
              <a:t> </a:t>
            </a:r>
            <a:r>
              <a:rPr lang="en-US" altLang="en-US" i="1" dirty="0">
                <a:cs typeface="Times New Roman" panose="02020603050405020304" pitchFamily="18" charset="0"/>
              </a:rPr>
              <a:t>a</a:t>
            </a:r>
            <a:r>
              <a:rPr lang="en-US" altLang="en-US" dirty="0">
                <a:cs typeface="Times New Roman" panose="02020603050405020304" pitchFamily="18" charset="0"/>
              </a:rPr>
              <a:t>, </a:t>
            </a:r>
            <a:r>
              <a:rPr lang="en-US" altLang="en-US" i="1" dirty="0">
                <a:cs typeface="Times New Roman" panose="02020603050405020304" pitchFamily="18" charset="0"/>
              </a:rPr>
              <a:t>b</a:t>
            </a:r>
            <a:r>
              <a:rPr lang="en-US" altLang="en-US" dirty="0">
                <a:cs typeface="Times New Roman" panose="02020603050405020304" pitchFamily="18" charset="0"/>
              </a:rPr>
              <a:t>, </a:t>
            </a:r>
            <a:r>
              <a:rPr lang="en-US" altLang="en-US" i="1" dirty="0">
                <a:cs typeface="Times New Roman" panose="02020603050405020304" pitchFamily="18" charset="0"/>
              </a:rPr>
              <a:t>c</a:t>
            </a:r>
            <a:r>
              <a:rPr lang="en-US" altLang="en-US" dirty="0">
                <a:cs typeface="Times New Roman" panose="02020603050405020304" pitchFamily="18" charset="0"/>
              </a:rPr>
              <a:t> i </a:t>
            </a:r>
            <a:r>
              <a:rPr lang="en-US" altLang="en-US" i="1" dirty="0">
                <a:cs typeface="Times New Roman" panose="02020603050405020304" pitchFamily="18" charset="0"/>
              </a:rPr>
              <a:t>d</a:t>
            </a:r>
            <a:r>
              <a:rPr lang="en-US" altLang="en-US" dirty="0">
                <a:cs typeface="Times New Roman" panose="02020603050405020304" pitchFamily="18" charset="0"/>
              </a:rPr>
              <a:t>  </a:t>
            </a:r>
            <a:r>
              <a:rPr lang="en-US" altLang="en-US" dirty="0" err="1">
                <a:cs typeface="Times New Roman" panose="02020603050405020304" pitchFamily="18" charset="0"/>
              </a:rPr>
              <a:t>mogu</a:t>
            </a:r>
            <a:r>
              <a:rPr lang="en-US" altLang="en-US" dirty="0">
                <a:cs typeface="Times New Roman" panose="02020603050405020304" pitchFamily="18" charset="0"/>
              </a:rPr>
              <a:t> </a:t>
            </a:r>
            <a:r>
              <a:rPr lang="en-US" altLang="en-US" dirty="0" err="1">
                <a:cs typeface="Times New Roman" panose="02020603050405020304" pitchFamily="18" charset="0"/>
              </a:rPr>
              <a:t>biti</a:t>
            </a:r>
            <a:r>
              <a:rPr lang="en-US" altLang="en-US" dirty="0">
                <a:cs typeface="Times New Roman" panose="02020603050405020304" pitchFamily="18" charset="0"/>
              </a:rPr>
              <a:t> </a:t>
            </a:r>
            <a:r>
              <a:rPr lang="en-US" altLang="en-US" dirty="0" err="1">
                <a:cs typeface="Times New Roman" panose="02020603050405020304" pitchFamily="18" charset="0"/>
              </a:rPr>
              <a:t>nepoznate</a:t>
            </a:r>
            <a:r>
              <a:rPr lang="en-US" altLang="en-US" dirty="0">
                <a:cs typeface="Times New Roman" panose="02020603050405020304" pitchFamily="18" charset="0"/>
              </a:rPr>
              <a:t>, </a:t>
            </a:r>
            <a:r>
              <a:rPr lang="hr-HR" altLang="en-US" dirty="0"/>
              <a:t>š</a:t>
            </a:r>
            <a:r>
              <a:rPr lang="en-US" altLang="en-US" dirty="0">
                <a:cs typeface="Times New Roman" panose="02020603050405020304" pitchFamily="18" charset="0"/>
              </a:rPr>
              <a:t>to </a:t>
            </a:r>
            <a:r>
              <a:rPr lang="en-US" altLang="en-US" dirty="0" err="1">
                <a:cs typeface="Times New Roman" panose="02020603050405020304" pitchFamily="18" charset="0"/>
              </a:rPr>
              <a:t>zna</a:t>
            </a:r>
            <a:r>
              <a:rPr lang="hr-HR" altLang="en-US" dirty="0"/>
              <a:t>č</a:t>
            </a:r>
            <a:r>
              <a:rPr lang="en-US" altLang="en-US" dirty="0">
                <a:cs typeface="Times New Roman" panose="02020603050405020304" pitchFamily="18" charset="0"/>
              </a:rPr>
              <a:t>i da se </a:t>
            </a:r>
            <a:r>
              <a:rPr lang="en-US" altLang="en-US" dirty="0" err="1">
                <a:cs typeface="Times New Roman" panose="02020603050405020304" pitchFamily="18" charset="0"/>
              </a:rPr>
              <a:t>ovaj</a:t>
            </a:r>
            <a:r>
              <a:rPr lang="en-US" altLang="en-US" dirty="0">
                <a:cs typeface="Times New Roman" panose="02020603050405020304" pitchFamily="18" charset="0"/>
              </a:rPr>
              <a:t> t</a:t>
            </a:r>
            <a:r>
              <a:rPr lang="sr-Latn-CS" altLang="en-US" dirty="0">
                <a:cs typeface="Times New Roman" panose="02020603050405020304" pitchFamily="18" charset="0"/>
              </a:rPr>
              <a:t>e</a:t>
            </a:r>
            <a:r>
              <a:rPr lang="en-US" altLang="en-US" dirty="0" err="1">
                <a:cs typeface="Times New Roman" panose="02020603050405020304" pitchFamily="18" charset="0"/>
              </a:rPr>
              <a:t>st</a:t>
            </a:r>
            <a:r>
              <a:rPr lang="en-US" altLang="en-US" dirty="0">
                <a:cs typeface="Times New Roman" panose="02020603050405020304" pitchFamily="18" charset="0"/>
              </a:rPr>
              <a:t>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 </a:t>
            </a:r>
            <a:r>
              <a:rPr lang="en-US" altLang="en-US" dirty="0" err="1">
                <a:cs typeface="Times New Roman" panose="02020603050405020304" pitchFamily="18" charset="0"/>
              </a:rPr>
              <a:t>primeniti</a:t>
            </a:r>
            <a:r>
              <a:rPr lang="en-US" altLang="en-US" dirty="0">
                <a:cs typeface="Times New Roman" panose="02020603050405020304" pitchFamily="18" charset="0"/>
              </a:rPr>
              <a:t> </a:t>
            </a:r>
            <a:r>
              <a:rPr lang="en-US" altLang="en-US" dirty="0" err="1">
                <a:cs typeface="Times New Roman" panose="02020603050405020304" pitchFamily="18" charset="0"/>
              </a:rPr>
              <a:t>samo</a:t>
            </a:r>
            <a:r>
              <a:rPr lang="en-US" altLang="en-US" dirty="0">
                <a:cs typeface="Times New Roman" panose="02020603050405020304" pitchFamily="18" charset="0"/>
              </a:rPr>
              <a:t> </a:t>
            </a:r>
            <a:r>
              <a:rPr lang="en-US" altLang="en-US" dirty="0" err="1">
                <a:cs typeface="Times New Roman" panose="02020603050405020304" pitchFamily="18" charset="0"/>
              </a:rPr>
              <a:t>ako</a:t>
            </a:r>
            <a:r>
              <a:rPr lang="en-US" altLang="en-US" dirty="0">
                <a:cs typeface="Times New Roman" panose="02020603050405020304" pitchFamily="18" charset="0"/>
              </a:rPr>
              <a:t> </a:t>
            </a:r>
            <a:r>
              <a:rPr lang="en-US" altLang="en-US" dirty="0" err="1">
                <a:cs typeface="Times New Roman" panose="02020603050405020304" pitchFamily="18" charset="0"/>
              </a:rPr>
              <a:t>su</a:t>
            </a:r>
            <a:r>
              <a:rPr lang="en-US" altLang="en-US" dirty="0">
                <a:cs typeface="Times New Roman" panose="02020603050405020304" pitchFamily="18" charset="0"/>
              </a:rPr>
              <a:t> </a:t>
            </a:r>
            <a:r>
              <a:rPr lang="en-US" altLang="en-US" i="1" dirty="0">
                <a:cs typeface="Times New Roman" panose="02020603050405020304" pitchFamily="18" charset="0"/>
              </a:rPr>
              <a:t>a</a:t>
            </a:r>
            <a:r>
              <a:rPr lang="en-US" altLang="en-US" dirty="0">
                <a:cs typeface="Times New Roman" panose="02020603050405020304" pitchFamily="18" charset="0"/>
              </a:rPr>
              <a:t>, </a:t>
            </a:r>
            <a:r>
              <a:rPr lang="en-US" altLang="en-US" i="1" dirty="0">
                <a:cs typeface="Times New Roman" panose="02020603050405020304" pitchFamily="18" charset="0"/>
              </a:rPr>
              <a:t>b</a:t>
            </a:r>
            <a:r>
              <a:rPr lang="en-US" altLang="en-US" dirty="0">
                <a:cs typeface="Times New Roman" panose="02020603050405020304" pitchFamily="18" charset="0"/>
              </a:rPr>
              <a:t>, </a:t>
            </a:r>
            <a:r>
              <a:rPr lang="en-US" altLang="en-US" i="1" dirty="0">
                <a:cs typeface="Times New Roman" panose="02020603050405020304" pitchFamily="18" charset="0"/>
              </a:rPr>
              <a:t>c</a:t>
            </a:r>
            <a:r>
              <a:rPr lang="en-US" altLang="en-US" dirty="0">
                <a:cs typeface="Times New Roman" panose="02020603050405020304" pitchFamily="18" charset="0"/>
              </a:rPr>
              <a:t> i </a:t>
            </a:r>
            <a:r>
              <a:rPr lang="en-US" altLang="en-US" i="1" dirty="0">
                <a:cs typeface="Times New Roman" panose="02020603050405020304" pitchFamily="18" charset="0"/>
              </a:rPr>
              <a:t>d</a:t>
            </a:r>
            <a:r>
              <a:rPr lang="en-US" altLang="en-US" dirty="0">
                <a:cs typeface="Times New Roman" panose="02020603050405020304" pitchFamily="18" charset="0"/>
              </a:rPr>
              <a:t>  </a:t>
            </a:r>
            <a:r>
              <a:rPr lang="en-US" altLang="en-US" dirty="0" err="1">
                <a:cs typeface="Times New Roman" panose="02020603050405020304" pitchFamily="18" charset="0"/>
              </a:rPr>
              <a:t>konstante</a:t>
            </a:r>
            <a:r>
              <a:rPr lang="en-US" altLang="en-US" dirty="0">
                <a:cs typeface="Times New Roman" panose="02020603050405020304" pitchFamily="18" charset="0"/>
              </a:rPr>
              <a:t>.</a:t>
            </a:r>
            <a:endParaRPr lang="sr-Latn-RS" altLang="en-US" dirty="0">
              <a:cs typeface="Times New Roman" panose="02020603050405020304" pitchFamily="18" charset="0"/>
            </a:endParaRPr>
          </a:p>
          <a:p>
            <a:pPr lvl="1" algn="just">
              <a:defRPr/>
            </a:pPr>
            <a:r>
              <a:rPr lang="sr-Latn-RS" altLang="en-US" dirty="0">
                <a:cs typeface="Times New Roman" panose="02020603050405020304" pitchFamily="18" charset="0"/>
              </a:rPr>
              <a:t>u slučaju višedimenzionalnih polja, </a:t>
            </a:r>
            <a:r>
              <a:rPr lang="en-US" altLang="en-US" dirty="0" err="1">
                <a:cs typeface="Times New Roman" panose="02020603050405020304" pitchFamily="18" charset="0"/>
              </a:rPr>
              <a:t>analiza</a:t>
            </a:r>
            <a:r>
              <a:rPr lang="en-US" altLang="en-US" dirty="0">
                <a:cs typeface="Times New Roman" panose="02020603050405020304" pitchFamily="18" charset="0"/>
              </a:rPr>
              <a:t> </a:t>
            </a:r>
            <a:r>
              <a:rPr lang="sr-Latn-RS" altLang="en-US" dirty="0">
                <a:cs typeface="Times New Roman" panose="02020603050405020304" pitchFamily="18" charset="0"/>
              </a:rPr>
              <a:t>može biti jako kompleksna</a:t>
            </a:r>
            <a:endParaRPr lang="en-US" altLang="en-US" dirty="0">
              <a:cs typeface="Times New Roman" panose="02020603050405020304" pitchFamily="18" charset="0"/>
            </a:endParaRPr>
          </a:p>
          <a:p>
            <a:pPr marL="457200" lvl="1" indent="0" algn="just">
              <a:buNone/>
              <a:defRPr/>
            </a:pPr>
            <a:endParaRPr lang="en-US" altLang="en-US" dirty="0">
              <a:cs typeface="Times New Roman" panose="02020603050405020304" pitchFamily="18" charset="0"/>
            </a:endParaRPr>
          </a:p>
          <a:p>
            <a:pPr>
              <a:defRPr/>
            </a:pPr>
            <a:endParaRPr lang="en-US" altLang="en-US" dirty="0"/>
          </a:p>
        </p:txBody>
      </p:sp>
    </p:spTree>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768ED53-163F-42D2-08D5-66DEB2B9493C}"/>
              </a:ext>
            </a:extLst>
          </p:cNvPr>
          <p:cNvSpPr>
            <a:spLocks noGrp="1" noChangeArrowheads="1"/>
          </p:cNvSpPr>
          <p:nvPr>
            <p:ph type="title"/>
          </p:nvPr>
        </p:nvSpPr>
        <p:spPr/>
        <p:txBody>
          <a:bodyPr/>
          <a:lstStyle/>
          <a:p>
            <a:pPr>
              <a:defRPr/>
            </a:pPr>
            <a:r>
              <a:rPr lang="hr-HR" altLang="en-US" dirty="0"/>
              <a:t>Eliminisanje loop carry zavisnosti</a:t>
            </a:r>
            <a:endParaRPr lang="en-US" altLang="en-US" dirty="0"/>
          </a:p>
        </p:txBody>
      </p:sp>
      <p:sp>
        <p:nvSpPr>
          <p:cNvPr id="18435" name="Rectangle 3">
            <a:extLst>
              <a:ext uri="{FF2B5EF4-FFF2-40B4-BE49-F238E27FC236}">
                <a16:creationId xmlns:a16="http://schemas.microsoft.com/office/drawing/2014/main" id="{5647343D-6DF2-8DCB-F006-08067552A54F}"/>
              </a:ext>
            </a:extLst>
          </p:cNvPr>
          <p:cNvSpPr>
            <a:spLocks noGrp="1" noChangeArrowheads="1"/>
          </p:cNvSpPr>
          <p:nvPr>
            <p:ph type="body" idx="1"/>
          </p:nvPr>
        </p:nvSpPr>
        <p:spPr/>
        <p:txBody>
          <a:bodyPr>
            <a:normAutofit/>
          </a:bodyPr>
          <a:lstStyle/>
          <a:p>
            <a:pPr lvl="1" algn="just">
              <a:lnSpc>
                <a:spcPct val="90000"/>
              </a:lnSpc>
              <a:defRPr/>
            </a:pPr>
            <a:r>
              <a:rPr lang="en-US" altLang="en-US" sz="2100" dirty="0" err="1">
                <a:cs typeface="Times New Roman" panose="02020603050405020304" pitchFamily="18" charset="0"/>
              </a:rPr>
              <a:t>Mnoge</a:t>
            </a:r>
            <a:r>
              <a:rPr lang="en-US" altLang="en-US" sz="2100" dirty="0">
                <a:cs typeface="Times New Roman" panose="02020603050405020304" pitchFamily="18" charset="0"/>
              </a:rPr>
              <a:t> loop-carry </a:t>
            </a:r>
            <a:r>
              <a:rPr lang="en-US" altLang="en-US" sz="2100" dirty="0" err="1">
                <a:cs typeface="Times New Roman" panose="02020603050405020304" pitchFamily="18" charset="0"/>
              </a:rPr>
              <a:t>zavisnosti</a:t>
            </a:r>
            <a:r>
              <a:rPr lang="en-US" altLang="en-US" sz="2100" dirty="0">
                <a:cs typeface="Times New Roman" panose="02020603050405020304" pitchFamily="18" charset="0"/>
              </a:rPr>
              <a:t> </a:t>
            </a:r>
            <a:r>
              <a:rPr lang="en-US" altLang="en-US" sz="2100" dirty="0" err="1">
                <a:cs typeface="Times New Roman" panose="02020603050405020304" pitchFamily="18" charset="0"/>
              </a:rPr>
              <a:t>mogu</a:t>
            </a:r>
            <a:r>
              <a:rPr lang="en-US" altLang="en-US" sz="2100" dirty="0">
                <a:cs typeface="Times New Roman" panose="02020603050405020304" pitchFamily="18" charset="0"/>
              </a:rPr>
              <a:t> </a:t>
            </a:r>
            <a:r>
              <a:rPr lang="en-US" altLang="en-US" sz="2100" dirty="0" err="1">
                <a:cs typeface="Times New Roman" panose="02020603050405020304" pitchFamily="18" charset="0"/>
              </a:rPr>
              <a:t>biti</a:t>
            </a:r>
            <a:r>
              <a:rPr lang="en-US" altLang="en-US" sz="2100" dirty="0">
                <a:cs typeface="Times New Roman" panose="02020603050405020304" pitchFamily="18" charset="0"/>
              </a:rPr>
              <a:t> </a:t>
            </a:r>
            <a:r>
              <a:rPr lang="en-US" altLang="en-US" sz="2100" dirty="0" err="1">
                <a:cs typeface="Times New Roman" panose="02020603050405020304" pitchFamily="18" charset="0"/>
              </a:rPr>
              <a:t>eliminisane</a:t>
            </a:r>
            <a:r>
              <a:rPr lang="en-US" altLang="en-US" sz="2100" dirty="0">
                <a:cs typeface="Times New Roman" panose="02020603050405020304" pitchFamily="18" charset="0"/>
              </a:rPr>
              <a:t> </a:t>
            </a:r>
            <a:r>
              <a:rPr lang="en-US" altLang="en-US" sz="2100" dirty="0" err="1">
                <a:cs typeface="Times New Roman" panose="02020603050405020304" pitchFamily="18" charset="0"/>
              </a:rPr>
              <a:t>preuredjenjem</a:t>
            </a:r>
            <a:r>
              <a:rPr lang="en-US" altLang="en-US" sz="2100" dirty="0">
                <a:cs typeface="Times New Roman" panose="02020603050405020304" pitchFamily="18" charset="0"/>
              </a:rPr>
              <a:t> </a:t>
            </a:r>
            <a:r>
              <a:rPr lang="en-US" altLang="en-US" sz="2100" dirty="0" err="1">
                <a:cs typeface="Times New Roman" panose="02020603050405020304" pitchFamily="18" charset="0"/>
              </a:rPr>
              <a:t>naredbi</a:t>
            </a:r>
            <a:r>
              <a:rPr lang="en-US" altLang="en-US" sz="2100" dirty="0">
                <a:cs typeface="Times New Roman" panose="02020603050405020304" pitchFamily="18" charset="0"/>
              </a:rPr>
              <a:t> </a:t>
            </a:r>
            <a:r>
              <a:rPr lang="en-US" altLang="en-US" sz="2100" dirty="0" err="1">
                <a:cs typeface="Times New Roman" panose="02020603050405020304" pitchFamily="18" charset="0"/>
              </a:rPr>
              <a:t>unutar</a:t>
            </a:r>
            <a:r>
              <a:rPr lang="en-US" altLang="en-US" sz="2100" dirty="0">
                <a:cs typeface="Times New Roman" panose="02020603050405020304" pitchFamily="18" charset="0"/>
              </a:rPr>
              <a:t> </a:t>
            </a:r>
            <a:r>
              <a:rPr lang="en-US" altLang="en-US" sz="2100" dirty="0" err="1">
                <a:cs typeface="Times New Roman" panose="02020603050405020304" pitchFamily="18" charset="0"/>
              </a:rPr>
              <a:t>petlje</a:t>
            </a:r>
            <a:r>
              <a:rPr lang="en-US" altLang="en-US" sz="2100" dirty="0">
                <a:cs typeface="Times New Roman" panose="02020603050405020304" pitchFamily="18" charset="0"/>
              </a:rPr>
              <a:t> </a:t>
            </a:r>
            <a:r>
              <a:rPr lang="en-US" altLang="en-US" sz="2100" dirty="0" err="1">
                <a:cs typeface="Times New Roman" panose="02020603050405020304" pitchFamily="18" charset="0"/>
              </a:rPr>
              <a:t>i</a:t>
            </a:r>
            <a:r>
              <a:rPr lang="en-US" altLang="en-US" sz="2100" dirty="0">
                <a:cs typeface="Times New Roman" panose="02020603050405020304" pitchFamily="18" charset="0"/>
              </a:rPr>
              <a:t> </a:t>
            </a:r>
            <a:r>
              <a:rPr lang="en-US" altLang="en-US" sz="2100" dirty="0" err="1">
                <a:cs typeface="Times New Roman" panose="02020603050405020304" pitchFamily="18" charset="0"/>
              </a:rPr>
              <a:t>razbijanjem</a:t>
            </a:r>
            <a:r>
              <a:rPr lang="en-US" altLang="en-US" sz="2100" dirty="0">
                <a:cs typeface="Times New Roman" panose="02020603050405020304" pitchFamily="18" charset="0"/>
              </a:rPr>
              <a:t> </a:t>
            </a:r>
            <a:r>
              <a:rPr lang="en-US" altLang="en-US" sz="2100" dirty="0" err="1">
                <a:cs typeface="Times New Roman" panose="02020603050405020304" pitchFamily="18" charset="0"/>
              </a:rPr>
              <a:t>petlje</a:t>
            </a:r>
            <a:r>
              <a:rPr lang="en-US" altLang="en-US" sz="2100" dirty="0">
                <a:cs typeface="Times New Roman" panose="02020603050405020304" pitchFamily="18" charset="0"/>
              </a:rPr>
              <a:t>.</a:t>
            </a:r>
            <a:endParaRPr lang="hr-HR" altLang="en-US" sz="2100" dirty="0"/>
          </a:p>
          <a:p>
            <a:pPr lvl="1" algn="just">
              <a:lnSpc>
                <a:spcPct val="90000"/>
              </a:lnSpc>
              <a:defRPr/>
            </a:pPr>
            <a:r>
              <a:rPr lang="en-US" altLang="en-US" sz="2100" b="1" dirty="0">
                <a:solidFill>
                  <a:schemeClr val="accent1"/>
                </a:solidFill>
                <a:cs typeface="Times New Roman" panose="02020603050405020304" pitchFamily="18" charset="0"/>
              </a:rPr>
              <a:t>PRIMER</a:t>
            </a:r>
            <a:r>
              <a:rPr lang="en-US" altLang="en-US" sz="2100" dirty="0">
                <a:solidFill>
                  <a:schemeClr val="accent1"/>
                </a:solidFill>
                <a:cs typeface="Times New Roman" panose="02020603050405020304" pitchFamily="18" charset="0"/>
              </a:rPr>
              <a:t>.</a:t>
            </a:r>
            <a:r>
              <a:rPr lang="en-US" altLang="en-US" sz="2100" dirty="0">
                <a:cs typeface="Times New Roman" panose="02020603050405020304" pitchFamily="18" charset="0"/>
              </a:rPr>
              <a:t> U </a:t>
            </a:r>
            <a:r>
              <a:rPr lang="en-US" altLang="en-US" sz="2100" dirty="0" err="1">
                <a:cs typeface="Times New Roman" panose="02020603050405020304" pitchFamily="18" charset="0"/>
              </a:rPr>
              <a:t>sede</a:t>
            </a:r>
            <a:r>
              <a:rPr lang="hr-HR" altLang="en-US" sz="2100" dirty="0"/>
              <a:t>ć</a:t>
            </a:r>
            <a:r>
              <a:rPr lang="en-US" altLang="en-US" sz="2100" dirty="0" err="1">
                <a:cs typeface="Times New Roman" panose="02020603050405020304" pitchFamily="18" charset="0"/>
              </a:rPr>
              <a:t>oj</a:t>
            </a:r>
            <a:r>
              <a:rPr lang="en-US" altLang="en-US" sz="2100" dirty="0">
                <a:cs typeface="Times New Roman" panose="02020603050405020304" pitchFamily="18" charset="0"/>
              </a:rPr>
              <a:t> </a:t>
            </a:r>
            <a:r>
              <a:rPr lang="en-US" altLang="en-US" sz="2100" dirty="0" err="1">
                <a:cs typeface="Times New Roman" panose="02020603050405020304" pitchFamily="18" charset="0"/>
              </a:rPr>
              <a:t>petlji</a:t>
            </a:r>
            <a:r>
              <a:rPr lang="en-US" altLang="en-US" sz="2100" dirty="0">
                <a:cs typeface="Times New Roman" panose="02020603050405020304" pitchFamily="18" charset="0"/>
              </a:rPr>
              <a:t> </a:t>
            </a:r>
            <a:r>
              <a:rPr lang="en-US" altLang="en-US" sz="2100" dirty="0" err="1">
                <a:cs typeface="Times New Roman" panose="02020603050405020304" pitchFamily="18" charset="0"/>
              </a:rPr>
              <a:t>postoji</a:t>
            </a:r>
            <a:r>
              <a:rPr lang="en-US" altLang="en-US" sz="2100" dirty="0">
                <a:cs typeface="Times New Roman" panose="02020603050405020304" pitchFamily="18" charset="0"/>
              </a:rPr>
              <a:t>  loop-carry </a:t>
            </a:r>
            <a:r>
              <a:rPr lang="en-US" altLang="en-US" sz="2100" dirty="0" err="1">
                <a:cs typeface="Times New Roman" panose="02020603050405020304" pitchFamily="18" charset="0"/>
              </a:rPr>
              <a:t>zavisnost</a:t>
            </a:r>
            <a:r>
              <a:rPr lang="en-US" altLang="en-US" sz="2100" dirty="0">
                <a:cs typeface="Times New Roman" panose="02020603050405020304" pitchFamily="18" charset="0"/>
              </a:rPr>
              <a:t> </a:t>
            </a:r>
            <a:r>
              <a:rPr lang="en-US" altLang="en-US" sz="2100" dirty="0" err="1">
                <a:cs typeface="Times New Roman" panose="02020603050405020304" pitchFamily="18" charset="0"/>
              </a:rPr>
              <a:t>izmedju</a:t>
            </a:r>
            <a:r>
              <a:rPr lang="en-US" altLang="en-US" sz="2100" dirty="0">
                <a:cs typeface="Times New Roman" panose="02020603050405020304" pitchFamily="18" charset="0"/>
              </a:rPr>
              <a:t> </a:t>
            </a:r>
            <a:r>
              <a:rPr lang="en-US" altLang="en-US" sz="2100" dirty="0" err="1">
                <a:cs typeface="Times New Roman" panose="02020603050405020304" pitchFamily="18" charset="0"/>
              </a:rPr>
              <a:t>naredbi</a:t>
            </a:r>
            <a:r>
              <a:rPr lang="en-US" altLang="en-US" sz="2100" dirty="0">
                <a:cs typeface="Times New Roman" panose="02020603050405020304" pitchFamily="18" charset="0"/>
              </a:rPr>
              <a:t> S1 </a:t>
            </a:r>
            <a:r>
              <a:rPr lang="en-US" altLang="en-US" sz="2100" dirty="0" err="1">
                <a:cs typeface="Times New Roman" panose="02020603050405020304" pitchFamily="18" charset="0"/>
              </a:rPr>
              <a:t>i</a:t>
            </a:r>
            <a:r>
              <a:rPr lang="en-US" altLang="en-US" sz="2100" dirty="0">
                <a:cs typeface="Times New Roman" panose="02020603050405020304" pitchFamily="18" charset="0"/>
              </a:rPr>
              <a:t> S2 </a:t>
            </a:r>
            <a:r>
              <a:rPr lang="en-US" altLang="en-US" sz="2100" dirty="0" err="1">
                <a:cs typeface="Times New Roman" panose="02020603050405020304" pitchFamily="18" charset="0"/>
              </a:rPr>
              <a:t>kada</a:t>
            </a:r>
            <a:r>
              <a:rPr lang="en-US" altLang="en-US" sz="2100" dirty="0">
                <a:cs typeface="Times New Roman" panose="02020603050405020304" pitchFamily="18" charset="0"/>
              </a:rPr>
              <a:t> je u </a:t>
            </a:r>
            <a:r>
              <a:rPr lang="en-US" altLang="en-US" sz="2100" dirty="0" err="1">
                <a:cs typeface="Times New Roman" panose="02020603050405020304" pitchFamily="18" charset="0"/>
              </a:rPr>
              <a:t>pitanju</a:t>
            </a:r>
            <a:r>
              <a:rPr lang="en-US" altLang="en-US" sz="2100" dirty="0">
                <a:cs typeface="Times New Roman" panose="02020603050405020304" pitchFamily="18" charset="0"/>
              </a:rPr>
              <a:t> </a:t>
            </a:r>
            <a:r>
              <a:rPr lang="en-US" altLang="en-US" sz="2100" dirty="0" err="1">
                <a:cs typeface="Times New Roman" panose="02020603050405020304" pitchFamily="18" charset="0"/>
              </a:rPr>
              <a:t>vektor</a:t>
            </a:r>
            <a:r>
              <a:rPr lang="en-US" altLang="en-US" sz="2100" dirty="0">
                <a:cs typeface="Times New Roman" panose="02020603050405020304" pitchFamily="18" charset="0"/>
              </a:rPr>
              <a:t> </a:t>
            </a:r>
            <a:r>
              <a:rPr lang="en-US" altLang="en-US" sz="2100" dirty="0">
                <a:solidFill>
                  <a:schemeClr val="accent1"/>
                </a:solidFill>
                <a:cs typeface="Times New Roman" panose="02020603050405020304" pitchFamily="18" charset="0"/>
              </a:rPr>
              <a:t>y</a:t>
            </a:r>
            <a:r>
              <a:rPr lang="en-US" altLang="en-US" sz="2100" dirty="0">
                <a:cs typeface="Times New Roman" panose="02020603050405020304" pitchFamily="18" charset="0"/>
              </a:rPr>
              <a:t>:</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for </a:t>
            </a:r>
            <a:r>
              <a:rPr lang="en-US" altLang="en-US" sz="1800" dirty="0" err="1">
                <a:cs typeface="Times New Roman" panose="02020603050405020304" pitchFamily="18" charset="0"/>
              </a:rPr>
              <a:t>i</a:t>
            </a:r>
            <a:r>
              <a:rPr lang="en-US" altLang="en-US" sz="1800" dirty="0">
                <a:cs typeface="Times New Roman" panose="02020603050405020304" pitchFamily="18" charset="0"/>
              </a:rPr>
              <a:t>=1, N</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S1	x(</a:t>
            </a:r>
            <a:r>
              <a:rPr lang="en-US" altLang="en-US" sz="1800" dirty="0" err="1">
                <a:cs typeface="Times New Roman" panose="02020603050405020304" pitchFamily="18" charset="0"/>
              </a:rPr>
              <a:t>i</a:t>
            </a:r>
            <a:r>
              <a:rPr lang="en-US" altLang="en-US" sz="1800" dirty="0">
                <a:cs typeface="Times New Roman" panose="02020603050405020304" pitchFamily="18" charset="0"/>
              </a:rPr>
              <a:t>)= y(i-1) * z(</a:t>
            </a:r>
            <a:r>
              <a:rPr lang="en-US" altLang="en-US" sz="1800" dirty="0" err="1">
                <a:cs typeface="Times New Roman" panose="02020603050405020304" pitchFamily="18" charset="0"/>
              </a:rPr>
              <a:t>i</a:t>
            </a:r>
            <a:r>
              <a:rPr lang="en-US" altLang="en-US" sz="1800" dirty="0">
                <a:cs typeface="Times New Roman" panose="02020603050405020304" pitchFamily="18" charset="0"/>
              </a:rPr>
              <a:t>)</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S2	y(</a:t>
            </a:r>
            <a:r>
              <a:rPr lang="en-US" altLang="en-US" sz="1800" dirty="0" err="1">
                <a:cs typeface="Times New Roman" panose="02020603050405020304" pitchFamily="18" charset="0"/>
              </a:rPr>
              <a:t>i</a:t>
            </a:r>
            <a:r>
              <a:rPr lang="en-US" altLang="en-US" sz="1800" dirty="0">
                <a:cs typeface="Times New Roman" panose="02020603050405020304" pitchFamily="18" charset="0"/>
              </a:rPr>
              <a:t>)= 2*y(</a:t>
            </a:r>
            <a:r>
              <a:rPr lang="en-US" altLang="en-US" sz="1800" dirty="0" err="1">
                <a:cs typeface="Times New Roman" panose="02020603050405020304" pitchFamily="18" charset="0"/>
              </a:rPr>
              <a:t>i</a:t>
            </a:r>
            <a:r>
              <a:rPr lang="en-US" altLang="en-US" sz="1800" dirty="0">
                <a:cs typeface="Times New Roman" panose="02020603050405020304" pitchFamily="18" charset="0"/>
              </a:rPr>
              <a:t>)</a:t>
            </a:r>
            <a:endParaRPr lang="hr-HR" altLang="en-US" sz="1800" dirty="0"/>
          </a:p>
          <a:p>
            <a:pPr lvl="2" algn="just">
              <a:lnSpc>
                <a:spcPct val="90000"/>
              </a:lnSpc>
              <a:buFont typeface="Wingdings" panose="05000000000000000000" pitchFamily="2" charset="2"/>
              <a:buNone/>
              <a:defRPr/>
            </a:pPr>
            <a:r>
              <a:rPr lang="hr-HR" altLang="en-US" sz="1800" dirty="0"/>
              <a:t>   </a:t>
            </a:r>
            <a:r>
              <a:rPr lang="en-US" altLang="en-US" sz="1800" dirty="0"/>
              <a:t> </a:t>
            </a:r>
            <a:r>
              <a:rPr lang="hr-HR" altLang="en-US" sz="1800" dirty="0"/>
              <a:t>	</a:t>
            </a:r>
            <a:r>
              <a:rPr lang="en-US" altLang="en-US" sz="1800" dirty="0" err="1"/>
              <a:t>endfor</a:t>
            </a:r>
            <a:endParaRPr lang="hr-HR" altLang="en-US" sz="1800" dirty="0"/>
          </a:p>
          <a:p>
            <a:pPr lvl="1" algn="just">
              <a:lnSpc>
                <a:spcPct val="90000"/>
              </a:lnSpc>
              <a:defRPr/>
            </a:pPr>
            <a:r>
              <a:rPr lang="en-US" altLang="en-US" sz="2100" dirty="0" err="1">
                <a:ea typeface="Tahoma" pitchFamily="34" charset="0"/>
                <a:cs typeface="Tahoma" pitchFamily="34" charset="0"/>
              </a:rPr>
              <a:t>Preuredjenjem</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ove</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petlje</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i</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razbijanjem</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na</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dve</a:t>
            </a:r>
            <a:r>
              <a:rPr lang="en-US" altLang="en-US" sz="2100" dirty="0">
                <a:ea typeface="Tahoma" pitchFamily="34" charset="0"/>
                <a:cs typeface="Tahoma" pitchFamily="34" charset="0"/>
              </a:rPr>
              <a:t> </a:t>
            </a:r>
            <a:r>
              <a:rPr lang="en-US" altLang="en-US" sz="2100" dirty="0" err="1">
                <a:ea typeface="Tahoma" pitchFamily="34" charset="0"/>
                <a:cs typeface="Tahoma" pitchFamily="34" charset="0"/>
              </a:rPr>
              <a:t>mogu</a:t>
            </a:r>
            <a:r>
              <a:rPr lang="en-US" altLang="en-US" sz="2100" dirty="0">
                <a:ea typeface="Tahoma" pitchFamily="34" charset="0"/>
                <a:cs typeface="Tahoma" pitchFamily="34" charset="0"/>
              </a:rPr>
              <a:t> se </a:t>
            </a:r>
            <a:r>
              <a:rPr lang="en-US" altLang="en-US" sz="2100" dirty="0" err="1">
                <a:ea typeface="Tahoma" pitchFamily="34" charset="0"/>
                <a:cs typeface="Tahoma" pitchFamily="34" charset="0"/>
              </a:rPr>
              <a:t>eliminisati</a:t>
            </a:r>
            <a:r>
              <a:rPr lang="en-US" altLang="en-US" sz="2100" dirty="0">
                <a:ea typeface="Tahoma" pitchFamily="34" charset="0"/>
                <a:cs typeface="Tahoma" pitchFamily="34" charset="0"/>
              </a:rPr>
              <a:t> loop-carry </a:t>
            </a:r>
            <a:r>
              <a:rPr lang="en-US" altLang="en-US" sz="2100" dirty="0" err="1">
                <a:ea typeface="Tahoma" pitchFamily="34" charset="0"/>
                <a:cs typeface="Tahoma" pitchFamily="34" charset="0"/>
              </a:rPr>
              <a:t>zavisnosti</a:t>
            </a:r>
            <a:r>
              <a:rPr lang="en-US" altLang="en-US" sz="2100" dirty="0">
                <a:ea typeface="Tahoma" pitchFamily="34" charset="0"/>
                <a:cs typeface="Tahoma" pitchFamily="34" charset="0"/>
              </a:rPr>
              <a:t>:</a:t>
            </a:r>
          </a:p>
          <a:p>
            <a:pPr lvl="2" algn="just">
              <a:lnSpc>
                <a:spcPct val="90000"/>
              </a:lnSpc>
              <a:buFont typeface="Wingdings" panose="05000000000000000000" pitchFamily="2" charset="2"/>
              <a:buNone/>
              <a:defRPr/>
            </a:pPr>
            <a:r>
              <a:rPr lang="en-US" altLang="en-US" sz="1800" dirty="0">
                <a:latin typeface="Times Roman YU" pitchFamily="18" charset="0"/>
                <a:cs typeface="Times New Roman" panose="02020603050405020304" pitchFamily="18" charset="0"/>
              </a:rPr>
              <a:t>		for  i=1, N</a:t>
            </a:r>
            <a:endParaRPr lang="en-US" altLang="en-US" sz="1800" dirty="0">
              <a:cs typeface="Times New Roman" panose="02020603050405020304" pitchFamily="18" charset="0"/>
            </a:endParaRPr>
          </a:p>
          <a:p>
            <a:pPr lvl="2" algn="just">
              <a:lnSpc>
                <a:spcPct val="90000"/>
              </a:lnSpc>
              <a:buFont typeface="Wingdings" panose="05000000000000000000" pitchFamily="2" charset="2"/>
              <a:buNone/>
              <a:defRPr/>
            </a:pPr>
            <a:r>
              <a:rPr lang="en-US" altLang="en-US" sz="1800" dirty="0">
                <a:latin typeface="Times Roman YU" pitchFamily="18" charset="0"/>
                <a:cs typeface="Times New Roman" panose="02020603050405020304" pitchFamily="18" charset="0"/>
              </a:rPr>
              <a:t>		y(</a:t>
            </a:r>
            <a:r>
              <a:rPr lang="en-US" altLang="en-US" sz="1800" dirty="0" err="1">
                <a:latin typeface="Times Roman YU" pitchFamily="18" charset="0"/>
                <a:cs typeface="Times New Roman" panose="02020603050405020304" pitchFamily="18" charset="0"/>
              </a:rPr>
              <a:t>i</a:t>
            </a:r>
            <a:r>
              <a:rPr lang="en-US" altLang="en-US" sz="1800" dirty="0">
                <a:latin typeface="Times Roman YU" pitchFamily="18" charset="0"/>
                <a:cs typeface="Times New Roman" panose="02020603050405020304" pitchFamily="18" charset="0"/>
              </a:rPr>
              <a:t>)= 2*y(</a:t>
            </a:r>
            <a:r>
              <a:rPr lang="en-US" altLang="en-US" sz="1800" dirty="0" err="1">
                <a:latin typeface="Times Roman YU" pitchFamily="18" charset="0"/>
                <a:cs typeface="Times New Roman" panose="02020603050405020304" pitchFamily="18" charset="0"/>
              </a:rPr>
              <a:t>i</a:t>
            </a:r>
            <a:r>
              <a:rPr lang="en-US" altLang="en-US" sz="1800" dirty="0">
                <a:latin typeface="Times Roman YU" pitchFamily="18" charset="0"/>
                <a:cs typeface="Times New Roman" panose="02020603050405020304" pitchFamily="18" charset="0"/>
              </a:rPr>
              <a:t>)</a:t>
            </a:r>
            <a:endParaRPr lang="en-US" altLang="en-US" sz="1800" dirty="0">
              <a:cs typeface="Times New Roman" panose="02020603050405020304" pitchFamily="18" charset="0"/>
            </a:endParaRPr>
          </a:p>
          <a:p>
            <a:pPr lvl="2" algn="just">
              <a:lnSpc>
                <a:spcPct val="90000"/>
              </a:lnSpc>
              <a:defRPr/>
            </a:pPr>
            <a:r>
              <a:rPr lang="en-US" altLang="en-US" sz="1800" dirty="0">
                <a:latin typeface="Times New Roman" panose="02020603050405020304" pitchFamily="18" charset="0"/>
                <a:cs typeface="Times New Roman" panose="02020603050405020304" pitchFamily="18" charset="0"/>
              </a:rPr>
              <a:t>      </a:t>
            </a:r>
            <a:r>
              <a:rPr lang="en-US" altLang="en-US" sz="1800" dirty="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 </a:t>
            </a:r>
            <a:r>
              <a:rPr lang="en-US" altLang="en-US" sz="1800" dirty="0">
                <a:latin typeface="Times Roman YU" pitchFamily="18" charset="0"/>
                <a:cs typeface="Times New Roman" panose="02020603050405020304" pitchFamily="18" charset="0"/>
              </a:rPr>
              <a:t> </a:t>
            </a:r>
            <a:r>
              <a:rPr lang="en-US" altLang="en-US" sz="1800" dirty="0" err="1">
                <a:latin typeface="Times Roman YU" pitchFamily="18" charset="0"/>
                <a:cs typeface="Times New Roman" panose="02020603050405020304" pitchFamily="18" charset="0"/>
              </a:rPr>
              <a:t>endfor</a:t>
            </a:r>
            <a:endParaRPr lang="en-US" altLang="en-US" sz="1800" dirty="0">
              <a:cs typeface="Times New Roman" panose="02020603050405020304" pitchFamily="18" charset="0"/>
            </a:endParaRPr>
          </a:p>
          <a:p>
            <a:pPr lvl="2" algn="just">
              <a:lnSpc>
                <a:spcPct val="90000"/>
              </a:lnSpc>
              <a:buFont typeface="Wingdings" panose="05000000000000000000" pitchFamily="2" charset="2"/>
              <a:buNone/>
              <a:defRPr/>
            </a:pPr>
            <a:r>
              <a:rPr lang="hr-HR" altLang="en-US" sz="1800" dirty="0"/>
              <a:t>		</a:t>
            </a:r>
            <a:r>
              <a:rPr lang="en-US" altLang="en-US" sz="1800" dirty="0">
                <a:latin typeface="Times Roman YU" pitchFamily="18" charset="0"/>
                <a:cs typeface="Times New Roman" panose="02020603050405020304" pitchFamily="18" charset="0"/>
              </a:rPr>
              <a:t>for i=</a:t>
            </a:r>
            <a:r>
              <a:rPr lang="sr-Latn-RS" altLang="en-US" sz="1800" dirty="0">
                <a:latin typeface="Times Roman YU" pitchFamily="18" charset="0"/>
                <a:cs typeface="Times New Roman" panose="02020603050405020304" pitchFamily="18" charset="0"/>
              </a:rPr>
              <a:t>1</a:t>
            </a:r>
            <a:r>
              <a:rPr lang="en-US" altLang="en-US" sz="1800" dirty="0">
                <a:latin typeface="Times Roman YU" pitchFamily="18" charset="0"/>
                <a:cs typeface="Times New Roman" panose="02020603050405020304" pitchFamily="18" charset="0"/>
              </a:rPr>
              <a:t>,N</a:t>
            </a:r>
            <a:endParaRPr lang="en-US" altLang="en-US" sz="1800" dirty="0">
              <a:cs typeface="Times New Roman" panose="02020603050405020304" pitchFamily="18" charset="0"/>
            </a:endParaRPr>
          </a:p>
          <a:p>
            <a:pPr lvl="2" algn="just">
              <a:lnSpc>
                <a:spcPct val="90000"/>
              </a:lnSpc>
              <a:buFont typeface="Wingdings" panose="05000000000000000000" pitchFamily="2" charset="2"/>
              <a:buNone/>
              <a:defRPr/>
            </a:pPr>
            <a:r>
              <a:rPr lang="hr-HR" altLang="en-US" sz="1800" dirty="0"/>
              <a:t>		</a:t>
            </a:r>
            <a:r>
              <a:rPr lang="en-US" altLang="en-US" sz="1800" dirty="0">
                <a:latin typeface="Times Roman YU" pitchFamily="18" charset="0"/>
                <a:cs typeface="Times New Roman" panose="02020603050405020304" pitchFamily="18" charset="0"/>
              </a:rPr>
              <a:t>x(</a:t>
            </a:r>
            <a:r>
              <a:rPr lang="en-US" altLang="en-US" sz="1800" dirty="0" err="1">
                <a:latin typeface="Times Roman YU" pitchFamily="18" charset="0"/>
                <a:cs typeface="Times New Roman" panose="02020603050405020304" pitchFamily="18" charset="0"/>
              </a:rPr>
              <a:t>i</a:t>
            </a:r>
            <a:r>
              <a:rPr lang="en-US" altLang="en-US" sz="1800" dirty="0">
                <a:latin typeface="Times Roman YU" pitchFamily="18" charset="0"/>
                <a:cs typeface="Times New Roman" panose="02020603050405020304" pitchFamily="18" charset="0"/>
              </a:rPr>
              <a:t>) = y(i-1)*z(</a:t>
            </a:r>
            <a:r>
              <a:rPr lang="en-US" altLang="en-US" sz="1800" dirty="0" err="1">
                <a:latin typeface="Times Roman YU" pitchFamily="18" charset="0"/>
                <a:cs typeface="Times New Roman" panose="02020603050405020304" pitchFamily="18" charset="0"/>
              </a:rPr>
              <a:t>i</a:t>
            </a:r>
            <a:r>
              <a:rPr lang="en-US" altLang="en-US" sz="1800" dirty="0">
                <a:latin typeface="Times Roman YU" pitchFamily="18" charset="0"/>
                <a:cs typeface="Times New Roman" panose="02020603050405020304" pitchFamily="18" charset="0"/>
              </a:rPr>
              <a:t>)</a:t>
            </a:r>
            <a:endParaRPr lang="en-US" altLang="en-US" sz="1800" dirty="0">
              <a:cs typeface="Times New Roman" panose="02020603050405020304" pitchFamily="18" charset="0"/>
            </a:endParaRPr>
          </a:p>
          <a:p>
            <a:pPr lvl="2" algn="just">
              <a:lnSpc>
                <a:spcPct val="90000"/>
              </a:lnSpc>
              <a:buFont typeface="Wingdings" panose="05000000000000000000" pitchFamily="2" charset="2"/>
              <a:buNone/>
              <a:defRPr/>
            </a:pPr>
            <a:r>
              <a:rPr lang="hr-HR" altLang="en-US" sz="1800" dirty="0"/>
              <a:t>	</a:t>
            </a:r>
            <a:r>
              <a:rPr lang="en-US" altLang="en-US" sz="1800" dirty="0">
                <a:latin typeface="Times Roman YU" pitchFamily="18" charset="0"/>
                <a:cs typeface="Times New Roman" panose="02020603050405020304" pitchFamily="18" charset="0"/>
              </a:rPr>
              <a:t>	</a:t>
            </a:r>
            <a:r>
              <a:rPr lang="en-US" altLang="en-US" sz="1800" dirty="0" err="1">
                <a:latin typeface="Times Roman YU" pitchFamily="18" charset="0"/>
                <a:cs typeface="Times New Roman" panose="02020603050405020304" pitchFamily="18" charset="0"/>
              </a:rPr>
              <a:t>endfor</a:t>
            </a:r>
            <a:endParaRPr lang="en-US" altLang="en-US" sz="1800" dirty="0">
              <a:cs typeface="Times New Roman" panose="02020603050405020304" pitchFamily="18" charset="0"/>
            </a:endParaRPr>
          </a:p>
          <a:p>
            <a:pPr lvl="1" algn="just">
              <a:lnSpc>
                <a:spcPct val="90000"/>
              </a:lnSpc>
              <a:defRPr/>
            </a:pPr>
            <a:r>
              <a:rPr lang="en-US" altLang="en-US" sz="2100" dirty="0" err="1">
                <a:cs typeface="Times New Roman" panose="02020603050405020304" pitchFamily="18" charset="0"/>
              </a:rPr>
              <a:t>Ovo</a:t>
            </a:r>
            <a:r>
              <a:rPr lang="en-US" altLang="en-US" sz="2100" dirty="0">
                <a:cs typeface="Times New Roman" panose="02020603050405020304" pitchFamily="18" charset="0"/>
              </a:rPr>
              <a:t> je </a:t>
            </a:r>
            <a:r>
              <a:rPr lang="en-US" altLang="en-US" sz="2100" dirty="0" err="1">
                <a:cs typeface="Times New Roman" panose="02020603050405020304" pitchFamily="18" charset="0"/>
              </a:rPr>
              <a:t>mogu</a:t>
            </a:r>
            <a:r>
              <a:rPr lang="sr-Latn-CS" altLang="en-US" sz="2100" dirty="0">
                <a:cs typeface="Times New Roman" panose="02020603050405020304" pitchFamily="18" charset="0"/>
              </a:rPr>
              <a:t>ć</a:t>
            </a:r>
            <a:r>
              <a:rPr lang="en-US" altLang="en-US" sz="2100" dirty="0">
                <a:cs typeface="Times New Roman" panose="02020603050405020304" pitchFamily="18" charset="0"/>
              </a:rPr>
              <a:t>e </a:t>
            </a:r>
            <a:r>
              <a:rPr lang="en-US" altLang="en-US" sz="2100" dirty="0" err="1">
                <a:cs typeface="Times New Roman" panose="02020603050405020304" pitchFamily="18" charset="0"/>
              </a:rPr>
              <a:t>jer</a:t>
            </a:r>
            <a:r>
              <a:rPr lang="en-US" altLang="en-US" sz="2100" dirty="0">
                <a:cs typeface="Times New Roman" panose="02020603050405020304" pitchFamily="18" charset="0"/>
              </a:rPr>
              <a:t> </a:t>
            </a:r>
            <a:r>
              <a:rPr lang="en-US" altLang="en-US" sz="2100" dirty="0" err="1">
                <a:cs typeface="Times New Roman" panose="02020603050405020304" pitchFamily="18" charset="0"/>
              </a:rPr>
              <a:t>izra</a:t>
            </a:r>
            <a:r>
              <a:rPr lang="sr-Latn-CS" altLang="en-US" sz="2100" dirty="0">
                <a:cs typeface="Times New Roman" panose="02020603050405020304" pitchFamily="18" charset="0"/>
              </a:rPr>
              <a:t>č</a:t>
            </a:r>
            <a:r>
              <a:rPr lang="en-US" altLang="en-US" sz="2100" dirty="0" err="1">
                <a:cs typeface="Times New Roman" panose="02020603050405020304" pitchFamily="18" charset="0"/>
              </a:rPr>
              <a:t>unavanje</a:t>
            </a:r>
            <a:r>
              <a:rPr lang="en-US" altLang="en-US" sz="2100" dirty="0">
                <a:cs typeface="Times New Roman" panose="02020603050405020304" pitchFamily="18" charset="0"/>
              </a:rPr>
              <a:t> y(</a:t>
            </a:r>
            <a:r>
              <a:rPr lang="en-US" altLang="en-US" sz="2100" dirty="0" err="1">
                <a:cs typeface="Times New Roman" panose="02020603050405020304" pitchFamily="18" charset="0"/>
              </a:rPr>
              <a:t>i</a:t>
            </a:r>
            <a:r>
              <a:rPr lang="en-US" altLang="en-US" sz="2100" dirty="0">
                <a:cs typeface="Times New Roman" panose="02020603050405020304" pitchFamily="18" charset="0"/>
              </a:rPr>
              <a:t>) ne </a:t>
            </a:r>
            <a:r>
              <a:rPr lang="en-US" altLang="en-US" sz="2100" dirty="0" err="1">
                <a:cs typeface="Times New Roman" panose="02020603050405020304" pitchFamily="18" charset="0"/>
              </a:rPr>
              <a:t>zavisi</a:t>
            </a:r>
            <a:r>
              <a:rPr lang="en-US" altLang="en-US" sz="2100" dirty="0">
                <a:cs typeface="Times New Roman" panose="02020603050405020304" pitchFamily="18" charset="0"/>
              </a:rPr>
              <a:t> </a:t>
            </a:r>
            <a:r>
              <a:rPr lang="en-US" altLang="en-US" sz="2100" dirty="0" err="1">
                <a:cs typeface="Times New Roman" panose="02020603050405020304" pitchFamily="18" charset="0"/>
              </a:rPr>
              <a:t>od</a:t>
            </a:r>
            <a:r>
              <a:rPr lang="en-US" altLang="en-US" sz="2100" dirty="0">
                <a:cs typeface="Times New Roman" panose="02020603050405020304" pitchFamily="18" charset="0"/>
              </a:rPr>
              <a:t> x(</a:t>
            </a:r>
            <a:r>
              <a:rPr lang="en-US" altLang="en-US" sz="2100" dirty="0" err="1">
                <a:cs typeface="Times New Roman" panose="02020603050405020304" pitchFamily="18" charset="0"/>
              </a:rPr>
              <a:t>i</a:t>
            </a:r>
            <a:r>
              <a:rPr lang="en-US" altLang="en-US" sz="2100" dirty="0">
                <a:cs typeface="Times New Roman" panose="02020603050405020304" pitchFamily="18" charset="0"/>
              </a:rPr>
              <a:t>), </a:t>
            </a:r>
            <a:r>
              <a:rPr lang="en-US" altLang="en-US" sz="2100" dirty="0" err="1">
                <a:cs typeface="Times New Roman" panose="02020603050405020304" pitchFamily="18" charset="0"/>
              </a:rPr>
              <a:t>tj</a:t>
            </a:r>
            <a:r>
              <a:rPr lang="en-US" altLang="en-US" sz="2100" dirty="0">
                <a:cs typeface="Times New Roman" panose="02020603050405020304" pitchFamily="18" charset="0"/>
              </a:rPr>
              <a:t>. ne </a:t>
            </a:r>
            <a:r>
              <a:rPr lang="en-US" altLang="en-US" sz="2100" dirty="0" err="1">
                <a:cs typeface="Times New Roman" panose="02020603050405020304" pitchFamily="18" charset="0"/>
              </a:rPr>
              <a:t>postoji</a:t>
            </a:r>
            <a:r>
              <a:rPr lang="en-US" altLang="en-US" sz="2100" dirty="0">
                <a:cs typeface="Times New Roman" panose="02020603050405020304" pitchFamily="18" charset="0"/>
              </a:rPr>
              <a:t> </a:t>
            </a:r>
            <a:r>
              <a:rPr lang="en-US" altLang="en-US" sz="2100" dirty="0" err="1">
                <a:cs typeface="Times New Roman" panose="02020603050405020304" pitchFamily="18" charset="0"/>
              </a:rPr>
              <a:t>kru</a:t>
            </a:r>
            <a:r>
              <a:rPr lang="sr-Latn-CS" altLang="en-US" sz="2100" dirty="0">
                <a:cs typeface="Times New Roman" panose="02020603050405020304" pitchFamily="18" charset="0"/>
              </a:rPr>
              <a:t>ž</a:t>
            </a:r>
            <a:r>
              <a:rPr lang="en-US" altLang="en-US" sz="2100" dirty="0" err="1">
                <a:cs typeface="Times New Roman" panose="02020603050405020304" pitchFamily="18" charset="0"/>
              </a:rPr>
              <a:t>na</a:t>
            </a:r>
            <a:r>
              <a:rPr lang="en-US" altLang="en-US" sz="2100" dirty="0">
                <a:cs typeface="Times New Roman" panose="02020603050405020304" pitchFamily="18" charset="0"/>
              </a:rPr>
              <a:t> </a:t>
            </a:r>
            <a:r>
              <a:rPr lang="en-US" altLang="en-US" sz="2100" dirty="0" err="1">
                <a:cs typeface="Times New Roman" panose="02020603050405020304" pitchFamily="18" charset="0"/>
              </a:rPr>
              <a:t>zavisnost</a:t>
            </a:r>
            <a:r>
              <a:rPr lang="en-US" altLang="en-US" sz="2100" dirty="0">
                <a:cs typeface="Times New Roman" panose="02020603050405020304" pitchFamily="18" charset="0"/>
              </a:rPr>
              <a:t> </a:t>
            </a:r>
            <a:r>
              <a:rPr lang="en-US" altLang="en-US" sz="2100" dirty="0" err="1">
                <a:cs typeface="Times New Roman" panose="02020603050405020304" pitchFamily="18" charset="0"/>
              </a:rPr>
              <a:t>izmedju</a:t>
            </a:r>
            <a:r>
              <a:rPr lang="en-US" altLang="en-US" sz="2100" dirty="0">
                <a:cs typeface="Times New Roman" panose="02020603050405020304" pitchFamily="18" charset="0"/>
              </a:rPr>
              <a:t> </a:t>
            </a:r>
            <a:r>
              <a:rPr lang="en-US" altLang="en-US" sz="2100" dirty="0" err="1">
                <a:cs typeface="Times New Roman" panose="02020603050405020304" pitchFamily="18" charset="0"/>
              </a:rPr>
              <a:t>naredi</a:t>
            </a:r>
            <a:r>
              <a:rPr lang="en-US" altLang="en-US" sz="2100" dirty="0">
                <a:cs typeface="Times New Roman" panose="02020603050405020304" pitchFamily="18" charset="0"/>
              </a:rPr>
              <a:t> S1 </a:t>
            </a:r>
            <a:r>
              <a:rPr lang="en-US" altLang="en-US" sz="2100" dirty="0" err="1">
                <a:cs typeface="Times New Roman" panose="02020603050405020304" pitchFamily="18" charset="0"/>
              </a:rPr>
              <a:t>i</a:t>
            </a:r>
            <a:r>
              <a:rPr lang="en-US" altLang="en-US" sz="2100" dirty="0">
                <a:cs typeface="Times New Roman" panose="02020603050405020304" pitchFamily="18" charset="0"/>
              </a:rPr>
              <a:t> S2 u </a:t>
            </a:r>
            <a:r>
              <a:rPr lang="en-US" altLang="en-US" sz="2100" dirty="0" err="1">
                <a:cs typeface="Times New Roman" panose="02020603050405020304" pitchFamily="18" charset="0"/>
              </a:rPr>
              <a:t>polaznoj</a:t>
            </a:r>
            <a:r>
              <a:rPr lang="en-US" altLang="en-US" sz="2100" dirty="0">
                <a:cs typeface="Times New Roman" panose="02020603050405020304" pitchFamily="18" charset="0"/>
              </a:rPr>
              <a:t> </a:t>
            </a:r>
            <a:r>
              <a:rPr lang="en-US" altLang="en-US" sz="2100" dirty="0" err="1">
                <a:cs typeface="Times New Roman" panose="02020603050405020304" pitchFamily="18" charset="0"/>
              </a:rPr>
              <a:t>petlji</a:t>
            </a:r>
            <a:r>
              <a:rPr lang="en-US" altLang="en-US" sz="2100" dirty="0">
                <a:cs typeface="Times New Roman" panose="02020603050405020304" pitchFamily="18" charset="0"/>
              </a:rPr>
              <a:t>.</a:t>
            </a:r>
            <a:endParaRPr lang="hr-HR" altLang="en-US" sz="2100" dirty="0"/>
          </a:p>
          <a:p>
            <a:pPr lvl="2" algn="just">
              <a:lnSpc>
                <a:spcPct val="90000"/>
              </a:lnSpc>
              <a:buFont typeface="Wingdings" panose="05000000000000000000" pitchFamily="2" charset="2"/>
              <a:buNone/>
              <a:defRPr/>
            </a:pPr>
            <a:endParaRPr lang="hr-HR" altLang="en-US" sz="1800" dirty="0"/>
          </a:p>
        </p:txBody>
      </p:sp>
    </p:spTree>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C1770A-39B6-5C78-4600-919EEC384D4B}"/>
              </a:ext>
            </a:extLst>
          </p:cNvPr>
          <p:cNvSpPr/>
          <p:nvPr/>
        </p:nvSpPr>
        <p:spPr bwMode="auto">
          <a:xfrm>
            <a:off x="1752600" y="3581400"/>
            <a:ext cx="1905000" cy="701675"/>
          </a:xfrm>
          <a:prstGeom prst="rect">
            <a:avLst/>
          </a:prstGeom>
          <a:solidFill>
            <a:srgbClr val="FFFFCC">
              <a:alpha val="48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8" name="Title 7">
            <a:extLst>
              <a:ext uri="{FF2B5EF4-FFF2-40B4-BE49-F238E27FC236}">
                <a16:creationId xmlns:a16="http://schemas.microsoft.com/office/drawing/2014/main" id="{0136C1D1-A4C0-CA57-6022-0BFBB0313931}"/>
              </a:ext>
            </a:extLst>
          </p:cNvPr>
          <p:cNvSpPr>
            <a:spLocks noGrp="1"/>
          </p:cNvSpPr>
          <p:nvPr>
            <p:ph type="title"/>
          </p:nvPr>
        </p:nvSpPr>
        <p:spPr/>
        <p:txBody>
          <a:bodyPr/>
          <a:lstStyle/>
          <a:p>
            <a:endParaRPr lang="en-US"/>
          </a:p>
        </p:txBody>
      </p:sp>
      <p:sp>
        <p:nvSpPr>
          <p:cNvPr id="10" name="Rectangle 9">
            <a:extLst>
              <a:ext uri="{FF2B5EF4-FFF2-40B4-BE49-F238E27FC236}">
                <a16:creationId xmlns:a16="http://schemas.microsoft.com/office/drawing/2014/main" id="{6C429F5B-4A51-78C6-5DF4-AF2EDEC4497C}"/>
              </a:ext>
            </a:extLst>
          </p:cNvPr>
          <p:cNvSpPr/>
          <p:nvPr/>
        </p:nvSpPr>
        <p:spPr bwMode="auto">
          <a:xfrm>
            <a:off x="1752600" y="4283075"/>
            <a:ext cx="1905000" cy="70167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6AF2224-049F-DE76-DBE1-864A26A16B0C}"/>
              </a:ext>
            </a:extLst>
          </p:cNvPr>
          <p:cNvSpPr txBox="1"/>
          <p:nvPr/>
        </p:nvSpPr>
        <p:spPr>
          <a:xfrm>
            <a:off x="-76200" y="762000"/>
            <a:ext cx="8991600" cy="6143220"/>
          </a:xfrm>
          <a:prstGeom prst="rect">
            <a:avLst/>
          </a:prstGeom>
          <a:noFill/>
        </p:spPr>
        <p:txBody>
          <a:bodyPr wrap="square">
            <a:spAutoFit/>
          </a:bodyPr>
          <a:lstStyle/>
          <a:p>
            <a:pPr marL="742950" marR="0" lvl="1" indent="-285750" algn="just" defTabSz="914400" rtl="0" eaLnBrk="0" fontAlgn="base" latinLnBrk="0" hangingPunct="0">
              <a:lnSpc>
                <a:spcPct val="90000"/>
              </a:lnSpc>
              <a:spcBef>
                <a:spcPct val="20000"/>
              </a:spcBef>
              <a:spcAft>
                <a:spcPct val="0"/>
              </a:spcAft>
              <a:buClr>
                <a:srgbClr val="003399"/>
              </a:buClr>
              <a:buSzPct val="85000"/>
              <a:buFont typeface="Wingdings" panose="05000000000000000000" pitchFamily="2" charset="2"/>
              <a:buChar char="l"/>
              <a:tabLst/>
              <a:defRPr/>
            </a:pP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U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sede</a:t>
            </a:r>
            <a:r>
              <a:rPr kumimoji="1" lang="hr-HR"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mn-cs"/>
              </a:rPr>
              <a:t>ć</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oj</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petlji</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postoji</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loop-carry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zavisnost</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izmedju</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naredbi</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S1 i S2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kada</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je u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pitanju</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err="1">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vektor</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 </a:t>
            </a:r>
            <a:r>
              <a:rPr kumimoji="1" lang="en-US" altLang="en-US" sz="2100" b="0" i="0" u="none" strike="noStrike" kern="1200" cap="none" spc="0" normalizeH="0" baseline="0" noProof="0" dirty="0">
                <a:ln>
                  <a:noFill/>
                </a:ln>
                <a:solidFill>
                  <a:srgbClr val="A50021"/>
                </a:solidFill>
                <a:effectLst>
                  <a:outerShdw blurRad="38100" dist="38100" dir="2700000" algn="tl">
                    <a:srgbClr val="C0C0C0"/>
                  </a:outerShdw>
                </a:effectLst>
                <a:uLnTx/>
                <a:uFillTx/>
                <a:latin typeface="Tahoma"/>
                <a:ea typeface="+mn-ea"/>
                <a:cs typeface="Times New Roman" panose="02020603050405020304" pitchFamily="18" charset="0"/>
              </a:rPr>
              <a:t>y</a:t>
            </a:r>
            <a:r>
              <a:rPr kumimoji="1" lang="en-US" altLang="en-US" sz="21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Times New Roman" panose="02020603050405020304" pitchFamily="18" charset="0"/>
              </a:rPr>
              <a:t>:</a:t>
            </a:r>
          </a:p>
          <a:p>
            <a:pPr marL="1143000" marR="0" lvl="2" indent="-228600" algn="just" defTabSz="914400" rtl="0" eaLnBrk="0" fontAlgn="base" latinLnBrk="0" hangingPunct="0">
              <a:lnSpc>
                <a:spcPct val="90000"/>
              </a:lnSpc>
              <a:spcBef>
                <a:spcPct val="20000"/>
              </a:spcBef>
              <a:spcAft>
                <a:spcPct val="0"/>
              </a:spcAft>
              <a:buClr>
                <a:srgbClr val="000000"/>
              </a:buClr>
              <a:buSzTx/>
              <a:buFont typeface="Wingdings" panose="05000000000000000000" pitchFamily="2" charset="2"/>
              <a:buNone/>
              <a:tabLst/>
              <a:defRPr/>
            </a:pPr>
            <a:r>
              <a:rPr kumimoji="1" lang="en-US"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		for i=1, N</a:t>
            </a:r>
          </a:p>
          <a:p>
            <a:pPr marL="1143000" marR="0" lvl="2" indent="-228600" algn="just" defTabSz="914400" rtl="0" eaLnBrk="0" fontAlgn="base" latinLnBrk="0" hangingPunct="0">
              <a:lnSpc>
                <a:spcPct val="90000"/>
              </a:lnSpc>
              <a:spcBef>
                <a:spcPct val="20000"/>
              </a:spcBef>
              <a:spcAft>
                <a:spcPct val="0"/>
              </a:spcAft>
              <a:buClr>
                <a:srgbClr val="000000"/>
              </a:buClr>
              <a:buSzTx/>
              <a:buFont typeface="Wingdings" panose="05000000000000000000" pitchFamily="2" charset="2"/>
              <a:buNone/>
              <a:tabLst/>
              <a:defRPr/>
            </a:pPr>
            <a:r>
              <a:rPr kumimoji="1" lang="en-US"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	S1	x(i)= y(i-1) * z(i)</a:t>
            </a:r>
          </a:p>
          <a:p>
            <a:pPr marL="1143000" marR="0" lvl="2" indent="-228600" algn="just" defTabSz="914400" rtl="0" eaLnBrk="0" fontAlgn="base" latinLnBrk="0" hangingPunct="0">
              <a:lnSpc>
                <a:spcPct val="90000"/>
              </a:lnSpc>
              <a:spcBef>
                <a:spcPct val="20000"/>
              </a:spcBef>
              <a:spcAft>
                <a:spcPct val="0"/>
              </a:spcAft>
              <a:buClr>
                <a:srgbClr val="000000"/>
              </a:buClr>
              <a:buSzTx/>
              <a:buFont typeface="Wingdings" panose="05000000000000000000" pitchFamily="2" charset="2"/>
              <a:buNone/>
              <a:tabLst/>
              <a:defRPr/>
            </a:pPr>
            <a:r>
              <a:rPr kumimoji="1" lang="en-US"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	S2	y(i)= 2*y(i)</a:t>
            </a:r>
            <a:endParaRPr kumimoji="1" lang="hr-HR"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1143000" marR="0" lvl="2" indent="-228600" algn="just" defTabSz="914400" rtl="0" eaLnBrk="0" fontAlgn="base" latinLnBrk="0" hangingPunct="0">
              <a:lnSpc>
                <a:spcPct val="90000"/>
              </a:lnSpc>
              <a:spcBef>
                <a:spcPct val="20000"/>
              </a:spcBef>
              <a:spcAft>
                <a:spcPct val="0"/>
              </a:spcAft>
              <a:buClr>
                <a:srgbClr val="000000"/>
              </a:buClr>
              <a:buSzTx/>
              <a:buFont typeface="Wingdings" panose="05000000000000000000" pitchFamily="2" charset="2"/>
              <a:buNone/>
              <a:tabLst/>
              <a:defRPr/>
            </a:pPr>
            <a:r>
              <a:rPr kumimoji="1" lang="hr-HR"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a:t>
            </a:r>
            <a:r>
              <a:rPr kumimoji="1" lang="en-US"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a:t>
            </a:r>
            <a:r>
              <a:rPr kumimoji="1" lang="hr-HR"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a:t>
            </a:r>
            <a:r>
              <a:rPr kumimoji="1" lang="en-US" altLang="en-US" sz="1800" b="0" i="0" u="none" strike="noStrike" kern="1200" cap="none" spc="0" normalizeH="0" baseline="0" noProof="0" dirty="0" err="1">
                <a:ln>
                  <a:noFill/>
                </a:ln>
                <a:solidFill>
                  <a:srgbClr val="000000"/>
                </a:solidFill>
                <a:effectLst>
                  <a:outerShdw blurRad="38100" dist="38100" dir="2700000" algn="tl">
                    <a:srgbClr val="C0C0C0"/>
                  </a:outerShdw>
                </a:effectLst>
                <a:uLnTx/>
                <a:uFillTx/>
                <a:latin typeface="Tahoma"/>
                <a:ea typeface="+mn-ea"/>
                <a:cs typeface="+mn-cs"/>
              </a:rPr>
              <a:t>endfor</a:t>
            </a:r>
            <a:endParaRPr kumimoji="1" lang="hr-HR" altLang="en-US" sz="1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A50021"/>
              </a:buClr>
              <a:buSzPct val="85000"/>
              <a:buFont typeface="Wingdings 2" panose="05020102010507070707" pitchFamily="18" charset="2"/>
              <a:buChar char="ã"/>
              <a:tabLst/>
              <a:defRPr/>
            </a:pPr>
            <a:r>
              <a:rPr kumimoji="1" lang="sr-Latn-RS" sz="2800" b="0" i="0" u="none" strike="noStrike" kern="1200" cap="none" spc="0" normalizeH="0" baseline="0" noProof="0" dirty="0">
                <a:ln>
                  <a:noFill/>
                </a:ln>
                <a:solidFill>
                  <a:srgbClr val="A50021"/>
                </a:solidFill>
                <a:effectLst>
                  <a:outerShdw blurRad="38100" dist="38100" dir="2700000" algn="tl">
                    <a:srgbClr val="C0C0C0"/>
                  </a:outerShdw>
                </a:effectLst>
                <a:uLnTx/>
                <a:uFillTx/>
                <a:latin typeface="Tahoma"/>
                <a:ea typeface="+mn-ea"/>
                <a:cs typeface="+mn-cs"/>
              </a:rPr>
              <a:t>Razvijemo petlju po i</a:t>
            </a: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i=1 	x(1)=y(0)*z(1)		 	x(1)=y(0)*z(1) 		</a:t>
            </a: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y(1)=2*y(1)			for i=1, N-1</a:t>
            </a: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i=2	x(2)=y(1)*z(2)		S2:	</a:t>
            </a:r>
            <a:r>
              <a:rPr kumimoji="1" lang="en-U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y(i)= 2*y(i)</a:t>
            </a:r>
            <a:endPar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y(2)=2*y(2)		</a:t>
            </a:r>
            <a:r>
              <a:rPr kumimoji="1" lang="en-U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S1	x(i</a:t>
            </a:r>
            <a:r>
              <a:rPr kumimoji="1" lang="sr-Latn-R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+1</a:t>
            </a:r>
            <a:r>
              <a:rPr kumimoji="1" lang="en-U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 y(i) * z(i</a:t>
            </a:r>
            <a:r>
              <a:rPr kumimoji="1" lang="sr-Latn-R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+1</a:t>
            </a:r>
            <a:r>
              <a:rPr kumimoji="1" lang="en-US"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Times New Roman" panose="02020603050405020304" pitchFamily="18" charset="0"/>
              </a:rPr>
              <a:t>)</a:t>
            </a:r>
            <a:endPar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i=3	x(3)=y(2)*z(3)			endfor</a:t>
            </a: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r>
              <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rPr>
              <a:t>      	y(3)=2*y(3)			y(N)=2*y(N)</a:t>
            </a: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endPar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857250" marR="0" lvl="2" indent="0" algn="l" defTabSz="914400" rtl="0" eaLnBrk="0" fontAlgn="base" latinLnBrk="0" hangingPunct="0">
              <a:lnSpc>
                <a:spcPct val="100000"/>
              </a:lnSpc>
              <a:spcBef>
                <a:spcPct val="20000"/>
              </a:spcBef>
              <a:spcAft>
                <a:spcPct val="0"/>
              </a:spcAft>
              <a:buClr>
                <a:srgbClr val="000000"/>
              </a:buClr>
              <a:buSzTx/>
              <a:buFont typeface="Wingdings" panose="05000000000000000000" pitchFamily="2" charset="2"/>
              <a:buNone/>
              <a:tabLst/>
              <a:defRPr/>
            </a:pPr>
            <a:endParaRPr kumimoji="1" lang="sr-Latn-R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marL="742950" marR="0" lvl="1" indent="-285750" algn="l" defTabSz="914400" rtl="0" eaLnBrk="0" fontAlgn="base" latinLnBrk="0" hangingPunct="0">
              <a:lnSpc>
                <a:spcPct val="100000"/>
              </a:lnSpc>
              <a:spcBef>
                <a:spcPct val="20000"/>
              </a:spcBef>
              <a:spcAft>
                <a:spcPct val="0"/>
              </a:spcAft>
              <a:buClr>
                <a:srgbClr val="003399"/>
              </a:buClr>
              <a:buSzPct val="85000"/>
              <a:buFont typeface="Wingdings" panose="05000000000000000000" pitchFamily="2" charset="2"/>
              <a:buChar char="l"/>
              <a:tabLst/>
              <a:defRPr/>
            </a:pPr>
            <a:r>
              <a:rPr kumimoji="1" lang="sr-Latn-RS" sz="2300" b="0" i="0" u="none" strike="noStrike" kern="1200" cap="none" spc="0" normalizeH="0" baseline="0" noProof="0" dirty="0">
                <a:ln>
                  <a:noFill/>
                </a:ln>
                <a:solidFill>
                  <a:srgbClr val="003399"/>
                </a:solidFill>
                <a:effectLst>
                  <a:outerShdw blurRad="38100" dist="38100" dir="2700000" algn="tl">
                    <a:srgbClr val="C0C0C0"/>
                  </a:outerShdw>
                </a:effectLst>
                <a:uLnTx/>
                <a:uFillTx/>
                <a:latin typeface="Tahoma"/>
                <a:ea typeface="+mn-ea"/>
                <a:cs typeface="+mn-cs"/>
              </a:rPr>
              <a:t>Ova tehnika se zove softverska protočnost (software pipelining)</a:t>
            </a:r>
          </a:p>
        </p:txBody>
      </p:sp>
    </p:spTree>
    <p:extLst>
      <p:ext uri="{BB962C8B-B14F-4D97-AF65-F5344CB8AC3E}">
        <p14:creationId xmlns:p14="http://schemas.microsoft.com/office/powerpoint/2010/main" val="4001701035"/>
      </p:ext>
    </p:extLst>
  </p:cSld>
  <p:clrMapOvr>
    <a:masterClrMapping/>
  </p:clrMapOvr>
  <p:transition>
    <p:pull dir="d"/>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0086B4F-9A1C-2434-8C13-DF039CAD601D}"/>
              </a:ext>
            </a:extLst>
          </p:cNvPr>
          <p:cNvSpPr>
            <a:spLocks noGrp="1" noChangeArrowheads="1"/>
          </p:cNvSpPr>
          <p:nvPr>
            <p:ph type="title"/>
          </p:nvPr>
        </p:nvSpPr>
        <p:spPr>
          <a:xfrm>
            <a:off x="0" y="0"/>
            <a:ext cx="9144000" cy="641350"/>
          </a:xfrm>
        </p:spPr>
        <p:txBody>
          <a:bodyPr/>
          <a:lstStyle/>
          <a:p>
            <a:pPr>
              <a:defRPr/>
            </a:pPr>
            <a:r>
              <a:rPr lang="hr-HR" altLang="en-US" sz="3600"/>
              <a:t>Eliminacija zavisnosti</a:t>
            </a:r>
            <a:endParaRPr lang="en-US" altLang="en-US" sz="3600"/>
          </a:p>
        </p:txBody>
      </p:sp>
      <p:sp>
        <p:nvSpPr>
          <p:cNvPr id="19459" name="Rectangle 3">
            <a:extLst>
              <a:ext uri="{FF2B5EF4-FFF2-40B4-BE49-F238E27FC236}">
                <a16:creationId xmlns:a16="http://schemas.microsoft.com/office/drawing/2014/main" id="{1CCF3321-71A2-FD34-DC16-C67F6342B7A8}"/>
              </a:ext>
            </a:extLst>
          </p:cNvPr>
          <p:cNvSpPr>
            <a:spLocks noGrp="1" noChangeArrowheads="1"/>
          </p:cNvSpPr>
          <p:nvPr>
            <p:ph type="body" sz="half" idx="1"/>
          </p:nvPr>
        </p:nvSpPr>
        <p:spPr/>
        <p:txBody>
          <a:bodyPr/>
          <a:lstStyle/>
          <a:p>
            <a:pPr lvl="1">
              <a:defRPr/>
            </a:pPr>
            <a:r>
              <a:rPr lang="en-US" altLang="en-US" sz="1900" dirty="0">
                <a:cs typeface="Times New Roman" panose="02020603050405020304" pitchFamily="18" charset="0"/>
              </a:rPr>
              <a:t>U </a:t>
            </a:r>
            <a:r>
              <a:rPr lang="en-US" altLang="en-US" sz="1900" dirty="0" err="1">
                <a:cs typeface="Times New Roman" panose="02020603050405020304" pitchFamily="18" charset="0"/>
              </a:rPr>
              <a:t>petlji</a:t>
            </a:r>
            <a:r>
              <a:rPr lang="en-US" altLang="en-US" sz="1900" dirty="0">
                <a:cs typeface="Times New Roman" panose="02020603050405020304" pitchFamily="18" charset="0"/>
              </a:rPr>
              <a:t> </a:t>
            </a:r>
            <a:r>
              <a:rPr lang="en-US" altLang="en-US" sz="1900" dirty="0" err="1">
                <a:cs typeface="Times New Roman" panose="02020603050405020304" pitchFamily="18" charset="0"/>
              </a:rPr>
              <a:t>mogu</a:t>
            </a:r>
            <a:r>
              <a:rPr lang="en-US" altLang="en-US" sz="1900" dirty="0">
                <a:cs typeface="Times New Roman" panose="02020603050405020304" pitchFamily="18" charset="0"/>
              </a:rPr>
              <a:t> </a:t>
            </a:r>
            <a:r>
              <a:rPr lang="en-US" altLang="en-US" sz="1900" dirty="0" err="1">
                <a:cs typeface="Times New Roman" panose="02020603050405020304" pitchFamily="18" charset="0"/>
              </a:rPr>
              <a:t>postojati</a:t>
            </a:r>
            <a:r>
              <a:rPr lang="en-US" altLang="en-US" sz="1900" dirty="0">
                <a:cs typeface="Times New Roman" panose="02020603050405020304" pitchFamily="18" charset="0"/>
              </a:rPr>
              <a:t> i </a:t>
            </a:r>
            <a:r>
              <a:rPr lang="en-US" altLang="en-US" sz="1900" dirty="0" err="1">
                <a:cs typeface="Times New Roman" panose="02020603050405020304" pitchFamily="18" charset="0"/>
              </a:rPr>
              <a:t>zavisnosti</a:t>
            </a:r>
            <a:r>
              <a:rPr lang="en-US" altLang="en-US" sz="1900" dirty="0">
                <a:cs typeface="Times New Roman" panose="02020603050405020304" pitchFamily="18" charset="0"/>
              </a:rPr>
              <a:t> </a:t>
            </a:r>
            <a:r>
              <a:rPr lang="en-US" altLang="en-US" sz="1900" dirty="0" err="1">
                <a:cs typeface="Times New Roman" panose="02020603050405020304" pitchFamily="18" charset="0"/>
              </a:rPr>
              <a:t>tipa</a:t>
            </a:r>
            <a:r>
              <a:rPr lang="en-US" altLang="en-US" sz="1900" dirty="0">
                <a:cs typeface="Times New Roman" panose="02020603050405020304" pitchFamily="18" charset="0"/>
              </a:rPr>
              <a:t> WAR </a:t>
            </a:r>
            <a:r>
              <a:rPr lang="en-US" altLang="en-US" sz="1900" dirty="0" err="1">
                <a:cs typeface="Times New Roman" panose="02020603050405020304" pitchFamily="18" charset="0"/>
              </a:rPr>
              <a:t>koje</a:t>
            </a:r>
            <a:r>
              <a:rPr lang="en-US" altLang="en-US" sz="1900" dirty="0">
                <a:cs typeface="Times New Roman" panose="02020603050405020304" pitchFamily="18" charset="0"/>
              </a:rPr>
              <a:t> se jo</a:t>
            </a:r>
            <a:r>
              <a:rPr lang="hr-HR" altLang="en-US" sz="1900" dirty="0"/>
              <a:t>š</a:t>
            </a:r>
            <a:r>
              <a:rPr lang="en-US" altLang="en-US" sz="1900" dirty="0">
                <a:cs typeface="Times New Roman" panose="02020603050405020304" pitchFamily="18" charset="0"/>
              </a:rPr>
              <a:t> </a:t>
            </a:r>
            <a:r>
              <a:rPr lang="en-US" altLang="en-US" sz="1900" dirty="0" err="1">
                <a:cs typeface="Times New Roman" panose="02020603050405020304" pitchFamily="18" charset="0"/>
              </a:rPr>
              <a:t>zovu</a:t>
            </a:r>
            <a:r>
              <a:rPr lang="en-US" altLang="en-US" sz="1900" dirty="0">
                <a:cs typeface="Times New Roman" panose="02020603050405020304" pitchFamily="18" charset="0"/>
              </a:rPr>
              <a:t> i </a:t>
            </a:r>
            <a:r>
              <a:rPr lang="en-US" altLang="en-US" sz="1900" dirty="0" err="1">
                <a:cs typeface="Times New Roman" panose="02020603050405020304" pitchFamily="18" charset="0"/>
              </a:rPr>
              <a:t>antizavisnosti</a:t>
            </a:r>
            <a:r>
              <a:rPr lang="en-US" altLang="en-US" sz="1900" dirty="0">
                <a:cs typeface="Times New Roman" panose="02020603050405020304" pitchFamily="18" charset="0"/>
              </a:rPr>
              <a:t>, WAW </a:t>
            </a:r>
            <a:r>
              <a:rPr lang="en-US" altLang="en-US" sz="1900" dirty="0" err="1">
                <a:cs typeface="Times New Roman" panose="02020603050405020304" pitchFamily="18" charset="0"/>
              </a:rPr>
              <a:t>koje</a:t>
            </a:r>
            <a:r>
              <a:rPr lang="en-US" altLang="en-US" sz="1900" dirty="0">
                <a:cs typeface="Times New Roman" panose="02020603050405020304" pitchFamily="18" charset="0"/>
              </a:rPr>
              <a:t> se </a:t>
            </a:r>
            <a:r>
              <a:rPr lang="en-US" altLang="en-US" sz="1900" dirty="0" err="1">
                <a:cs typeface="Times New Roman" panose="02020603050405020304" pitchFamily="18" charset="0"/>
              </a:rPr>
              <a:t>zovu</a:t>
            </a:r>
            <a:r>
              <a:rPr lang="en-US" altLang="en-US" sz="1900" dirty="0">
                <a:cs typeface="Times New Roman" panose="02020603050405020304" pitchFamily="18" charset="0"/>
              </a:rPr>
              <a:t> </a:t>
            </a:r>
            <a:r>
              <a:rPr lang="en-US" altLang="en-US" sz="1900" dirty="0" err="1">
                <a:cs typeface="Times New Roman" panose="02020603050405020304" pitchFamily="18" charset="0"/>
              </a:rPr>
              <a:t>izlazne</a:t>
            </a:r>
            <a:r>
              <a:rPr lang="en-US" altLang="en-US" sz="1900" dirty="0">
                <a:cs typeface="Times New Roman" panose="02020603050405020304" pitchFamily="18" charset="0"/>
              </a:rPr>
              <a:t> </a:t>
            </a:r>
            <a:r>
              <a:rPr lang="en-US" altLang="en-US" sz="1900" dirty="0" err="1">
                <a:cs typeface="Times New Roman" panose="02020603050405020304" pitchFamily="18" charset="0"/>
              </a:rPr>
              <a:t>zavisnosti</a:t>
            </a:r>
            <a:r>
              <a:rPr lang="en-US" altLang="en-US" sz="1900" dirty="0">
                <a:cs typeface="Times New Roman" panose="02020603050405020304" pitchFamily="18" charset="0"/>
              </a:rPr>
              <a:t>. </a:t>
            </a:r>
            <a:endParaRPr lang="hr-HR" altLang="en-US" sz="1900" dirty="0"/>
          </a:p>
          <a:p>
            <a:pPr lvl="1">
              <a:defRPr/>
            </a:pPr>
            <a:r>
              <a:rPr lang="en-US" altLang="en-US" sz="1900" dirty="0" err="1">
                <a:cs typeface="Times New Roman" panose="02020603050405020304" pitchFamily="18" charset="0"/>
              </a:rPr>
              <a:t>Medjutim</a:t>
            </a:r>
            <a:r>
              <a:rPr lang="en-US" altLang="en-US" sz="1900" dirty="0">
                <a:cs typeface="Times New Roman" panose="02020603050405020304" pitchFamily="18" charset="0"/>
              </a:rPr>
              <a:t>, </a:t>
            </a:r>
            <a:r>
              <a:rPr lang="en-US" altLang="en-US" sz="1900" dirty="0" err="1">
                <a:cs typeface="Times New Roman" panose="02020603050405020304" pitchFamily="18" charset="0"/>
              </a:rPr>
              <a:t>ove</a:t>
            </a:r>
            <a:r>
              <a:rPr lang="en-US" altLang="en-US" sz="1900" dirty="0">
                <a:cs typeface="Times New Roman" panose="02020603050405020304" pitchFamily="18" charset="0"/>
              </a:rPr>
              <a:t> </a:t>
            </a:r>
            <a:r>
              <a:rPr lang="en-US" altLang="en-US" sz="1900" dirty="0" err="1">
                <a:cs typeface="Times New Roman" panose="02020603050405020304" pitchFamily="18" charset="0"/>
              </a:rPr>
              <a:t>zavisnosti</a:t>
            </a:r>
            <a:r>
              <a:rPr lang="en-US" altLang="en-US" sz="1900" dirty="0">
                <a:cs typeface="Times New Roman" panose="02020603050405020304" pitchFamily="18" charset="0"/>
              </a:rPr>
              <a:t> </a:t>
            </a:r>
            <a:r>
              <a:rPr lang="en-US" altLang="en-US" sz="1900" dirty="0" err="1">
                <a:cs typeface="Times New Roman" panose="02020603050405020304" pitchFamily="18" charset="0"/>
              </a:rPr>
              <a:t>kod</a:t>
            </a:r>
            <a:r>
              <a:rPr lang="en-US" altLang="en-US" sz="1900" dirty="0">
                <a:cs typeface="Times New Roman" panose="02020603050405020304" pitchFamily="18" charset="0"/>
              </a:rPr>
              <a:t> </a:t>
            </a:r>
            <a:r>
              <a:rPr lang="en-US" altLang="en-US" sz="1900" dirty="0" err="1">
                <a:cs typeface="Times New Roman" panose="02020603050405020304" pitchFamily="18" charset="0"/>
              </a:rPr>
              <a:t>vektorski</a:t>
            </a:r>
            <a:r>
              <a:rPr lang="en-US" altLang="en-US" sz="1900" dirty="0">
                <a:cs typeface="Times New Roman" panose="02020603050405020304" pitchFamily="18" charset="0"/>
              </a:rPr>
              <a:t> </a:t>
            </a:r>
            <a:r>
              <a:rPr lang="en-US" altLang="en-US" sz="1900" dirty="0" err="1">
                <a:cs typeface="Times New Roman" panose="02020603050405020304" pitchFamily="18" charset="0"/>
              </a:rPr>
              <a:t>ra</a:t>
            </a:r>
            <a:r>
              <a:rPr lang="hr-HR" altLang="en-US" sz="1900" dirty="0"/>
              <a:t>č</a:t>
            </a:r>
            <a:r>
              <a:rPr lang="en-US" altLang="en-US" sz="1900" dirty="0" err="1">
                <a:cs typeface="Times New Roman" panose="02020603050405020304" pitchFamily="18" charset="0"/>
              </a:rPr>
              <a:t>unara</a:t>
            </a:r>
            <a:r>
              <a:rPr lang="en-US" altLang="en-US" sz="1900" dirty="0">
                <a:cs typeface="Times New Roman" panose="02020603050405020304" pitchFamily="18" charset="0"/>
              </a:rPr>
              <a:t> </a:t>
            </a:r>
            <a:r>
              <a:rPr lang="en-US" altLang="en-US" sz="1900" dirty="0" err="1">
                <a:cs typeface="Times New Roman" panose="02020603050405020304" pitchFamily="18" charset="0"/>
              </a:rPr>
              <a:t>nisu</a:t>
            </a:r>
            <a:r>
              <a:rPr lang="en-US" altLang="en-US" sz="1900" dirty="0">
                <a:cs typeface="Times New Roman" panose="02020603050405020304" pitchFamily="18" charset="0"/>
              </a:rPr>
              <a:t> </a:t>
            </a:r>
            <a:r>
              <a:rPr lang="en-US" altLang="en-US" sz="1900" dirty="0" err="1">
                <a:cs typeface="Times New Roman" panose="02020603050405020304" pitchFamily="18" charset="0"/>
              </a:rPr>
              <a:t>parvi</a:t>
            </a:r>
            <a:r>
              <a:rPr lang="en-US" altLang="en-US" sz="1900" dirty="0">
                <a:cs typeface="Times New Roman" panose="02020603050405020304" pitchFamily="18" charset="0"/>
              </a:rPr>
              <a:t> </a:t>
            </a:r>
            <a:r>
              <a:rPr lang="en-US" altLang="en-US" sz="1900" dirty="0" err="1">
                <a:cs typeface="Times New Roman" panose="02020603050405020304" pitchFamily="18" charset="0"/>
              </a:rPr>
              <a:t>hazardi</a:t>
            </a:r>
            <a:r>
              <a:rPr lang="en-US" altLang="en-US" sz="1900" dirty="0">
                <a:cs typeface="Times New Roman" panose="02020603050405020304" pitchFamily="18" charset="0"/>
              </a:rPr>
              <a:t> i </a:t>
            </a:r>
            <a:r>
              <a:rPr lang="en-US" altLang="en-US" sz="1900" dirty="0" err="1">
                <a:cs typeface="Times New Roman" panose="02020603050405020304" pitchFamily="18" charset="0"/>
              </a:rPr>
              <a:t>mogu</a:t>
            </a:r>
            <a:r>
              <a:rPr lang="en-US" altLang="en-US" sz="1900" dirty="0">
                <a:cs typeface="Times New Roman" panose="02020603050405020304" pitchFamily="18" charset="0"/>
              </a:rPr>
              <a:t> se </a:t>
            </a:r>
            <a:r>
              <a:rPr lang="en-US" altLang="en-US" sz="1900" dirty="0" err="1">
                <a:cs typeface="Times New Roman" panose="02020603050405020304" pitchFamily="18" charset="0"/>
              </a:rPr>
              <a:t>eliminisati</a:t>
            </a:r>
            <a:r>
              <a:rPr lang="en-US" altLang="en-US" sz="1900" dirty="0">
                <a:cs typeface="Times New Roman" panose="02020603050405020304" pitchFamily="18" charset="0"/>
              </a:rPr>
              <a:t> </a:t>
            </a:r>
            <a:r>
              <a:rPr lang="en-US" altLang="en-US" sz="1900" dirty="0" err="1">
                <a:cs typeface="Times New Roman" panose="02020603050405020304" pitchFamily="18" charset="0"/>
              </a:rPr>
              <a:t>preimenovanjem</a:t>
            </a:r>
            <a:r>
              <a:rPr lang="en-US" altLang="en-US" sz="1900" dirty="0">
                <a:cs typeface="Times New Roman" panose="02020603050405020304" pitchFamily="18" charset="0"/>
              </a:rPr>
              <a:t> </a:t>
            </a:r>
            <a:r>
              <a:rPr lang="en-US" altLang="en-US" sz="1900" dirty="0" err="1">
                <a:cs typeface="Times New Roman" panose="02020603050405020304" pitchFamily="18" charset="0"/>
              </a:rPr>
              <a:t>registara</a:t>
            </a:r>
            <a:r>
              <a:rPr lang="en-US" altLang="en-US" sz="1900" dirty="0">
                <a:cs typeface="Times New Roman" panose="02020603050405020304" pitchFamily="18" charset="0"/>
              </a:rPr>
              <a:t> u </a:t>
            </a:r>
            <a:r>
              <a:rPr lang="en-US" altLang="en-US" sz="1900" dirty="0" err="1">
                <a:cs typeface="Times New Roman" panose="02020603050405020304" pitchFamily="18" charset="0"/>
              </a:rPr>
              <a:t>fazi</a:t>
            </a:r>
            <a:r>
              <a:rPr lang="en-US" altLang="en-US" sz="1900" dirty="0">
                <a:cs typeface="Times New Roman" panose="02020603050405020304" pitchFamily="18" charset="0"/>
              </a:rPr>
              <a:t> </a:t>
            </a:r>
            <a:r>
              <a:rPr lang="en-US" altLang="en-US" sz="1900" dirty="0" err="1">
                <a:cs typeface="Times New Roman" panose="02020603050405020304" pitchFamily="18" charset="0"/>
              </a:rPr>
              <a:t>kompilacije</a:t>
            </a:r>
            <a:r>
              <a:rPr lang="en-US" altLang="en-US" sz="1900" dirty="0">
                <a:cs typeface="Times New Roman" panose="02020603050405020304" pitchFamily="18" charset="0"/>
              </a:rPr>
              <a:t>. </a:t>
            </a:r>
            <a:endParaRPr lang="hr-HR" altLang="en-US" sz="1900" dirty="0"/>
          </a:p>
          <a:p>
            <a:pPr lvl="1">
              <a:defRPr/>
            </a:pPr>
            <a:r>
              <a:rPr lang="en-US" altLang="en-US" sz="1900" dirty="0">
                <a:cs typeface="Times New Roman" panose="02020603050405020304" pitchFamily="18" charset="0"/>
              </a:rPr>
              <a:t>Ovi </a:t>
            </a:r>
            <a:r>
              <a:rPr lang="en-US" altLang="en-US" sz="1900" dirty="0" err="1">
                <a:cs typeface="Times New Roman" panose="02020603050405020304" pitchFamily="18" charset="0"/>
              </a:rPr>
              <a:t>hazardi</a:t>
            </a:r>
            <a:r>
              <a:rPr lang="en-US" altLang="en-US" sz="1900" dirty="0">
                <a:cs typeface="Times New Roman" panose="02020603050405020304" pitchFamily="18" charset="0"/>
              </a:rPr>
              <a:t> se </a:t>
            </a:r>
            <a:r>
              <a:rPr lang="en-US" altLang="en-US" sz="1900" dirty="0" err="1">
                <a:cs typeface="Times New Roman" panose="02020603050405020304" pitchFamily="18" charset="0"/>
              </a:rPr>
              <a:t>zovu</a:t>
            </a:r>
            <a:r>
              <a:rPr lang="en-US" altLang="en-US" sz="1900" dirty="0">
                <a:cs typeface="Times New Roman" panose="02020603050405020304" pitchFamily="18" charset="0"/>
              </a:rPr>
              <a:t> jo</a:t>
            </a:r>
            <a:r>
              <a:rPr lang="hr-HR" altLang="en-US" sz="1900" dirty="0"/>
              <a:t>š</a:t>
            </a:r>
            <a:r>
              <a:rPr lang="en-US" altLang="en-US" sz="1900" dirty="0">
                <a:cs typeface="Times New Roman" panose="02020603050405020304" pitchFamily="18" charset="0"/>
              </a:rPr>
              <a:t> i </a:t>
            </a:r>
            <a:r>
              <a:rPr lang="en-US" altLang="en-US" sz="1900" i="1" dirty="0" err="1">
                <a:solidFill>
                  <a:schemeClr val="accent1"/>
                </a:solidFill>
                <a:cs typeface="Times New Roman" panose="02020603050405020304" pitchFamily="18" charset="0"/>
              </a:rPr>
              <a:t>konflikti</a:t>
            </a:r>
            <a:r>
              <a:rPr lang="en-US" altLang="en-US" sz="1900" i="1" dirty="0">
                <a:solidFill>
                  <a:schemeClr val="accent1"/>
                </a:solidFill>
                <a:cs typeface="Times New Roman" panose="02020603050405020304" pitchFamily="18" charset="0"/>
              </a:rPr>
              <a:t> </a:t>
            </a:r>
            <a:r>
              <a:rPr lang="en-US" altLang="en-US" sz="1900" i="1" dirty="0" err="1">
                <a:solidFill>
                  <a:schemeClr val="accent1"/>
                </a:solidFill>
                <a:cs typeface="Times New Roman" panose="02020603050405020304" pitchFamily="18" charset="0"/>
              </a:rPr>
              <a:t>imenovanja</a:t>
            </a:r>
            <a:r>
              <a:rPr lang="en-US" altLang="en-US" sz="1900" dirty="0"/>
              <a:t> </a:t>
            </a:r>
            <a:endParaRPr lang="hr-HR" altLang="en-US" sz="1900" dirty="0"/>
          </a:p>
          <a:p>
            <a:pPr lvl="2" algn="just">
              <a:buFont typeface="Wingdings" panose="05000000000000000000" pitchFamily="2" charset="2"/>
              <a:buNone/>
              <a:defRPr/>
            </a:pP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do 10 i =1, 100</a:t>
            </a:r>
            <a:endParaRPr lang="en-US" altLang="en-US" sz="1600" dirty="0">
              <a:cs typeface="Times New Roman" panose="02020603050405020304" pitchFamily="18" charset="0"/>
            </a:endParaRPr>
          </a:p>
          <a:p>
            <a:pPr lvl="2" algn="just">
              <a:defRPr/>
            </a:pPr>
            <a:r>
              <a:rPr lang="en-US" altLang="en-US" sz="1600" dirty="0">
                <a:latin typeface="Times Roman YU" pitchFamily="18" charset="0"/>
                <a:cs typeface="Times New Roman" panose="02020603050405020304" pitchFamily="18" charset="0"/>
              </a:rPr>
              <a:t>1</a:t>
            </a:r>
            <a:r>
              <a:rPr lang="en-US" altLang="en-US" sz="1600" dirty="0">
                <a:latin typeface="Times New Roman" panose="02020603050405020304" pitchFamily="18" charset="0"/>
                <a:cs typeface="Times New Roman" panose="02020603050405020304" pitchFamily="18" charset="0"/>
              </a:rPr>
              <a:t>       </a:t>
            </a: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y(i) = x(i)/S</a:t>
            </a:r>
            <a:endParaRPr lang="en-US" altLang="en-US" sz="1600" dirty="0">
              <a:cs typeface="Times New Roman" panose="02020603050405020304" pitchFamily="18" charset="0"/>
            </a:endParaRPr>
          </a:p>
          <a:p>
            <a:pPr lvl="2" algn="just">
              <a:defRPr/>
            </a:pPr>
            <a:r>
              <a:rPr lang="en-US" altLang="en-US" sz="1600" dirty="0">
                <a:latin typeface="Times Roman YU" pitchFamily="18" charset="0"/>
                <a:cs typeface="Times New Roman" panose="02020603050405020304" pitchFamily="18" charset="0"/>
              </a:rPr>
              <a:t>2</a:t>
            </a:r>
            <a:r>
              <a:rPr lang="en-US" altLang="en-US" sz="1600" dirty="0">
                <a:latin typeface="Times New Roman" panose="02020603050405020304" pitchFamily="18" charset="0"/>
                <a:cs typeface="Times New Roman" panose="02020603050405020304" pitchFamily="18" charset="0"/>
              </a:rPr>
              <a:t>         </a:t>
            </a:r>
            <a:r>
              <a:rPr lang="hr-HR" altLang="en-US" sz="1600" dirty="0">
                <a:latin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 </a:t>
            </a:r>
            <a:r>
              <a:rPr lang="en-US" altLang="en-US" sz="1600" dirty="0">
                <a:latin typeface="Times Roman YU" pitchFamily="18" charset="0"/>
                <a:cs typeface="Times New Roman" panose="02020603050405020304" pitchFamily="18" charset="0"/>
              </a:rPr>
              <a:t>x(i) = x(i) + S</a:t>
            </a:r>
            <a:endParaRPr lang="en-US" altLang="en-US" sz="1600" dirty="0">
              <a:cs typeface="Times New Roman" panose="02020603050405020304" pitchFamily="18" charset="0"/>
            </a:endParaRPr>
          </a:p>
          <a:p>
            <a:pPr lvl="2" algn="just">
              <a:defRPr/>
            </a:pPr>
            <a:r>
              <a:rPr lang="en-US" altLang="en-US" sz="1600" dirty="0">
                <a:latin typeface="Times Roman YU" pitchFamily="18" charset="0"/>
                <a:cs typeface="Times New Roman" panose="02020603050405020304" pitchFamily="18" charset="0"/>
              </a:rPr>
              <a:t>3</a:t>
            </a:r>
            <a:r>
              <a:rPr lang="en-US" altLang="en-US" sz="1600" dirty="0">
                <a:latin typeface="Times New Roman" panose="02020603050405020304" pitchFamily="18" charset="0"/>
                <a:cs typeface="Times New Roman" panose="02020603050405020304" pitchFamily="18" charset="0"/>
              </a:rPr>
              <a:t>         </a:t>
            </a: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z(i) = y(i) + S</a:t>
            </a:r>
            <a:endParaRPr lang="en-US" altLang="en-US" sz="1600" dirty="0">
              <a:cs typeface="Times New Roman" panose="02020603050405020304" pitchFamily="18" charset="0"/>
            </a:endParaRPr>
          </a:p>
          <a:p>
            <a:pPr lvl="2" algn="just">
              <a:defRPr/>
            </a:pPr>
            <a:r>
              <a:rPr lang="en-US" altLang="en-US" sz="1600" dirty="0">
                <a:latin typeface="Times Roman YU" pitchFamily="18" charset="0"/>
                <a:cs typeface="Times New Roman" panose="02020603050405020304" pitchFamily="18" charset="0"/>
              </a:rPr>
              <a:t>4</a:t>
            </a:r>
            <a:r>
              <a:rPr lang="en-US" altLang="en-US" sz="1600" dirty="0">
                <a:latin typeface="Times New Roman" panose="02020603050405020304" pitchFamily="18" charset="0"/>
                <a:cs typeface="Times New Roman" panose="02020603050405020304" pitchFamily="18" charset="0"/>
              </a:rPr>
              <a:t>         </a:t>
            </a: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y(i) = S-y(i)</a:t>
            </a:r>
            <a:endParaRPr lang="en-US" altLang="en-US" sz="1600" dirty="0">
              <a:cs typeface="Times New Roman" panose="02020603050405020304" pitchFamily="18" charset="0"/>
            </a:endParaRPr>
          </a:p>
          <a:p>
            <a:pPr lvl="2">
              <a:buFont typeface="Wingdings" panose="05000000000000000000" pitchFamily="2" charset="2"/>
              <a:buNone/>
              <a:defRPr/>
            </a:pP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10</a:t>
            </a:r>
            <a:r>
              <a:rPr lang="hr-HR" altLang="en-US" sz="1600" dirty="0">
                <a:latin typeface="Times New Roman" panose="02020603050405020304" pitchFamily="18" charset="0"/>
              </a:rPr>
              <a:t>	</a:t>
            </a:r>
            <a:r>
              <a:rPr lang="en-US" altLang="en-US" sz="1600" dirty="0">
                <a:latin typeface="Times Roman YU" pitchFamily="18" charset="0"/>
                <a:cs typeface="Times New Roman" panose="02020603050405020304" pitchFamily="18" charset="0"/>
              </a:rPr>
              <a:t>continue</a:t>
            </a:r>
            <a:r>
              <a:rPr lang="en-US" altLang="en-US" sz="1600" dirty="0"/>
              <a:t> </a:t>
            </a:r>
          </a:p>
        </p:txBody>
      </p:sp>
      <p:sp>
        <p:nvSpPr>
          <p:cNvPr id="19460" name="Rectangle 4">
            <a:extLst>
              <a:ext uri="{FF2B5EF4-FFF2-40B4-BE49-F238E27FC236}">
                <a16:creationId xmlns:a16="http://schemas.microsoft.com/office/drawing/2014/main" id="{AC486726-23D3-F9F7-F902-6F57DF5A88C0}"/>
              </a:ext>
            </a:extLst>
          </p:cNvPr>
          <p:cNvSpPr>
            <a:spLocks noGrp="1" noChangeArrowheads="1"/>
          </p:cNvSpPr>
          <p:nvPr>
            <p:ph type="body" sz="half" idx="2"/>
          </p:nvPr>
        </p:nvSpPr>
        <p:spPr>
          <a:xfrm>
            <a:off x="4343400" y="457200"/>
            <a:ext cx="4800600" cy="6400800"/>
          </a:xfrm>
        </p:spPr>
        <p:txBody>
          <a:bodyPr/>
          <a:lstStyle/>
          <a:p>
            <a:pPr algn="just">
              <a:buFont typeface="Wingdings 2" panose="05020102010507070707" pitchFamily="18" charset="2"/>
              <a:buChar char="•"/>
              <a:defRPr/>
            </a:pPr>
            <a:r>
              <a:rPr lang="en-US" altLang="en-US" sz="1800">
                <a:cs typeface="Tahoma" panose="020B0604030504040204" pitchFamily="34" charset="0"/>
              </a:rPr>
              <a:t>Prave zavisnosti (RAW) postoje izmedju naredbi 1 i 3, i 1 i 4, zbog y(i).</a:t>
            </a:r>
            <a:r>
              <a:rPr lang="en-US" altLang="en-US" sz="2000">
                <a:cs typeface="Tahoma" panose="020B0604030504040204" pitchFamily="34" charset="0"/>
              </a:rPr>
              <a:t> </a:t>
            </a:r>
            <a:endParaRPr lang="hr-HR" altLang="en-US" sz="2000">
              <a:cs typeface="Tahoma" panose="020B0604030504040204" pitchFamily="34" charset="0"/>
            </a:endParaRPr>
          </a:p>
          <a:p>
            <a:pPr lvl="1" algn="just">
              <a:buFont typeface="Wingdings 2" panose="05020102010507070707" pitchFamily="18" charset="2"/>
              <a:buChar char="•"/>
              <a:defRPr/>
            </a:pPr>
            <a:r>
              <a:rPr lang="hr-HR" altLang="en-US" sz="1600">
                <a:cs typeface="Tahoma" panose="020B0604030504040204" pitchFamily="34" charset="0"/>
              </a:rPr>
              <a:t>O</a:t>
            </a:r>
            <a:r>
              <a:rPr lang="en-US" altLang="en-US" sz="1600">
                <a:cs typeface="Tahoma" panose="020B0604030504040204" pitchFamily="34" charset="0"/>
              </a:rPr>
              <a:t>ve zavisnosti nisu loop-carry i ne</a:t>
            </a:r>
            <a:r>
              <a:rPr lang="sr-Latn-RS" altLang="en-US" sz="1600">
                <a:latin typeface="Arial" panose="020B0604020202020204" pitchFamily="34" charset="0"/>
                <a:cs typeface="Tahoma" panose="020B0604030504040204" pitchFamily="34" charset="0"/>
              </a:rPr>
              <a:t>ć</a:t>
            </a:r>
            <a:r>
              <a:rPr lang="en-US" altLang="en-US" sz="1600">
                <a:cs typeface="Tahoma" panose="020B0604030504040204" pitchFamily="34" charset="0"/>
              </a:rPr>
              <a:t>e spre</a:t>
            </a:r>
            <a:r>
              <a:rPr lang="sr-Latn-RS" altLang="en-US" sz="1600">
                <a:cs typeface="Tahoma" panose="020B0604030504040204" pitchFamily="34" charset="0"/>
              </a:rPr>
              <a:t>č</a:t>
            </a:r>
            <a:r>
              <a:rPr lang="en-US" altLang="en-US" sz="1600">
                <a:cs typeface="Tahoma" panose="020B0604030504040204" pitchFamily="34" charset="0"/>
              </a:rPr>
              <a:t>iti vektorizaciju. </a:t>
            </a:r>
            <a:endParaRPr lang="hr-HR" altLang="en-US" sz="1600">
              <a:cs typeface="Tahoma" panose="020B0604030504040204" pitchFamily="34" charset="0"/>
            </a:endParaRPr>
          </a:p>
          <a:p>
            <a:pPr lvl="1" algn="just">
              <a:buFont typeface="Wingdings 2" panose="05020102010507070707" pitchFamily="18" charset="2"/>
              <a:buChar char="•"/>
              <a:defRPr/>
            </a:pPr>
            <a:r>
              <a:rPr lang="en-US" altLang="en-US" sz="1600">
                <a:cs typeface="Tahoma" panose="020B0604030504040204" pitchFamily="34" charset="0"/>
              </a:rPr>
              <a:t>Ove zavisnosti uslovi</a:t>
            </a:r>
            <a:r>
              <a:rPr lang="sr-Latn-RS" altLang="en-US" sz="1600">
                <a:cs typeface="Tahoma" panose="020B0604030504040204" pitchFamily="34" charset="0"/>
              </a:rPr>
              <a:t>ć</a:t>
            </a:r>
            <a:r>
              <a:rPr lang="en-US" altLang="en-US" sz="1600">
                <a:cs typeface="Tahoma" panose="020B0604030504040204" pitchFamily="34" charset="0"/>
              </a:rPr>
              <a:t>e da naredbe 3 i 4 </a:t>
            </a:r>
            <a:r>
              <a:rPr lang="sr-Latn-RS" altLang="en-US" sz="1600">
                <a:cs typeface="Tahoma" panose="020B0604030504040204" pitchFamily="34" charset="0"/>
              </a:rPr>
              <a:t>č</a:t>
            </a:r>
            <a:r>
              <a:rPr lang="en-US" altLang="en-US" sz="1600">
                <a:cs typeface="Tahoma" panose="020B0604030504040204" pitchFamily="34" charset="0"/>
              </a:rPr>
              <a:t>ekaju dok se naredba 1 ne zavr</a:t>
            </a:r>
            <a:r>
              <a:rPr lang="sr-Latn-RS" altLang="en-US" sz="1600">
                <a:cs typeface="Tahoma" panose="020B0604030504040204" pitchFamily="34" charset="0"/>
              </a:rPr>
              <a:t>š</a:t>
            </a:r>
            <a:r>
              <a:rPr lang="en-US" altLang="en-US" sz="1600">
                <a:cs typeface="Tahoma" panose="020B0604030504040204" pitchFamily="34" charset="0"/>
              </a:rPr>
              <a:t>i, mada ne koriste iste funkcionalne jedinice</a:t>
            </a:r>
            <a:r>
              <a:rPr lang="en-US" altLang="en-US" sz="1900">
                <a:cs typeface="Tahoma" panose="020B0604030504040204" pitchFamily="34" charset="0"/>
              </a:rPr>
              <a:t>;</a:t>
            </a:r>
          </a:p>
          <a:p>
            <a:pPr algn="just">
              <a:buFont typeface="Wingdings 2" panose="05020102010507070707" pitchFamily="18" charset="2"/>
              <a:buChar char="•"/>
              <a:defRPr/>
            </a:pPr>
            <a:r>
              <a:rPr lang="en-US" altLang="en-US" sz="1800">
                <a:cs typeface="Tahoma" panose="020B0604030504040204" pitchFamily="34" charset="0"/>
              </a:rPr>
              <a:t>WAR (antizavisnosti) postoje izmedju 1 i 2 zbog x(i), i 3 i 4 zbog y(i);</a:t>
            </a:r>
          </a:p>
          <a:p>
            <a:pPr algn="just">
              <a:buFont typeface="Wingdings 2" panose="05020102010507070707" pitchFamily="18" charset="2"/>
              <a:buChar char="•"/>
              <a:defRPr/>
            </a:pPr>
            <a:r>
              <a:rPr lang="en-US" altLang="en-US" sz="1800">
                <a:cs typeface="Tahoma" panose="020B0604030504040204" pitchFamily="34" charset="0"/>
              </a:rPr>
              <a:t>WAW (izlazna zavisnost) postoji izmedju 1 i 4 zbog y(i).</a:t>
            </a:r>
          </a:p>
          <a:p>
            <a:pPr lvl="1" algn="just">
              <a:defRPr/>
            </a:pPr>
            <a:r>
              <a:rPr lang="en-US" altLang="en-US" sz="1600">
                <a:cs typeface="Tahoma" panose="020B0604030504040204" pitchFamily="34" charset="0"/>
              </a:rPr>
              <a:t>Slede</a:t>
            </a:r>
            <a:r>
              <a:rPr lang="sr-Latn-RS" altLang="en-US" sz="1600">
                <a:cs typeface="Tahoma" panose="020B0604030504040204" pitchFamily="34" charset="0"/>
              </a:rPr>
              <a:t>ć</a:t>
            </a:r>
            <a:r>
              <a:rPr lang="en-US" altLang="en-US" sz="1600">
                <a:cs typeface="Tahoma" panose="020B0604030504040204" pitchFamily="34" charset="0"/>
              </a:rPr>
              <a:t>om verzijom petlje mogu se eliminisati ove pseudozavisnosti:</a:t>
            </a:r>
          </a:p>
          <a:p>
            <a:pPr lvl="1" algn="just">
              <a:defRPr/>
            </a:pPr>
            <a:r>
              <a:rPr lang="en-US" altLang="en-US" sz="1600">
                <a:cs typeface="Tahoma" panose="020B0604030504040204" pitchFamily="34" charset="0"/>
              </a:rPr>
              <a:t>		do 10 i = 1, 100</a:t>
            </a:r>
          </a:p>
          <a:p>
            <a:pPr lvl="1" algn="just">
              <a:defRPr/>
            </a:pPr>
            <a:r>
              <a:rPr lang="en-US" altLang="en-US" sz="1600">
                <a:cs typeface="Tahoma" panose="020B0604030504040204" pitchFamily="34" charset="0"/>
              </a:rPr>
              <a:t>1                    T(i) = x(i)/S</a:t>
            </a:r>
          </a:p>
          <a:p>
            <a:pPr lvl="1" algn="just">
              <a:defRPr/>
            </a:pPr>
            <a:r>
              <a:rPr lang="en-US" altLang="en-US" sz="1600">
                <a:cs typeface="Tahoma" panose="020B0604030504040204" pitchFamily="34" charset="0"/>
              </a:rPr>
              <a:t>2                    X1(i) = x(i) + S</a:t>
            </a:r>
          </a:p>
          <a:p>
            <a:pPr lvl="1" algn="just">
              <a:defRPr/>
            </a:pPr>
            <a:r>
              <a:rPr lang="en-US" altLang="en-US" sz="1600">
                <a:cs typeface="Tahoma" panose="020B0604030504040204" pitchFamily="34" charset="0"/>
              </a:rPr>
              <a:t>3                    Z(i) = T(i) + S</a:t>
            </a:r>
          </a:p>
          <a:p>
            <a:pPr lvl="1" algn="just">
              <a:defRPr/>
            </a:pPr>
            <a:r>
              <a:rPr lang="en-US" altLang="en-US" sz="1600">
                <a:cs typeface="Tahoma" panose="020B0604030504040204" pitchFamily="34" charset="0"/>
              </a:rPr>
              <a:t>4                    Y(i) = S – T(i)</a:t>
            </a:r>
          </a:p>
          <a:p>
            <a:pPr lvl="1">
              <a:buFont typeface="Wingdings" panose="05000000000000000000" pitchFamily="2" charset="2"/>
              <a:buNone/>
              <a:defRPr/>
            </a:pPr>
            <a:r>
              <a:rPr lang="hr-HR" altLang="en-US" sz="1600">
                <a:cs typeface="Tahoma" panose="020B0604030504040204" pitchFamily="34" charset="0"/>
              </a:rPr>
              <a:t>     10 	   </a:t>
            </a:r>
            <a:r>
              <a:rPr lang="en-US" altLang="en-US" sz="1600">
                <a:cs typeface="Tahoma" panose="020B0604030504040204" pitchFamily="34" charset="0"/>
              </a:rPr>
              <a:t>continue</a:t>
            </a:r>
            <a:r>
              <a:rPr lang="en-US" altLang="en-US" sz="1900">
                <a:cs typeface="Tahoma" panose="020B0604030504040204" pitchFamily="34" charset="0"/>
              </a:rPr>
              <a:t> </a:t>
            </a:r>
          </a:p>
        </p:txBody>
      </p:sp>
      <p:grpSp>
        <p:nvGrpSpPr>
          <p:cNvPr id="46085" name="Group 11">
            <a:extLst>
              <a:ext uri="{FF2B5EF4-FFF2-40B4-BE49-F238E27FC236}">
                <a16:creationId xmlns:a16="http://schemas.microsoft.com/office/drawing/2014/main" id="{BBCDE357-6193-7AAD-BF3C-772F70394FE0}"/>
              </a:ext>
            </a:extLst>
          </p:cNvPr>
          <p:cNvGrpSpPr>
            <a:grpSpLocks/>
          </p:cNvGrpSpPr>
          <p:nvPr/>
        </p:nvGrpSpPr>
        <p:grpSpPr bwMode="auto">
          <a:xfrm>
            <a:off x="1600200" y="4648200"/>
            <a:ext cx="1066800" cy="914400"/>
            <a:chOff x="1056" y="3120"/>
            <a:chExt cx="672" cy="576"/>
          </a:xfrm>
        </p:grpSpPr>
        <p:sp>
          <p:nvSpPr>
            <p:cNvPr id="46086" name="Line 5">
              <a:extLst>
                <a:ext uri="{FF2B5EF4-FFF2-40B4-BE49-F238E27FC236}">
                  <a16:creationId xmlns:a16="http://schemas.microsoft.com/office/drawing/2014/main" id="{A2C606FC-9CA1-4A80-3CC6-85920B8AD5C5}"/>
                </a:ext>
              </a:extLst>
            </p:cNvPr>
            <p:cNvSpPr>
              <a:spLocks noChangeShapeType="1"/>
            </p:cNvSpPr>
            <p:nvPr/>
          </p:nvSpPr>
          <p:spPr bwMode="auto">
            <a:xfrm>
              <a:off x="1488" y="3120"/>
              <a:ext cx="240" cy="336"/>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7" name="Line 6">
              <a:extLst>
                <a:ext uri="{FF2B5EF4-FFF2-40B4-BE49-F238E27FC236}">
                  <a16:creationId xmlns:a16="http://schemas.microsoft.com/office/drawing/2014/main" id="{73035147-0DB7-5F91-8A22-E7FC5D830ED2}"/>
                </a:ext>
              </a:extLst>
            </p:cNvPr>
            <p:cNvSpPr>
              <a:spLocks noChangeShapeType="1"/>
            </p:cNvSpPr>
            <p:nvPr/>
          </p:nvSpPr>
          <p:spPr bwMode="auto">
            <a:xfrm>
              <a:off x="1488" y="3120"/>
              <a:ext cx="240" cy="528"/>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8" name="Line 7">
              <a:extLst>
                <a:ext uri="{FF2B5EF4-FFF2-40B4-BE49-F238E27FC236}">
                  <a16:creationId xmlns:a16="http://schemas.microsoft.com/office/drawing/2014/main" id="{5D963C6E-8B59-FA2C-4D45-9EA37529C079}"/>
                </a:ext>
              </a:extLst>
            </p:cNvPr>
            <p:cNvSpPr>
              <a:spLocks noChangeShapeType="1"/>
            </p:cNvSpPr>
            <p:nvPr/>
          </p:nvSpPr>
          <p:spPr bwMode="auto">
            <a:xfrm flipH="1">
              <a:off x="1344" y="3168"/>
              <a:ext cx="336" cy="96"/>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9" name="Line 8">
              <a:extLst>
                <a:ext uri="{FF2B5EF4-FFF2-40B4-BE49-F238E27FC236}">
                  <a16:creationId xmlns:a16="http://schemas.microsoft.com/office/drawing/2014/main" id="{04D50C3A-1D03-D6D3-678B-227A89D3A841}"/>
                </a:ext>
              </a:extLst>
            </p:cNvPr>
            <p:cNvSpPr>
              <a:spLocks noChangeShapeType="1"/>
            </p:cNvSpPr>
            <p:nvPr/>
          </p:nvSpPr>
          <p:spPr bwMode="auto">
            <a:xfrm flipH="1">
              <a:off x="1392" y="3552"/>
              <a:ext cx="240" cy="6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0" name="Freeform 10">
              <a:extLst>
                <a:ext uri="{FF2B5EF4-FFF2-40B4-BE49-F238E27FC236}">
                  <a16:creationId xmlns:a16="http://schemas.microsoft.com/office/drawing/2014/main" id="{3C80C72F-F632-C4CC-1225-A2DEF5422B60}"/>
                </a:ext>
              </a:extLst>
            </p:cNvPr>
            <p:cNvSpPr>
              <a:spLocks/>
            </p:cNvSpPr>
            <p:nvPr/>
          </p:nvSpPr>
          <p:spPr bwMode="auto">
            <a:xfrm>
              <a:off x="1056" y="3120"/>
              <a:ext cx="192" cy="576"/>
            </a:xfrm>
            <a:custGeom>
              <a:avLst/>
              <a:gdLst>
                <a:gd name="T0" fmla="*/ 192 w 192"/>
                <a:gd name="T1" fmla="*/ 0 h 576"/>
                <a:gd name="T2" fmla="*/ 0 w 192"/>
                <a:gd name="T3" fmla="*/ 336 h 576"/>
                <a:gd name="T4" fmla="*/ 192 w 192"/>
                <a:gd name="T5" fmla="*/ 576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192" y="0"/>
                  </a:moveTo>
                  <a:cubicBezTo>
                    <a:pt x="96" y="120"/>
                    <a:pt x="0" y="240"/>
                    <a:pt x="0" y="336"/>
                  </a:cubicBezTo>
                  <a:cubicBezTo>
                    <a:pt x="0" y="432"/>
                    <a:pt x="160" y="536"/>
                    <a:pt x="192" y="576"/>
                  </a:cubicBezTo>
                </a:path>
              </a:pathLst>
            </a:custGeom>
            <a:noFill/>
            <a:ln w="19050">
              <a:solidFill>
                <a:schemeClr val="hlink"/>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b">
              <a:spAutoFit/>
            </a:bodyPr>
            <a:lstStyle/>
            <a:p>
              <a:endParaRPr lang="sr-Latn-RS"/>
            </a:p>
          </p:txBody>
        </p:sp>
      </p:gr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46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946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46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46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1946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499"/>
                                          </p:stCondLst>
                                        </p:cTn>
                                        <p:tgtEl>
                                          <p:spTgt spid="1946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499"/>
                                          </p:stCondLst>
                                        </p:cTn>
                                        <p:tgtEl>
                                          <p:spTgt spid="1946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499"/>
                                          </p:stCondLst>
                                        </p:cTn>
                                        <p:tgtEl>
                                          <p:spTgt spid="1946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499"/>
                                          </p:stCondLst>
                                        </p:cTn>
                                        <p:tgtEl>
                                          <p:spTgt spid="19460">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499"/>
                                          </p:stCondLst>
                                        </p:cTn>
                                        <p:tgtEl>
                                          <p:spTgt spid="19460">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499"/>
                                          </p:stCondLst>
                                        </p:cTn>
                                        <p:tgtEl>
                                          <p:spTgt spid="1946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4AFAF3-6677-B138-43BF-6109034E872B}"/>
              </a:ext>
            </a:extLst>
          </p:cNvPr>
          <p:cNvSpPr>
            <a:spLocks noGrp="1"/>
          </p:cNvSpPr>
          <p:nvPr>
            <p:ph type="title"/>
          </p:nvPr>
        </p:nvSpPr>
        <p:spPr>
          <a:xfrm>
            <a:off x="0" y="0"/>
            <a:ext cx="9144000" cy="954099"/>
          </a:xfrm>
        </p:spPr>
        <p:txBody>
          <a:bodyPr/>
          <a:lstStyle/>
          <a:p>
            <a:r>
              <a:rPr lang="sr-Latn-RS" sz="2800" dirty="0"/>
              <a:t>Analiza zavisnosti kod ugnježđenih petlji i višedimenzionalnih polja</a:t>
            </a:r>
          </a:p>
        </p:txBody>
      </p:sp>
      <p:sp>
        <p:nvSpPr>
          <p:cNvPr id="6" name="Content Placeholder 5">
            <a:extLst>
              <a:ext uri="{FF2B5EF4-FFF2-40B4-BE49-F238E27FC236}">
                <a16:creationId xmlns:a16="http://schemas.microsoft.com/office/drawing/2014/main" id="{6D5CCDF8-605D-2B72-FC86-771E9BFF510C}"/>
              </a:ext>
            </a:extLst>
          </p:cNvPr>
          <p:cNvSpPr>
            <a:spLocks noGrp="1"/>
          </p:cNvSpPr>
          <p:nvPr>
            <p:ph idx="1"/>
          </p:nvPr>
        </p:nvSpPr>
        <p:spPr>
          <a:xfrm>
            <a:off x="0" y="1066800"/>
            <a:ext cx="9144000" cy="5791200"/>
          </a:xfrm>
        </p:spPr>
        <p:txBody>
          <a:bodyPr>
            <a:normAutofit fontScale="85000" lnSpcReduction="20000"/>
          </a:bodyPr>
          <a:lstStyle/>
          <a:p>
            <a:pPr algn="just">
              <a:defRPr/>
            </a:pPr>
            <a:r>
              <a:rPr lang="hr-HR" altLang="en-US" dirty="0"/>
              <a:t>K</a:t>
            </a:r>
            <a:r>
              <a:rPr lang="en-US" altLang="en-US" dirty="0">
                <a:cs typeface="Times New Roman" panose="02020603050405020304" pitchFamily="18" charset="0"/>
              </a:rPr>
              <a:t>od </a:t>
            </a:r>
            <a:r>
              <a:rPr lang="en-US" altLang="en-US" dirty="0" err="1">
                <a:cs typeface="Times New Roman" panose="02020603050405020304" pitchFamily="18" charset="0"/>
              </a:rPr>
              <a:t>vektorizacije</a:t>
            </a:r>
            <a:r>
              <a:rPr lang="en-US" altLang="en-US" dirty="0">
                <a:cs typeface="Times New Roman" panose="02020603050405020304" pitchFamily="18" charset="0"/>
              </a:rPr>
              <a:t> </a:t>
            </a:r>
            <a:r>
              <a:rPr lang="en-US" altLang="en-US" dirty="0" err="1">
                <a:cs typeface="Times New Roman" panose="02020603050405020304" pitchFamily="18" charset="0"/>
              </a:rPr>
              <a:t>gnezda</a:t>
            </a:r>
            <a:r>
              <a:rPr lang="en-US" altLang="en-US" dirty="0">
                <a:cs typeface="Times New Roman" panose="02020603050405020304" pitchFamily="18" charset="0"/>
              </a:rPr>
              <a:t> </a:t>
            </a:r>
            <a:r>
              <a:rPr lang="en-US" altLang="en-US" dirty="0" err="1">
                <a:cs typeface="Times New Roman" panose="02020603050405020304" pitchFamily="18" charset="0"/>
              </a:rPr>
              <a:t>petlji</a:t>
            </a:r>
            <a:r>
              <a:rPr lang="en-US" altLang="en-US" dirty="0">
                <a:cs typeface="Times New Roman" panose="02020603050405020304" pitchFamily="18" charset="0"/>
              </a:rPr>
              <a:t> </a:t>
            </a:r>
            <a:r>
              <a:rPr lang="en-US" altLang="en-US" dirty="0" err="1">
                <a:cs typeface="Times New Roman" panose="02020603050405020304" pitchFamily="18" charset="0"/>
              </a:rPr>
              <a:t>vr</a:t>
            </a:r>
            <a:r>
              <a:rPr lang="sr-Latn-CS" altLang="en-US" dirty="0">
                <a:cs typeface="Times New Roman" panose="02020603050405020304" pitchFamily="18" charset="0"/>
              </a:rPr>
              <a:t>š</a:t>
            </a:r>
            <a:r>
              <a:rPr lang="en-US" altLang="en-US" dirty="0">
                <a:cs typeface="Times New Roman" panose="02020603050405020304" pitchFamily="18" charset="0"/>
              </a:rPr>
              <a:t>i</a:t>
            </a:r>
            <a:r>
              <a:rPr lang="sr-Latn-CS" altLang="en-US" dirty="0">
                <a:cs typeface="Times New Roman" panose="02020603050405020304" pitchFamily="18" charset="0"/>
              </a:rPr>
              <a:t> se</a:t>
            </a:r>
            <a:r>
              <a:rPr lang="en-US" altLang="en-US" dirty="0">
                <a:cs typeface="Times New Roman" panose="02020603050405020304" pitchFamily="18" charset="0"/>
              </a:rPr>
              <a:t> </a:t>
            </a:r>
            <a:r>
              <a:rPr lang="en-US" altLang="en-US" dirty="0" err="1">
                <a:cs typeface="Times New Roman" panose="02020603050405020304" pitchFamily="18" charset="0"/>
              </a:rPr>
              <a:t>vektorizacija</a:t>
            </a:r>
            <a:r>
              <a:rPr lang="en-US" altLang="en-US" dirty="0">
                <a:cs typeface="Times New Roman" panose="02020603050405020304" pitchFamily="18" charset="0"/>
              </a:rPr>
              <a:t> </a:t>
            </a:r>
            <a:r>
              <a:rPr lang="en-US" altLang="en-US" dirty="0" err="1">
                <a:cs typeface="Times New Roman" panose="02020603050405020304" pitchFamily="18" charset="0"/>
              </a:rPr>
              <a:t>najdublje</a:t>
            </a:r>
            <a:r>
              <a:rPr lang="en-US" altLang="en-US" dirty="0">
                <a:cs typeface="Times New Roman" panose="02020603050405020304" pitchFamily="18" charset="0"/>
              </a:rPr>
              <a:t> </a:t>
            </a:r>
            <a:r>
              <a:rPr lang="en-US" altLang="en-US" dirty="0" err="1">
                <a:cs typeface="Times New Roman" panose="02020603050405020304" pitchFamily="18" charset="0"/>
              </a:rPr>
              <a:t>ugnje</a:t>
            </a:r>
            <a:r>
              <a:rPr lang="sr-Latn-CS" altLang="en-US" dirty="0">
                <a:cs typeface="Times New Roman" panose="02020603050405020304" pitchFamily="18" charset="0"/>
              </a:rPr>
              <a:t>žđ</a:t>
            </a:r>
            <a:r>
              <a:rPr lang="en-US" altLang="en-US" dirty="0" err="1">
                <a:cs typeface="Times New Roman" panose="02020603050405020304" pitchFamily="18" charset="0"/>
              </a:rPr>
              <a:t>ene</a:t>
            </a:r>
            <a:r>
              <a:rPr lang="en-US" altLang="en-US" dirty="0">
                <a:cs typeface="Times New Roman" panose="02020603050405020304" pitchFamily="18" charset="0"/>
              </a:rPr>
              <a:t> </a:t>
            </a:r>
            <a:r>
              <a:rPr lang="en-US" altLang="en-US" dirty="0" err="1">
                <a:cs typeface="Times New Roman" panose="02020603050405020304" pitchFamily="18" charset="0"/>
              </a:rPr>
              <a:t>petlje</a:t>
            </a:r>
            <a:r>
              <a:rPr lang="en-US" altLang="en-US" dirty="0">
                <a:cs typeface="Times New Roman" panose="02020603050405020304" pitchFamily="18" charset="0"/>
              </a:rPr>
              <a:t>. </a:t>
            </a:r>
            <a:endParaRPr lang="hr-HR" altLang="en-US" dirty="0"/>
          </a:p>
          <a:p>
            <a:pPr lvl="1" algn="just">
              <a:defRPr/>
            </a:pPr>
            <a:r>
              <a:rPr lang="en-US" altLang="en-US" dirty="0" err="1">
                <a:cs typeface="Times New Roman" panose="02020603050405020304" pitchFamily="18" charset="0"/>
              </a:rPr>
              <a:t>Zbog</a:t>
            </a:r>
            <a:r>
              <a:rPr lang="en-US" altLang="en-US" dirty="0">
                <a:cs typeface="Times New Roman" panose="02020603050405020304" pitchFamily="18" charset="0"/>
              </a:rPr>
              <a:t> </a:t>
            </a:r>
            <a:r>
              <a:rPr lang="sr-Latn-CS" altLang="en-US" dirty="0">
                <a:cs typeface="Times New Roman" panose="02020603050405020304" pitchFamily="18" charset="0"/>
              </a:rPr>
              <a:t>č</a:t>
            </a:r>
            <a:r>
              <a:rPr lang="en-US" altLang="en-US" dirty="0" err="1">
                <a:cs typeface="Times New Roman" panose="02020603050405020304" pitchFamily="18" charset="0"/>
              </a:rPr>
              <a:t>injenice</a:t>
            </a:r>
            <a:r>
              <a:rPr lang="en-US" altLang="en-US" dirty="0">
                <a:cs typeface="Times New Roman" panose="02020603050405020304" pitchFamily="18" charset="0"/>
              </a:rPr>
              <a:t> da </a:t>
            </a:r>
            <a:r>
              <a:rPr lang="en-US" altLang="en-US" dirty="0" err="1">
                <a:cs typeface="Times New Roman" panose="02020603050405020304" pitchFamily="18" charset="0"/>
              </a:rPr>
              <a:t>sada</a:t>
            </a:r>
            <a:r>
              <a:rPr lang="en-US" altLang="en-US" dirty="0">
                <a:cs typeface="Times New Roman" panose="02020603050405020304" pitchFamily="18" charset="0"/>
              </a:rPr>
              <a:t> </a:t>
            </a:r>
            <a:r>
              <a:rPr lang="en-US" altLang="en-US" dirty="0" err="1">
                <a:cs typeface="Times New Roman" panose="02020603050405020304" pitchFamily="18" charset="0"/>
              </a:rPr>
              <a:t>pristup</a:t>
            </a:r>
            <a:r>
              <a:rPr lang="en-US" altLang="en-US" dirty="0">
                <a:cs typeface="Times New Roman" panose="02020603050405020304" pitchFamily="18" charset="0"/>
              </a:rPr>
              <a:t> </a:t>
            </a:r>
            <a:r>
              <a:rPr lang="en-US" altLang="en-US" dirty="0" err="1">
                <a:cs typeface="Times New Roman" panose="02020603050405020304" pitchFamily="18" charset="0"/>
              </a:rPr>
              <a:t>elementu</a:t>
            </a:r>
            <a:r>
              <a:rPr lang="en-US" altLang="en-US" dirty="0">
                <a:cs typeface="Times New Roman" panose="02020603050405020304" pitchFamily="18" charset="0"/>
              </a:rPr>
              <a:t> </a:t>
            </a:r>
            <a:r>
              <a:rPr lang="en-US" altLang="en-US" dirty="0" err="1">
                <a:cs typeface="Times New Roman" panose="02020603050405020304" pitchFamily="18" charset="0"/>
              </a:rPr>
              <a:t>polja</a:t>
            </a:r>
            <a:r>
              <a:rPr lang="en-US" altLang="en-US" dirty="0">
                <a:cs typeface="Times New Roman" panose="02020603050405020304" pitchFamily="18" charset="0"/>
              </a:rPr>
              <a:t> </a:t>
            </a:r>
            <a:r>
              <a:rPr lang="en-US" altLang="en-US" dirty="0" err="1">
                <a:cs typeface="Times New Roman" panose="02020603050405020304" pitchFamily="18" charset="0"/>
              </a:rPr>
              <a:t>zavisi</a:t>
            </a:r>
            <a:r>
              <a:rPr lang="en-US" altLang="en-US" dirty="0">
                <a:cs typeface="Times New Roman" panose="02020603050405020304" pitchFamily="18" charset="0"/>
              </a:rPr>
              <a:t> od vi</a:t>
            </a:r>
            <a:r>
              <a:rPr lang="sr-Latn-CS" altLang="en-US" dirty="0">
                <a:cs typeface="Times New Roman" panose="02020603050405020304" pitchFamily="18" charset="0"/>
              </a:rPr>
              <a:t>š</a:t>
            </a:r>
            <a:r>
              <a:rPr lang="en-US" altLang="en-US" dirty="0">
                <a:cs typeface="Times New Roman" panose="02020603050405020304" pitchFamily="18" charset="0"/>
              </a:rPr>
              <a:t>e </a:t>
            </a:r>
            <a:r>
              <a:rPr lang="en-US" altLang="en-US" dirty="0" err="1">
                <a:cs typeface="Times New Roman" panose="02020603050405020304" pitchFamily="18" charset="0"/>
              </a:rPr>
              <a:t>iterativnih</a:t>
            </a:r>
            <a:r>
              <a:rPr lang="en-US" altLang="en-US" dirty="0">
                <a:cs typeface="Times New Roman" panose="02020603050405020304" pitchFamily="18" charset="0"/>
              </a:rPr>
              <a:t> </a:t>
            </a:r>
            <a:r>
              <a:rPr lang="en-US" altLang="en-US" dirty="0" err="1">
                <a:cs typeface="Times New Roman" panose="02020603050405020304" pitchFamily="18" charset="0"/>
              </a:rPr>
              <a:t>indeksa</a:t>
            </a:r>
            <a:r>
              <a:rPr lang="en-US" altLang="en-US" dirty="0">
                <a:cs typeface="Times New Roman" panose="02020603050405020304" pitchFamily="18" charset="0"/>
              </a:rPr>
              <a:t> </a:t>
            </a:r>
            <a:r>
              <a:rPr lang="en-US" altLang="en-US" dirty="0" err="1">
                <a:cs typeface="Times New Roman" panose="02020603050405020304" pitchFamily="18" charset="0"/>
              </a:rPr>
              <a:t>analiza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po </a:t>
            </a:r>
            <a:r>
              <a:rPr lang="en-US" altLang="en-US" dirty="0" err="1">
                <a:cs typeface="Times New Roman" panose="02020603050405020304" pitchFamily="18" charset="0"/>
              </a:rPr>
              <a:t>podacima</a:t>
            </a:r>
            <a:r>
              <a:rPr lang="en-US" altLang="en-US" dirty="0">
                <a:cs typeface="Times New Roman" panose="02020603050405020304" pitchFamily="18" charset="0"/>
              </a:rPr>
              <a:t> </a:t>
            </a:r>
            <a:r>
              <a:rPr lang="sr-Latn-RS" altLang="en-US" dirty="0">
                <a:cs typeface="Times New Roman" panose="02020603050405020304" pitchFamily="18" charset="0"/>
              </a:rPr>
              <a:t>je</a:t>
            </a:r>
            <a:r>
              <a:rPr lang="en-US" altLang="en-US" dirty="0">
                <a:cs typeface="Times New Roman" panose="02020603050405020304" pitchFamily="18" charset="0"/>
              </a:rPr>
              <a:t> </a:t>
            </a:r>
            <a:r>
              <a:rPr lang="en-US" altLang="en-US" dirty="0" err="1">
                <a:cs typeface="Times New Roman" panose="02020603050405020304" pitchFamily="18" charset="0"/>
              </a:rPr>
              <a:t>sada</a:t>
            </a:r>
            <a:r>
              <a:rPr lang="en-US" altLang="en-US" dirty="0">
                <a:cs typeface="Times New Roman" panose="02020603050405020304" pitchFamily="18" charset="0"/>
              </a:rPr>
              <a:t> </a:t>
            </a:r>
            <a:r>
              <a:rPr lang="sr-Latn-RS" altLang="en-US" dirty="0">
                <a:cs typeface="Times New Roman" panose="02020603050405020304" pitchFamily="18" charset="0"/>
              </a:rPr>
              <a:t>mnogo kompleksnija.</a:t>
            </a:r>
            <a:endParaRPr lang="en-US" altLang="en-US" dirty="0">
              <a:cs typeface="Times New Roman" panose="02020603050405020304" pitchFamily="18" charset="0"/>
            </a:endParaRPr>
          </a:p>
          <a:p>
            <a:r>
              <a:rPr lang="sr-Latn-RS" dirty="0"/>
              <a:t>Primer: </a:t>
            </a:r>
            <a:r>
              <a:rPr lang="en-US" dirty="0" err="1"/>
              <a:t>dve</a:t>
            </a:r>
            <a:r>
              <a:rPr lang="en-US" dirty="0"/>
              <a:t> </a:t>
            </a:r>
            <a:r>
              <a:rPr lang="en-US" dirty="0" err="1"/>
              <a:t>ugnje</a:t>
            </a:r>
            <a:r>
              <a:rPr lang="sr-Latn-RS" dirty="0"/>
              <a:t>žđene petlje</a:t>
            </a:r>
            <a:r>
              <a:rPr lang="en-US" dirty="0"/>
              <a:t>:</a:t>
            </a:r>
          </a:p>
          <a:p>
            <a:pPr marL="457200" lvl="1" indent="0">
              <a:buNone/>
            </a:pPr>
            <a:r>
              <a:rPr lang="pl-PL" dirty="0"/>
              <a:t>for i:=1 to x do</a:t>
            </a:r>
          </a:p>
          <a:p>
            <a:pPr marL="457200" lvl="1" indent="0">
              <a:buNone/>
            </a:pPr>
            <a:r>
              <a:rPr lang="sr-Latn-RS" dirty="0"/>
              <a:t>for j := 1 to y do</a:t>
            </a:r>
          </a:p>
          <a:p>
            <a:pPr marL="457200" lvl="1" indent="0">
              <a:buNone/>
            </a:pPr>
            <a:r>
              <a:rPr lang="pt-BR" dirty="0"/>
              <a:t>s1: A[a*i+b*j+c, d*i+e*j+f] = · · ·</a:t>
            </a:r>
          </a:p>
          <a:p>
            <a:pPr marL="457200" lvl="1" indent="0">
              <a:buNone/>
            </a:pPr>
            <a:r>
              <a:rPr lang="pt-BR" dirty="0"/>
              <a:t>s2 : · · · = A[g*i+h*j+k, l*i+m*j+n]</a:t>
            </a:r>
          </a:p>
          <a:p>
            <a:r>
              <a:rPr lang="sr-Latn-RS" dirty="0"/>
              <a:t>Zavisnost izmedju naredbi s1 i s2 postoji ako  postoje dva iterativna vektora </a:t>
            </a:r>
            <a:r>
              <a:rPr lang="el-GR" dirty="0"/>
              <a:t>α</a:t>
            </a:r>
            <a:r>
              <a:rPr lang="en-US" dirty="0"/>
              <a:t>=(i , j) </a:t>
            </a:r>
            <a:r>
              <a:rPr lang="sr-Latn-RS" dirty="0"/>
              <a:t>i</a:t>
            </a:r>
            <a:r>
              <a:rPr lang="en-US" dirty="0"/>
              <a:t> </a:t>
            </a:r>
            <a:r>
              <a:rPr lang="el-GR" dirty="0"/>
              <a:t>β</a:t>
            </a:r>
            <a:r>
              <a:rPr lang="en-US" dirty="0"/>
              <a:t>=(i ′, j ′), </a:t>
            </a:r>
            <a:r>
              <a:rPr lang="sr-Latn-RS" dirty="0"/>
              <a:t>pri čemu je </a:t>
            </a:r>
            <a:r>
              <a:rPr lang="el-GR" dirty="0"/>
              <a:t>α </a:t>
            </a:r>
            <a:r>
              <a:rPr lang="en-US" dirty="0"/>
              <a:t>&lt;</a:t>
            </a:r>
            <a:r>
              <a:rPr lang="el-GR" dirty="0"/>
              <a:t> β</a:t>
            </a:r>
            <a:r>
              <a:rPr lang="en-US" dirty="0"/>
              <a:t>, </a:t>
            </a:r>
            <a:r>
              <a:rPr lang="sr-Latn-RS" dirty="0"/>
              <a:t>takva da važi</a:t>
            </a:r>
            <a:endParaRPr lang="en-US" dirty="0"/>
          </a:p>
          <a:p>
            <a:pPr marL="457200" lvl="1" indent="0">
              <a:buNone/>
            </a:pPr>
            <a:r>
              <a:rPr lang="pt-BR" dirty="0"/>
              <a:t>a ∗ i + b ∗ j + c = g ∗ i ′ + h ∗ j ′ + k</a:t>
            </a:r>
          </a:p>
          <a:p>
            <a:pPr marL="457200" lvl="1" indent="0">
              <a:buNone/>
            </a:pPr>
            <a:r>
              <a:rPr lang="pt-BR" dirty="0"/>
              <a:t>d ∗ i + e ∗ j + f = l ∗ i ′ + m ∗ j ′ + n</a:t>
            </a:r>
            <a:endParaRPr lang="sr-Latn-RS" dirty="0"/>
          </a:p>
          <a:p>
            <a:pPr marL="457200" lvl="1" indent="0">
              <a:buNone/>
            </a:pPr>
            <a:endParaRPr lang="sr-Latn-RS" dirty="0"/>
          </a:p>
          <a:p>
            <a:r>
              <a:rPr lang="sr-Latn-RS" dirty="0"/>
              <a:t>Potrebno je rešiti sistem Diofantovih jednačina</a:t>
            </a:r>
          </a:p>
          <a:p>
            <a:pPr lvl="1"/>
            <a:r>
              <a:rPr lang="sr-Latn-RS" dirty="0"/>
              <a:t>np kompleksan problem</a:t>
            </a:r>
          </a:p>
          <a:p>
            <a:endParaRPr lang="sr-Latn-RS" dirty="0"/>
          </a:p>
        </p:txBody>
      </p:sp>
    </p:spTree>
    <p:extLst>
      <p:ext uri="{BB962C8B-B14F-4D97-AF65-F5344CB8AC3E}">
        <p14:creationId xmlns:p14="http://schemas.microsoft.com/office/powerpoint/2010/main" val="3854010470"/>
      </p:ext>
    </p:extLst>
  </p:cSld>
  <p:clrMapOvr>
    <a:masterClrMapping/>
  </p:clrMapOvr>
  <p:transition>
    <p:pull dir="d"/>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2EF82D6-1A8C-E56B-6AFD-460310FD4258}"/>
              </a:ext>
            </a:extLst>
          </p:cNvPr>
          <p:cNvPicPr>
            <a:picLocks noGrp="1" noChangeAspect="1"/>
          </p:cNvPicPr>
          <p:nvPr>
            <p:ph idx="4294967295"/>
          </p:nvPr>
        </p:nvPicPr>
        <p:blipFill>
          <a:blip r:embed="rId2"/>
          <a:stretch>
            <a:fillRect/>
          </a:stretch>
        </p:blipFill>
        <p:spPr>
          <a:xfrm>
            <a:off x="0" y="-149818"/>
            <a:ext cx="8915400" cy="6919415"/>
          </a:xfrm>
        </p:spPr>
      </p:pic>
    </p:spTree>
    <p:extLst>
      <p:ext uri="{BB962C8B-B14F-4D97-AF65-F5344CB8AC3E}">
        <p14:creationId xmlns:p14="http://schemas.microsoft.com/office/powerpoint/2010/main" val="3017976622"/>
      </p:ext>
    </p:extLst>
  </p:cSld>
  <p:clrMapOvr>
    <a:masterClrMapping/>
  </p:clrMapOvr>
  <p:transition>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A035-8CCE-B7B6-CF18-22E241B7DE63}"/>
              </a:ext>
            </a:extLst>
          </p:cNvPr>
          <p:cNvSpPr>
            <a:spLocks noGrp="1"/>
          </p:cNvSpPr>
          <p:nvPr>
            <p:ph type="title"/>
          </p:nvPr>
        </p:nvSpPr>
        <p:spPr/>
        <p:txBody>
          <a:bodyPr/>
          <a:lstStyle/>
          <a:p>
            <a:r>
              <a:rPr lang="sr-Latn-RS" dirty="0"/>
              <a:t>Opšti problem</a:t>
            </a:r>
          </a:p>
        </p:txBody>
      </p:sp>
      <p:pic>
        <p:nvPicPr>
          <p:cNvPr id="5" name="Content Placeholder 4">
            <a:extLst>
              <a:ext uri="{FF2B5EF4-FFF2-40B4-BE49-F238E27FC236}">
                <a16:creationId xmlns:a16="http://schemas.microsoft.com/office/drawing/2014/main" id="{3200B594-78E2-245F-EE8A-7A24CF1207CC}"/>
              </a:ext>
            </a:extLst>
          </p:cNvPr>
          <p:cNvPicPr>
            <a:picLocks noGrp="1" noChangeAspect="1"/>
          </p:cNvPicPr>
          <p:nvPr>
            <p:ph idx="1"/>
          </p:nvPr>
        </p:nvPicPr>
        <p:blipFill>
          <a:blip r:embed="rId3"/>
          <a:stretch>
            <a:fillRect/>
          </a:stretch>
        </p:blipFill>
        <p:spPr>
          <a:xfrm>
            <a:off x="457200" y="1219200"/>
            <a:ext cx="5486400" cy="2339788"/>
          </a:xfrm>
        </p:spPr>
      </p:pic>
      <p:sp>
        <p:nvSpPr>
          <p:cNvPr id="6" name="TextBox 5">
            <a:extLst>
              <a:ext uri="{FF2B5EF4-FFF2-40B4-BE49-F238E27FC236}">
                <a16:creationId xmlns:a16="http://schemas.microsoft.com/office/drawing/2014/main" id="{B642D6B1-5134-CAB9-B72F-3EA67CFF8654}"/>
              </a:ext>
            </a:extLst>
          </p:cNvPr>
          <p:cNvSpPr txBox="1"/>
          <p:nvPr/>
        </p:nvSpPr>
        <p:spPr>
          <a:xfrm flipH="1">
            <a:off x="0" y="3414712"/>
            <a:ext cx="8991600" cy="3539430"/>
          </a:xfrm>
          <a:prstGeom prst="rect">
            <a:avLst/>
          </a:prstGeom>
          <a:noFill/>
        </p:spPr>
        <p:txBody>
          <a:bodyPr wrap="square" rtlCol="0">
            <a:spAutoFit/>
          </a:bodyPr>
          <a:lstStyle/>
          <a:p>
            <a:r>
              <a:rPr lang="sr-Latn-RS" sz="1600" dirty="0"/>
              <a:t>Iterativni vektor predstavlja uređenu n-torku indeksa: I=(i</a:t>
            </a:r>
            <a:r>
              <a:rPr lang="sr-Latn-RS" sz="1600" baseline="-25000" dirty="0"/>
              <a:t>1</a:t>
            </a:r>
            <a:r>
              <a:rPr lang="sr-Latn-RS" sz="1600" dirty="0"/>
              <a:t>,i</a:t>
            </a:r>
            <a:r>
              <a:rPr lang="sr-Latn-RS" sz="1600" baseline="-25000" dirty="0"/>
              <a:t>2</a:t>
            </a:r>
            <a:r>
              <a:rPr lang="sr-Latn-RS" sz="1600" dirty="0"/>
              <a:t>,..,i</a:t>
            </a:r>
            <a:r>
              <a:rPr lang="sr-Latn-RS" sz="1600" baseline="-25000" dirty="0"/>
              <a:t>n</a:t>
            </a:r>
            <a:r>
              <a:rPr lang="sr-Latn-RS" sz="1600" dirty="0"/>
              <a:t>)</a:t>
            </a:r>
          </a:p>
          <a:p>
            <a:r>
              <a:rPr lang="sr-Latn-RS" sz="1600" dirty="0"/>
              <a:t>Ako su petlje zadate u normalizovanom obliku, onda su iterativni vektori prirodno uređeni u </a:t>
            </a:r>
            <a:r>
              <a:rPr lang="sr-Latn-RS" sz="1600" i="1" dirty="0">
                <a:solidFill>
                  <a:srgbClr val="FF0000"/>
                </a:solidFill>
              </a:rPr>
              <a:t>leksikografskom</a:t>
            </a:r>
            <a:r>
              <a:rPr lang="sr-Latn-RS" sz="1600" dirty="0"/>
              <a:t>  redosledu.</a:t>
            </a:r>
            <a:endParaRPr lang="en-US" sz="1600" dirty="0"/>
          </a:p>
          <a:p>
            <a:pPr marL="285750" indent="-285750">
              <a:buFont typeface="Arial" panose="020B0604020202020204" pitchFamily="34" charset="0"/>
              <a:buChar char="•"/>
            </a:pPr>
            <a:r>
              <a:rPr lang="en-US" sz="1600" dirty="0"/>
              <a:t>Skup </a:t>
            </a:r>
            <a:r>
              <a:rPr lang="en-US" sz="1600" dirty="0" err="1"/>
              <a:t>iterativnih</a:t>
            </a:r>
            <a:r>
              <a:rPr lang="en-US" sz="1600" dirty="0"/>
              <a:t> </a:t>
            </a:r>
            <a:r>
              <a:rPr lang="en-US" sz="1600" dirty="0" err="1"/>
              <a:t>vektora</a:t>
            </a:r>
            <a:r>
              <a:rPr lang="en-US" sz="1600" dirty="0"/>
              <a:t> </a:t>
            </a:r>
            <a:r>
              <a:rPr lang="sr-Latn-RS" sz="1600" dirty="0"/>
              <a:t>čini iterativni prostor: to je skup tačaka u kojima se obavljaju izračunavanja (to nisu indeksi polja, već tačke u prostoru)</a:t>
            </a:r>
          </a:p>
          <a:p>
            <a:r>
              <a:rPr lang="sr-Latn-RS" sz="1600" dirty="0"/>
              <a:t>Zavisnost između instrukcija S1 i S2 postoji, ako postoje dva iterativna vektora, </a:t>
            </a:r>
            <a:r>
              <a:rPr lang="el-GR" sz="1600" dirty="0"/>
              <a:t>α</a:t>
            </a:r>
            <a:r>
              <a:rPr lang="sr-Latn-RS" sz="1600" dirty="0"/>
              <a:t> i </a:t>
            </a:r>
            <a:r>
              <a:rPr lang="el-GR" sz="1600" dirty="0"/>
              <a:t>β</a:t>
            </a:r>
            <a:r>
              <a:rPr lang="sr-Latn-RS" sz="1600" dirty="0"/>
              <a:t>, takva da je </a:t>
            </a:r>
            <a:endParaRPr lang="en-US" sz="1600" dirty="0"/>
          </a:p>
          <a:p>
            <a:pPr marL="285750" indent="-285750">
              <a:buFont typeface="Arial" panose="020B0604020202020204" pitchFamily="34" charset="0"/>
              <a:buChar char="•"/>
            </a:pPr>
            <a:r>
              <a:rPr lang="el-GR" sz="1600" dirty="0"/>
              <a:t>α</a:t>
            </a:r>
            <a:r>
              <a:rPr lang="sr-Latn-RS" sz="1600" dirty="0"/>
              <a:t> </a:t>
            </a:r>
            <a:r>
              <a:rPr lang="en-US" sz="1600" dirty="0"/>
              <a:t>&lt; </a:t>
            </a:r>
            <a:r>
              <a:rPr lang="el-GR" sz="1600" dirty="0"/>
              <a:t>β</a:t>
            </a:r>
            <a:r>
              <a:rPr lang="en-US" sz="1600" dirty="0"/>
              <a:t>, i</a:t>
            </a:r>
          </a:p>
          <a:p>
            <a:pPr marL="285750" indent="-285750">
              <a:buFont typeface="Arial" panose="020B0604020202020204" pitchFamily="34" charset="0"/>
              <a:buChar char="•"/>
            </a:pPr>
            <a:r>
              <a:rPr lang="en-US" sz="1600" dirty="0"/>
              <a:t>f</a:t>
            </a:r>
            <a:r>
              <a:rPr lang="en-US" sz="1600" baseline="-25000" dirty="0"/>
              <a:t>i</a:t>
            </a:r>
            <a:r>
              <a:rPr lang="en-US" sz="1600" dirty="0"/>
              <a:t>(</a:t>
            </a:r>
            <a:r>
              <a:rPr lang="el-GR" sz="1600" dirty="0"/>
              <a:t>α</a:t>
            </a:r>
            <a:r>
              <a:rPr lang="en-US" sz="1600" dirty="0"/>
              <a:t>) = </a:t>
            </a:r>
            <a:r>
              <a:rPr lang="en-US" sz="1600" dirty="0" err="1"/>
              <a:t>g</a:t>
            </a:r>
            <a:r>
              <a:rPr lang="en-US" sz="1600" baseline="-25000" dirty="0" err="1"/>
              <a:t>i</a:t>
            </a:r>
            <a:r>
              <a:rPr lang="en-US" sz="1600" dirty="0"/>
              <a:t>(</a:t>
            </a:r>
            <a:r>
              <a:rPr lang="el-GR" sz="1600" dirty="0"/>
              <a:t>β</a:t>
            </a:r>
            <a:r>
              <a:rPr lang="en-US" sz="1600" b="1" dirty="0"/>
              <a:t>) , </a:t>
            </a:r>
            <a:r>
              <a:rPr lang="en-US" sz="1600" dirty="0"/>
              <a:t>za </a:t>
            </a:r>
            <a:r>
              <a:rPr lang="en-US" sz="1600" dirty="0" err="1"/>
              <a:t>svako</a:t>
            </a:r>
            <a:r>
              <a:rPr lang="en-US" sz="1600" dirty="0"/>
              <a:t> i, 1≤ i ≤ m</a:t>
            </a:r>
          </a:p>
          <a:p>
            <a:pPr marL="285750" indent="-285750">
              <a:buFont typeface="Arial" panose="020B0604020202020204" pitchFamily="34" charset="0"/>
              <a:buChar char="•"/>
            </a:pPr>
            <a:r>
              <a:rPr lang="en-US" sz="1600" dirty="0" err="1"/>
              <a:t>Usvajamo</a:t>
            </a:r>
            <a:r>
              <a:rPr lang="en-US" sz="1600" dirty="0"/>
              <a:t> da us f</a:t>
            </a:r>
            <a:r>
              <a:rPr lang="en-US" sz="1600" baseline="-25000" dirty="0"/>
              <a:t>i</a:t>
            </a:r>
            <a:r>
              <a:rPr lang="en-US" sz="1600" dirty="0"/>
              <a:t> i </a:t>
            </a:r>
            <a:r>
              <a:rPr lang="en-US" sz="1600" dirty="0" err="1"/>
              <a:t>g</a:t>
            </a:r>
            <a:r>
              <a:rPr lang="en-US" sz="1600" baseline="-25000" dirty="0" err="1"/>
              <a:t>i</a:t>
            </a:r>
            <a:r>
              <a:rPr lang="en-US" sz="1600" dirty="0"/>
              <a:t>, affine </a:t>
            </a:r>
            <a:r>
              <a:rPr lang="en-US" sz="1600" dirty="0" err="1"/>
              <a:t>funkcije</a:t>
            </a:r>
            <a:endParaRPr lang="en-US" sz="1600" dirty="0"/>
          </a:p>
          <a:p>
            <a:pPr marL="285750" indent="-285750">
              <a:buFont typeface="Arial" panose="020B0604020202020204" pitchFamily="34" charset="0"/>
              <a:buChar char="•"/>
            </a:pPr>
            <a:r>
              <a:rPr lang="en-US" sz="1600" dirty="0"/>
              <a:t>Da bi </a:t>
            </a:r>
            <a:r>
              <a:rPr lang="en-US" sz="1600" dirty="0" err="1"/>
              <a:t>utvrdili</a:t>
            </a:r>
            <a:r>
              <a:rPr lang="en-US" sz="1600" dirty="0"/>
              <a:t> da li </a:t>
            </a:r>
            <a:r>
              <a:rPr lang="en-US" sz="1600" dirty="0" err="1"/>
              <a:t>postoji</a:t>
            </a:r>
            <a:r>
              <a:rPr lang="en-US" sz="1600" dirty="0"/>
              <a:t> </a:t>
            </a:r>
            <a:r>
              <a:rPr lang="en-US" sz="1600" dirty="0" err="1"/>
              <a:t>zavisnost</a:t>
            </a:r>
            <a:r>
              <a:rPr lang="en-US" sz="1600" dirty="0"/>
              <a:t> </a:t>
            </a:r>
            <a:r>
              <a:rPr lang="en-US" sz="1600" dirty="0" err="1"/>
              <a:t>potrebno</a:t>
            </a:r>
            <a:r>
              <a:rPr lang="en-US" sz="1600" dirty="0"/>
              <a:t> je re</a:t>
            </a:r>
            <a:r>
              <a:rPr lang="sr-Latn-RS" sz="1600" dirty="0"/>
              <a:t>šiti sistem od m Diofantovih jednačina sa n nepoznatih. </a:t>
            </a:r>
          </a:p>
          <a:p>
            <a:pPr marL="285750" indent="-285750">
              <a:buFont typeface="Arial" panose="020B0604020202020204" pitchFamily="34" charset="0"/>
              <a:buChar char="•"/>
            </a:pPr>
            <a:r>
              <a:rPr lang="sr-Latn-RS" sz="1600" dirty="0"/>
              <a:t>To je np kompleksan problem! Zbog toga se primenjuju tvz. konzervativni testovi.</a:t>
            </a:r>
          </a:p>
          <a:p>
            <a:pPr marL="742950" lvl="1" indent="-285750">
              <a:buFont typeface="Arial" panose="020B0604020202020204" pitchFamily="34" charset="0"/>
              <a:buChar char="•"/>
            </a:pPr>
            <a:r>
              <a:rPr lang="sr-Latn-RS" sz="1600" dirty="0"/>
              <a:t>usvaja se da zavisnost postoji, osim ako se dokaže da ne postoji!</a:t>
            </a:r>
          </a:p>
          <a:p>
            <a:pPr marL="285750" indent="-285750">
              <a:buFont typeface="Arial" panose="020B0604020202020204" pitchFamily="34" charset="0"/>
              <a:buChar char="•"/>
            </a:pPr>
            <a:endParaRPr lang="sr-Latn-RS" sz="1600" dirty="0"/>
          </a:p>
        </p:txBody>
      </p:sp>
    </p:spTree>
    <p:extLst>
      <p:ext uri="{BB962C8B-B14F-4D97-AF65-F5344CB8AC3E}">
        <p14:creationId xmlns:p14="http://schemas.microsoft.com/office/powerpoint/2010/main" val="3200814523"/>
      </p:ext>
    </p:extLst>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5A17-13AB-9853-A47F-36FA2FBCDD64}"/>
              </a:ext>
            </a:extLst>
          </p:cNvPr>
          <p:cNvSpPr>
            <a:spLocks noGrp="1"/>
          </p:cNvSpPr>
          <p:nvPr>
            <p:ph type="title"/>
          </p:nvPr>
        </p:nvSpPr>
        <p:spPr/>
        <p:txBody>
          <a:bodyPr/>
          <a:lstStyle/>
          <a:p>
            <a:r>
              <a:rPr lang="sr-Latn-RS" dirty="0"/>
              <a:t>Definicije pojmova</a:t>
            </a:r>
          </a:p>
        </p:txBody>
      </p:sp>
      <p:sp>
        <p:nvSpPr>
          <p:cNvPr id="3" name="Content Placeholder 2">
            <a:extLst>
              <a:ext uri="{FF2B5EF4-FFF2-40B4-BE49-F238E27FC236}">
                <a16:creationId xmlns:a16="http://schemas.microsoft.com/office/drawing/2014/main" id="{5904ECF3-FFB5-4243-66A3-9B50723A2F2D}"/>
              </a:ext>
            </a:extLst>
          </p:cNvPr>
          <p:cNvSpPr>
            <a:spLocks noGrp="1"/>
          </p:cNvSpPr>
          <p:nvPr>
            <p:ph idx="1"/>
          </p:nvPr>
        </p:nvSpPr>
        <p:spPr/>
        <p:txBody>
          <a:bodyPr>
            <a:normAutofit lnSpcReduction="10000"/>
          </a:bodyPr>
          <a:lstStyle/>
          <a:p>
            <a:r>
              <a:rPr lang="sr-Latn-RS" dirty="0"/>
              <a:t>Indeks – iterativna promenljiva petlje</a:t>
            </a:r>
          </a:p>
          <a:p>
            <a:r>
              <a:rPr lang="sr-Latn-RS" dirty="0"/>
              <a:t>subscript – </a:t>
            </a:r>
            <a:r>
              <a:rPr lang="en-US" dirty="0" err="1"/>
              <a:t>pozicija</a:t>
            </a:r>
            <a:r>
              <a:rPr lang="en-US" dirty="0"/>
              <a:t> (</a:t>
            </a:r>
            <a:r>
              <a:rPr lang="sr-Latn-RS" dirty="0"/>
              <a:t>dimenzija</a:t>
            </a:r>
            <a:r>
              <a:rPr lang="en-US" dirty="0"/>
              <a:t>)</a:t>
            </a:r>
            <a:r>
              <a:rPr lang="sr-Latn-RS" dirty="0"/>
              <a:t> u referenci polja (array)</a:t>
            </a:r>
          </a:p>
          <a:p>
            <a:endParaRPr lang="sr-Latn-RS" dirty="0"/>
          </a:p>
          <a:p>
            <a:pPr marL="400050" lvl="1" indent="0">
              <a:buNone/>
            </a:pPr>
            <a:r>
              <a:rPr lang="nn-NO" b="0" i="0" u="none" strike="noStrike" baseline="0" dirty="0">
                <a:latin typeface="Courier"/>
              </a:rPr>
              <a:t>for(i = 0; i &lt; 10; i++)</a:t>
            </a:r>
          </a:p>
          <a:p>
            <a:pPr marL="400050" lvl="1" indent="0">
              <a:buNone/>
            </a:pPr>
            <a:r>
              <a:rPr lang="sr-Latn-RS" b="0" i="0" u="none" strike="noStrike" baseline="0" dirty="0">
                <a:latin typeface="Courier"/>
              </a:rPr>
              <a:t>for(j = 0; j &lt; 10; j+=2)</a:t>
            </a:r>
          </a:p>
          <a:p>
            <a:pPr marL="400050" lvl="1" indent="0">
              <a:buNone/>
            </a:pPr>
            <a:r>
              <a:rPr lang="nn-NO" b="0" i="0" u="none" strike="noStrike" baseline="0" dirty="0">
                <a:latin typeface="Courier"/>
              </a:rPr>
              <a:t>for(k = 10; k &gt; 0; k--)</a:t>
            </a:r>
          </a:p>
          <a:p>
            <a:pPr marL="400050" lvl="1" indent="0">
              <a:buNone/>
            </a:pPr>
            <a:r>
              <a:rPr lang="sr-Latn-RS" b="0" i="0" u="none" strike="noStrike" baseline="0" dirty="0">
                <a:latin typeface="Courier"/>
              </a:rPr>
              <a:t>A[0][i][j] = A[10][i][k];</a:t>
            </a:r>
          </a:p>
          <a:p>
            <a:r>
              <a:rPr lang="sr-Latn-RS" dirty="0">
                <a:latin typeface="+mj-lt"/>
              </a:rPr>
              <a:t>i,j, k su indeksi</a:t>
            </a:r>
          </a:p>
          <a:p>
            <a:r>
              <a:rPr lang="en-US" dirty="0"/>
              <a:t>[0], [i], [j], [10], </a:t>
            </a:r>
            <a:r>
              <a:rPr lang="sr-Latn-RS" dirty="0"/>
              <a:t>... </a:t>
            </a:r>
            <a:r>
              <a:rPr lang="en-US" dirty="0" err="1"/>
              <a:t>su</a:t>
            </a:r>
            <a:r>
              <a:rPr lang="en-US" dirty="0"/>
              <a:t> subscript</a:t>
            </a:r>
          </a:p>
          <a:p>
            <a:r>
              <a:rPr lang="en-US" dirty="0"/>
              <a:t>subscript </a:t>
            </a:r>
            <a:r>
              <a:rPr lang="en-US" dirty="0" err="1"/>
              <a:t>mo</a:t>
            </a:r>
            <a:r>
              <a:rPr lang="sr-Latn-RS" dirty="0"/>
              <a:t>že biti konstanta, indeks ili linearna kombinacija indeksa</a:t>
            </a:r>
          </a:p>
          <a:p>
            <a:pPr lvl="1"/>
            <a:r>
              <a:rPr lang="sr-Latn-RS" dirty="0"/>
              <a:t>subscripti se uvek posmatraju u paru</a:t>
            </a:r>
          </a:p>
          <a:p>
            <a:pPr lvl="1"/>
            <a:r>
              <a:rPr lang="sr-Latn-RS" dirty="0"/>
              <a:t>parovi: </a:t>
            </a:r>
            <a:r>
              <a:rPr lang="en-US" dirty="0"/>
              <a:t>&lt;0,10&gt;; &lt;</a:t>
            </a:r>
            <a:r>
              <a:rPr lang="en-US" dirty="0" err="1"/>
              <a:t>i,i</a:t>
            </a:r>
            <a:r>
              <a:rPr lang="en-US" dirty="0"/>
              <a:t>&gt;; &lt;</a:t>
            </a:r>
            <a:r>
              <a:rPr lang="en-US" dirty="0" err="1"/>
              <a:t>j,k</a:t>
            </a:r>
            <a:r>
              <a:rPr lang="en-US" dirty="0"/>
              <a:t>&gt;</a:t>
            </a:r>
            <a:endParaRPr lang="sr-Latn-RS" dirty="0"/>
          </a:p>
        </p:txBody>
      </p:sp>
    </p:spTree>
    <p:extLst>
      <p:ext uri="{BB962C8B-B14F-4D97-AF65-F5344CB8AC3E}">
        <p14:creationId xmlns:p14="http://schemas.microsoft.com/office/powerpoint/2010/main" val="3891245998"/>
      </p:ext>
    </p:extLst>
  </p:cSld>
  <p:clrMapOvr>
    <a:masterClrMapping/>
  </p:clrMapOvr>
  <p:transition>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023B-1822-9FED-6C54-A62A7D4ECE2D}"/>
              </a:ext>
            </a:extLst>
          </p:cNvPr>
          <p:cNvSpPr>
            <a:spLocks noGrp="1"/>
          </p:cNvSpPr>
          <p:nvPr>
            <p:ph type="title"/>
          </p:nvPr>
        </p:nvSpPr>
        <p:spPr/>
        <p:txBody>
          <a:bodyPr/>
          <a:lstStyle/>
          <a:p>
            <a:r>
              <a:rPr lang="en-US" dirty="0"/>
              <a:t>Koliko </a:t>
            </a:r>
            <a:r>
              <a:rPr lang="en-US" dirty="0" err="1"/>
              <a:t>ima</a:t>
            </a:r>
            <a:r>
              <a:rPr lang="en-US" dirty="0"/>
              <a:t> </a:t>
            </a:r>
            <a:r>
              <a:rPr lang="en-US" dirty="0" err="1"/>
              <a:t>indeksa</a:t>
            </a:r>
            <a:r>
              <a:rPr lang="en-US" dirty="0"/>
              <a:t> u </a:t>
            </a:r>
            <a:r>
              <a:rPr lang="en-US" dirty="0" err="1"/>
              <a:t>sabscript</a:t>
            </a:r>
            <a:r>
              <a:rPr lang="en-US" dirty="0"/>
              <a:t> </a:t>
            </a:r>
            <a:r>
              <a:rPr lang="en-US" dirty="0" err="1"/>
              <a:t>paru</a:t>
            </a:r>
            <a:r>
              <a:rPr lang="en-US" dirty="0"/>
              <a:t>?</a:t>
            </a:r>
            <a:endParaRPr lang="sr-Latn-RS" dirty="0"/>
          </a:p>
        </p:txBody>
      </p:sp>
      <p:sp>
        <p:nvSpPr>
          <p:cNvPr id="3" name="Content Placeholder 2">
            <a:extLst>
              <a:ext uri="{FF2B5EF4-FFF2-40B4-BE49-F238E27FC236}">
                <a16:creationId xmlns:a16="http://schemas.microsoft.com/office/drawing/2014/main" id="{134743A2-9A2F-A6BF-4C41-4FEBC7DA7BD6}"/>
              </a:ext>
            </a:extLst>
          </p:cNvPr>
          <p:cNvSpPr>
            <a:spLocks noGrp="1"/>
          </p:cNvSpPr>
          <p:nvPr>
            <p:ph idx="1"/>
          </p:nvPr>
        </p:nvSpPr>
        <p:spPr/>
        <p:txBody>
          <a:bodyPr>
            <a:normAutofit lnSpcReduction="10000"/>
          </a:bodyPr>
          <a:lstStyle/>
          <a:p>
            <a:r>
              <a:rPr lang="en-US" dirty="0" err="1"/>
              <a:t>Broj</a:t>
            </a:r>
            <a:r>
              <a:rPr lang="en-US" dirty="0"/>
              <a:t> </a:t>
            </a:r>
            <a:r>
              <a:rPr lang="en-US" dirty="0" err="1"/>
              <a:t>indeksa</a:t>
            </a:r>
            <a:r>
              <a:rPr lang="en-US" dirty="0"/>
              <a:t> se </a:t>
            </a:r>
            <a:r>
              <a:rPr lang="sr-Latn-RS" dirty="0"/>
              <a:t>u sbscript paru se zove kompleksnost:</a:t>
            </a:r>
          </a:p>
          <a:p>
            <a:pPr lvl="1"/>
            <a:r>
              <a:rPr lang="sr-Latn-RS" dirty="0"/>
              <a:t>postoje tri nivoa kompleksnosti koji se koriste kod analize zavisnosti</a:t>
            </a:r>
          </a:p>
          <a:p>
            <a:pPr lvl="1"/>
            <a:r>
              <a:rPr lang="sr-Latn-RS" dirty="0"/>
              <a:t>ZIV –zero index variable</a:t>
            </a:r>
          </a:p>
          <a:p>
            <a:pPr lvl="2"/>
            <a:r>
              <a:rPr lang="sr-Latn-RS" dirty="0"/>
              <a:t>subscript par ne sardži </a:t>
            </a:r>
            <a:r>
              <a:rPr lang="en-US" dirty="0" err="1"/>
              <a:t>iterativne</a:t>
            </a:r>
            <a:r>
              <a:rPr lang="sr-Latn-RS" dirty="0"/>
              <a:t> promenljive u paru </a:t>
            </a:r>
          </a:p>
          <a:p>
            <a:pPr lvl="2"/>
            <a:r>
              <a:rPr lang="sr-Latn-RS" b="0" i="0" u="none" strike="noStrike" baseline="0" dirty="0">
                <a:latin typeface="Courier"/>
              </a:rPr>
              <a:t>A[0][i][j] = A[10][i][k];</a:t>
            </a:r>
          </a:p>
          <a:p>
            <a:pPr marL="914400" lvl="2" indent="0">
              <a:buNone/>
            </a:pPr>
            <a:r>
              <a:rPr lang="sr-Latn-RS" dirty="0"/>
              <a:t>Prvi subscript par je ZIV</a:t>
            </a:r>
            <a:r>
              <a:rPr lang="en-US" dirty="0"/>
              <a:t>. U </a:t>
            </a:r>
            <a:r>
              <a:rPr lang="en-US" dirty="0" err="1"/>
              <a:t>prvoj</a:t>
            </a:r>
            <a:r>
              <a:rPr lang="en-US" dirty="0"/>
              <a:t> </a:t>
            </a:r>
            <a:r>
              <a:rPr lang="en-US" dirty="0" err="1"/>
              <a:t>indeksnoj</a:t>
            </a:r>
            <a:r>
              <a:rPr lang="en-US" dirty="0"/>
              <a:t> </a:t>
            </a:r>
            <a:r>
              <a:rPr lang="en-US" dirty="0" err="1"/>
              <a:t>poziciji</a:t>
            </a:r>
            <a:r>
              <a:rPr lang="en-US" dirty="0"/>
              <a:t> </a:t>
            </a:r>
            <a:r>
              <a:rPr lang="en-US" dirty="0" err="1"/>
              <a:t>nalaze</a:t>
            </a:r>
            <a:r>
              <a:rPr lang="en-US" dirty="0"/>
              <a:t> se </a:t>
            </a:r>
            <a:r>
              <a:rPr lang="en-US" dirty="0" err="1"/>
              <a:t>samo</a:t>
            </a:r>
            <a:r>
              <a:rPr lang="en-US" dirty="0"/>
              <a:t> </a:t>
            </a:r>
            <a:r>
              <a:rPr lang="en-US" dirty="0" err="1"/>
              <a:t>konstante</a:t>
            </a:r>
            <a:r>
              <a:rPr lang="en-US" dirty="0"/>
              <a:t>:</a:t>
            </a:r>
            <a:r>
              <a:rPr lang="sr-Latn-RS" dirty="0"/>
              <a:t> </a:t>
            </a:r>
            <a:r>
              <a:rPr lang="en-US" dirty="0"/>
              <a:t>&lt;0,10&gt;</a:t>
            </a:r>
            <a:endParaRPr lang="sr-Latn-RS" dirty="0"/>
          </a:p>
          <a:p>
            <a:pPr lvl="1"/>
            <a:r>
              <a:rPr lang="sr-Latn-RS" dirty="0"/>
              <a:t>SIV –single index variable</a:t>
            </a:r>
            <a:endParaRPr lang="en-US" dirty="0"/>
          </a:p>
          <a:p>
            <a:pPr lvl="2"/>
            <a:r>
              <a:rPr lang="en-US" dirty="0"/>
              <a:t>subscript par </a:t>
            </a:r>
            <a:r>
              <a:rPr lang="en-US" dirty="0" err="1"/>
              <a:t>sadr</a:t>
            </a:r>
            <a:r>
              <a:rPr lang="sr-Latn-RS" dirty="0"/>
              <a:t>ž</a:t>
            </a:r>
            <a:r>
              <a:rPr lang="en-US" dirty="0"/>
              <a:t>i </a:t>
            </a:r>
            <a:r>
              <a:rPr lang="en-US" dirty="0" err="1"/>
              <a:t>samo</a:t>
            </a:r>
            <a:r>
              <a:rPr lang="en-US" dirty="0"/>
              <a:t> </a:t>
            </a:r>
            <a:r>
              <a:rPr lang="en-US" dirty="0" err="1"/>
              <a:t>jednu</a:t>
            </a:r>
            <a:r>
              <a:rPr lang="en-US" dirty="0"/>
              <a:t> </a:t>
            </a:r>
            <a:r>
              <a:rPr lang="en-US" dirty="0" err="1"/>
              <a:t>iterativnu</a:t>
            </a:r>
            <a:r>
              <a:rPr lang="en-US" dirty="0"/>
              <a:t> </a:t>
            </a:r>
            <a:r>
              <a:rPr lang="en-US" dirty="0" err="1"/>
              <a:t>promenljivu</a:t>
            </a:r>
            <a:endParaRPr lang="sr-Latn-RS" dirty="0"/>
          </a:p>
          <a:p>
            <a:pPr lvl="2"/>
            <a:r>
              <a:rPr lang="sr-Latn-RS" b="0" i="0" u="none" strike="noStrike" baseline="0" dirty="0">
                <a:latin typeface="Courier"/>
              </a:rPr>
              <a:t>A[0][i][j] = A[10][i][k];</a:t>
            </a:r>
          </a:p>
          <a:p>
            <a:pPr marL="914400" lvl="2" indent="0">
              <a:buNone/>
            </a:pPr>
            <a:r>
              <a:rPr lang="sr-Latn-RS" dirty="0">
                <a:latin typeface="+mj-lt"/>
              </a:rPr>
              <a:t>drugi subscript par je SIV</a:t>
            </a:r>
            <a:r>
              <a:rPr lang="en-US" dirty="0">
                <a:latin typeface="+mj-lt"/>
              </a:rPr>
              <a:t>: &lt;</a:t>
            </a:r>
            <a:r>
              <a:rPr lang="en-US" dirty="0" err="1">
                <a:latin typeface="+mj-lt"/>
              </a:rPr>
              <a:t>i,i</a:t>
            </a:r>
            <a:r>
              <a:rPr lang="en-US" dirty="0">
                <a:latin typeface="+mj-lt"/>
              </a:rPr>
              <a:t>&gt;</a:t>
            </a:r>
            <a:endParaRPr lang="sr-Latn-RS" dirty="0">
              <a:latin typeface="+mj-lt"/>
            </a:endParaRPr>
          </a:p>
          <a:p>
            <a:pPr lvl="1"/>
            <a:r>
              <a:rPr lang="sr-Latn-RS" dirty="0"/>
              <a:t>MIV –multiple index variable</a:t>
            </a:r>
          </a:p>
          <a:p>
            <a:pPr lvl="2"/>
            <a:r>
              <a:rPr lang="sr-Latn-RS" dirty="0"/>
              <a:t>subscript par sadrži više </a:t>
            </a:r>
            <a:r>
              <a:rPr lang="en-US" dirty="0" err="1"/>
              <a:t>iterativnih</a:t>
            </a:r>
            <a:r>
              <a:rPr lang="sr-Latn-RS" dirty="0"/>
              <a:t> promenljivih</a:t>
            </a:r>
          </a:p>
          <a:p>
            <a:pPr lvl="2"/>
            <a:r>
              <a:rPr lang="sr-Latn-RS" dirty="0"/>
              <a:t>treći subscript par je MIV</a:t>
            </a:r>
            <a:r>
              <a:rPr lang="en-US" dirty="0"/>
              <a:t>: &lt;</a:t>
            </a:r>
            <a:r>
              <a:rPr lang="en-US" dirty="0" err="1"/>
              <a:t>j,k</a:t>
            </a:r>
            <a:r>
              <a:rPr lang="en-US" dirty="0"/>
              <a:t>&gt;</a:t>
            </a:r>
            <a:endParaRPr lang="sr-Latn-RS" dirty="0"/>
          </a:p>
          <a:p>
            <a:endParaRPr lang="sr-Latn-RS" dirty="0"/>
          </a:p>
        </p:txBody>
      </p:sp>
    </p:spTree>
    <p:extLst>
      <p:ext uri="{BB962C8B-B14F-4D97-AF65-F5344CB8AC3E}">
        <p14:creationId xmlns:p14="http://schemas.microsoft.com/office/powerpoint/2010/main" val="3781485615"/>
      </p:ext>
    </p:extLst>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2A7C-14B5-DEEE-8CFA-3008B92DE719}"/>
              </a:ext>
            </a:extLst>
          </p:cNvPr>
          <p:cNvSpPr>
            <a:spLocks noGrp="1"/>
          </p:cNvSpPr>
          <p:nvPr>
            <p:ph type="title"/>
          </p:nvPr>
        </p:nvSpPr>
        <p:spPr/>
        <p:txBody>
          <a:bodyPr/>
          <a:lstStyle/>
          <a:p>
            <a:r>
              <a:rPr lang="en-US" dirty="0" err="1"/>
              <a:t>Separabilni</a:t>
            </a:r>
            <a:r>
              <a:rPr lang="en-US" dirty="0"/>
              <a:t> i </a:t>
            </a:r>
            <a:r>
              <a:rPr lang="en-US" dirty="0" err="1"/>
              <a:t>povezani</a:t>
            </a:r>
            <a:r>
              <a:rPr lang="en-US" dirty="0"/>
              <a:t> </a:t>
            </a:r>
            <a:r>
              <a:rPr lang="en-US" dirty="0" err="1"/>
              <a:t>subscripti</a:t>
            </a:r>
            <a:endParaRPr lang="sr-Latn-RS" dirty="0"/>
          </a:p>
        </p:txBody>
      </p:sp>
      <p:sp>
        <p:nvSpPr>
          <p:cNvPr id="3" name="Content Placeholder 2">
            <a:extLst>
              <a:ext uri="{FF2B5EF4-FFF2-40B4-BE49-F238E27FC236}">
                <a16:creationId xmlns:a16="http://schemas.microsoft.com/office/drawing/2014/main" id="{3C36BCB9-321F-39E3-67DB-5C57FC3427A0}"/>
              </a:ext>
            </a:extLst>
          </p:cNvPr>
          <p:cNvSpPr>
            <a:spLocks noGrp="1"/>
          </p:cNvSpPr>
          <p:nvPr>
            <p:ph idx="1"/>
          </p:nvPr>
        </p:nvSpPr>
        <p:spPr/>
        <p:txBody>
          <a:bodyPr/>
          <a:lstStyle/>
          <a:p>
            <a:r>
              <a:rPr lang="sr-Latn-RS" dirty="0"/>
              <a:t>Subscript je separabilan ako se iterativne promenljive koje se nalaze u njemu ne javljaju u drugim subscriptima.</a:t>
            </a:r>
          </a:p>
          <a:p>
            <a:pPr lvl="1"/>
            <a:r>
              <a:rPr lang="sr-Latn-RS" dirty="0"/>
              <a:t>a(i+1,j)=a(k,j)+c</a:t>
            </a:r>
          </a:p>
          <a:p>
            <a:pPr lvl="2"/>
            <a:r>
              <a:rPr lang="sr-Latn-RS" dirty="0"/>
              <a:t>oba subscripta su separabilna</a:t>
            </a:r>
          </a:p>
          <a:p>
            <a:r>
              <a:rPr lang="sr-Latn-RS" dirty="0"/>
              <a:t>ako dva različita subscripta sadrže iste indekse, onda su oni povezani (coupled)</a:t>
            </a:r>
          </a:p>
          <a:p>
            <a:pPr lvl="1"/>
            <a:r>
              <a:rPr lang="sr-Latn-RS" dirty="0"/>
              <a:t>a(i,j,j)=a(i,j,k)</a:t>
            </a:r>
          </a:p>
          <a:p>
            <a:pPr lvl="2"/>
            <a:r>
              <a:rPr lang="sr-Latn-RS" dirty="0"/>
              <a:t>drugi i treći subscripti su povezani (iterativna promenljiva j se javlja i u drugoj i u trećoj poziciji u referenci polja)</a:t>
            </a:r>
          </a:p>
          <a:p>
            <a:pPr lvl="2"/>
            <a:r>
              <a:rPr lang="sr-Latn-RS" dirty="0"/>
              <a:t>povezani subscripti komplikuju analizu zavisnosti</a:t>
            </a:r>
          </a:p>
        </p:txBody>
      </p:sp>
    </p:spTree>
    <p:extLst>
      <p:ext uri="{BB962C8B-B14F-4D97-AF65-F5344CB8AC3E}">
        <p14:creationId xmlns:p14="http://schemas.microsoft.com/office/powerpoint/2010/main" val="1610481639"/>
      </p:ext>
    </p:extLst>
  </p:cSld>
  <p:clrMapOvr>
    <a:masterClrMapping/>
  </p:clrMapOvr>
  <p:transition>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513A4-572A-E9BC-393A-771C91B359F6}"/>
              </a:ext>
            </a:extLst>
          </p:cNvPr>
          <p:cNvSpPr>
            <a:spLocks noGrp="1"/>
          </p:cNvSpPr>
          <p:nvPr>
            <p:ph type="title"/>
          </p:nvPr>
        </p:nvSpPr>
        <p:spPr/>
        <p:txBody>
          <a:bodyPr/>
          <a:lstStyle/>
          <a:p>
            <a:r>
              <a:rPr lang="sr-Latn-RS" dirty="0"/>
              <a:t>Analiza zavisnsoti</a:t>
            </a:r>
          </a:p>
        </p:txBody>
      </p:sp>
      <p:sp>
        <p:nvSpPr>
          <p:cNvPr id="3" name="Content Placeholder 2">
            <a:extLst>
              <a:ext uri="{FF2B5EF4-FFF2-40B4-BE49-F238E27FC236}">
                <a16:creationId xmlns:a16="http://schemas.microsoft.com/office/drawing/2014/main" id="{24B2F892-0734-06D0-8316-998562183F82}"/>
              </a:ext>
            </a:extLst>
          </p:cNvPr>
          <p:cNvSpPr>
            <a:spLocks noGrp="1"/>
          </p:cNvSpPr>
          <p:nvPr>
            <p:ph idx="1"/>
          </p:nvPr>
        </p:nvSpPr>
        <p:spPr/>
        <p:txBody>
          <a:bodyPr>
            <a:normAutofit fontScale="92500" lnSpcReduction="20000"/>
          </a:bodyPr>
          <a:lstStyle/>
          <a:p>
            <a:r>
              <a:rPr lang="sr-Latn-RS" dirty="0"/>
              <a:t>Prvi korak u analizi zavisnosti je da se klasifikuju subscripti kao ZIV / SIV / MIV i separabilne i povezane</a:t>
            </a:r>
          </a:p>
          <a:p>
            <a:r>
              <a:rPr lang="sr-Latn-RS" dirty="0"/>
              <a:t>Zašto je to bitno?</a:t>
            </a:r>
          </a:p>
          <a:p>
            <a:pPr lvl="1"/>
            <a:r>
              <a:rPr lang="sr-Latn-RS" dirty="0"/>
              <a:t>pojednostavljuje testiranje na zavisnost</a:t>
            </a:r>
          </a:p>
          <a:p>
            <a:pPr lvl="2"/>
            <a:r>
              <a:rPr lang="sr-Latn-RS" dirty="0"/>
              <a:t>za separabilne subscripte se mogu dobiti  egzaktni odgovori na pitanje da li postoji  zavisnost</a:t>
            </a:r>
          </a:p>
          <a:p>
            <a:pPr lvl="1"/>
            <a:r>
              <a:rPr lang="sr-Latn-RS" dirty="0"/>
              <a:t>Ako pokažemo za bilo koji subscript da ne postoji rešenje, tj ne postoje dva iterativna vektora </a:t>
            </a:r>
            <a:r>
              <a:rPr lang="el-GR" dirty="0"/>
              <a:t>α</a:t>
            </a:r>
            <a:r>
              <a:rPr lang="sr-Latn-RS" dirty="0"/>
              <a:t> i </a:t>
            </a:r>
            <a:r>
              <a:rPr lang="el-GR" dirty="0"/>
              <a:t>β</a:t>
            </a:r>
            <a:r>
              <a:rPr lang="sr-Latn-RS" dirty="0"/>
              <a:t>, </a:t>
            </a:r>
            <a:r>
              <a:rPr lang="el-GR" dirty="0"/>
              <a:t>α</a:t>
            </a:r>
            <a:r>
              <a:rPr lang="en-US" dirty="0"/>
              <a:t>&lt;</a:t>
            </a:r>
            <a:r>
              <a:rPr lang="el-GR" dirty="0"/>
              <a:t> β</a:t>
            </a:r>
            <a:r>
              <a:rPr lang="en-US" dirty="0"/>
              <a:t>, </a:t>
            </a:r>
            <a:r>
              <a:rPr lang="en-US" dirty="0" err="1"/>
              <a:t>tako</a:t>
            </a:r>
            <a:r>
              <a:rPr lang="en-US" dirty="0"/>
              <a:t> </a:t>
            </a:r>
            <a:r>
              <a:rPr lang="en-US" dirty="0" err="1"/>
              <a:t>daje</a:t>
            </a:r>
            <a:r>
              <a:rPr lang="en-US" dirty="0"/>
              <a:t> f</a:t>
            </a:r>
            <a:r>
              <a:rPr lang="en-US" baseline="-25000" dirty="0"/>
              <a:t>i</a:t>
            </a:r>
            <a:r>
              <a:rPr lang="en-US" dirty="0"/>
              <a:t>(</a:t>
            </a:r>
            <a:r>
              <a:rPr lang="el-GR" dirty="0"/>
              <a:t>α</a:t>
            </a:r>
            <a:r>
              <a:rPr lang="en-US" dirty="0"/>
              <a:t>)=</a:t>
            </a:r>
            <a:r>
              <a:rPr lang="en-US" dirty="0" err="1"/>
              <a:t>g</a:t>
            </a:r>
            <a:r>
              <a:rPr lang="en-US" baseline="-25000" dirty="0" err="1"/>
              <a:t>i</a:t>
            </a:r>
            <a:r>
              <a:rPr lang="en-US" dirty="0"/>
              <a:t>(</a:t>
            </a:r>
            <a:r>
              <a:rPr lang="el-GR" dirty="0"/>
              <a:t>β</a:t>
            </a:r>
            <a:r>
              <a:rPr lang="en-US" dirty="0"/>
              <a:t>), </a:t>
            </a:r>
            <a:r>
              <a:rPr lang="en-US" dirty="0" err="1"/>
              <a:t>doka</a:t>
            </a:r>
            <a:r>
              <a:rPr lang="sr-Latn-RS" dirty="0"/>
              <a:t>z</a:t>
            </a:r>
            <a:r>
              <a:rPr lang="en-US" dirty="0" err="1"/>
              <a:t>ali</a:t>
            </a:r>
            <a:r>
              <a:rPr lang="en-US" dirty="0"/>
              <a:t> </a:t>
            </a:r>
            <a:r>
              <a:rPr lang="en-US" dirty="0" err="1"/>
              <a:t>smo</a:t>
            </a:r>
            <a:r>
              <a:rPr lang="en-US" dirty="0"/>
              <a:t> da </a:t>
            </a:r>
            <a:r>
              <a:rPr lang="en-US" dirty="0" err="1"/>
              <a:t>nema</a:t>
            </a:r>
            <a:r>
              <a:rPr lang="en-US" dirty="0"/>
              <a:t> </a:t>
            </a:r>
            <a:r>
              <a:rPr lang="en-US" dirty="0" err="1"/>
              <a:t>zavisnosti</a:t>
            </a:r>
            <a:r>
              <a:rPr lang="en-US" dirty="0"/>
              <a:t> </a:t>
            </a:r>
            <a:r>
              <a:rPr lang="en-US" dirty="0" err="1"/>
              <a:t>iz</a:t>
            </a:r>
            <a:r>
              <a:rPr lang="sr-Latn-RS" dirty="0"/>
              <a:t>među dva referenciranja nekom elementu nekog polja.</a:t>
            </a:r>
          </a:p>
          <a:p>
            <a:pPr marL="514350" indent="-457200"/>
            <a:r>
              <a:rPr lang="sr-Latn-RS" dirty="0"/>
              <a:t>Primer:</a:t>
            </a:r>
          </a:p>
          <a:p>
            <a:pPr marL="400050" lvl="1" indent="0">
              <a:buNone/>
            </a:pPr>
            <a:r>
              <a:rPr lang="nn-NO" b="0" i="0" u="none" strike="noStrike" baseline="0" dirty="0">
                <a:latin typeface="Courier"/>
              </a:rPr>
              <a:t>for(i = 0; i &lt; 10; i++)</a:t>
            </a:r>
          </a:p>
          <a:p>
            <a:pPr marL="400050" lvl="1" indent="0">
              <a:buNone/>
            </a:pPr>
            <a:r>
              <a:rPr lang="sr-Latn-RS" b="0" i="0" u="none" strike="noStrike" baseline="0" dirty="0">
                <a:latin typeface="Courier"/>
              </a:rPr>
              <a:t>for(j = 0; j &lt; 10; j+=2)</a:t>
            </a:r>
          </a:p>
          <a:p>
            <a:pPr marL="400050" lvl="1" indent="0">
              <a:buNone/>
            </a:pPr>
            <a:r>
              <a:rPr lang="nn-NO" b="0" i="0" u="none" strike="noStrike" baseline="0" dirty="0">
                <a:latin typeface="Courier"/>
              </a:rPr>
              <a:t>for(k = 10; k &gt; 0; k--)</a:t>
            </a:r>
          </a:p>
          <a:p>
            <a:pPr marL="400050" lvl="1" indent="0">
              <a:buNone/>
            </a:pPr>
            <a:r>
              <a:rPr lang="sr-Latn-RS" b="0" i="0" u="none" strike="noStrike" baseline="0" dirty="0">
                <a:latin typeface="Courier"/>
              </a:rPr>
              <a:t>A[0][i][j] = A[10][i][k];</a:t>
            </a:r>
          </a:p>
          <a:p>
            <a:pPr marL="514350" indent="-457200"/>
            <a:r>
              <a:rPr lang="sr-Latn-RS" dirty="0"/>
              <a:t>Prvi subsript par je </a:t>
            </a:r>
            <a:r>
              <a:rPr lang="en-US" dirty="0"/>
              <a:t>&lt;0,10&gt; i po</a:t>
            </a:r>
            <a:r>
              <a:rPr lang="sr-Latn-RS" dirty="0"/>
              <a:t>š</a:t>
            </a:r>
            <a:r>
              <a:rPr lang="en-US" dirty="0"/>
              <a:t>to je </a:t>
            </a:r>
            <a:r>
              <a:rPr lang="sr-Latn-RS" dirty="0"/>
              <a:t>0</a:t>
            </a:r>
            <a:r>
              <a:rPr lang="en-US" dirty="0"/>
              <a:t>≠</a:t>
            </a:r>
            <a:r>
              <a:rPr lang="sr-Latn-RS" dirty="0"/>
              <a:t>10, ne postoji zavisnost u petlji.</a:t>
            </a:r>
          </a:p>
        </p:txBody>
      </p:sp>
    </p:spTree>
    <p:extLst>
      <p:ext uri="{BB962C8B-B14F-4D97-AF65-F5344CB8AC3E}">
        <p14:creationId xmlns:p14="http://schemas.microsoft.com/office/powerpoint/2010/main" val="697382799"/>
      </p:ext>
    </p:extLst>
  </p:cSld>
  <p:clrMapOvr>
    <a:masterClrMapping/>
  </p:clrMapOvr>
  <p:transition>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82EA3-EB2D-BBAF-4115-BA0D08118079}"/>
              </a:ext>
            </a:extLst>
          </p:cNvPr>
          <p:cNvSpPr>
            <a:spLocks noGrp="1"/>
          </p:cNvSpPr>
          <p:nvPr>
            <p:ph type="title"/>
          </p:nvPr>
        </p:nvSpPr>
        <p:spPr/>
        <p:txBody>
          <a:bodyPr/>
          <a:lstStyle/>
          <a:p>
            <a:endParaRPr lang="sr-Latn-RS"/>
          </a:p>
        </p:txBody>
      </p:sp>
      <p:sp>
        <p:nvSpPr>
          <p:cNvPr id="3" name="Content Placeholder 2">
            <a:extLst>
              <a:ext uri="{FF2B5EF4-FFF2-40B4-BE49-F238E27FC236}">
                <a16:creationId xmlns:a16="http://schemas.microsoft.com/office/drawing/2014/main" id="{66105969-2896-63E5-813B-32353F794D83}"/>
              </a:ext>
            </a:extLst>
          </p:cNvPr>
          <p:cNvSpPr>
            <a:spLocks noGrp="1"/>
          </p:cNvSpPr>
          <p:nvPr>
            <p:ph idx="1"/>
          </p:nvPr>
        </p:nvSpPr>
        <p:spPr/>
        <p:txBody>
          <a:bodyPr/>
          <a:lstStyle/>
          <a:p>
            <a:r>
              <a:rPr lang="en-US" dirty="0" err="1"/>
              <a:t>Prvo</a:t>
            </a:r>
            <a:r>
              <a:rPr lang="en-US" dirty="0"/>
              <a:t> </a:t>
            </a:r>
            <a:r>
              <a:rPr lang="sr-Latn-RS" dirty="0"/>
              <a:t>tražimo da li postoji ZIV subscript</a:t>
            </a:r>
          </a:p>
          <a:p>
            <a:pPr lvl="1"/>
            <a:r>
              <a:rPr lang="sr-Latn-RS" dirty="0"/>
              <a:t>A[..., cw , ...] = A[..., cr, ...] </a:t>
            </a:r>
          </a:p>
          <a:p>
            <a:pPr lvl="2"/>
            <a:r>
              <a:rPr lang="sr-Latn-RS" dirty="0"/>
              <a:t>ako su cw i cr konstante i cw≠cr, sigurno nema zavisnosti!</a:t>
            </a:r>
          </a:p>
          <a:p>
            <a:pPr lvl="1"/>
            <a:r>
              <a:rPr lang="sr-Latn-RS" dirty="0"/>
              <a:t>Primer</a:t>
            </a:r>
          </a:p>
          <a:p>
            <a:pPr lvl="2"/>
            <a:r>
              <a:rPr lang="sr-Latn-RS" dirty="0"/>
              <a:t>A[5, j+1, 10, k] = A[i, j, 12, k-1] + c</a:t>
            </a:r>
          </a:p>
          <a:p>
            <a:pPr lvl="2"/>
            <a:r>
              <a:rPr lang="sr-Latn-RS" dirty="0"/>
              <a:t>treći subscript je ZIV, i pošto je 10 ≠12, sigurno nema zavisnosti</a:t>
            </a:r>
          </a:p>
          <a:p>
            <a:r>
              <a:rPr lang="sr-Latn-RS" dirty="0"/>
              <a:t>Ako nema ZIV ili nam ZIV ne da odgovor, pronalaze se SIV subscripti</a:t>
            </a:r>
          </a:p>
          <a:p>
            <a:pPr lvl="1"/>
            <a:r>
              <a:rPr lang="sr-Latn-RS" dirty="0"/>
              <a:t>primenjujemo GCD test</a:t>
            </a:r>
          </a:p>
          <a:p>
            <a:pPr lvl="2"/>
            <a:r>
              <a:rPr lang="sr-Latn-RS" dirty="0"/>
              <a:t>ako test kaže da nema zavisnosti u datom subscript paru, zavisnost ne postoji!</a:t>
            </a:r>
          </a:p>
        </p:txBody>
      </p:sp>
    </p:spTree>
    <p:extLst>
      <p:ext uri="{BB962C8B-B14F-4D97-AF65-F5344CB8AC3E}">
        <p14:creationId xmlns:p14="http://schemas.microsoft.com/office/powerpoint/2010/main" val="1699427805"/>
      </p:ext>
    </p:extLst>
  </p:cSld>
  <p:clrMapOvr>
    <a:masterClrMapping/>
  </p:clrMapOvr>
  <p:transition>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FC5C-84B5-BA99-673E-9BE1F71E340D}"/>
              </a:ext>
            </a:extLst>
          </p:cNvPr>
          <p:cNvSpPr>
            <a:spLocks noGrp="1"/>
          </p:cNvSpPr>
          <p:nvPr>
            <p:ph type="title"/>
          </p:nvPr>
        </p:nvSpPr>
        <p:spPr>
          <a:xfrm>
            <a:off x="0" y="0"/>
            <a:ext cx="9144000" cy="584767"/>
          </a:xfrm>
        </p:spPr>
        <p:txBody>
          <a:bodyPr/>
          <a:lstStyle/>
          <a:p>
            <a:r>
              <a:rPr lang="en-US" sz="3200" dirty="0" err="1"/>
              <a:t>Vektori</a:t>
            </a:r>
            <a:r>
              <a:rPr lang="en-US" sz="3200" dirty="0"/>
              <a:t> </a:t>
            </a:r>
            <a:r>
              <a:rPr lang="sr-Latn-RS" sz="3200" dirty="0"/>
              <a:t>z</a:t>
            </a:r>
            <a:r>
              <a:rPr lang="en-US" sz="3200" dirty="0" err="1"/>
              <a:t>avisnosti</a:t>
            </a:r>
            <a:r>
              <a:rPr lang="en-US" sz="3200" dirty="0"/>
              <a:t> </a:t>
            </a:r>
            <a:r>
              <a:rPr lang="sr-Latn-RS" sz="3200" dirty="0"/>
              <a:t>i vektori pravca zavisnosti</a:t>
            </a:r>
          </a:p>
        </p:txBody>
      </p:sp>
      <p:sp>
        <p:nvSpPr>
          <p:cNvPr id="3" name="Content Placeholder 2">
            <a:extLst>
              <a:ext uri="{FF2B5EF4-FFF2-40B4-BE49-F238E27FC236}">
                <a16:creationId xmlns:a16="http://schemas.microsoft.com/office/drawing/2014/main" id="{316C4D8A-F8A2-3A3F-F270-C1F989D709DF}"/>
              </a:ext>
            </a:extLst>
          </p:cNvPr>
          <p:cNvSpPr>
            <a:spLocks noGrp="1"/>
          </p:cNvSpPr>
          <p:nvPr>
            <p:ph idx="1"/>
          </p:nvPr>
        </p:nvSpPr>
        <p:spPr/>
        <p:txBody>
          <a:bodyPr>
            <a:normAutofit/>
          </a:bodyPr>
          <a:lstStyle/>
          <a:p>
            <a:r>
              <a:rPr lang="sr-Latn-RS" dirty="0"/>
              <a:t>Umesto rešavanja sistema Diofantovih jednačina, nekada je moguće otkriti zavisnosti u gnezdu petlji pomoću vektora zavisnosti</a:t>
            </a:r>
          </a:p>
          <a:p>
            <a:pPr lvl="1">
              <a:lnSpc>
                <a:spcPct val="90000"/>
              </a:lnSpc>
              <a:defRPr/>
            </a:pPr>
            <a:r>
              <a:rPr lang="en-US" altLang="en-US" dirty="0">
                <a:cs typeface="Times New Roman" panose="02020603050405020304" pitchFamily="18" charset="0"/>
              </a:rPr>
              <a:t>Da bi </a:t>
            </a:r>
            <a:r>
              <a:rPr lang="en-US" altLang="en-US" dirty="0" err="1">
                <a:cs typeface="Times New Roman" panose="02020603050405020304" pitchFamily="18" charset="0"/>
              </a:rPr>
              <a:t>uo</a:t>
            </a:r>
            <a:r>
              <a:rPr lang="sr-Latn-CS" altLang="en-US" dirty="0">
                <a:cs typeface="Times New Roman" panose="02020603050405020304" pitchFamily="18" charset="0"/>
              </a:rPr>
              <a:t>č</a:t>
            </a:r>
            <a:r>
              <a:rPr lang="en-US" altLang="en-US" dirty="0" err="1">
                <a:cs typeface="Times New Roman" panose="02020603050405020304" pitchFamily="18" charset="0"/>
              </a:rPr>
              <a:t>ili</a:t>
            </a:r>
            <a:r>
              <a:rPr lang="en-US" altLang="en-US" dirty="0">
                <a:cs typeface="Times New Roman" panose="02020603050405020304" pitchFamily="18" charset="0"/>
              </a:rPr>
              <a:t> </a:t>
            </a:r>
            <a:r>
              <a:rPr lang="en-US" altLang="en-US" dirty="0" err="1">
                <a:cs typeface="Times New Roman" panose="02020603050405020304" pitchFamily="18" charset="0"/>
              </a:rPr>
              <a:t>kakve</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postoje</a:t>
            </a:r>
            <a:r>
              <a:rPr lang="en-US" altLang="en-US" dirty="0">
                <a:cs typeface="Times New Roman" panose="02020603050405020304" pitchFamily="18" charset="0"/>
              </a:rPr>
              <a:t> </a:t>
            </a:r>
            <a:r>
              <a:rPr lang="en-US" altLang="en-US" dirty="0" err="1">
                <a:cs typeface="Times New Roman" panose="02020603050405020304" pitchFamily="18" charset="0"/>
              </a:rPr>
              <a:t>izmedju</a:t>
            </a:r>
            <a:r>
              <a:rPr lang="en-US" altLang="en-US" dirty="0">
                <a:cs typeface="Times New Roman" panose="02020603050405020304" pitchFamily="18" charset="0"/>
              </a:rPr>
              <a:t> </a:t>
            </a:r>
            <a:r>
              <a:rPr lang="en-US" altLang="en-US" dirty="0" err="1">
                <a:cs typeface="Times New Roman" panose="02020603050405020304" pitchFamily="18" charset="0"/>
              </a:rPr>
              <a:t>naredbi</a:t>
            </a:r>
            <a:r>
              <a:rPr lang="en-US" altLang="en-US" dirty="0">
                <a:cs typeface="Times New Roman" panose="02020603050405020304" pitchFamily="18" charset="0"/>
              </a:rPr>
              <a:t> </a:t>
            </a:r>
            <a:r>
              <a:rPr lang="en-US" altLang="en-US" dirty="0" err="1">
                <a:cs typeface="Times New Roman" panose="02020603050405020304" pitchFamily="18" charset="0"/>
              </a:rPr>
              <a:t>unutar</a:t>
            </a:r>
            <a:r>
              <a:rPr lang="en-US" altLang="en-US" dirty="0">
                <a:cs typeface="Times New Roman" panose="02020603050405020304" pitchFamily="18" charset="0"/>
              </a:rPr>
              <a:t> </a:t>
            </a:r>
            <a:r>
              <a:rPr lang="en-US" altLang="en-US" dirty="0" err="1">
                <a:cs typeface="Times New Roman" panose="02020603050405020304" pitchFamily="18" charset="0"/>
              </a:rPr>
              <a:t>tela</a:t>
            </a:r>
            <a:r>
              <a:rPr lang="en-US" altLang="en-US" dirty="0">
                <a:cs typeface="Times New Roman" panose="02020603050405020304" pitchFamily="18" charset="0"/>
              </a:rPr>
              <a:t> </a:t>
            </a:r>
            <a:r>
              <a:rPr lang="en-US" altLang="en-US" dirty="0" err="1">
                <a:cs typeface="Times New Roman" panose="02020603050405020304" pitchFamily="18" charset="0"/>
              </a:rPr>
              <a:t>petlje</a:t>
            </a:r>
            <a:r>
              <a:rPr lang="en-US" altLang="en-US" dirty="0">
                <a:cs typeface="Times New Roman" panose="02020603050405020304" pitchFamily="18" charset="0"/>
              </a:rPr>
              <a:t> </a:t>
            </a:r>
            <a:r>
              <a:rPr lang="en-US" altLang="en-US" dirty="0" err="1">
                <a:cs typeface="Times New Roman" panose="02020603050405020304" pitchFamily="18" charset="0"/>
              </a:rPr>
              <a:t>potrebno</a:t>
            </a:r>
            <a:r>
              <a:rPr lang="en-US" altLang="en-US" dirty="0">
                <a:cs typeface="Times New Roman" panose="02020603050405020304" pitchFamily="18" charset="0"/>
              </a:rPr>
              <a:t> je </a:t>
            </a:r>
            <a:r>
              <a:rPr lang="en-US" altLang="en-US" dirty="0" err="1">
                <a:cs typeface="Times New Roman" panose="02020603050405020304" pitchFamily="18" charset="0"/>
              </a:rPr>
              <a:t>prvo</a:t>
            </a:r>
            <a:r>
              <a:rPr lang="en-US" altLang="en-US" dirty="0">
                <a:cs typeface="Times New Roman" panose="02020603050405020304" pitchFamily="18" charset="0"/>
              </a:rPr>
              <a:t> </a:t>
            </a:r>
            <a:r>
              <a:rPr lang="en-US" altLang="en-US" dirty="0" err="1">
                <a:cs typeface="Times New Roman" panose="02020603050405020304" pitchFamily="18" charset="0"/>
              </a:rPr>
              <a:t>uo</a:t>
            </a:r>
            <a:r>
              <a:rPr lang="sr-Latn-CS" altLang="en-US" dirty="0">
                <a:cs typeface="Times New Roman" panose="02020603050405020304" pitchFamily="18" charset="0"/>
              </a:rPr>
              <a:t>č</a:t>
            </a:r>
            <a:r>
              <a:rPr lang="en-US" altLang="en-US" dirty="0" err="1">
                <a:cs typeface="Times New Roman" panose="02020603050405020304" pitchFamily="18" charset="0"/>
              </a:rPr>
              <a:t>iti</a:t>
            </a:r>
            <a:r>
              <a:rPr lang="en-US" altLang="en-US" dirty="0">
                <a:cs typeface="Times New Roman" panose="02020603050405020304" pitchFamily="18" charset="0"/>
              </a:rPr>
              <a:t> </a:t>
            </a:r>
            <a:r>
              <a:rPr lang="en-US" altLang="en-US" dirty="0" err="1">
                <a:cs typeface="Times New Roman" panose="02020603050405020304" pitchFamily="18" charset="0"/>
              </a:rPr>
              <a:t>sve</a:t>
            </a:r>
            <a:r>
              <a:rPr lang="en-US" altLang="en-US" dirty="0">
                <a:cs typeface="Times New Roman" panose="02020603050405020304" pitchFamily="18" charset="0"/>
              </a:rPr>
              <a:t> </a:t>
            </a:r>
            <a:r>
              <a:rPr lang="en-US" altLang="en-US" dirty="0" err="1">
                <a:cs typeface="Times New Roman" panose="02020603050405020304" pitchFamily="18" charset="0"/>
              </a:rPr>
              <a:t>parove</a:t>
            </a:r>
            <a:r>
              <a:rPr lang="en-US" altLang="en-US" dirty="0">
                <a:cs typeface="Times New Roman" panose="02020603050405020304" pitchFamily="18" charset="0"/>
              </a:rPr>
              <a:t> </a:t>
            </a:r>
            <a:r>
              <a:rPr lang="en-US" altLang="en-US" dirty="0" err="1">
                <a:cs typeface="Times New Roman" panose="02020603050405020304" pitchFamily="18" charset="0"/>
              </a:rPr>
              <a:t>generisanih</a:t>
            </a:r>
            <a:r>
              <a:rPr lang="en-US" altLang="en-US" dirty="0">
                <a:cs typeface="Times New Roman" panose="02020603050405020304" pitchFamily="18" charset="0"/>
              </a:rPr>
              <a:t>—</a:t>
            </a:r>
            <a:r>
              <a:rPr lang="en-US" altLang="en-US" dirty="0" err="1">
                <a:cs typeface="Times New Roman" panose="02020603050405020304" pitchFamily="18" charset="0"/>
              </a:rPr>
              <a:t>kori</a:t>
            </a:r>
            <a:r>
              <a:rPr lang="sr-Latn-CS" altLang="en-US" dirty="0">
                <a:cs typeface="Times New Roman" panose="02020603050405020304" pitchFamily="18" charset="0"/>
              </a:rPr>
              <a:t>šć</a:t>
            </a:r>
            <a:r>
              <a:rPr lang="en-US" altLang="en-US" dirty="0" err="1">
                <a:cs typeface="Times New Roman" panose="02020603050405020304" pitchFamily="18" charset="0"/>
              </a:rPr>
              <a:t>enih</a:t>
            </a:r>
            <a:r>
              <a:rPr lang="en-US" altLang="en-US" dirty="0">
                <a:cs typeface="Times New Roman" panose="02020603050405020304" pitchFamily="18" charset="0"/>
              </a:rPr>
              <a:t> </a:t>
            </a:r>
            <a:r>
              <a:rPr lang="en-US" altLang="en-US" dirty="0" err="1">
                <a:cs typeface="Times New Roman" panose="02020603050405020304" pitchFamily="18" charset="0"/>
              </a:rPr>
              <a:t>promenljivih</a:t>
            </a:r>
            <a:r>
              <a:rPr lang="en-US" altLang="en-US" dirty="0">
                <a:cs typeface="Times New Roman" panose="02020603050405020304" pitchFamily="18" charset="0"/>
              </a:rPr>
              <a:t> i za </a:t>
            </a:r>
            <a:r>
              <a:rPr lang="en-US" altLang="en-US" dirty="0" err="1">
                <a:cs typeface="Times New Roman" panose="02020603050405020304" pitchFamily="18" charset="0"/>
              </a:rPr>
              <a:t>svaki</a:t>
            </a:r>
            <a:r>
              <a:rPr lang="en-US" altLang="en-US" dirty="0">
                <a:cs typeface="Times New Roman" panose="02020603050405020304" pitchFamily="18" charset="0"/>
              </a:rPr>
              <a:t> </a:t>
            </a:r>
            <a:r>
              <a:rPr lang="en-US" altLang="en-US" dirty="0" err="1">
                <a:cs typeface="Times New Roman" panose="02020603050405020304" pitchFamily="18" charset="0"/>
              </a:rPr>
              <a:t>takav</a:t>
            </a:r>
            <a:r>
              <a:rPr lang="en-US" altLang="en-US" dirty="0">
                <a:cs typeface="Times New Roman" panose="02020603050405020304" pitchFamily="18" charset="0"/>
              </a:rPr>
              <a:t> par </a:t>
            </a:r>
            <a:r>
              <a:rPr lang="en-US" altLang="en-US" dirty="0" err="1">
                <a:cs typeface="Times New Roman" panose="02020603050405020304" pitchFamily="18" charset="0"/>
              </a:rPr>
              <a:t>odrediti</a:t>
            </a:r>
            <a:r>
              <a:rPr lang="en-US" altLang="en-US" dirty="0">
                <a:cs typeface="Times New Roman" panose="02020603050405020304" pitchFamily="18" charset="0"/>
              </a:rPr>
              <a:t> </a:t>
            </a:r>
            <a:r>
              <a:rPr lang="en-US" altLang="en-US" dirty="0" err="1">
                <a:cs typeface="Times New Roman" panose="02020603050405020304" pitchFamily="18" charset="0"/>
              </a:rPr>
              <a:t>vektor</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d. </a:t>
            </a:r>
            <a:endParaRPr lang="hr-HR" altLang="en-US" dirty="0"/>
          </a:p>
          <a:p>
            <a:pPr lvl="2">
              <a:lnSpc>
                <a:spcPct val="90000"/>
              </a:lnSpc>
              <a:defRPr/>
            </a:pPr>
            <a:r>
              <a:rPr lang="en-US" altLang="en-US" dirty="0">
                <a:cs typeface="Times New Roman" panose="02020603050405020304" pitchFamily="18" charset="0"/>
              </a:rPr>
              <a:t>Od </a:t>
            </a:r>
            <a:r>
              <a:rPr lang="en-US" altLang="en-US" dirty="0" err="1">
                <a:cs typeface="Times New Roman" panose="02020603050405020304" pitchFamily="18" charset="0"/>
              </a:rPr>
              <a:t>svih</a:t>
            </a:r>
            <a:r>
              <a:rPr lang="en-US" altLang="en-US" dirty="0">
                <a:cs typeface="Times New Roman" panose="02020603050405020304" pitchFamily="18" charset="0"/>
              </a:rPr>
              <a:t> </a:t>
            </a:r>
            <a:r>
              <a:rPr lang="en-US" altLang="en-US" dirty="0" err="1">
                <a:cs typeface="Times New Roman" panose="02020603050405020304" pitchFamily="18" charset="0"/>
              </a:rPr>
              <a:t>vektora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formira</a:t>
            </a:r>
            <a:r>
              <a:rPr lang="en-US" altLang="en-US" dirty="0">
                <a:cs typeface="Times New Roman" panose="02020603050405020304" pitchFamily="18" charset="0"/>
              </a:rPr>
              <a:t> se </a:t>
            </a:r>
            <a:r>
              <a:rPr lang="en-US" altLang="en-US" dirty="0" err="1">
                <a:cs typeface="Times New Roman" panose="02020603050405020304" pitchFamily="18" charset="0"/>
              </a:rPr>
              <a:t>matrica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po </a:t>
            </a:r>
            <a:r>
              <a:rPr lang="en-US" altLang="en-US" dirty="0" err="1">
                <a:cs typeface="Times New Roman" panose="02020603050405020304" pitchFamily="18" charset="0"/>
              </a:rPr>
              <a:t>podacima</a:t>
            </a:r>
            <a:r>
              <a:rPr lang="en-US" altLang="en-US" dirty="0">
                <a:cs typeface="Times New Roman" panose="02020603050405020304" pitchFamily="18" charset="0"/>
              </a:rPr>
              <a:t>, D</a:t>
            </a:r>
            <a:r>
              <a:rPr lang="en-US" altLang="en-US" dirty="0"/>
              <a:t> </a:t>
            </a:r>
            <a:endParaRPr lang="hr-HR" altLang="en-US" dirty="0"/>
          </a:p>
          <a:p>
            <a:pPr lvl="2">
              <a:lnSpc>
                <a:spcPct val="90000"/>
              </a:lnSpc>
              <a:defRPr/>
            </a:pPr>
            <a:r>
              <a:rPr lang="en-US" altLang="en-US" dirty="0" err="1">
                <a:cs typeface="Times New Roman" panose="02020603050405020304" pitchFamily="18" charset="0"/>
              </a:rPr>
              <a:t>Ako</a:t>
            </a:r>
            <a:r>
              <a:rPr lang="en-US" altLang="en-US" dirty="0">
                <a:cs typeface="Times New Roman" panose="02020603050405020304" pitchFamily="18" charset="0"/>
              </a:rPr>
              <a:t> je </a:t>
            </a:r>
            <a:r>
              <a:rPr lang="en-US" altLang="en-US" dirty="0" err="1">
                <a:cs typeface="Times New Roman" panose="02020603050405020304" pitchFamily="18" charset="0"/>
              </a:rPr>
              <a:t>generisana</a:t>
            </a:r>
            <a:r>
              <a:rPr lang="en-US" altLang="en-US" dirty="0">
                <a:cs typeface="Times New Roman" panose="02020603050405020304" pitchFamily="18" charset="0"/>
              </a:rPr>
              <a:t> </a:t>
            </a:r>
            <a:r>
              <a:rPr lang="en-US" altLang="en-US" dirty="0" err="1">
                <a:cs typeface="Times New Roman" panose="02020603050405020304" pitchFamily="18" charset="0"/>
              </a:rPr>
              <a:t>promenljiva</a:t>
            </a:r>
            <a:r>
              <a:rPr lang="en-US" altLang="en-US" dirty="0">
                <a:cs typeface="Times New Roman" panose="02020603050405020304" pitchFamily="18" charset="0"/>
              </a:rPr>
              <a:t> X(f(I)), </a:t>
            </a:r>
            <a:r>
              <a:rPr lang="en-US" altLang="en-US" dirty="0" err="1">
                <a:cs typeface="Times New Roman" panose="02020603050405020304" pitchFamily="18" charset="0"/>
              </a:rPr>
              <a:t>gde</a:t>
            </a:r>
            <a:r>
              <a:rPr lang="en-US" altLang="en-US" dirty="0">
                <a:cs typeface="Times New Roman" panose="02020603050405020304" pitchFamily="18" charset="0"/>
              </a:rPr>
              <a:t> je f </a:t>
            </a:r>
            <a:r>
              <a:rPr lang="en-US" altLang="en-US" dirty="0" err="1">
                <a:cs typeface="Times New Roman" panose="02020603050405020304" pitchFamily="18" charset="0"/>
              </a:rPr>
              <a:t>celobrojna</a:t>
            </a:r>
            <a:r>
              <a:rPr lang="en-US" altLang="en-US" dirty="0">
                <a:cs typeface="Times New Roman" panose="02020603050405020304" pitchFamily="18" charset="0"/>
              </a:rPr>
              <a:t> </a:t>
            </a:r>
            <a:r>
              <a:rPr lang="en-US" altLang="en-US" dirty="0" err="1">
                <a:cs typeface="Times New Roman" panose="02020603050405020304" pitchFamily="18" charset="0"/>
              </a:rPr>
              <a:t>funkcija</a:t>
            </a:r>
            <a:r>
              <a:rPr lang="en-US" altLang="en-US" dirty="0">
                <a:cs typeface="Times New Roman" panose="02020603050405020304" pitchFamily="18" charset="0"/>
              </a:rPr>
              <a:t> </a:t>
            </a:r>
            <a:r>
              <a:rPr lang="en-US" altLang="en-US" dirty="0" err="1">
                <a:cs typeface="Times New Roman" panose="02020603050405020304" pitchFamily="18" charset="0"/>
              </a:rPr>
              <a:t>definisana</a:t>
            </a:r>
            <a:r>
              <a:rPr lang="en-US" altLang="en-US" dirty="0">
                <a:cs typeface="Times New Roman" panose="02020603050405020304" pitchFamily="18" charset="0"/>
              </a:rPr>
              <a:t> </a:t>
            </a:r>
            <a:r>
              <a:rPr lang="en-US" altLang="en-US" dirty="0" err="1">
                <a:cs typeface="Times New Roman" panose="02020603050405020304" pitchFamily="18" charset="0"/>
              </a:rPr>
              <a:t>nad</a:t>
            </a:r>
            <a:r>
              <a:rPr lang="en-US" altLang="en-US" dirty="0">
                <a:cs typeface="Times New Roman" panose="02020603050405020304" pitchFamily="18" charset="0"/>
              </a:rPr>
              <a:t> </a:t>
            </a:r>
            <a:r>
              <a:rPr lang="en-US" altLang="en-US" dirty="0" err="1">
                <a:cs typeface="Times New Roman" panose="02020603050405020304" pitchFamily="18" charset="0"/>
              </a:rPr>
              <a:t>indeksnim</a:t>
            </a:r>
            <a:r>
              <a:rPr lang="en-US" altLang="en-US" dirty="0">
                <a:cs typeface="Times New Roman" panose="02020603050405020304" pitchFamily="18" charset="0"/>
              </a:rPr>
              <a:t> </a:t>
            </a:r>
            <a:r>
              <a:rPr lang="en-US" altLang="en-US" dirty="0" err="1">
                <a:cs typeface="Times New Roman" panose="02020603050405020304" pitchFamily="18" charset="0"/>
              </a:rPr>
              <a:t>skupom</a:t>
            </a:r>
            <a:r>
              <a:rPr lang="en-US" altLang="en-US" dirty="0">
                <a:cs typeface="Times New Roman" panose="02020603050405020304" pitchFamily="18" charset="0"/>
              </a:rPr>
              <a:t> I, a X(g(I)) </a:t>
            </a:r>
            <a:r>
              <a:rPr lang="en-US" altLang="en-US" dirty="0" err="1">
                <a:cs typeface="Times New Roman" panose="02020603050405020304" pitchFamily="18" charset="0"/>
              </a:rPr>
              <a:t>kori</a:t>
            </a:r>
            <a:r>
              <a:rPr lang="sr-Latn-CS" altLang="en-US" dirty="0">
                <a:cs typeface="Times New Roman" panose="02020603050405020304" pitchFamily="18" charset="0"/>
              </a:rPr>
              <a:t>šć</a:t>
            </a:r>
            <a:r>
              <a:rPr lang="en-US" altLang="en-US" dirty="0" err="1">
                <a:cs typeface="Times New Roman" panose="02020603050405020304" pitchFamily="18" charset="0"/>
              </a:rPr>
              <a:t>ena</a:t>
            </a:r>
            <a:r>
              <a:rPr lang="en-US" altLang="en-US" dirty="0">
                <a:cs typeface="Times New Roman" panose="02020603050405020304" pitchFamily="18" charset="0"/>
              </a:rPr>
              <a:t> </a:t>
            </a:r>
            <a:r>
              <a:rPr lang="en-US" altLang="en-US" dirty="0" err="1">
                <a:cs typeface="Times New Roman" panose="02020603050405020304" pitchFamily="18" charset="0"/>
              </a:rPr>
              <a:t>promenljiva</a:t>
            </a:r>
            <a:r>
              <a:rPr lang="en-US" altLang="en-US" dirty="0">
                <a:cs typeface="Times New Roman" panose="02020603050405020304" pitchFamily="18" charset="0"/>
              </a:rPr>
              <a:t> (g je </a:t>
            </a:r>
            <a:r>
              <a:rPr lang="en-US" altLang="en-US" dirty="0" err="1">
                <a:cs typeface="Times New Roman" panose="02020603050405020304" pitchFamily="18" charset="0"/>
              </a:rPr>
              <a:t>opet</a:t>
            </a:r>
            <a:r>
              <a:rPr lang="en-US" altLang="en-US" dirty="0">
                <a:cs typeface="Times New Roman" panose="02020603050405020304" pitchFamily="18" charset="0"/>
              </a:rPr>
              <a:t>  </a:t>
            </a:r>
            <a:r>
              <a:rPr lang="en-US" altLang="en-US" dirty="0" err="1">
                <a:cs typeface="Times New Roman" panose="02020603050405020304" pitchFamily="18" charset="0"/>
              </a:rPr>
              <a:t>celobrojna</a:t>
            </a:r>
            <a:r>
              <a:rPr lang="en-US" altLang="en-US" dirty="0">
                <a:cs typeface="Times New Roman" panose="02020603050405020304" pitchFamily="18" charset="0"/>
              </a:rPr>
              <a:t> </a:t>
            </a:r>
            <a:r>
              <a:rPr lang="en-US" altLang="en-US" dirty="0" err="1">
                <a:cs typeface="Times New Roman" panose="02020603050405020304" pitchFamily="18" charset="0"/>
              </a:rPr>
              <a:t>funkcija</a:t>
            </a:r>
            <a:r>
              <a:rPr lang="en-US" altLang="en-US" dirty="0">
                <a:cs typeface="Times New Roman" panose="02020603050405020304" pitchFamily="18" charset="0"/>
              </a:rPr>
              <a:t> </a:t>
            </a:r>
            <a:r>
              <a:rPr lang="en-US" altLang="en-US" dirty="0" err="1">
                <a:cs typeface="Times New Roman" panose="02020603050405020304" pitchFamily="18" charset="0"/>
              </a:rPr>
              <a:t>definisana</a:t>
            </a:r>
            <a:r>
              <a:rPr lang="en-US" altLang="en-US" dirty="0">
                <a:cs typeface="Times New Roman" panose="02020603050405020304" pitchFamily="18" charset="0"/>
              </a:rPr>
              <a:t> </a:t>
            </a:r>
            <a:r>
              <a:rPr lang="en-US" altLang="en-US" dirty="0" err="1">
                <a:cs typeface="Times New Roman" panose="02020603050405020304" pitchFamily="18" charset="0"/>
              </a:rPr>
              <a:t>nad</a:t>
            </a:r>
            <a:r>
              <a:rPr lang="en-US" altLang="en-US" dirty="0">
                <a:cs typeface="Times New Roman" panose="02020603050405020304" pitchFamily="18" charset="0"/>
              </a:rPr>
              <a:t> </a:t>
            </a:r>
            <a:r>
              <a:rPr lang="en-US" altLang="en-US" dirty="0" err="1">
                <a:cs typeface="Times New Roman" panose="02020603050405020304" pitchFamily="18" charset="0"/>
              </a:rPr>
              <a:t>indeksnim</a:t>
            </a:r>
            <a:r>
              <a:rPr lang="en-US" altLang="en-US" dirty="0">
                <a:cs typeface="Times New Roman" panose="02020603050405020304" pitchFamily="18" charset="0"/>
              </a:rPr>
              <a:t> </a:t>
            </a:r>
            <a:r>
              <a:rPr lang="en-US" altLang="en-US" dirty="0" err="1">
                <a:cs typeface="Times New Roman" panose="02020603050405020304" pitchFamily="18" charset="0"/>
              </a:rPr>
              <a:t>skupom</a:t>
            </a:r>
            <a:r>
              <a:rPr lang="en-US" altLang="en-US" dirty="0">
                <a:cs typeface="Times New Roman" panose="02020603050405020304" pitchFamily="18" charset="0"/>
              </a:rPr>
              <a:t> I), </a:t>
            </a:r>
            <a:r>
              <a:rPr lang="en-US" altLang="en-US" dirty="0" err="1">
                <a:cs typeface="Times New Roman" panose="02020603050405020304" pitchFamily="18" charset="0"/>
              </a:rPr>
              <a:t>vektor</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se </a:t>
            </a:r>
            <a:r>
              <a:rPr lang="en-US" altLang="en-US" dirty="0" err="1">
                <a:cs typeface="Times New Roman" panose="02020603050405020304" pitchFamily="18" charset="0"/>
              </a:rPr>
              <a:t>izra</a:t>
            </a:r>
            <a:r>
              <a:rPr lang="sr-Latn-CS" altLang="en-US" dirty="0">
                <a:cs typeface="Times New Roman" panose="02020603050405020304" pitchFamily="18" charset="0"/>
              </a:rPr>
              <a:t>č</a:t>
            </a:r>
            <a:r>
              <a:rPr lang="en-US" altLang="en-US" dirty="0" err="1">
                <a:cs typeface="Times New Roman" panose="02020603050405020304" pitchFamily="18" charset="0"/>
              </a:rPr>
              <a:t>unava</a:t>
            </a:r>
            <a:r>
              <a:rPr lang="en-US" altLang="en-US" dirty="0">
                <a:cs typeface="Times New Roman" panose="02020603050405020304" pitchFamily="18" charset="0"/>
              </a:rPr>
              <a:t> </a:t>
            </a:r>
            <a:r>
              <a:rPr lang="en-US" altLang="en-US" dirty="0" err="1">
                <a:cs typeface="Times New Roman" panose="02020603050405020304" pitchFamily="18" charset="0"/>
              </a:rPr>
              <a:t>kao</a:t>
            </a:r>
            <a:endParaRPr lang="hr-HR" altLang="en-US" dirty="0"/>
          </a:p>
          <a:p>
            <a:pPr lvl="1" algn="ctr">
              <a:lnSpc>
                <a:spcPct val="90000"/>
              </a:lnSpc>
              <a:buFont typeface="Wingdings" panose="05000000000000000000" pitchFamily="2" charset="2"/>
              <a:buNone/>
              <a:defRPr/>
            </a:pPr>
            <a:r>
              <a:rPr lang="en-US" altLang="en-US" dirty="0">
                <a:cs typeface="Times New Roman" panose="02020603050405020304" pitchFamily="18" charset="0"/>
              </a:rPr>
              <a:t>d=f(I) - g(I).</a:t>
            </a:r>
            <a:endParaRPr lang="hr-HR" altLang="en-US" dirty="0"/>
          </a:p>
          <a:p>
            <a:pPr lvl="1" algn="just">
              <a:lnSpc>
                <a:spcPct val="90000"/>
              </a:lnSpc>
              <a:buFont typeface="Wingdings" panose="05000000000000000000" pitchFamily="2" charset="2"/>
              <a:buNone/>
              <a:defRPr/>
            </a:pPr>
            <a:r>
              <a:rPr lang="en-US" altLang="en-US" dirty="0" err="1">
                <a:cs typeface="Times New Roman" panose="02020603050405020304" pitchFamily="18" charset="0"/>
              </a:rPr>
              <a:t>Ako</a:t>
            </a:r>
            <a:r>
              <a:rPr lang="en-US" altLang="en-US" dirty="0">
                <a:cs typeface="Times New Roman" panose="02020603050405020304" pitchFamily="18" charset="0"/>
              </a:rPr>
              <a:t> </a:t>
            </a:r>
            <a:r>
              <a:rPr lang="en-US" altLang="en-US" dirty="0" err="1">
                <a:cs typeface="Times New Roman" panose="02020603050405020304" pitchFamily="18" charset="0"/>
              </a:rPr>
              <a:t>su</a:t>
            </a:r>
            <a:r>
              <a:rPr lang="en-US" altLang="en-US" dirty="0">
                <a:cs typeface="Times New Roman" panose="02020603050405020304" pitchFamily="18" charset="0"/>
              </a:rPr>
              <a:t> d</a:t>
            </a:r>
            <a:r>
              <a:rPr lang="en-US" altLang="en-US" baseline="-30000" dirty="0">
                <a:cs typeface="Times New Roman" panose="02020603050405020304" pitchFamily="18" charset="0"/>
              </a:rPr>
              <a:t>1</a:t>
            </a:r>
            <a:r>
              <a:rPr lang="en-US" altLang="en-US" dirty="0">
                <a:cs typeface="Times New Roman" panose="02020603050405020304" pitchFamily="18" charset="0"/>
              </a:rPr>
              <a:t>, d</a:t>
            </a:r>
            <a:r>
              <a:rPr lang="en-US" altLang="en-US" baseline="-30000" dirty="0">
                <a:cs typeface="Times New Roman" panose="02020603050405020304" pitchFamily="18" charset="0"/>
              </a:rPr>
              <a:t>2</a:t>
            </a:r>
            <a:r>
              <a:rPr lang="en-US" altLang="en-US" dirty="0">
                <a:cs typeface="Times New Roman" panose="02020603050405020304" pitchFamily="18" charset="0"/>
              </a:rPr>
              <a:t>, ... , d</a:t>
            </a:r>
            <a:r>
              <a:rPr lang="en-US" altLang="en-US" baseline="-30000" dirty="0">
                <a:cs typeface="Times New Roman" panose="02020603050405020304" pitchFamily="18" charset="0"/>
              </a:rPr>
              <a:t>k</a:t>
            </a:r>
            <a:r>
              <a:rPr lang="en-US" altLang="en-US" dirty="0">
                <a:cs typeface="Times New Roman" panose="02020603050405020304" pitchFamily="18" charset="0"/>
              </a:rPr>
              <a:t> </a:t>
            </a:r>
            <a:r>
              <a:rPr lang="en-US" altLang="en-US" dirty="0" err="1">
                <a:cs typeface="Times New Roman" panose="02020603050405020304" pitchFamily="18" charset="0"/>
              </a:rPr>
              <a:t>svi</a:t>
            </a:r>
            <a:r>
              <a:rPr lang="en-US" altLang="en-US" dirty="0">
                <a:cs typeface="Times New Roman" panose="02020603050405020304" pitchFamily="18" charset="0"/>
              </a:rPr>
              <a:t> </a:t>
            </a:r>
            <a:r>
              <a:rPr lang="en-US" altLang="en-US" dirty="0" err="1">
                <a:cs typeface="Times New Roman" panose="02020603050405020304" pitchFamily="18" charset="0"/>
              </a:rPr>
              <a:t>vektori</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tada</a:t>
            </a:r>
            <a:r>
              <a:rPr lang="en-US" altLang="en-US" dirty="0">
                <a:cs typeface="Times New Roman" panose="02020603050405020304" pitchFamily="18" charset="0"/>
              </a:rPr>
              <a:t> se </a:t>
            </a:r>
            <a:r>
              <a:rPr lang="en-US" altLang="en-US" dirty="0" err="1">
                <a:cs typeface="Times New Roman" panose="02020603050405020304" pitchFamily="18" charset="0"/>
              </a:rPr>
              <a:t>matrica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po </a:t>
            </a:r>
            <a:r>
              <a:rPr lang="en-US" altLang="en-US" dirty="0" err="1">
                <a:cs typeface="Times New Roman" panose="02020603050405020304" pitchFamily="18" charset="0"/>
              </a:rPr>
              <a:t>podacima</a:t>
            </a:r>
            <a:r>
              <a:rPr lang="en-US" altLang="en-US" dirty="0">
                <a:cs typeface="Times New Roman" panose="02020603050405020304" pitchFamily="18" charset="0"/>
              </a:rPr>
              <a:t> </a:t>
            </a:r>
            <a:r>
              <a:rPr lang="en-US" altLang="en-US" dirty="0" err="1">
                <a:cs typeface="Times New Roman" panose="02020603050405020304" pitchFamily="18" charset="0"/>
              </a:rPr>
              <a:t>dobija</a:t>
            </a:r>
            <a:r>
              <a:rPr lang="en-US" altLang="en-US" dirty="0">
                <a:cs typeface="Times New Roman" panose="02020603050405020304" pitchFamily="18" charset="0"/>
              </a:rPr>
              <a:t> </a:t>
            </a:r>
            <a:r>
              <a:rPr lang="en-US" altLang="en-US" dirty="0" err="1">
                <a:cs typeface="Times New Roman" panose="02020603050405020304" pitchFamily="18" charset="0"/>
              </a:rPr>
              <a:t>kao</a:t>
            </a:r>
            <a:endParaRPr lang="en-US" altLang="en-US" dirty="0">
              <a:cs typeface="Times New Roman" panose="02020603050405020304" pitchFamily="18" charset="0"/>
            </a:endParaRPr>
          </a:p>
          <a:p>
            <a:pPr lvl="1" algn="ctr">
              <a:lnSpc>
                <a:spcPct val="90000"/>
              </a:lnSpc>
              <a:buFont typeface="Wingdings" panose="05000000000000000000" pitchFamily="2" charset="2"/>
              <a:buNone/>
              <a:defRPr/>
            </a:pPr>
            <a:r>
              <a:rPr lang="en-US" altLang="en-US" dirty="0">
                <a:cs typeface="Times New Roman" panose="02020603050405020304" pitchFamily="18" charset="0"/>
              </a:rPr>
              <a:t> D = [ d</a:t>
            </a:r>
            <a:r>
              <a:rPr lang="en-US" altLang="en-US" baseline="-30000" dirty="0">
                <a:cs typeface="Times New Roman" panose="02020603050405020304" pitchFamily="18" charset="0"/>
              </a:rPr>
              <a:t>1</a:t>
            </a:r>
            <a:r>
              <a:rPr lang="en-US" altLang="en-US" dirty="0">
                <a:cs typeface="Times New Roman" panose="02020603050405020304" pitchFamily="18" charset="0"/>
              </a:rPr>
              <a:t>  d</a:t>
            </a:r>
            <a:r>
              <a:rPr lang="en-US" altLang="en-US" baseline="-30000" dirty="0">
                <a:cs typeface="Times New Roman" panose="02020603050405020304" pitchFamily="18" charset="0"/>
              </a:rPr>
              <a:t>2</a:t>
            </a:r>
            <a:r>
              <a:rPr lang="en-US" altLang="en-US" dirty="0">
                <a:cs typeface="Times New Roman" panose="02020603050405020304" pitchFamily="18" charset="0"/>
              </a:rPr>
              <a:t> ... d</a:t>
            </a:r>
            <a:r>
              <a:rPr lang="en-US" altLang="en-US" baseline="-30000" dirty="0">
                <a:cs typeface="Times New Roman" panose="02020603050405020304" pitchFamily="18" charset="0"/>
              </a:rPr>
              <a:t>k</a:t>
            </a:r>
            <a:r>
              <a:rPr lang="en-US" altLang="en-US" dirty="0">
                <a:cs typeface="Times New Roman" panose="02020603050405020304" pitchFamily="18" charset="0"/>
              </a:rPr>
              <a:t>]</a:t>
            </a:r>
            <a:endParaRPr lang="en-US" altLang="en-US" dirty="0"/>
          </a:p>
          <a:p>
            <a:endParaRPr lang="sr-Latn-RS" dirty="0"/>
          </a:p>
        </p:txBody>
      </p:sp>
    </p:spTree>
    <p:extLst>
      <p:ext uri="{BB962C8B-B14F-4D97-AF65-F5344CB8AC3E}">
        <p14:creationId xmlns:p14="http://schemas.microsoft.com/office/powerpoint/2010/main" val="1484347996"/>
      </p:ext>
    </p:extLst>
  </p:cSld>
  <p:clrMapOvr>
    <a:masterClrMapping/>
  </p:clrMapOvr>
  <p:transition>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BA6426F-E6D0-4287-9C4A-E61F85B4F814}"/>
              </a:ext>
            </a:extLst>
          </p:cNvPr>
          <p:cNvSpPr>
            <a:spLocks noGrp="1" noChangeArrowheads="1"/>
          </p:cNvSpPr>
          <p:nvPr>
            <p:ph type="title"/>
          </p:nvPr>
        </p:nvSpPr>
        <p:spPr/>
        <p:txBody>
          <a:bodyPr/>
          <a:lstStyle/>
          <a:p>
            <a:pPr>
              <a:defRPr/>
            </a:pPr>
            <a:r>
              <a:rPr lang="en-US" altLang="en-US">
                <a:cs typeface="Times New Roman" panose="02020603050405020304" pitchFamily="18" charset="0"/>
              </a:rPr>
              <a:t>PRIMER</a:t>
            </a:r>
          </a:p>
        </p:txBody>
      </p:sp>
      <p:sp>
        <p:nvSpPr>
          <p:cNvPr id="24580" name="Rectangle 4">
            <a:extLst>
              <a:ext uri="{FF2B5EF4-FFF2-40B4-BE49-F238E27FC236}">
                <a16:creationId xmlns:a16="http://schemas.microsoft.com/office/drawing/2014/main" id="{A29BFA7D-8EC4-4CC3-8E8D-03E5930C09E9}"/>
              </a:ext>
            </a:extLst>
          </p:cNvPr>
          <p:cNvSpPr>
            <a:spLocks noGrp="1" noChangeArrowheads="1"/>
          </p:cNvSpPr>
          <p:nvPr>
            <p:ph type="body" sz="half" idx="1"/>
          </p:nvPr>
        </p:nvSpPr>
        <p:spPr>
          <a:xfrm>
            <a:off x="0" y="708025"/>
            <a:ext cx="4648200" cy="6149975"/>
          </a:xfrm>
        </p:spPr>
        <p:txBody>
          <a:bodyPr/>
          <a:lstStyle/>
          <a:p>
            <a:pPr>
              <a:defRPr/>
            </a:pPr>
            <a:r>
              <a:rPr lang="en-US" altLang="en-US" sz="2400">
                <a:cs typeface="Times New Roman" panose="02020603050405020304" pitchFamily="18" charset="0"/>
              </a:rPr>
              <a:t>Prona</a:t>
            </a:r>
            <a:r>
              <a:rPr lang="sr-Latn-CS" altLang="en-US" sz="2400">
                <a:cs typeface="Times New Roman" panose="02020603050405020304" pitchFamily="18" charset="0"/>
              </a:rPr>
              <a:t>ć</a:t>
            </a:r>
            <a:r>
              <a:rPr lang="en-US" altLang="en-US" sz="2400">
                <a:cs typeface="Times New Roman" panose="02020603050405020304" pitchFamily="18" charset="0"/>
              </a:rPr>
              <a:t>i sve vektore zavisnosti </a:t>
            </a:r>
            <a:r>
              <a:rPr lang="sr-Latn-CS" altLang="en-US" sz="2400">
                <a:cs typeface="Times New Roman" panose="02020603050405020304" pitchFamily="18" charset="0"/>
              </a:rPr>
              <a:t>u</a:t>
            </a:r>
            <a:r>
              <a:rPr lang="en-US" altLang="en-US" sz="2400">
                <a:cs typeface="Times New Roman" panose="02020603050405020304" pitchFamily="18" charset="0"/>
              </a:rPr>
              <a:t> slede</a:t>
            </a:r>
            <a:r>
              <a:rPr lang="sr-Latn-CS" altLang="en-US" sz="2400">
                <a:cs typeface="Times New Roman" panose="02020603050405020304" pitchFamily="18" charset="0"/>
              </a:rPr>
              <a:t>ć</a:t>
            </a:r>
            <a:r>
              <a:rPr lang="en-US" altLang="en-US" sz="2400">
                <a:cs typeface="Times New Roman" panose="02020603050405020304" pitchFamily="18" charset="0"/>
              </a:rPr>
              <a:t>em gnezdu petlji</a:t>
            </a:r>
          </a:p>
          <a:p>
            <a:pPr lvl="1">
              <a:buFont typeface="Wingdings" panose="05000000000000000000" pitchFamily="2" charset="2"/>
              <a:buNone/>
              <a:defRPr/>
            </a:pPr>
            <a:r>
              <a:rPr lang="hr-HR" altLang="en-US" sz="2100"/>
              <a:t>	</a:t>
            </a:r>
            <a:r>
              <a:rPr lang="sr-Latn-CS" altLang="en-US" sz="1800">
                <a:cs typeface="Times New Roman" panose="02020603050405020304" pitchFamily="18" charset="0"/>
              </a:rPr>
              <a:t>for</a:t>
            </a:r>
            <a:r>
              <a:rPr lang="en-US" altLang="en-US" sz="1800">
                <a:cs typeface="Times New Roman" panose="02020603050405020304" pitchFamily="18" charset="0"/>
              </a:rPr>
              <a:t>  i = 1, 5</a:t>
            </a:r>
          </a:p>
          <a:p>
            <a:pPr lvl="1">
              <a:buFont typeface="Wingdings" panose="05000000000000000000" pitchFamily="2" charset="2"/>
              <a:buNone/>
              <a:defRPr/>
            </a:pPr>
            <a:r>
              <a:rPr lang="en-US" altLang="en-US" sz="1800">
                <a:cs typeface="Times New Roman" panose="02020603050405020304" pitchFamily="18" charset="0"/>
              </a:rPr>
              <a:t>	</a:t>
            </a:r>
            <a:r>
              <a:rPr lang="sr-Latn-CS" altLang="en-US" sz="1800">
                <a:cs typeface="Times New Roman" panose="02020603050405020304" pitchFamily="18" charset="0"/>
              </a:rPr>
              <a:t>for</a:t>
            </a:r>
            <a:r>
              <a:rPr lang="en-US" altLang="en-US" sz="1800">
                <a:cs typeface="Times New Roman" panose="02020603050405020304" pitchFamily="18" charset="0"/>
              </a:rPr>
              <a:t>  j = 1, 10</a:t>
            </a:r>
          </a:p>
          <a:p>
            <a:pPr lvl="1">
              <a:buFont typeface="Wingdings" panose="05000000000000000000" pitchFamily="2" charset="2"/>
              <a:buNone/>
              <a:defRPr/>
            </a:pPr>
            <a:r>
              <a:rPr lang="en-US" altLang="en-US" sz="1800">
                <a:cs typeface="Times New Roman" panose="02020603050405020304" pitchFamily="18" charset="0"/>
              </a:rPr>
              <a:t>	</a:t>
            </a:r>
            <a:r>
              <a:rPr lang="sr-Latn-CS" altLang="en-US" sz="1800">
                <a:cs typeface="Times New Roman" panose="02020603050405020304" pitchFamily="18" charset="0"/>
              </a:rPr>
              <a:t>fot</a:t>
            </a:r>
            <a:r>
              <a:rPr lang="en-US" altLang="en-US" sz="1800">
                <a:cs typeface="Times New Roman" panose="02020603050405020304" pitchFamily="18" charset="0"/>
              </a:rPr>
              <a:t>  k =1, 20</a:t>
            </a:r>
            <a:endParaRPr lang="hr-HR" altLang="en-US" sz="1800"/>
          </a:p>
          <a:p>
            <a:pPr lvl="1">
              <a:buFont typeface="Wingdings" panose="05000000000000000000" pitchFamily="2" charset="2"/>
              <a:buNone/>
              <a:defRPr/>
            </a:pPr>
            <a:r>
              <a:rPr lang="en-US" altLang="en-US" sz="1800">
                <a:cs typeface="Times New Roman" panose="02020603050405020304" pitchFamily="18" charset="0"/>
              </a:rPr>
              <a:t>A(i, j, k) = A(i-1, j, k+1)+ B(i, j, k)</a:t>
            </a:r>
          </a:p>
          <a:p>
            <a:pPr lvl="1">
              <a:buFont typeface="Wingdings" panose="05000000000000000000" pitchFamily="2" charset="2"/>
              <a:buNone/>
              <a:defRPr/>
            </a:pPr>
            <a:r>
              <a:rPr lang="en-US" altLang="en-US" sz="1800">
                <a:cs typeface="Times New Roman" panose="02020603050405020304" pitchFamily="18" charset="0"/>
              </a:rPr>
              <a:t>	B(i, j, k+1) = B(i, j-1, k-1) * 3</a:t>
            </a:r>
          </a:p>
          <a:p>
            <a:pPr lvl="1">
              <a:buFont typeface="Wingdings" panose="05000000000000000000" pitchFamily="2" charset="2"/>
              <a:buNone/>
              <a:defRPr/>
            </a:pPr>
            <a:r>
              <a:rPr lang="hr-HR" altLang="en-US" sz="1800"/>
              <a:t>endfor</a:t>
            </a:r>
            <a:r>
              <a:rPr lang="en-US" altLang="en-US" sz="1800"/>
              <a:t>{</a:t>
            </a:r>
            <a:r>
              <a:rPr lang="hr-HR" altLang="en-US" sz="1800"/>
              <a:t>i,j,k</a:t>
            </a:r>
            <a:r>
              <a:rPr lang="en-US" altLang="en-US" sz="1800"/>
              <a:t>}</a:t>
            </a:r>
            <a:r>
              <a:rPr lang="en-US" altLang="en-US" sz="2100"/>
              <a:t> </a:t>
            </a:r>
          </a:p>
        </p:txBody>
      </p:sp>
      <p:sp>
        <p:nvSpPr>
          <p:cNvPr id="24581" name="Rectangle 5">
            <a:extLst>
              <a:ext uri="{FF2B5EF4-FFF2-40B4-BE49-F238E27FC236}">
                <a16:creationId xmlns:a16="http://schemas.microsoft.com/office/drawing/2014/main" id="{BA323C05-943B-403E-9D17-9577709E43C2}"/>
              </a:ext>
            </a:extLst>
          </p:cNvPr>
          <p:cNvSpPr>
            <a:spLocks noGrp="1" noChangeArrowheads="1"/>
          </p:cNvSpPr>
          <p:nvPr>
            <p:ph type="body" sz="half" idx="2"/>
          </p:nvPr>
        </p:nvSpPr>
        <p:spPr/>
        <p:txBody>
          <a:bodyPr/>
          <a:lstStyle/>
          <a:p>
            <a:pPr>
              <a:defRPr/>
            </a:pPr>
            <a:r>
              <a:rPr lang="en-US" altLang="en-US" sz="2400">
                <a:cs typeface="Times New Roman" panose="02020603050405020304" pitchFamily="18" charset="0"/>
              </a:rPr>
              <a:t>RE</a:t>
            </a:r>
            <a:r>
              <a:rPr lang="sr-Latn-CS" altLang="en-US" sz="2400">
                <a:cs typeface="Times New Roman" panose="02020603050405020304" pitchFamily="18" charset="0"/>
              </a:rPr>
              <a:t>Š</a:t>
            </a:r>
            <a:r>
              <a:rPr lang="en-US" altLang="en-US" sz="2400">
                <a:cs typeface="Times New Roman" panose="02020603050405020304" pitchFamily="18" charset="0"/>
              </a:rPr>
              <a:t>ENJE:</a:t>
            </a:r>
            <a:r>
              <a:rPr lang="en-US" altLang="en-US" sz="2400">
                <a:latin typeface="Times Roman YU" pitchFamily="18" charset="0"/>
                <a:cs typeface="Times New Roman" panose="02020603050405020304" pitchFamily="18" charset="0"/>
              </a:rPr>
              <a:t>  </a:t>
            </a:r>
            <a:endParaRPr lang="hr-HR" altLang="en-US" sz="2400">
              <a:latin typeface="Times New Roman" panose="02020603050405020304" pitchFamily="18" charset="0"/>
            </a:endParaRPr>
          </a:p>
          <a:p>
            <a:pPr lvl="1">
              <a:defRPr/>
            </a:pPr>
            <a:r>
              <a:rPr lang="en-US" altLang="en-US" sz="2000">
                <a:cs typeface="Times New Roman" panose="02020603050405020304" pitchFamily="18" charset="0"/>
              </a:rPr>
              <a:t>Uo</a:t>
            </a:r>
            <a:r>
              <a:rPr lang="sr-Latn-CS" altLang="en-US" sz="2000">
                <a:cs typeface="Times New Roman" panose="02020603050405020304" pitchFamily="18" charset="0"/>
              </a:rPr>
              <a:t>č</a:t>
            </a:r>
            <a:r>
              <a:rPr lang="en-US" altLang="en-US" sz="2000">
                <a:cs typeface="Times New Roman" panose="02020603050405020304" pitchFamily="18" charset="0"/>
              </a:rPr>
              <a:t>imo prvo sve parove generisanih—kori</a:t>
            </a:r>
            <a:r>
              <a:rPr lang="sr-Latn-CS" altLang="en-US" sz="2000">
                <a:cs typeface="Times New Roman" panose="02020603050405020304" pitchFamily="18" charset="0"/>
              </a:rPr>
              <a:t>šć</a:t>
            </a:r>
            <a:r>
              <a:rPr lang="en-US" altLang="en-US" sz="2000">
                <a:cs typeface="Times New Roman" panose="02020603050405020304" pitchFamily="18" charset="0"/>
              </a:rPr>
              <a:t>enih promenljivih</a:t>
            </a:r>
            <a:r>
              <a:rPr lang="hr-HR" altLang="en-US" sz="2000"/>
              <a:t>:</a:t>
            </a:r>
            <a:endParaRPr lang="en-US" altLang="en-US" sz="2000"/>
          </a:p>
          <a:p>
            <a:pPr lvl="1">
              <a:buFont typeface="Wingdings" panose="05000000000000000000" pitchFamily="2" charset="2"/>
              <a:buNone/>
              <a:defRPr/>
            </a:pPr>
            <a:r>
              <a:rPr lang="en-US" altLang="en-US" sz="2000">
                <a:cs typeface="Times New Roman" panose="02020603050405020304" pitchFamily="18" charset="0"/>
              </a:rPr>
              <a:t>A(i, j, k) i  A(i-1, j, k+1)</a:t>
            </a:r>
          </a:p>
          <a:p>
            <a:pPr lvl="1">
              <a:buFont typeface="Wingdings" panose="05000000000000000000" pitchFamily="2" charset="2"/>
              <a:buNone/>
              <a:defRPr/>
            </a:pPr>
            <a:r>
              <a:rPr lang="en-US" altLang="en-US" sz="2000">
                <a:cs typeface="Times New Roman" panose="02020603050405020304" pitchFamily="18" charset="0"/>
              </a:rPr>
              <a:t>B(i, j, k+1) i  B(i, j, k),</a:t>
            </a:r>
          </a:p>
          <a:p>
            <a:pPr lvl="1">
              <a:buFont typeface="Wingdings" panose="05000000000000000000" pitchFamily="2" charset="2"/>
              <a:buNone/>
              <a:defRPr/>
            </a:pPr>
            <a:r>
              <a:rPr lang="en-US" altLang="en-US" sz="2000">
                <a:cs typeface="Times New Roman" panose="02020603050405020304" pitchFamily="18" charset="0"/>
              </a:rPr>
              <a:t>B(i, j, k+1) i  B(i, j-1, k-1)</a:t>
            </a:r>
            <a:r>
              <a:rPr lang="en-US" altLang="en-US" sz="2100"/>
              <a:t> </a:t>
            </a:r>
            <a:endParaRPr lang="hr-HR" altLang="en-US" sz="2100"/>
          </a:p>
          <a:p>
            <a:pPr>
              <a:buFont typeface="Wingdings 2" panose="05020102010507070707" pitchFamily="18" charset="2"/>
              <a:buNone/>
              <a:defRPr/>
            </a:pPr>
            <a:r>
              <a:rPr lang="en-US" altLang="en-US" sz="2000">
                <a:cs typeface="Times New Roman" panose="02020603050405020304" pitchFamily="18" charset="0"/>
              </a:rPr>
              <a:t>Odgovaraju</a:t>
            </a:r>
            <a:r>
              <a:rPr lang="sr-Latn-CS" altLang="en-US" sz="2000">
                <a:cs typeface="Times New Roman" panose="02020603050405020304" pitchFamily="18" charset="0"/>
              </a:rPr>
              <a:t>ć</a:t>
            </a:r>
            <a:r>
              <a:rPr lang="en-US" altLang="en-US" sz="2000">
                <a:cs typeface="Times New Roman" panose="02020603050405020304" pitchFamily="18" charset="0"/>
              </a:rPr>
              <a:t>i</a:t>
            </a:r>
            <a:r>
              <a:rPr lang="sr-Latn-CS" altLang="en-US" sz="2000">
                <a:cs typeface="Times New Roman" panose="02020603050405020304" pitchFamily="18" charset="0"/>
              </a:rPr>
              <a:t> </a:t>
            </a:r>
            <a:r>
              <a:rPr lang="en-US" altLang="en-US" sz="2000">
                <a:cs typeface="Times New Roman" panose="02020603050405020304" pitchFamily="18" charset="0"/>
              </a:rPr>
              <a:t>vektori zavisnosti </a:t>
            </a:r>
          </a:p>
          <a:p>
            <a:pPr lvl="1">
              <a:buFont typeface="Wingdings" panose="05000000000000000000" pitchFamily="2" charset="2"/>
              <a:buNone/>
              <a:defRPr/>
            </a:pPr>
            <a:r>
              <a:rPr lang="en-US" altLang="en-US" sz="2000">
                <a:cs typeface="Times New Roman" panose="02020603050405020304" pitchFamily="18" charset="0"/>
              </a:rPr>
              <a:t>d</a:t>
            </a:r>
            <a:r>
              <a:rPr lang="en-US" altLang="en-US" sz="2000" baseline="-30000">
                <a:cs typeface="Times New Roman" panose="02020603050405020304" pitchFamily="18" charset="0"/>
              </a:rPr>
              <a:t>1</a:t>
            </a:r>
            <a:r>
              <a:rPr lang="en-US" altLang="en-US" sz="2000">
                <a:cs typeface="Times New Roman" panose="02020603050405020304" pitchFamily="18" charset="0"/>
              </a:rPr>
              <a:t> = (i, j, k)</a:t>
            </a:r>
            <a:r>
              <a:rPr lang="en-US" altLang="en-US" sz="2000" baseline="30000">
                <a:cs typeface="Times New Roman" panose="02020603050405020304" pitchFamily="18" charset="0"/>
              </a:rPr>
              <a:t>T</a:t>
            </a:r>
            <a:r>
              <a:rPr lang="en-US" altLang="en-US" sz="2000">
                <a:cs typeface="Times New Roman" panose="02020603050405020304" pitchFamily="18" charset="0"/>
              </a:rPr>
              <a:t> – (i-1, j, k+1)</a:t>
            </a:r>
            <a:r>
              <a:rPr lang="en-US" altLang="en-US" sz="2000" baseline="30000">
                <a:cs typeface="Times New Roman" panose="02020603050405020304" pitchFamily="18" charset="0"/>
              </a:rPr>
              <a:t>T</a:t>
            </a:r>
            <a:r>
              <a:rPr lang="en-US" altLang="en-US" sz="2000">
                <a:cs typeface="Times New Roman" panose="02020603050405020304" pitchFamily="18" charset="0"/>
              </a:rPr>
              <a:t> = </a:t>
            </a:r>
            <a:endParaRPr lang="hr-HR" altLang="en-US" sz="2000"/>
          </a:p>
          <a:p>
            <a:pPr lvl="1">
              <a:buFont typeface="Wingdings" panose="05000000000000000000" pitchFamily="2" charset="2"/>
              <a:buNone/>
              <a:defRPr/>
            </a:pPr>
            <a:r>
              <a:rPr lang="en-US" altLang="en-US" sz="2000">
                <a:cs typeface="Times New Roman" panose="02020603050405020304" pitchFamily="18" charset="0"/>
              </a:rPr>
              <a:t>[ 1, 0, -1]</a:t>
            </a:r>
            <a:r>
              <a:rPr lang="en-US" altLang="en-US" sz="2000" baseline="30000">
                <a:cs typeface="Times New Roman" panose="02020603050405020304" pitchFamily="18" charset="0"/>
              </a:rPr>
              <a:t>T</a:t>
            </a:r>
            <a:r>
              <a:rPr lang="en-US" altLang="en-US" sz="2000">
                <a:cs typeface="Times New Roman" panose="02020603050405020304" pitchFamily="18" charset="0"/>
              </a:rPr>
              <a:t> </a:t>
            </a:r>
          </a:p>
          <a:p>
            <a:pPr lvl="1">
              <a:buFont typeface="Wingdings" panose="05000000000000000000" pitchFamily="2" charset="2"/>
              <a:buNone/>
              <a:defRPr/>
            </a:pPr>
            <a:r>
              <a:rPr lang="en-US" altLang="en-US" sz="2000">
                <a:cs typeface="Times New Roman" panose="02020603050405020304" pitchFamily="18" charset="0"/>
              </a:rPr>
              <a:t>d</a:t>
            </a:r>
            <a:r>
              <a:rPr lang="en-US" altLang="en-US" sz="2000" baseline="-30000">
                <a:cs typeface="Times New Roman" panose="02020603050405020304" pitchFamily="18" charset="0"/>
              </a:rPr>
              <a:t>2</a:t>
            </a:r>
            <a:r>
              <a:rPr lang="en-US" altLang="en-US" sz="2000">
                <a:cs typeface="Times New Roman" panose="02020603050405020304" pitchFamily="18" charset="0"/>
              </a:rPr>
              <a:t> = (i, j, k+1)</a:t>
            </a:r>
            <a:r>
              <a:rPr lang="en-US" altLang="en-US" sz="2000" baseline="30000">
                <a:cs typeface="Times New Roman" panose="02020603050405020304" pitchFamily="18" charset="0"/>
              </a:rPr>
              <a:t>T</a:t>
            </a:r>
            <a:r>
              <a:rPr lang="en-US" altLang="en-US" sz="2000">
                <a:cs typeface="Times New Roman" panose="02020603050405020304" pitchFamily="18" charset="0"/>
              </a:rPr>
              <a:t> – (i, j, k)</a:t>
            </a:r>
            <a:r>
              <a:rPr lang="en-US" altLang="en-US" sz="2000" baseline="30000">
                <a:cs typeface="Times New Roman" panose="02020603050405020304" pitchFamily="18" charset="0"/>
              </a:rPr>
              <a:t>T</a:t>
            </a:r>
            <a:r>
              <a:rPr lang="en-US" altLang="en-US" sz="2000">
                <a:cs typeface="Times New Roman" panose="02020603050405020304" pitchFamily="18" charset="0"/>
              </a:rPr>
              <a:t> = </a:t>
            </a:r>
            <a:endParaRPr lang="hr-HR" altLang="en-US" sz="2000"/>
          </a:p>
          <a:p>
            <a:pPr lvl="1">
              <a:buFont typeface="Wingdings" panose="05000000000000000000" pitchFamily="2" charset="2"/>
              <a:buNone/>
              <a:defRPr/>
            </a:pPr>
            <a:r>
              <a:rPr lang="en-US" altLang="en-US" sz="2000">
                <a:cs typeface="Times New Roman" panose="02020603050405020304" pitchFamily="18" charset="0"/>
              </a:rPr>
              <a:t>[ 0, 0, 1]</a:t>
            </a:r>
            <a:r>
              <a:rPr lang="en-US" altLang="en-US" sz="2000" baseline="30000">
                <a:cs typeface="Times New Roman" panose="02020603050405020304" pitchFamily="18" charset="0"/>
              </a:rPr>
              <a:t>T</a:t>
            </a:r>
            <a:endParaRPr lang="en-US" altLang="en-US" sz="2000">
              <a:cs typeface="Times New Roman" panose="02020603050405020304" pitchFamily="18" charset="0"/>
            </a:endParaRPr>
          </a:p>
          <a:p>
            <a:pPr lvl="1">
              <a:buFont typeface="Wingdings" panose="05000000000000000000" pitchFamily="2" charset="2"/>
              <a:buNone/>
              <a:defRPr/>
            </a:pPr>
            <a:r>
              <a:rPr lang="en-US" altLang="en-US" sz="2000">
                <a:cs typeface="Times New Roman" panose="02020603050405020304" pitchFamily="18" charset="0"/>
              </a:rPr>
              <a:t>d</a:t>
            </a:r>
            <a:r>
              <a:rPr lang="en-US" altLang="en-US" sz="2000" baseline="-30000">
                <a:cs typeface="Times New Roman" panose="02020603050405020304" pitchFamily="18" charset="0"/>
              </a:rPr>
              <a:t>3</a:t>
            </a:r>
            <a:r>
              <a:rPr lang="en-US" altLang="en-US" sz="2000">
                <a:cs typeface="Times New Roman" panose="02020603050405020304" pitchFamily="18" charset="0"/>
              </a:rPr>
              <a:t> = (i, j, k+1)</a:t>
            </a:r>
            <a:r>
              <a:rPr lang="en-US" altLang="en-US" sz="2000" baseline="30000">
                <a:cs typeface="Times New Roman" panose="02020603050405020304" pitchFamily="18" charset="0"/>
              </a:rPr>
              <a:t>T</a:t>
            </a:r>
            <a:r>
              <a:rPr lang="en-US" altLang="en-US" sz="2000">
                <a:cs typeface="Times New Roman" panose="02020603050405020304" pitchFamily="18" charset="0"/>
              </a:rPr>
              <a:t> – (i, j-1, k-1)</a:t>
            </a:r>
            <a:r>
              <a:rPr lang="en-US" altLang="en-US" sz="2000" baseline="30000">
                <a:cs typeface="Times New Roman" panose="02020603050405020304" pitchFamily="18" charset="0"/>
              </a:rPr>
              <a:t>T</a:t>
            </a:r>
            <a:r>
              <a:rPr lang="en-US" altLang="en-US" sz="2000">
                <a:cs typeface="Times New Roman" panose="02020603050405020304" pitchFamily="18" charset="0"/>
              </a:rPr>
              <a:t> = </a:t>
            </a:r>
            <a:endParaRPr lang="hr-HR" altLang="en-US" sz="2000"/>
          </a:p>
          <a:p>
            <a:pPr lvl="1">
              <a:buFont typeface="Wingdings" panose="05000000000000000000" pitchFamily="2" charset="2"/>
              <a:buNone/>
              <a:defRPr/>
            </a:pPr>
            <a:r>
              <a:rPr lang="en-US" altLang="en-US" sz="2000">
                <a:cs typeface="Times New Roman" panose="02020603050405020304" pitchFamily="18" charset="0"/>
              </a:rPr>
              <a:t>[0, 1, 2]</a:t>
            </a:r>
            <a:r>
              <a:rPr lang="en-US" altLang="en-US" sz="2000" baseline="30000">
                <a:cs typeface="Times New Roman" panose="02020603050405020304" pitchFamily="18" charset="0"/>
              </a:rPr>
              <a:t>T</a:t>
            </a:r>
          </a:p>
          <a:p>
            <a:pPr>
              <a:defRPr/>
            </a:pPr>
            <a:r>
              <a:rPr lang="en-US" altLang="en-US" sz="2000">
                <a:cs typeface="Times New Roman" panose="02020603050405020304" pitchFamily="18" charset="0"/>
              </a:rPr>
              <a:t>Prvi element u vektoru koji je ≠0 nosi zavisnost!</a:t>
            </a:r>
            <a:endParaRPr lang="en-US" altLang="en-US" sz="2000">
              <a:cs typeface="Tahoma" panose="020B0604030504040204" pitchFamily="34" charset="0"/>
            </a:endParaRPr>
          </a:p>
          <a:p>
            <a:pPr lvl="1">
              <a:buFont typeface="Wingdings" panose="05000000000000000000" pitchFamily="2" charset="2"/>
              <a:buNone/>
              <a:defRPr/>
            </a:pPr>
            <a:endParaRPr lang="en-US" altLang="en-US" sz="2000"/>
          </a:p>
        </p:txBody>
      </p:sp>
      <p:sp>
        <p:nvSpPr>
          <p:cNvPr id="3078" name="Rectangle 7">
            <a:extLst>
              <a:ext uri="{FF2B5EF4-FFF2-40B4-BE49-F238E27FC236}">
                <a16:creationId xmlns:a16="http://schemas.microsoft.com/office/drawing/2014/main" id="{8A7AFA07-F0CF-4AD0-891F-AE1F82B922AF}"/>
              </a:ext>
            </a:extLst>
          </p:cNvPr>
          <p:cNvSpPr>
            <a:spLocks noChangeArrowheads="1"/>
          </p:cNvSpPr>
          <p:nvPr/>
        </p:nvSpPr>
        <p:spPr bwMode="auto">
          <a:xfrm>
            <a:off x="3481388"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24582" name="Object 6">
            <a:extLst>
              <a:ext uri="{FF2B5EF4-FFF2-40B4-BE49-F238E27FC236}">
                <a16:creationId xmlns:a16="http://schemas.microsoft.com/office/drawing/2014/main" id="{690EA0CE-110B-4779-98B6-4A04548099B7}"/>
              </a:ext>
            </a:extLst>
          </p:cNvPr>
          <p:cNvGraphicFramePr>
            <a:graphicFrameLocks noChangeAspect="1"/>
          </p:cNvGraphicFramePr>
          <p:nvPr/>
        </p:nvGraphicFramePr>
        <p:xfrm>
          <a:off x="304800" y="4419600"/>
          <a:ext cx="3810000" cy="1247775"/>
        </p:xfrm>
        <a:graphic>
          <a:graphicData uri="http://schemas.openxmlformats.org/presentationml/2006/ole">
            <mc:AlternateContent xmlns:mc="http://schemas.openxmlformats.org/markup-compatibility/2006">
              <mc:Choice xmlns:v="urn:schemas-microsoft-com:vml" Requires="v">
                <p:oleObj r:id="rId2" imgW="2184400" imgH="711200" progId="Equation.3">
                  <p:embed/>
                </p:oleObj>
              </mc:Choice>
              <mc:Fallback>
                <p:oleObj r:id="rId2" imgW="2184400" imgH="711200" progId="Equation.3">
                  <p:embed/>
                  <p:pic>
                    <p:nvPicPr>
                      <p:cNvPr id="24582" name="Object 6">
                        <a:extLst>
                          <a:ext uri="{FF2B5EF4-FFF2-40B4-BE49-F238E27FC236}">
                            <a16:creationId xmlns:a16="http://schemas.microsoft.com/office/drawing/2014/main" id="{690EA0CE-110B-4779-98B6-4A0454809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419600"/>
                        <a:ext cx="381000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4" name="AutoShape 8">
            <a:extLst>
              <a:ext uri="{FF2B5EF4-FFF2-40B4-BE49-F238E27FC236}">
                <a16:creationId xmlns:a16="http://schemas.microsoft.com/office/drawing/2014/main" id="{F3A652C4-DBD0-49A3-B387-07F7D8E52185}"/>
              </a:ext>
            </a:extLst>
          </p:cNvPr>
          <p:cNvSpPr>
            <a:spLocks/>
          </p:cNvSpPr>
          <p:nvPr/>
        </p:nvSpPr>
        <p:spPr bwMode="auto">
          <a:xfrm>
            <a:off x="1371600" y="6019800"/>
            <a:ext cx="1447800" cy="609600"/>
          </a:xfrm>
          <a:prstGeom prst="borderCallout2">
            <a:avLst>
              <a:gd name="adj1" fmla="val 18750"/>
              <a:gd name="adj2" fmla="val -5264"/>
              <a:gd name="adj3" fmla="val 18750"/>
              <a:gd name="adj4" fmla="val -16338"/>
              <a:gd name="adj5" fmla="val -110157"/>
              <a:gd name="adj6" fmla="val -56468"/>
            </a:avLst>
          </a:prstGeom>
          <a:solidFill>
            <a:schemeClr val="accent1"/>
          </a:solidFill>
          <a:ln w="9525">
            <a:solidFill>
              <a:schemeClr val="tx1"/>
            </a:solidFill>
            <a:miter lim="800000"/>
            <a:headEnd/>
            <a:tailEnd/>
          </a:ln>
          <a:effectLst/>
        </p:spPr>
        <p:txBody>
          <a:bodyPr anchor="b"/>
          <a:lstStyle/>
          <a:p>
            <a:pPr algn="ctr">
              <a:defRPr/>
            </a:pPr>
            <a:r>
              <a:rPr lang="hr-HR" altLang="en-US">
                <a:solidFill>
                  <a:schemeClr val="tx2"/>
                </a:solidFill>
                <a:effectLst>
                  <a:outerShdw blurRad="38100" dist="38100" dir="2700000" algn="tl">
                    <a:srgbClr val="000000"/>
                  </a:outerShdw>
                </a:effectLst>
                <a:latin typeface="Tahoma" panose="020B0604030504040204" pitchFamily="34" charset="0"/>
              </a:rPr>
              <a:t>matrica zavisnosti</a:t>
            </a:r>
            <a:endParaRPr lang="en-US" altLang="en-US">
              <a:solidFill>
                <a:schemeClr val="tx2"/>
              </a:solidFill>
              <a:effectLst>
                <a:outerShdw blurRad="38100" dist="38100" dir="2700000" algn="tl">
                  <a:srgbClr val="000000"/>
                </a:outerShdw>
              </a:effectLst>
              <a:latin typeface="Tahoma" panose="020B0604030504040204" pitchFamily="34" charset="0"/>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blinds(horizontal)">
                                      <p:cBhvr>
                                        <p:cTn id="7" dur="500"/>
                                        <p:tgtEl>
                                          <p:spTgt spid="2458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84"/>
                                        </p:tgtEl>
                                        <p:attrNameLst>
                                          <p:attrName>style.visibility</p:attrName>
                                        </p:attrNameLst>
                                      </p:cBhvr>
                                      <p:to>
                                        <p:strVal val="visible"/>
                                      </p:to>
                                    </p:set>
                                    <p:animEffect transition="in" filter="blinds(horizontal)">
                                      <p:cBhvr>
                                        <p:cTn id="10" dur="500"/>
                                        <p:tgtEl>
                                          <p:spTgt spid="24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63B62F0-5810-4EA2-B967-A12ACB332602}"/>
              </a:ext>
            </a:extLst>
          </p:cNvPr>
          <p:cNvSpPr>
            <a:spLocks noGrp="1" noChangeArrowheads="1"/>
          </p:cNvSpPr>
          <p:nvPr>
            <p:ph type="title"/>
          </p:nvPr>
        </p:nvSpPr>
        <p:spPr>
          <a:xfrm>
            <a:off x="0" y="0"/>
            <a:ext cx="9144000" cy="641350"/>
          </a:xfrm>
        </p:spPr>
        <p:txBody>
          <a:bodyPr/>
          <a:lstStyle/>
          <a:p>
            <a:pPr>
              <a:defRPr/>
            </a:pPr>
            <a:r>
              <a:rPr lang="hr-HR" altLang="en-US" sz="3600"/>
              <a:t>vektorizacija ugnježdjenih petlji</a:t>
            </a:r>
            <a:r>
              <a:rPr lang="en-US" altLang="en-US" sz="3600"/>
              <a:t> (nast.)</a:t>
            </a:r>
          </a:p>
        </p:txBody>
      </p:sp>
      <p:sp>
        <p:nvSpPr>
          <p:cNvPr id="26627" name="Rectangle 3">
            <a:extLst>
              <a:ext uri="{FF2B5EF4-FFF2-40B4-BE49-F238E27FC236}">
                <a16:creationId xmlns:a16="http://schemas.microsoft.com/office/drawing/2014/main" id="{DF1A149E-7AEE-409D-98D2-40C2A5C30E57}"/>
              </a:ext>
            </a:extLst>
          </p:cNvPr>
          <p:cNvSpPr>
            <a:spLocks noGrp="1" noChangeArrowheads="1"/>
          </p:cNvSpPr>
          <p:nvPr>
            <p:ph type="body" idx="1"/>
          </p:nvPr>
        </p:nvSpPr>
        <p:spPr/>
        <p:txBody>
          <a:bodyPr/>
          <a:lstStyle/>
          <a:p>
            <a:pPr>
              <a:defRPr/>
            </a:pPr>
            <a:r>
              <a:rPr lang="hr-HR" altLang="en-US"/>
              <a:t>Č</a:t>
            </a:r>
            <a:r>
              <a:rPr lang="en-US" altLang="en-US">
                <a:cs typeface="Times New Roman" panose="02020603050405020304" pitchFamily="18" charset="0"/>
              </a:rPr>
              <a:t>esto je za analizu zavisnosti po podacima dovoljno poznavati samo pravce zavisnosti, a ne stvarne vrednosti vektora zavisnosti. </a:t>
            </a:r>
            <a:endParaRPr lang="hr-HR" altLang="en-US"/>
          </a:p>
          <a:p>
            <a:pPr>
              <a:defRPr/>
            </a:pPr>
            <a:r>
              <a:rPr lang="en-US" altLang="en-US">
                <a:cs typeface="Times New Roman" panose="02020603050405020304" pitchFamily="18" charset="0"/>
              </a:rPr>
              <a:t>Pravac zavisnosti se defini</a:t>
            </a:r>
            <a:r>
              <a:rPr lang="hr-HR" altLang="en-US"/>
              <a:t>š</a:t>
            </a:r>
            <a:r>
              <a:rPr lang="en-US" altLang="en-US">
                <a:cs typeface="Times New Roman" panose="02020603050405020304" pitchFamily="18" charset="0"/>
              </a:rPr>
              <a:t>e na slede</a:t>
            </a:r>
            <a:r>
              <a:rPr lang="hr-HR" altLang="en-US"/>
              <a:t>ć</a:t>
            </a:r>
            <a:r>
              <a:rPr lang="en-US" altLang="en-US">
                <a:cs typeface="Times New Roman" panose="02020603050405020304" pitchFamily="18" charset="0"/>
              </a:rPr>
              <a:t>i na</a:t>
            </a:r>
            <a:r>
              <a:rPr lang="hr-HR" altLang="en-US"/>
              <a:t>č</a:t>
            </a:r>
            <a:r>
              <a:rPr lang="en-US" altLang="en-US">
                <a:cs typeface="Times New Roman" panose="02020603050405020304" pitchFamily="18" charset="0"/>
              </a:rPr>
              <a:t>in:</a:t>
            </a:r>
            <a:r>
              <a:rPr lang="en-US" altLang="en-US"/>
              <a:t> </a:t>
            </a:r>
            <a:endParaRPr lang="hr-HR" altLang="en-US"/>
          </a:p>
          <a:p>
            <a:pPr>
              <a:defRPr/>
            </a:pPr>
            <a:endParaRPr lang="hr-HR" altLang="en-US"/>
          </a:p>
          <a:p>
            <a:pPr>
              <a:defRPr/>
            </a:pPr>
            <a:endParaRPr lang="hr-HR" altLang="en-US"/>
          </a:p>
          <a:p>
            <a:pPr>
              <a:defRPr/>
            </a:pPr>
            <a:endParaRPr lang="hr-HR" altLang="en-US">
              <a:latin typeface="Times New Roman" panose="02020603050405020304" pitchFamily="18" charset="0"/>
            </a:endParaRPr>
          </a:p>
          <a:p>
            <a:pPr>
              <a:defRPr/>
            </a:pPr>
            <a:r>
              <a:rPr lang="en-US" altLang="en-US">
                <a:cs typeface="Times New Roman" panose="02020603050405020304" pitchFamily="18" charset="0"/>
              </a:rPr>
              <a:t>Za prethodne vektore zavisnosti odgovaraju</a:t>
            </a:r>
            <a:r>
              <a:rPr lang="hr-HR" altLang="en-US"/>
              <a:t>ć</a:t>
            </a:r>
            <a:r>
              <a:rPr lang="en-US" altLang="en-US">
                <a:cs typeface="Times New Roman" panose="02020603050405020304" pitchFamily="18" charset="0"/>
              </a:rPr>
              <a:t>i pravci zavisnosti su</a:t>
            </a:r>
            <a:r>
              <a:rPr lang="en-US" altLang="en-US"/>
              <a:t> </a:t>
            </a:r>
            <a:endParaRPr lang="hr-HR" altLang="en-US"/>
          </a:p>
          <a:p>
            <a:pPr lvl="1">
              <a:defRPr/>
            </a:pPr>
            <a:r>
              <a:rPr lang="en-US" altLang="en-US">
                <a:latin typeface="Times Roman YU" pitchFamily="18" charset="0"/>
                <a:cs typeface="Times New Roman" panose="02020603050405020304" pitchFamily="18" charset="0"/>
              </a:rPr>
              <a:t>d</a:t>
            </a:r>
            <a:r>
              <a:rPr lang="en-US" altLang="en-US" baseline="-30000">
                <a:latin typeface="Times Roman YU" pitchFamily="18" charset="0"/>
                <a:cs typeface="Times New Roman" panose="02020603050405020304" pitchFamily="18" charset="0"/>
              </a:rPr>
              <a:t>1</a:t>
            </a:r>
            <a:r>
              <a:rPr lang="en-US" altLang="en-US">
                <a:latin typeface="Times Roman YU" pitchFamily="18" charset="0"/>
                <a:cs typeface="Times New Roman" panose="02020603050405020304" pitchFamily="18" charset="0"/>
              </a:rPr>
              <a:t> = </a:t>
            </a:r>
            <a:r>
              <a:rPr lang="en-US" altLang="en-US">
                <a:cs typeface="Times New Roman" panose="02020603050405020304" pitchFamily="18" charset="0"/>
              </a:rPr>
              <a:t>[ 1, 0, -1]</a:t>
            </a:r>
            <a:r>
              <a:rPr lang="en-US" altLang="en-US" baseline="30000">
                <a:cs typeface="Times New Roman" panose="02020603050405020304" pitchFamily="18" charset="0"/>
              </a:rPr>
              <a:t>T</a:t>
            </a:r>
            <a:r>
              <a:rPr lang="en-US" altLang="en-US" baseline="-30000">
                <a:cs typeface="Times New Roman" panose="02020603050405020304" pitchFamily="18" charset="0"/>
              </a:rPr>
              <a:t> </a:t>
            </a:r>
            <a:r>
              <a:rPr lang="en-US" altLang="en-US">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sym typeface="Symbol" panose="05050102010706020507" pitchFamily="18" charset="2"/>
              </a:rPr>
              <a:t></a:t>
            </a:r>
            <a:r>
              <a:rPr lang="en-US" altLang="en-US">
                <a:cs typeface="Times New Roman" panose="02020603050405020304" pitchFamily="18" charset="0"/>
              </a:rPr>
              <a:t>	[ &lt;, =, &gt; ]</a:t>
            </a:r>
            <a:r>
              <a:rPr lang="en-US" altLang="en-US" baseline="30000">
                <a:cs typeface="Times New Roman" panose="02020603050405020304" pitchFamily="18" charset="0"/>
              </a:rPr>
              <a:t>T</a:t>
            </a:r>
            <a:endParaRPr lang="en-US" altLang="en-US">
              <a:cs typeface="Times New Roman" panose="02020603050405020304" pitchFamily="18" charset="0"/>
            </a:endParaRPr>
          </a:p>
          <a:p>
            <a:pPr lvl="1">
              <a:defRPr/>
            </a:pPr>
            <a:r>
              <a:rPr lang="en-US" altLang="en-US">
                <a:latin typeface="Times Roman YU" pitchFamily="18" charset="0"/>
                <a:cs typeface="Times New Roman" panose="02020603050405020304" pitchFamily="18" charset="0"/>
              </a:rPr>
              <a:t>d</a:t>
            </a:r>
            <a:r>
              <a:rPr lang="en-US" altLang="en-US" baseline="-30000">
                <a:latin typeface="Times Roman YU" pitchFamily="18" charset="0"/>
                <a:cs typeface="Times New Roman" panose="02020603050405020304" pitchFamily="18" charset="0"/>
              </a:rPr>
              <a:t>2</a:t>
            </a:r>
            <a:r>
              <a:rPr lang="en-US" altLang="en-US">
                <a:latin typeface="Times Roman YU" pitchFamily="18" charset="0"/>
                <a:cs typeface="Times New Roman" panose="02020603050405020304" pitchFamily="18" charset="0"/>
              </a:rPr>
              <a:t> = </a:t>
            </a:r>
            <a:r>
              <a:rPr lang="en-US" altLang="en-US">
                <a:cs typeface="Times New Roman" panose="02020603050405020304" pitchFamily="18" charset="0"/>
              </a:rPr>
              <a:t>[ 0, 0, 1]</a:t>
            </a:r>
            <a:r>
              <a:rPr lang="en-US" altLang="en-US" baseline="30000">
                <a:cs typeface="Times New Roman" panose="02020603050405020304" pitchFamily="18" charset="0"/>
              </a:rPr>
              <a:t>T</a:t>
            </a:r>
            <a:r>
              <a:rPr lang="en-US" altLang="en-US">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sym typeface="Symbol" panose="05050102010706020507" pitchFamily="18" charset="2"/>
              </a:rPr>
              <a:t></a:t>
            </a:r>
            <a:r>
              <a:rPr lang="en-US" altLang="en-US">
                <a:cs typeface="Times New Roman" panose="02020603050405020304" pitchFamily="18" charset="0"/>
              </a:rPr>
              <a:t>	[ =, =, &lt; ]</a:t>
            </a:r>
            <a:r>
              <a:rPr lang="en-US" altLang="en-US" baseline="30000">
                <a:cs typeface="Times New Roman" panose="02020603050405020304" pitchFamily="18" charset="0"/>
              </a:rPr>
              <a:t>T</a:t>
            </a:r>
            <a:endParaRPr lang="en-US" altLang="en-US">
              <a:cs typeface="Times New Roman" panose="02020603050405020304" pitchFamily="18" charset="0"/>
            </a:endParaRPr>
          </a:p>
          <a:p>
            <a:pPr lvl="1">
              <a:defRPr/>
            </a:pPr>
            <a:r>
              <a:rPr lang="en-US" altLang="en-US">
                <a:latin typeface="Times Roman YU" pitchFamily="18" charset="0"/>
                <a:cs typeface="Times New Roman" panose="02020603050405020304" pitchFamily="18" charset="0"/>
              </a:rPr>
              <a:t>d</a:t>
            </a:r>
            <a:r>
              <a:rPr lang="en-US" altLang="en-US" baseline="-30000">
                <a:latin typeface="Times Roman YU" pitchFamily="18" charset="0"/>
                <a:cs typeface="Times New Roman" panose="02020603050405020304" pitchFamily="18" charset="0"/>
              </a:rPr>
              <a:t>3</a:t>
            </a:r>
            <a:r>
              <a:rPr lang="en-US" altLang="en-US">
                <a:latin typeface="Times Roman YU" pitchFamily="18" charset="0"/>
                <a:cs typeface="Times New Roman" panose="02020603050405020304" pitchFamily="18" charset="0"/>
              </a:rPr>
              <a:t> = </a:t>
            </a:r>
            <a:r>
              <a:rPr lang="en-US" altLang="en-US">
                <a:cs typeface="Times New Roman" panose="02020603050405020304" pitchFamily="18" charset="0"/>
              </a:rPr>
              <a:t>[0, 1, 2]</a:t>
            </a:r>
            <a:r>
              <a:rPr lang="en-US" altLang="en-US" baseline="30000">
                <a:cs typeface="Times New Roman" panose="02020603050405020304" pitchFamily="18" charset="0"/>
              </a:rPr>
              <a:t>T</a:t>
            </a:r>
            <a:r>
              <a:rPr lang="en-US" altLang="en-US">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sym typeface="Symbol" panose="05050102010706020507" pitchFamily="18" charset="2"/>
              </a:rPr>
              <a:t></a:t>
            </a:r>
            <a:r>
              <a:rPr lang="en-US" altLang="en-US">
                <a:cs typeface="Times New Roman" panose="02020603050405020304" pitchFamily="18" charset="0"/>
              </a:rPr>
              <a:t>   [ =, &lt;, &lt; ]</a:t>
            </a:r>
            <a:r>
              <a:rPr lang="en-US" altLang="en-US" baseline="30000">
                <a:cs typeface="Times New Roman" panose="02020603050405020304" pitchFamily="18" charset="0"/>
              </a:rPr>
              <a:t>T</a:t>
            </a:r>
            <a:endParaRPr lang="en-US" altLang="en-US">
              <a:cs typeface="Times New Roman" panose="02020603050405020304" pitchFamily="18" charset="0"/>
            </a:endParaRPr>
          </a:p>
          <a:p>
            <a:pPr lvl="1">
              <a:defRPr/>
            </a:pPr>
            <a:endParaRPr lang="en-US" altLang="en-US"/>
          </a:p>
        </p:txBody>
      </p:sp>
      <p:sp>
        <p:nvSpPr>
          <p:cNvPr id="4102" name="Rectangle 5">
            <a:extLst>
              <a:ext uri="{FF2B5EF4-FFF2-40B4-BE49-F238E27FC236}">
                <a16:creationId xmlns:a16="http://schemas.microsoft.com/office/drawing/2014/main" id="{5106BFA7-0F1A-403E-95DA-79D8342AD034}"/>
              </a:ext>
            </a:extLst>
          </p:cNvPr>
          <p:cNvSpPr>
            <a:spLocks noChangeArrowheads="1"/>
          </p:cNvSpPr>
          <p:nvPr/>
        </p:nvSpPr>
        <p:spPr bwMode="auto">
          <a:xfrm>
            <a:off x="3376613"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4098" name="Object 4">
            <a:extLst>
              <a:ext uri="{FF2B5EF4-FFF2-40B4-BE49-F238E27FC236}">
                <a16:creationId xmlns:a16="http://schemas.microsoft.com/office/drawing/2014/main" id="{561A3E52-F7E6-47B5-BEE1-18A01BD9CA1E}"/>
              </a:ext>
            </a:extLst>
          </p:cNvPr>
          <p:cNvGraphicFramePr>
            <a:graphicFrameLocks noChangeAspect="1"/>
          </p:cNvGraphicFramePr>
          <p:nvPr/>
        </p:nvGraphicFramePr>
        <p:xfrm>
          <a:off x="1981200" y="2862263"/>
          <a:ext cx="4191000" cy="1252537"/>
        </p:xfrm>
        <a:graphic>
          <a:graphicData uri="http://schemas.openxmlformats.org/presentationml/2006/ole">
            <mc:AlternateContent xmlns:mc="http://schemas.openxmlformats.org/markup-compatibility/2006">
              <mc:Choice xmlns:v="urn:schemas-microsoft-com:vml" Requires="v">
                <p:oleObj r:id="rId2" imgW="2387600" imgH="711200" progId="Equation.3">
                  <p:embed/>
                </p:oleObj>
              </mc:Choice>
              <mc:Fallback>
                <p:oleObj r:id="rId2" imgW="2387600" imgH="711200" progId="Equation.3">
                  <p:embed/>
                  <p:pic>
                    <p:nvPicPr>
                      <p:cNvPr id="4098" name="Object 4">
                        <a:extLst>
                          <a:ext uri="{FF2B5EF4-FFF2-40B4-BE49-F238E27FC236}">
                            <a16:creationId xmlns:a16="http://schemas.microsoft.com/office/drawing/2014/main" id="{561A3E52-F7E6-47B5-BEE1-18A01BD9C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862263"/>
                        <a:ext cx="4191000" cy="125253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9" name="Object 6">
            <a:extLst>
              <a:ext uri="{FF2B5EF4-FFF2-40B4-BE49-F238E27FC236}">
                <a16:creationId xmlns:a16="http://schemas.microsoft.com/office/drawing/2014/main" id="{33FAD359-E507-4422-97BC-0D0F23103E00}"/>
              </a:ext>
            </a:extLst>
          </p:cNvPr>
          <p:cNvGraphicFramePr>
            <a:graphicFrameLocks noChangeAspect="1"/>
          </p:cNvGraphicFramePr>
          <p:nvPr/>
        </p:nvGraphicFramePr>
        <p:xfrm>
          <a:off x="6019800" y="5092700"/>
          <a:ext cx="2209800" cy="1325563"/>
        </p:xfrm>
        <a:graphic>
          <a:graphicData uri="http://schemas.openxmlformats.org/presentationml/2006/ole">
            <mc:AlternateContent xmlns:mc="http://schemas.openxmlformats.org/markup-compatibility/2006">
              <mc:Choice xmlns:v="urn:schemas-microsoft-com:vml" Requires="v">
                <p:oleObj r:id="rId4" imgW="1193800" imgH="711200" progId="Equation.3">
                  <p:embed/>
                </p:oleObj>
              </mc:Choice>
              <mc:Fallback>
                <p:oleObj r:id="rId4" imgW="1193800" imgH="711200" progId="Equation.3">
                  <p:embed/>
                  <p:pic>
                    <p:nvPicPr>
                      <p:cNvPr id="4099" name="Object 6">
                        <a:extLst>
                          <a:ext uri="{FF2B5EF4-FFF2-40B4-BE49-F238E27FC236}">
                            <a16:creationId xmlns:a16="http://schemas.microsoft.com/office/drawing/2014/main" id="{33FAD359-E507-4422-97BC-0D0F23103E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5092700"/>
                        <a:ext cx="2209800" cy="13255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10F31B4-1A47-41DA-8C0E-327305D36ED2}"/>
              </a:ext>
            </a:extLst>
          </p:cNvPr>
          <p:cNvSpPr>
            <a:spLocks noGrp="1" noChangeArrowheads="1"/>
          </p:cNvSpPr>
          <p:nvPr>
            <p:ph type="title"/>
          </p:nvPr>
        </p:nvSpPr>
        <p:spPr/>
        <p:txBody>
          <a:bodyPr/>
          <a:lstStyle/>
          <a:p>
            <a:pPr>
              <a:defRPr/>
            </a:pPr>
            <a:r>
              <a:rPr lang="hr-HR" altLang="en-US"/>
              <a:t>Pravilo</a:t>
            </a:r>
            <a:endParaRPr lang="en-US" altLang="en-US"/>
          </a:p>
        </p:txBody>
      </p:sp>
      <p:sp>
        <p:nvSpPr>
          <p:cNvPr id="27651" name="Rectangle 3">
            <a:extLst>
              <a:ext uri="{FF2B5EF4-FFF2-40B4-BE49-F238E27FC236}">
                <a16:creationId xmlns:a16="http://schemas.microsoft.com/office/drawing/2014/main" id="{59BA15FA-3537-4135-AE22-3F13E4D5F319}"/>
              </a:ext>
            </a:extLst>
          </p:cNvPr>
          <p:cNvSpPr>
            <a:spLocks noGrp="1" noChangeArrowheads="1"/>
          </p:cNvSpPr>
          <p:nvPr>
            <p:ph type="body" idx="1"/>
          </p:nvPr>
        </p:nvSpPr>
        <p:spPr/>
        <p:txBody>
          <a:bodyPr/>
          <a:lstStyle/>
          <a:p>
            <a:pPr algn="just">
              <a:defRPr/>
            </a:pPr>
            <a:r>
              <a:rPr lang="en-US" altLang="en-US">
                <a:cs typeface="Times New Roman" panose="02020603050405020304" pitchFamily="18" charset="0"/>
              </a:rPr>
              <a:t>Zavisnost nosi prvi element vektora koji je </a:t>
            </a:r>
            <a:r>
              <a:rPr lang="en-US" altLang="en-US">
                <a:solidFill>
                  <a:schemeClr val="hlink"/>
                </a:solidFill>
                <a:cs typeface="Times New Roman" panose="02020603050405020304" pitchFamily="18" charset="0"/>
              </a:rPr>
              <a:t>&lt;</a:t>
            </a:r>
            <a:r>
              <a:rPr lang="en-US" altLang="en-US">
                <a:cs typeface="Times New Roman" panose="02020603050405020304" pitchFamily="18" charset="0"/>
              </a:rPr>
              <a:t> ili </a:t>
            </a:r>
            <a:r>
              <a:rPr lang="en-US" altLang="en-US">
                <a:solidFill>
                  <a:schemeClr val="hlink"/>
                </a:solidFill>
                <a:cs typeface="Times New Roman" panose="02020603050405020304" pitchFamily="18" charset="0"/>
              </a:rPr>
              <a:t>&gt;</a:t>
            </a:r>
            <a:r>
              <a:rPr lang="en-US" altLang="en-US">
                <a:cs typeface="Times New Roman" panose="02020603050405020304" pitchFamily="18" charset="0"/>
              </a:rPr>
              <a:t> . </a:t>
            </a:r>
            <a:endParaRPr lang="hr-HR" altLang="en-US"/>
          </a:p>
          <a:p>
            <a:pPr algn="just">
              <a:defRPr/>
            </a:pPr>
            <a:r>
              <a:rPr lang="en-US" altLang="en-US">
                <a:cs typeface="Times New Roman" panose="02020603050405020304" pitchFamily="18" charset="0"/>
              </a:rPr>
              <a:t>Pravac </a:t>
            </a:r>
            <a:r>
              <a:rPr lang="en-US" altLang="en-US">
                <a:solidFill>
                  <a:schemeClr val="hlink"/>
                </a:solidFill>
                <a:cs typeface="Times New Roman" panose="02020603050405020304" pitchFamily="18" charset="0"/>
              </a:rPr>
              <a:t>= </a:t>
            </a:r>
            <a:r>
              <a:rPr lang="en-US" altLang="en-US">
                <a:cs typeface="Times New Roman" panose="02020603050405020304" pitchFamily="18" charset="0"/>
              </a:rPr>
              <a:t>ne spre</a:t>
            </a:r>
            <a:r>
              <a:rPr lang="hr-HR" altLang="en-US"/>
              <a:t>č</a:t>
            </a:r>
            <a:r>
              <a:rPr lang="en-US" altLang="en-US">
                <a:cs typeface="Times New Roman" panose="02020603050405020304" pitchFamily="18" charset="0"/>
              </a:rPr>
              <a:t>ava vektorizaciju.</a:t>
            </a:r>
            <a:endParaRPr lang="hr-HR" altLang="en-US"/>
          </a:p>
          <a:p>
            <a:pPr algn="just">
              <a:defRPr/>
            </a:pPr>
            <a:endParaRPr lang="hr-HR" altLang="en-US"/>
          </a:p>
          <a:p>
            <a:pPr algn="just">
              <a:defRPr/>
            </a:pPr>
            <a:endParaRPr lang="hr-HR" altLang="en-US"/>
          </a:p>
          <a:p>
            <a:pPr algn="just">
              <a:defRPr/>
            </a:pPr>
            <a:endParaRPr lang="hr-HR" altLang="en-US"/>
          </a:p>
          <a:p>
            <a:pPr lvl="1" algn="just">
              <a:defRPr/>
            </a:pPr>
            <a:endParaRPr lang="hr-HR" altLang="en-US"/>
          </a:p>
          <a:p>
            <a:pPr lvl="1" algn="just">
              <a:defRPr/>
            </a:pPr>
            <a:r>
              <a:rPr lang="en-US" altLang="en-US">
                <a:cs typeface="Times New Roman" panose="02020603050405020304" pitchFamily="18" charset="0"/>
              </a:rPr>
              <a:t>vektorizacija po indeksnoj promenljivoj </a:t>
            </a:r>
            <a:r>
              <a:rPr lang="en-US" altLang="en-US" i="1">
                <a:cs typeface="Times New Roman" panose="02020603050405020304" pitchFamily="18" charset="0"/>
              </a:rPr>
              <a:t>k</a:t>
            </a:r>
            <a:r>
              <a:rPr lang="en-US" altLang="en-US">
                <a:cs typeface="Times New Roman" panose="02020603050405020304" pitchFamily="18" charset="0"/>
              </a:rPr>
              <a:t> nije mogu</a:t>
            </a:r>
            <a:r>
              <a:rPr lang="hr-HR" altLang="en-US"/>
              <a:t>ć</a:t>
            </a:r>
            <a:r>
              <a:rPr lang="en-US" altLang="en-US">
                <a:cs typeface="Times New Roman" panose="02020603050405020304" pitchFamily="18" charset="0"/>
              </a:rPr>
              <a:t>a jer za drugi vektor zavisnosti postoji looop-carry po indeksnoj promenljivoj k</a:t>
            </a:r>
            <a:endParaRPr lang="en-US" altLang="en-US"/>
          </a:p>
          <a:p>
            <a:pPr>
              <a:defRPr/>
            </a:pPr>
            <a:endParaRPr lang="en-US" altLang="en-US"/>
          </a:p>
        </p:txBody>
      </p:sp>
      <p:sp>
        <p:nvSpPr>
          <p:cNvPr id="5125" name="Rectangle 5">
            <a:extLst>
              <a:ext uri="{FF2B5EF4-FFF2-40B4-BE49-F238E27FC236}">
                <a16:creationId xmlns:a16="http://schemas.microsoft.com/office/drawing/2014/main" id="{D872D42B-1974-413E-ADA0-78D8B4439597}"/>
              </a:ext>
            </a:extLst>
          </p:cNvPr>
          <p:cNvSpPr>
            <a:spLocks noChangeArrowheads="1"/>
          </p:cNvSpPr>
          <p:nvPr/>
        </p:nvSpPr>
        <p:spPr bwMode="auto">
          <a:xfrm>
            <a:off x="3976688"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5122" name="Object 6">
            <a:extLst>
              <a:ext uri="{FF2B5EF4-FFF2-40B4-BE49-F238E27FC236}">
                <a16:creationId xmlns:a16="http://schemas.microsoft.com/office/drawing/2014/main" id="{356D8491-F57C-471B-ACAE-6A5A71D96B92}"/>
              </a:ext>
            </a:extLst>
          </p:cNvPr>
          <p:cNvGraphicFramePr>
            <a:graphicFrameLocks noChangeAspect="1"/>
          </p:cNvGraphicFramePr>
          <p:nvPr/>
        </p:nvGraphicFramePr>
        <p:xfrm>
          <a:off x="1905000" y="2514600"/>
          <a:ext cx="2209800" cy="1325563"/>
        </p:xfrm>
        <a:graphic>
          <a:graphicData uri="http://schemas.openxmlformats.org/presentationml/2006/ole">
            <mc:AlternateContent xmlns:mc="http://schemas.openxmlformats.org/markup-compatibility/2006">
              <mc:Choice xmlns:v="urn:schemas-microsoft-com:vml" Requires="v">
                <p:oleObj r:id="rId2" imgW="1193800" imgH="711200" progId="Equation.3">
                  <p:embed/>
                </p:oleObj>
              </mc:Choice>
              <mc:Fallback>
                <p:oleObj r:id="rId2" imgW="1193800" imgH="711200" progId="Equation.3">
                  <p:embed/>
                  <p:pic>
                    <p:nvPicPr>
                      <p:cNvPr id="5122" name="Object 6">
                        <a:extLst>
                          <a:ext uri="{FF2B5EF4-FFF2-40B4-BE49-F238E27FC236}">
                            <a16:creationId xmlns:a16="http://schemas.microsoft.com/office/drawing/2014/main" id="{356D8491-F57C-471B-ACAE-6A5A71D96B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514600"/>
                        <a:ext cx="2209800" cy="13255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DCF5B65-F8CC-4944-8380-8C2045150C1D}"/>
              </a:ext>
            </a:extLst>
          </p:cNvPr>
          <p:cNvSpPr>
            <a:spLocks noGrp="1" noChangeArrowheads="1"/>
          </p:cNvSpPr>
          <p:nvPr>
            <p:ph type="title"/>
          </p:nvPr>
        </p:nvSpPr>
        <p:spPr>
          <a:xfrm>
            <a:off x="0" y="0"/>
            <a:ext cx="9144000" cy="641350"/>
          </a:xfrm>
        </p:spPr>
        <p:txBody>
          <a:bodyPr/>
          <a:lstStyle/>
          <a:p>
            <a:pPr>
              <a:defRPr/>
            </a:pPr>
            <a:r>
              <a:rPr lang="hr-HR" altLang="en-US" sz="3600"/>
              <a:t>Vektorizacija ugnj. petlji (nast.)</a:t>
            </a:r>
            <a:endParaRPr lang="en-US" altLang="en-US" sz="3600"/>
          </a:p>
        </p:txBody>
      </p:sp>
      <p:sp>
        <p:nvSpPr>
          <p:cNvPr id="28675" name="Rectangle 3">
            <a:extLst>
              <a:ext uri="{FF2B5EF4-FFF2-40B4-BE49-F238E27FC236}">
                <a16:creationId xmlns:a16="http://schemas.microsoft.com/office/drawing/2014/main" id="{A8999E77-1DA2-4C1B-A6B8-8602A3EC95BF}"/>
              </a:ext>
            </a:extLst>
          </p:cNvPr>
          <p:cNvSpPr>
            <a:spLocks noGrp="1" noChangeArrowheads="1"/>
          </p:cNvSpPr>
          <p:nvPr>
            <p:ph type="body" idx="1"/>
          </p:nvPr>
        </p:nvSpPr>
        <p:spPr/>
        <p:txBody>
          <a:bodyPr/>
          <a:lstStyle/>
          <a:p>
            <a:pPr lvl="1" algn="just">
              <a:defRPr/>
            </a:pPr>
            <a:r>
              <a:rPr lang="en-US" altLang="en-US" dirty="0">
                <a:cs typeface="Times New Roman" panose="02020603050405020304" pitchFamily="18" charset="0"/>
              </a:rPr>
              <a:t>Da </a:t>
            </a:r>
            <a:r>
              <a:rPr lang="en-US" altLang="en-US" dirty="0" err="1">
                <a:cs typeface="Times New Roman" panose="02020603050405020304" pitchFamily="18" charset="0"/>
              </a:rPr>
              <a:t>zaista</a:t>
            </a:r>
            <a:r>
              <a:rPr lang="en-US" altLang="en-US" dirty="0">
                <a:cs typeface="Times New Roman" panose="02020603050405020304" pitchFamily="18" charset="0"/>
              </a:rPr>
              <a:t> </a:t>
            </a:r>
            <a:r>
              <a:rPr lang="en-US" altLang="en-US" dirty="0" err="1">
                <a:cs typeface="Times New Roman" panose="02020603050405020304" pitchFamily="18" charset="0"/>
              </a:rPr>
              <a:t>postoji</a:t>
            </a:r>
            <a:r>
              <a:rPr lang="en-US" altLang="en-US" dirty="0">
                <a:cs typeface="Times New Roman" panose="02020603050405020304" pitchFamily="18" charset="0"/>
              </a:rPr>
              <a:t> loop-carry </a:t>
            </a:r>
            <a:r>
              <a:rPr lang="en-US" altLang="en-US" dirty="0" err="1">
                <a:cs typeface="Times New Roman" panose="02020603050405020304" pitchFamily="18" charset="0"/>
              </a:rPr>
              <a:t>zavisnost</a:t>
            </a:r>
            <a:r>
              <a:rPr lang="en-US" altLang="en-US" dirty="0">
                <a:cs typeface="Times New Roman" panose="02020603050405020304" pitchFamily="18" charset="0"/>
              </a:rPr>
              <a:t> </a:t>
            </a:r>
            <a:r>
              <a:rPr lang="en-US" altLang="en-US" dirty="0" err="1">
                <a:cs typeface="Times New Roman" panose="02020603050405020304" pitchFamily="18" charset="0"/>
              </a:rPr>
              <a:t>koja</a:t>
            </a:r>
            <a:r>
              <a:rPr lang="en-US" altLang="en-US" dirty="0">
                <a:cs typeface="Times New Roman" panose="02020603050405020304" pitchFamily="18" charset="0"/>
              </a:rPr>
              <a:t> </a:t>
            </a:r>
            <a:r>
              <a:rPr lang="en-US" altLang="en-US" dirty="0" err="1">
                <a:cs typeface="Times New Roman" panose="02020603050405020304" pitchFamily="18" charset="0"/>
              </a:rPr>
              <a:t>spre</a:t>
            </a:r>
            <a:r>
              <a:rPr lang="hr-HR" altLang="en-US" dirty="0"/>
              <a:t>č</a:t>
            </a:r>
            <a:r>
              <a:rPr lang="en-US" altLang="en-US" dirty="0">
                <a:cs typeface="Times New Roman" panose="02020603050405020304" pitchFamily="18" charset="0"/>
              </a:rPr>
              <a:t>ava </a:t>
            </a:r>
            <a:r>
              <a:rPr lang="en-US" altLang="en-US" dirty="0" err="1">
                <a:cs typeface="Times New Roman" panose="02020603050405020304" pitchFamily="18" charset="0"/>
              </a:rPr>
              <a:t>vektorizaciju</a:t>
            </a:r>
            <a:r>
              <a:rPr lang="en-US" altLang="en-US" dirty="0">
                <a:cs typeface="Times New Roman" panose="02020603050405020304" pitchFamily="18" charset="0"/>
              </a:rPr>
              <a:t> po </a:t>
            </a:r>
            <a:r>
              <a:rPr lang="en-US" altLang="en-US" dirty="0" err="1">
                <a:cs typeface="Times New Roman" panose="02020603050405020304" pitchFamily="18" charset="0"/>
              </a:rPr>
              <a:t>indeksnoj</a:t>
            </a:r>
            <a:r>
              <a:rPr lang="en-US" altLang="en-US" dirty="0">
                <a:cs typeface="Times New Roman" panose="02020603050405020304" pitchFamily="18" charset="0"/>
              </a:rPr>
              <a:t> </a:t>
            </a:r>
            <a:r>
              <a:rPr lang="en-US" altLang="en-US" dirty="0" err="1">
                <a:cs typeface="Times New Roman" panose="02020603050405020304" pitchFamily="18" charset="0"/>
              </a:rPr>
              <a:t>promenljivoj</a:t>
            </a:r>
            <a:r>
              <a:rPr lang="en-US" altLang="en-US" dirty="0">
                <a:cs typeface="Times New Roman" panose="02020603050405020304" pitchFamily="18" charset="0"/>
              </a:rPr>
              <a:t> k, </a:t>
            </a:r>
            <a:r>
              <a:rPr lang="en-US" altLang="en-US" dirty="0" err="1">
                <a:cs typeface="Times New Roman" panose="02020603050405020304" pitchFamily="18" charset="0"/>
              </a:rPr>
              <a:t>mo</a:t>
            </a:r>
            <a:r>
              <a:rPr lang="hr-HR" altLang="en-US" dirty="0"/>
              <a:t>ž</a:t>
            </a:r>
            <a:r>
              <a:rPr lang="en-US" altLang="en-US" dirty="0">
                <a:cs typeface="Times New Roman" panose="02020603050405020304" pitchFamily="18" charset="0"/>
              </a:rPr>
              <a:t>emo se </a:t>
            </a:r>
            <a:r>
              <a:rPr lang="en-US" altLang="en-US" dirty="0" err="1">
                <a:cs typeface="Times New Roman" panose="02020603050405020304" pitchFamily="18" charset="0"/>
              </a:rPr>
              <a:t>uveriti</a:t>
            </a:r>
            <a:r>
              <a:rPr lang="en-US" altLang="en-US" dirty="0">
                <a:cs typeface="Times New Roman" panose="02020603050405020304" pitchFamily="18" charset="0"/>
              </a:rPr>
              <a:t> </a:t>
            </a:r>
            <a:r>
              <a:rPr lang="en-US" altLang="en-US" dirty="0" err="1">
                <a:cs typeface="Times New Roman" panose="02020603050405020304" pitchFamily="18" charset="0"/>
              </a:rPr>
              <a:t>ako</a:t>
            </a:r>
            <a:r>
              <a:rPr lang="en-US" altLang="en-US" dirty="0">
                <a:cs typeface="Times New Roman" panose="02020603050405020304" pitchFamily="18" charset="0"/>
              </a:rPr>
              <a:t> </a:t>
            </a:r>
            <a:r>
              <a:rPr lang="en-US" altLang="en-US" dirty="0" err="1">
                <a:cs typeface="Times New Roman" panose="02020603050405020304" pitchFamily="18" charset="0"/>
              </a:rPr>
              <a:t>izvr</a:t>
            </a:r>
            <a:r>
              <a:rPr lang="hr-HR" altLang="en-US" dirty="0"/>
              <a:t>š</a:t>
            </a:r>
            <a:r>
              <a:rPr lang="en-US" altLang="en-US" dirty="0">
                <a:cs typeface="Times New Roman" panose="02020603050405020304" pitchFamily="18" charset="0"/>
              </a:rPr>
              <a:t>imo </a:t>
            </a:r>
            <a:r>
              <a:rPr lang="en-US" altLang="en-US" dirty="0" err="1">
                <a:cs typeface="Times New Roman" panose="02020603050405020304" pitchFamily="18" charset="0"/>
              </a:rPr>
              <a:t>odmotavanje</a:t>
            </a:r>
            <a:r>
              <a:rPr lang="en-US" altLang="en-US" dirty="0">
                <a:cs typeface="Times New Roman" panose="02020603050405020304" pitchFamily="18" charset="0"/>
              </a:rPr>
              <a:t> </a:t>
            </a:r>
            <a:r>
              <a:rPr lang="en-US" altLang="en-US" dirty="0" err="1">
                <a:cs typeface="Times New Roman" panose="02020603050405020304" pitchFamily="18" charset="0"/>
              </a:rPr>
              <a:t>petlje</a:t>
            </a:r>
            <a:r>
              <a:rPr lang="en-US" altLang="en-US" dirty="0">
                <a:cs typeface="Times New Roman" panose="02020603050405020304" pitchFamily="18" charset="0"/>
              </a:rPr>
              <a:t> po </a:t>
            </a:r>
            <a:r>
              <a:rPr lang="en-US" altLang="en-US" i="1" dirty="0">
                <a:cs typeface="Times New Roman" panose="02020603050405020304" pitchFamily="18" charset="0"/>
              </a:rPr>
              <a:t>k</a:t>
            </a:r>
            <a:r>
              <a:rPr lang="en-US" altLang="en-US" dirty="0">
                <a:cs typeface="Times New Roman" panose="02020603050405020304" pitchFamily="18" charset="0"/>
              </a:rPr>
              <a:t> za </a:t>
            </a:r>
            <a:r>
              <a:rPr lang="en-US" altLang="en-US" dirty="0" err="1">
                <a:cs typeface="Times New Roman" panose="02020603050405020304" pitchFamily="18" charset="0"/>
              </a:rPr>
              <a:t>neku</a:t>
            </a:r>
            <a:r>
              <a:rPr lang="en-US" altLang="en-US" dirty="0">
                <a:cs typeface="Times New Roman" panose="02020603050405020304" pitchFamily="18" charset="0"/>
              </a:rPr>
              <a:t> </a:t>
            </a:r>
            <a:r>
              <a:rPr lang="en-US" altLang="en-US" dirty="0" err="1">
                <a:cs typeface="Times New Roman" panose="02020603050405020304" pitchFamily="18" charset="0"/>
              </a:rPr>
              <a:t>fiksnu</a:t>
            </a:r>
            <a:r>
              <a:rPr lang="en-US" altLang="en-US" dirty="0">
                <a:cs typeface="Times New Roman" panose="02020603050405020304" pitchFamily="18" charset="0"/>
              </a:rPr>
              <a:t> </a:t>
            </a:r>
            <a:r>
              <a:rPr lang="en-US" altLang="en-US" dirty="0" err="1">
                <a:cs typeface="Times New Roman" panose="02020603050405020304" pitchFamily="18" charset="0"/>
              </a:rPr>
              <a:t>vrednost</a:t>
            </a:r>
            <a:r>
              <a:rPr lang="en-US" altLang="en-US" dirty="0">
                <a:cs typeface="Times New Roman" panose="02020603050405020304" pitchFamily="18" charset="0"/>
              </a:rPr>
              <a:t> </a:t>
            </a:r>
            <a:r>
              <a:rPr lang="en-US" altLang="en-US" dirty="0" err="1">
                <a:cs typeface="Times New Roman" panose="02020603050405020304" pitchFamily="18" charset="0"/>
              </a:rPr>
              <a:t>promenljivih</a:t>
            </a:r>
            <a:r>
              <a:rPr lang="en-US" altLang="en-US" dirty="0">
                <a:cs typeface="Times New Roman" panose="02020603050405020304" pitchFamily="18" charset="0"/>
              </a:rPr>
              <a:t> </a:t>
            </a:r>
            <a:r>
              <a:rPr lang="en-US" altLang="en-US" i="1" dirty="0">
                <a:cs typeface="Times New Roman" panose="02020603050405020304" pitchFamily="18" charset="0"/>
              </a:rPr>
              <a:t>i</a:t>
            </a:r>
            <a:r>
              <a:rPr lang="en-US" altLang="en-US" dirty="0">
                <a:cs typeface="Times New Roman" panose="02020603050405020304" pitchFamily="18" charset="0"/>
              </a:rPr>
              <a:t>  </a:t>
            </a:r>
            <a:r>
              <a:rPr lang="en-US" altLang="en-US" dirty="0" err="1">
                <a:cs typeface="Times New Roman" panose="02020603050405020304" pitchFamily="18" charset="0"/>
              </a:rPr>
              <a:t>i</a:t>
            </a:r>
            <a:r>
              <a:rPr lang="en-US" altLang="en-US" dirty="0">
                <a:cs typeface="Times New Roman" panose="02020603050405020304" pitchFamily="18" charset="0"/>
              </a:rPr>
              <a:t> </a:t>
            </a:r>
            <a:r>
              <a:rPr lang="en-US" altLang="en-US" i="1" dirty="0">
                <a:cs typeface="Times New Roman" panose="02020603050405020304" pitchFamily="18" charset="0"/>
              </a:rPr>
              <a:t>j</a:t>
            </a:r>
            <a:r>
              <a:rPr lang="en-US" altLang="en-US" dirty="0">
                <a:cs typeface="Times New Roman" panose="02020603050405020304" pitchFamily="18" charset="0"/>
              </a:rPr>
              <a:t>. </a:t>
            </a:r>
            <a:endParaRPr lang="hr-HR" altLang="en-US" dirty="0"/>
          </a:p>
          <a:p>
            <a:pPr algn="just">
              <a:defRPr/>
            </a:pPr>
            <a:r>
              <a:rPr lang="en-US" altLang="en-US" dirty="0" err="1">
                <a:cs typeface="Times New Roman" panose="02020603050405020304" pitchFamily="18" charset="0"/>
              </a:rPr>
              <a:t>na</a:t>
            </a:r>
            <a:r>
              <a:rPr lang="en-US" altLang="en-US" dirty="0">
                <a:cs typeface="Times New Roman" panose="02020603050405020304" pitchFamily="18" charset="0"/>
              </a:rPr>
              <a:t> primer, za i=1 i j=1 i k=1, 2,....,20 </a:t>
            </a:r>
            <a:r>
              <a:rPr lang="en-US" altLang="en-US" dirty="0" err="1">
                <a:cs typeface="Times New Roman" panose="02020603050405020304" pitchFamily="18" charset="0"/>
              </a:rPr>
              <a:t>imamo</a:t>
            </a:r>
            <a:endParaRPr lang="hr-HR" altLang="en-US" dirty="0"/>
          </a:p>
          <a:p>
            <a:pPr lvl="1" algn="just">
              <a:defRPr/>
            </a:pPr>
            <a:r>
              <a:rPr lang="en-US" altLang="en-US" dirty="0">
                <a:latin typeface="Times Roman YU" pitchFamily="18" charset="0"/>
                <a:cs typeface="Times New Roman" panose="02020603050405020304" pitchFamily="18" charset="0"/>
              </a:rPr>
              <a:t>i=1, j=1, k=1	A(1, 1, 1) = A(0, 1, 2) + B(1, 1, 1)</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               	B(1, 1, 2) = B(1, 0, 0) *3</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______________________________________ loop-carry </a:t>
            </a:r>
            <a:r>
              <a:rPr lang="en-US" altLang="en-US" dirty="0" err="1">
                <a:latin typeface="Times Roman YU" pitchFamily="18" charset="0"/>
                <a:cs typeface="Times New Roman" panose="02020603050405020304" pitchFamily="18" charset="0"/>
              </a:rPr>
              <a:t>zavisnost</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i=1, j=1, k=2	A(1, 1, 2) = A(0, 1, 3) + B(1, 1, 2)</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               	B(1, 1, 3) = B(1, 0, 1) *3</a:t>
            </a:r>
            <a:endParaRPr lang="en-US" altLang="en-US" dirty="0">
              <a:cs typeface="Times New Roman" panose="02020603050405020304" pitchFamily="18" charset="0"/>
            </a:endParaRPr>
          </a:p>
          <a:p>
            <a:pPr lvl="1" algn="just">
              <a:buFont typeface="Wingdings" panose="05000000000000000000" pitchFamily="2" charset="2"/>
              <a:buNone/>
              <a:defRPr/>
            </a:pPr>
            <a:r>
              <a:rPr lang="en-US" altLang="en-US" dirty="0">
                <a:latin typeface="Times Roman YU" pitchFamily="18" charset="0"/>
                <a:cs typeface="Times New Roman" panose="02020603050405020304" pitchFamily="18" charset="0"/>
              </a:rPr>
              <a:t>_______________________________________   loop-carry </a:t>
            </a:r>
            <a:r>
              <a:rPr lang="en-US" altLang="en-US" dirty="0" err="1">
                <a:latin typeface="Times Roman YU" pitchFamily="18" charset="0"/>
                <a:cs typeface="Times New Roman" panose="02020603050405020304" pitchFamily="18" charset="0"/>
              </a:rPr>
              <a:t>zavisnost</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i=1, j=1, k=3	A(1, 1, 3) = A(0, 1, 4) + B(1, 1, 3)</a:t>
            </a:r>
            <a:endParaRPr lang="en-US" altLang="en-US" dirty="0">
              <a:cs typeface="Times New Roman" panose="02020603050405020304" pitchFamily="18" charset="0"/>
            </a:endParaRPr>
          </a:p>
          <a:p>
            <a:pPr lvl="1" algn="just">
              <a:defRPr/>
            </a:pPr>
            <a:r>
              <a:rPr lang="en-US" altLang="en-US" dirty="0">
                <a:latin typeface="Times Roman YU" pitchFamily="18" charset="0"/>
                <a:cs typeface="Times New Roman" panose="02020603050405020304" pitchFamily="18" charset="0"/>
              </a:rPr>
              <a:t>               	B(1, 1, 4) = B(1, 0, 2) *</a:t>
            </a:r>
            <a:r>
              <a:rPr lang="en-US" altLang="en-US" dirty="0">
                <a:cs typeface="Times New Roman" panose="02020603050405020304" pitchFamily="18" charset="0"/>
              </a:rPr>
              <a:t> </a:t>
            </a:r>
            <a:r>
              <a:rPr lang="hr-HR" altLang="en-US" dirty="0"/>
              <a:t>3</a:t>
            </a:r>
            <a:endParaRPr lang="en-US" altLang="en-US" dirty="0"/>
          </a:p>
          <a:p>
            <a:pPr>
              <a:defRPr/>
            </a:pPr>
            <a:endParaRPr lang="en-US" altLang="en-US" dirty="0"/>
          </a:p>
        </p:txBody>
      </p:sp>
      <p:sp>
        <p:nvSpPr>
          <p:cNvPr id="44036" name="Line 10">
            <a:extLst>
              <a:ext uri="{FF2B5EF4-FFF2-40B4-BE49-F238E27FC236}">
                <a16:creationId xmlns:a16="http://schemas.microsoft.com/office/drawing/2014/main" id="{E0326D36-73A8-4326-8C81-C07F0F39AAE3}"/>
              </a:ext>
            </a:extLst>
          </p:cNvPr>
          <p:cNvSpPr>
            <a:spLocks noChangeShapeType="1"/>
          </p:cNvSpPr>
          <p:nvPr/>
        </p:nvSpPr>
        <p:spPr bwMode="auto">
          <a:xfrm>
            <a:off x="3657600" y="3581400"/>
            <a:ext cx="2590800" cy="5334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4037" name="Line 11">
            <a:extLst>
              <a:ext uri="{FF2B5EF4-FFF2-40B4-BE49-F238E27FC236}">
                <a16:creationId xmlns:a16="http://schemas.microsoft.com/office/drawing/2014/main" id="{1A15615A-04C6-4085-AC3F-AE52F067EE09}"/>
              </a:ext>
            </a:extLst>
          </p:cNvPr>
          <p:cNvSpPr>
            <a:spLocks noChangeShapeType="1"/>
          </p:cNvSpPr>
          <p:nvPr/>
        </p:nvSpPr>
        <p:spPr bwMode="auto">
          <a:xfrm>
            <a:off x="3643312" y="4876800"/>
            <a:ext cx="2590800" cy="5334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942A-5B6A-228B-4B00-1BE04EC09633}"/>
              </a:ext>
            </a:extLst>
          </p:cNvPr>
          <p:cNvSpPr>
            <a:spLocks noGrp="1"/>
          </p:cNvSpPr>
          <p:nvPr>
            <p:ph type="title"/>
          </p:nvPr>
        </p:nvSpPr>
        <p:spPr/>
        <p:txBody>
          <a:bodyPr/>
          <a:lstStyle/>
          <a:p>
            <a:r>
              <a:rPr lang="sr-Latn-RS" dirty="0"/>
              <a:t>Primer2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80E9F6-5C8D-B31E-360C-382E2708B179}"/>
                  </a:ext>
                </a:extLst>
              </p:cNvPr>
              <p:cNvSpPr>
                <a:spLocks noGrp="1"/>
              </p:cNvSpPr>
              <p:nvPr>
                <p:ph idx="1"/>
              </p:nvPr>
            </p:nvSpPr>
            <p:spPr/>
            <p:txBody>
              <a:bodyPr>
                <a:normAutofit fontScale="92500" lnSpcReduction="10000"/>
              </a:bodyPr>
              <a:lstStyle/>
              <a:p>
                <a:r>
                  <a:rPr lang="sr-Latn-RS" dirty="0"/>
                  <a:t>Nekada rastojanje između iteracija nije konstantno</a:t>
                </a:r>
              </a:p>
              <a:p>
                <a:pPr marL="457200" lvl="1" indent="0">
                  <a:buNone/>
                </a:pPr>
                <a:r>
                  <a:rPr lang="sr-Latn-RS" dirty="0"/>
                  <a:t>for (j =1</a:t>
                </a:r>
                <a:r>
                  <a:rPr lang="en-US" dirty="0"/>
                  <a:t>; j&lt;=10; </a:t>
                </a:r>
                <a:r>
                  <a:rPr lang="en-US" dirty="0" err="1"/>
                  <a:t>j++</a:t>
                </a:r>
                <a:r>
                  <a:rPr lang="en-US" dirty="0"/>
                  <a:t>){</a:t>
                </a:r>
              </a:p>
              <a:p>
                <a:pPr marL="457200" lvl="1" indent="0">
                  <a:buNone/>
                </a:pPr>
                <a:r>
                  <a:rPr lang="en-US" dirty="0"/>
                  <a:t>	for (i=1; i&lt;=99; i++){</a:t>
                </a:r>
              </a:p>
              <a:p>
                <a:pPr marL="457200" lvl="1" indent="0">
                  <a:buNone/>
                </a:pPr>
                <a:r>
                  <a:rPr lang="en-US" dirty="0"/>
                  <a:t>S1: A(</a:t>
                </a:r>
                <a:r>
                  <a:rPr lang="en-US" dirty="0" err="1"/>
                  <a:t>i,j</a:t>
                </a:r>
                <a:r>
                  <a:rPr lang="en-US" dirty="0"/>
                  <a:t>)=B(</a:t>
                </a:r>
                <a:r>
                  <a:rPr lang="en-US" dirty="0" err="1"/>
                  <a:t>i,j</a:t>
                </a:r>
                <a:r>
                  <a:rPr lang="en-US" dirty="0"/>
                  <a:t>)+x;</a:t>
                </a:r>
              </a:p>
              <a:p>
                <a:pPr marL="457200" lvl="1" indent="0">
                  <a:buNone/>
                </a:pPr>
                <a:r>
                  <a:rPr lang="en-US" dirty="0"/>
                  <a:t>S2: C(</a:t>
                </a:r>
                <a:r>
                  <a:rPr lang="en-US" dirty="0" err="1"/>
                  <a:t>i,j</a:t>
                </a:r>
                <a:r>
                  <a:rPr lang="en-US" dirty="0"/>
                  <a:t>)= A(100-i,j) +y</a:t>
                </a:r>
              </a:p>
              <a:p>
                <a:pPr marL="457200" lvl="1" indent="0">
                  <a:buNone/>
                </a:pPr>
                <a:r>
                  <a:rPr lang="en-US" dirty="0"/>
                  <a:t>}</a:t>
                </a:r>
              </a:p>
              <a:p>
                <a:pPr marL="457200" lvl="1" indent="0">
                  <a:buNone/>
                </a:pPr>
                <a:r>
                  <a:rPr lang="en-US" dirty="0"/>
                  <a:t>}</a:t>
                </a:r>
              </a:p>
              <a:p>
                <a:pPr lvl="1"/>
                <a:r>
                  <a:rPr lang="en-US" dirty="0" err="1"/>
                  <a:t>Vektor</a:t>
                </a:r>
                <a:r>
                  <a:rPr lang="en-US" dirty="0"/>
                  <a:t> </a:t>
                </a:r>
                <a:r>
                  <a:rPr lang="en-US" dirty="0" err="1"/>
                  <a:t>zavisnosti</a:t>
                </a:r>
                <a:r>
                  <a:rPr lang="en-US" dirty="0"/>
                  <a:t>: d=(</a:t>
                </a:r>
                <a:r>
                  <a:rPr lang="en-US" dirty="0" err="1"/>
                  <a:t>i,j</a:t>
                </a:r>
                <a:r>
                  <a:rPr lang="en-US" dirty="0"/>
                  <a:t>)</a:t>
                </a:r>
                <a:r>
                  <a:rPr lang="en-US" baseline="30000" dirty="0"/>
                  <a:t>T</a:t>
                </a:r>
                <a:r>
                  <a:rPr lang="en-US" dirty="0"/>
                  <a:t>-((100-i,j)</a:t>
                </a:r>
                <a:r>
                  <a:rPr lang="en-US" baseline="30000" dirty="0"/>
                  <a:t>T</a:t>
                </a:r>
                <a:r>
                  <a:rPr lang="en-US" dirty="0"/>
                  <a:t>= (2i-100,0)</a:t>
                </a:r>
                <a:r>
                  <a:rPr lang="en-US" baseline="30000" dirty="0"/>
                  <a:t>T</a:t>
                </a:r>
              </a:p>
              <a:p>
                <a:pPr lvl="2"/>
                <a:r>
                  <a:rPr lang="en-US" dirty="0"/>
                  <a:t>da li je 2i-100 =0, &gt;0 </a:t>
                </a:r>
                <a:r>
                  <a:rPr lang="en-US" dirty="0" err="1"/>
                  <a:t>ili</a:t>
                </a:r>
                <a:r>
                  <a:rPr lang="en-US" dirty="0"/>
                  <a:t> &lt;0?</a:t>
                </a:r>
              </a:p>
              <a:p>
                <a:pPr lvl="2"/>
                <a:r>
                  <a:rPr lang="en-US" dirty="0" err="1"/>
                  <a:t>distanca</a:t>
                </a:r>
                <a:r>
                  <a:rPr lang="en-US" dirty="0"/>
                  <a:t> </a:t>
                </a:r>
                <a:r>
                  <a:rPr lang="en-US" dirty="0" err="1"/>
                  <a:t>nije</a:t>
                </a:r>
                <a:r>
                  <a:rPr lang="en-US" dirty="0"/>
                  <a:t> </a:t>
                </a:r>
                <a:r>
                  <a:rPr lang="en-US" dirty="0" err="1"/>
                  <a:t>konstanta</a:t>
                </a:r>
                <a:r>
                  <a:rPr lang="en-US" dirty="0"/>
                  <a:t> </a:t>
                </a:r>
                <a:r>
                  <a:rPr lang="en-US" dirty="0" err="1"/>
                  <a:t>ve</a:t>
                </a:r>
                <a:r>
                  <a:rPr lang="sr-Latn-RS" dirty="0"/>
                  <a:t>ć se menja</a:t>
                </a:r>
              </a:p>
              <a:p>
                <a:pPr lvl="3"/>
                <a:r>
                  <a:rPr lang="sr-Latn-RS" dirty="0"/>
                  <a:t>za i </a:t>
                </a:r>
                <a:r>
                  <a:rPr lang="en-US" dirty="0"/>
                  <a:t>&lt;</a:t>
                </a:r>
                <a:r>
                  <a:rPr lang="sr-Latn-RS" dirty="0"/>
                  <a:t> 50, 2i-100 </a:t>
                </a:r>
                <a:r>
                  <a:rPr lang="en-US" dirty="0"/>
                  <a:t>&lt;</a:t>
                </a:r>
                <a:r>
                  <a:rPr lang="sr-Latn-RS" dirty="0"/>
                  <a:t>0</a:t>
                </a:r>
              </a:p>
              <a:p>
                <a:pPr lvl="3"/>
                <a:r>
                  <a:rPr lang="sr-Latn-RS" dirty="0"/>
                  <a:t>za i=50, 2i-100=0</a:t>
                </a:r>
              </a:p>
              <a:p>
                <a:pPr lvl="3">
                  <a:buClr>
                    <a:srgbClr val="000000"/>
                  </a:buClr>
                  <a:buFont typeface="Wingdings" panose="05000000000000000000" pitchFamily="2" charset="2"/>
                  <a:buChar char="Ø"/>
                  <a:defRPr/>
                </a:pPr>
                <a:r>
                  <a:rPr lang="sr-Latn-RS" dirty="0"/>
                  <a:t>za i</a:t>
                </a:r>
                <a:r>
                  <a:rPr lang="en-US" dirty="0"/>
                  <a:t> &gt;</a:t>
                </a:r>
                <a:r>
                  <a:rPr lang="sr-Latn-RS" dirty="0"/>
                  <a:t>50, 2i-100 </a:t>
                </a:r>
                <a:r>
                  <a:rPr lang="en-US" dirty="0"/>
                  <a:t>&gt;</a:t>
                </a:r>
                <a:r>
                  <a:rPr lang="sr-Latn-RS" dirty="0"/>
                  <a:t>0</a:t>
                </a:r>
                <a:r>
                  <a:rPr lang="en-US" dirty="0"/>
                  <a:t>     			  </a:t>
                </a:r>
                <a14:m>
                  <m:oMath xmlns:m="http://schemas.openxmlformats.org/officeDocument/2006/math">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𝐷</m:t>
                    </m:r>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m:t>
                    </m:r>
                    <m:d>
                      <m:dPr>
                        <m:begChr m:val="["/>
                        <m:endChr m:val="]"/>
                        <m:ctrlP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ctrlPr>
                      </m:dPr>
                      <m:e>
                        <m:m>
                          <m:mPr>
                            <m:mcs>
                              <m:mc>
                                <m:mcPr>
                                  <m:count m:val="3"/>
                                  <m:mcJc m:val="center"/>
                                </m:mcPr>
                              </m:mc>
                            </m:mcs>
                            <m:ctrlP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ctrlPr>
                          </m:mPr>
                          <m:mr>
                            <m:e>
                              <m:r>
                                <m:rPr>
                                  <m:brk m:alnAt="7"/>
                                </m:rP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m:t>
                              </m:r>
                            </m:e>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m:t>
                              </m:r>
                            </m:e>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m:t>
                              </m:r>
                            </m:e>
                          </m:mr>
                          <m:mr>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&lt;</m:t>
                              </m:r>
                            </m:e>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m:t>
                              </m:r>
                            </m:e>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&gt;</m:t>
                              </m:r>
                            </m:e>
                          </m:mr>
                        </m:m>
                      </m:e>
                    </m:d>
                    <m:m>
                      <m:mPr>
                        <m:mcs>
                          <m:mc>
                            <m:mcPr>
                              <m:count m:val="1"/>
                              <m:mcJc m:val="center"/>
                            </m:mcPr>
                          </m:mc>
                        </m:mcs>
                        <m:ctrlP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ctrlPr>
                      </m:mPr>
                      <m:mr>
                        <m:e>
                          <m:r>
                            <m:rPr>
                              <m:brk m:alnAt="7"/>
                            </m:rP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𝑗</m:t>
                          </m:r>
                        </m:e>
                      </m:mr>
                      <m:mr>
                        <m:e>
                          <m:r>
                            <a:rPr kumimoji="1" lang="en-US" b="0" i="1" u="none" strike="noStrike" kern="1200" cap="none" spc="0" normalizeH="0" baseline="0" noProof="0" smtClean="0">
                              <a:ln>
                                <a:noFill/>
                              </a:ln>
                              <a:solidFill>
                                <a:srgbClr val="000000"/>
                              </a:solidFill>
                              <a:effectLst>
                                <a:outerShdw blurRad="38100" dist="38100" dir="2700000" algn="tl">
                                  <a:srgbClr val="C0C0C0"/>
                                </a:outerShdw>
                              </a:effectLst>
                              <a:uLnTx/>
                              <a:uFillTx/>
                              <a:latin typeface="Cambria Math" panose="02040503050406030204" pitchFamily="18" charset="0"/>
                              <a:ea typeface="+mn-ea"/>
                              <a:cs typeface="+mn-cs"/>
                            </a:rPr>
                            <m:t>𝑖</m:t>
                          </m:r>
                        </m:e>
                      </m:mr>
                    </m:m>
                  </m:oMath>
                </a14:m>
                <a:endParaRPr kumimoji="1" lang="en-US"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ahoma"/>
                  <a:ea typeface="+mn-ea"/>
                  <a:cs typeface="+mn-cs"/>
                </a:endParaRPr>
              </a:p>
              <a:p>
                <a:pPr lvl="3"/>
                <a:endParaRPr lang="sr-Latn-RS" dirty="0"/>
              </a:p>
              <a:p>
                <a:pPr lvl="2"/>
                <a:r>
                  <a:rPr lang="sr-Latn-RS" dirty="0"/>
                  <a:t>Moramo uzeti sve u obzir pa je vektor pravca zavisnosti d =(</a:t>
                </a:r>
                <a:r>
                  <a:rPr lang="en-US" dirty="0"/>
                  <a:t>*,</a:t>
                </a:r>
                <a:r>
                  <a:rPr lang="sr-Latn-RS" dirty="0"/>
                  <a:t>=)</a:t>
                </a:r>
                <a:endParaRPr lang="en-US" dirty="0"/>
              </a:p>
              <a:p>
                <a:pPr lvl="3"/>
                <a:r>
                  <a:rPr lang="sr-Latn-RS" dirty="0"/>
                  <a:t>u suštini imamo tri vektora (</a:t>
                </a:r>
                <a:r>
                  <a:rPr lang="en-US" dirty="0"/>
                  <a:t>&lt;,</a:t>
                </a:r>
                <a:r>
                  <a:rPr lang="sr-Latn-RS" dirty="0"/>
                  <a:t>=), (=,=) i (</a:t>
                </a:r>
                <a:r>
                  <a:rPr lang="en-US" dirty="0"/>
                  <a:t>&gt;,</a:t>
                </a:r>
                <a:r>
                  <a:rPr lang="sr-Latn-RS"/>
                  <a:t>=)</a:t>
                </a:r>
                <a:endParaRPr lang="sr-Latn-RS" dirty="0"/>
              </a:p>
            </p:txBody>
          </p:sp>
        </mc:Choice>
        <mc:Fallback xmlns="">
          <p:sp>
            <p:nvSpPr>
              <p:cNvPr id="3" name="Content Placeholder 2">
                <a:extLst>
                  <a:ext uri="{FF2B5EF4-FFF2-40B4-BE49-F238E27FC236}">
                    <a16:creationId xmlns:a16="http://schemas.microsoft.com/office/drawing/2014/main" id="{8080E9F6-5C8D-B31E-360C-382E2708B179}"/>
                  </a:ext>
                </a:extLst>
              </p:cNvPr>
              <p:cNvSpPr>
                <a:spLocks noGrp="1" noRot="1" noChangeAspect="1" noMove="1" noResize="1" noEditPoints="1" noAdjustHandles="1" noChangeArrowheads="1" noChangeShapeType="1" noTextEdit="1"/>
              </p:cNvSpPr>
              <p:nvPr>
                <p:ph idx="1"/>
              </p:nvPr>
            </p:nvSpPr>
            <p:spPr>
              <a:blipFill>
                <a:blip r:embed="rId3"/>
                <a:stretch>
                  <a:fillRect t="-198"/>
                </a:stretch>
              </a:blipFill>
            </p:spPr>
            <p:txBody>
              <a:bodyPr/>
              <a:lstStyle/>
              <a:p>
                <a:r>
                  <a:rPr lang="en-US">
                    <a:noFill/>
                  </a:rPr>
                  <a:t> </a:t>
                </a:r>
              </a:p>
            </p:txBody>
          </p:sp>
        </mc:Fallback>
      </mc:AlternateContent>
    </p:spTree>
    <p:extLst>
      <p:ext uri="{BB962C8B-B14F-4D97-AF65-F5344CB8AC3E}">
        <p14:creationId xmlns:p14="http://schemas.microsoft.com/office/powerpoint/2010/main" val="2257233335"/>
      </p:ext>
    </p:extLst>
  </p:cSld>
  <p:clrMapOvr>
    <a:masterClrMapping/>
  </p:clrMapOvr>
  <p:transition>
    <p:pull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49C4-43AD-A6E2-DCBE-0652EDCF5D3A}"/>
              </a:ext>
            </a:extLst>
          </p:cNvPr>
          <p:cNvSpPr>
            <a:spLocks noGrp="1"/>
          </p:cNvSpPr>
          <p:nvPr>
            <p:ph type="title"/>
          </p:nvPr>
        </p:nvSpPr>
        <p:spPr/>
        <p:txBody>
          <a:bodyPr/>
          <a:lstStyle/>
          <a:p>
            <a:r>
              <a:rPr lang="sr-Latn-RS" dirty="0"/>
              <a:t>Primer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2A06CA-3346-749D-D89E-BE1CAA94F26C}"/>
                  </a:ext>
                </a:extLst>
              </p:cNvPr>
              <p:cNvSpPr>
                <a:spLocks noGrp="1"/>
              </p:cNvSpPr>
              <p:nvPr>
                <p:ph idx="1"/>
              </p:nvPr>
            </p:nvSpPr>
            <p:spPr/>
            <p:txBody>
              <a:bodyPr/>
              <a:lstStyle/>
              <a:p>
                <a:r>
                  <a:rPr lang="sr-Latn-RS" dirty="0"/>
                  <a:t>Šta ako se neka indeksna promenljiva ne pojavljuje ni i jednom subscriptu?</a:t>
                </a:r>
              </a:p>
              <a:p>
                <a:pPr marL="857250" lvl="2" indent="0">
                  <a:buNone/>
                </a:pPr>
                <a:r>
                  <a:rPr lang="sr-Latn-RS" dirty="0"/>
                  <a:t>for (i=0; i</a:t>
                </a:r>
                <a:r>
                  <a:rPr lang="en-US" dirty="0"/>
                  <a:t>&lt;100; i++)</a:t>
                </a:r>
              </a:p>
              <a:p>
                <a:pPr marL="857250" lvl="2" indent="0">
                  <a:buNone/>
                </a:pPr>
                <a:r>
                  <a:rPr lang="en-US" dirty="0"/>
                  <a:t>	for (j=0; j&lt;100; </a:t>
                </a:r>
                <a:r>
                  <a:rPr lang="en-US" dirty="0" err="1"/>
                  <a:t>j++</a:t>
                </a:r>
                <a:r>
                  <a:rPr lang="en-US" dirty="0"/>
                  <a:t>)</a:t>
                </a:r>
              </a:p>
              <a:p>
                <a:pPr marL="857250" lvl="2" indent="0">
                  <a:buNone/>
                </a:pPr>
                <a:r>
                  <a:rPr lang="en-US" dirty="0"/>
                  <a:t>		a(i+1)= a(i)+B(j);</a:t>
                </a:r>
              </a:p>
              <a:p>
                <a:pPr lvl="1"/>
                <a:r>
                  <a:rPr lang="en-US" dirty="0" err="1"/>
                  <a:t>Moramo</a:t>
                </a:r>
                <a:r>
                  <a:rPr lang="en-US" dirty="0"/>
                  <a:t> </a:t>
                </a:r>
                <a:r>
                  <a:rPr lang="en-US" dirty="0" err="1"/>
                  <a:t>uzeti</a:t>
                </a:r>
                <a:r>
                  <a:rPr lang="en-US" dirty="0"/>
                  <a:t> u </a:t>
                </a:r>
                <a:r>
                  <a:rPr lang="en-US" dirty="0" err="1"/>
                  <a:t>obzir</a:t>
                </a:r>
                <a:r>
                  <a:rPr lang="en-US" dirty="0"/>
                  <a:t> </a:t>
                </a:r>
                <a:r>
                  <a:rPr lang="en-US" dirty="0" err="1"/>
                  <a:t>sve</a:t>
                </a:r>
                <a:r>
                  <a:rPr lang="en-US" dirty="0"/>
                  <a:t> </a:t>
                </a:r>
                <a:r>
                  <a:rPr lang="en-US" dirty="0" err="1"/>
                  <a:t>mogu</a:t>
                </a:r>
                <a:r>
                  <a:rPr lang="sr-Latn-RS" dirty="0"/>
                  <a:t>ć</a:t>
                </a:r>
                <a:r>
                  <a:rPr lang="en-US" dirty="0" err="1"/>
                  <a:t>nosti</a:t>
                </a:r>
                <a:r>
                  <a:rPr lang="en-US" dirty="0"/>
                  <a:t> za</a:t>
                </a:r>
                <a:r>
                  <a:rPr lang="sr-Latn-RS" dirty="0"/>
                  <a:t> nedostajući indeks</a:t>
                </a:r>
              </a:p>
              <a:p>
                <a:pPr lvl="2"/>
                <a:r>
                  <a:rPr lang="sr-Latn-RS" dirty="0"/>
                  <a:t>d =(1,*), tj d</a:t>
                </a:r>
                <a:r>
                  <a:rPr lang="en-US" dirty="0"/>
                  <a:t>=(&lt;,*) </a:t>
                </a:r>
              </a:p>
              <a:p>
                <a:pPr lvl="2"/>
                <a:endParaRPr lang="en-US" dirty="0"/>
              </a:p>
              <a:p>
                <a:pPr lvl="2"/>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&lt;</m:t>
                              </m:r>
                            </m:e>
                            <m:e>
                              <m:r>
                                <a:rPr lang="en-US" b="0" i="1" smtClean="0">
                                  <a:latin typeface="Cambria Math" panose="02040503050406030204" pitchFamily="18" charset="0"/>
                                </a:rPr>
                                <m:t>&lt;</m:t>
                              </m:r>
                            </m:e>
                            <m:e>
                              <m:r>
                                <a:rPr lang="en-US" b="0" i="1" smtClean="0">
                                  <a:latin typeface="Cambria Math" panose="02040503050406030204" pitchFamily="18" charset="0"/>
                                </a:rPr>
                                <m:t>&lt;</m:t>
                              </m:r>
                            </m:e>
                          </m:mr>
                          <m:mr>
                            <m:e>
                              <m:r>
                                <a:rPr lang="en-US" b="0" i="1" smtClean="0">
                                  <a:latin typeface="Cambria Math" panose="02040503050406030204" pitchFamily="18" charset="0"/>
                                </a:rPr>
                                <m:t>&lt;</m:t>
                              </m:r>
                            </m:e>
                            <m:e>
                              <m:r>
                                <a:rPr lang="en-US" b="0" i="1" smtClean="0">
                                  <a:latin typeface="Cambria Math" panose="02040503050406030204" pitchFamily="18" charset="0"/>
                                </a:rPr>
                                <m:t>=</m:t>
                              </m:r>
                            </m:e>
                            <m:e>
                              <m:r>
                                <a:rPr lang="en-US" b="0" i="1" smtClean="0">
                                  <a:latin typeface="Cambria Math" panose="02040503050406030204" pitchFamily="18" charset="0"/>
                                </a:rPr>
                                <m:t>&gt;</m:t>
                              </m:r>
                            </m:e>
                          </m:mr>
                        </m:m>
                      </m:e>
                    </m:d>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𝑖</m:t>
                          </m:r>
                        </m:e>
                      </m:mr>
                      <m:mr>
                        <m:e>
                          <m:r>
                            <a:rPr lang="en-US" b="0" i="1" smtClean="0">
                              <a:latin typeface="Cambria Math" panose="02040503050406030204" pitchFamily="18" charset="0"/>
                            </a:rPr>
                            <m:t>𝑗</m:t>
                          </m:r>
                        </m:e>
                      </m:mr>
                    </m:m>
                  </m:oMath>
                </a14:m>
                <a:endParaRPr lang="en-US" dirty="0"/>
              </a:p>
            </p:txBody>
          </p:sp>
        </mc:Choice>
        <mc:Fallback xmlns="">
          <p:sp>
            <p:nvSpPr>
              <p:cNvPr id="3" name="Content Placeholder 2">
                <a:extLst>
                  <a:ext uri="{FF2B5EF4-FFF2-40B4-BE49-F238E27FC236}">
                    <a16:creationId xmlns:a16="http://schemas.microsoft.com/office/drawing/2014/main" id="{602A06CA-3346-749D-D89E-BE1CAA94F26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sr-Latn-RS">
                    <a:noFill/>
                  </a:rPr>
                  <a:t> </a:t>
                </a:r>
              </a:p>
            </p:txBody>
          </p:sp>
        </mc:Fallback>
      </mc:AlternateContent>
    </p:spTree>
    <p:extLst>
      <p:ext uri="{BB962C8B-B14F-4D97-AF65-F5344CB8AC3E}">
        <p14:creationId xmlns:p14="http://schemas.microsoft.com/office/powerpoint/2010/main" val="4081876216"/>
      </p:ext>
    </p:extLst>
  </p:cSld>
  <p:clrMapOvr>
    <a:masterClrMapping/>
  </p:clrMapOvr>
  <p:transition>
    <p:pull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id="{7918C8A2-0942-4D84-BAD2-FE2A3259B427}"/>
              </a:ext>
            </a:extLst>
          </p:cNvPr>
          <p:cNvSpPr>
            <a:spLocks noGrp="1" noChangeArrowheads="1"/>
          </p:cNvSpPr>
          <p:nvPr>
            <p:ph type="body" idx="1"/>
          </p:nvPr>
        </p:nvSpPr>
        <p:spPr/>
        <p:txBody>
          <a:bodyPr/>
          <a:lstStyle/>
          <a:p>
            <a:pPr marL="533400" indent="-533400" algn="just">
              <a:lnSpc>
                <a:spcPct val="90000"/>
              </a:lnSpc>
              <a:defRPr/>
            </a:pPr>
            <a:r>
              <a:rPr lang="en-US" altLang="en-US">
                <a:cs typeface="Times New Roman" panose="02020603050405020304" pitchFamily="18" charset="0"/>
              </a:rPr>
              <a:t>Ako vektorizacija nije mogu</a:t>
            </a:r>
            <a:r>
              <a:rPr lang="hr-HR" altLang="en-US"/>
              <a:t>ć</a:t>
            </a:r>
            <a:r>
              <a:rPr lang="en-US" altLang="en-US">
                <a:cs typeface="Times New Roman" panose="02020603050405020304" pitchFamily="18" charset="0"/>
              </a:rPr>
              <a:t>a po unutra</a:t>
            </a:r>
            <a:r>
              <a:rPr lang="hr-HR" altLang="en-US"/>
              <a:t>š</a:t>
            </a:r>
            <a:r>
              <a:rPr lang="en-US" altLang="en-US">
                <a:cs typeface="Times New Roman" panose="02020603050405020304" pitchFamily="18" charset="0"/>
              </a:rPr>
              <a:t>njoj petlji, mo</a:t>
            </a:r>
            <a:r>
              <a:rPr lang="hr-HR" altLang="en-US"/>
              <a:t>ž</a:t>
            </a:r>
            <a:r>
              <a:rPr lang="en-US" altLang="en-US">
                <a:cs typeface="Times New Roman" panose="02020603050405020304" pitchFamily="18" charset="0"/>
              </a:rPr>
              <a:t>e se poku</a:t>
            </a:r>
            <a:r>
              <a:rPr lang="hr-HR" altLang="en-US"/>
              <a:t>š</a:t>
            </a:r>
            <a:r>
              <a:rPr lang="en-US" altLang="en-US">
                <a:cs typeface="Times New Roman" panose="02020603050405020304" pitchFamily="18" charset="0"/>
              </a:rPr>
              <a:t>ati sa zamenom petlji ili nekim drugim transformacijama indeksnih promenljivih. </a:t>
            </a:r>
            <a:endParaRPr lang="hr-HR" altLang="en-US"/>
          </a:p>
          <a:p>
            <a:pPr marL="533400" indent="-533400" algn="just">
              <a:lnSpc>
                <a:spcPct val="90000"/>
              </a:lnSpc>
              <a:defRPr/>
            </a:pPr>
            <a:r>
              <a:rPr lang="en-US" altLang="en-US">
                <a:cs typeface="Times New Roman" panose="02020603050405020304" pitchFamily="18" charset="0"/>
              </a:rPr>
              <a:t>Postoje tri elementarne transformacije koje se mogu obavljati nad indeksnim skupovima, tj. nad petljama. </a:t>
            </a:r>
            <a:endParaRPr lang="hr-HR" altLang="en-US"/>
          </a:p>
          <a:p>
            <a:pPr marL="895350" lvl="1" indent="-438150" algn="just">
              <a:lnSpc>
                <a:spcPct val="90000"/>
              </a:lnSpc>
              <a:defRPr/>
            </a:pPr>
            <a:r>
              <a:rPr lang="en-US" altLang="en-US">
                <a:cs typeface="Times New Roman" panose="02020603050405020304" pitchFamily="18" charset="0"/>
              </a:rPr>
              <a:t>Ove transformacije se opisuju pomo</a:t>
            </a:r>
            <a:r>
              <a:rPr lang="hr-HR" altLang="en-US"/>
              <a:t>ć</a:t>
            </a:r>
            <a:r>
              <a:rPr lang="en-US" altLang="en-US">
                <a:cs typeface="Times New Roman" panose="02020603050405020304" pitchFamily="18" charset="0"/>
              </a:rPr>
              <a:t>u matrica transformacija, T.</a:t>
            </a:r>
            <a:r>
              <a:rPr lang="en-US" altLang="en-US">
                <a:latin typeface="Times Roman YU" pitchFamily="18" charset="0"/>
                <a:cs typeface="Times New Roman" panose="02020603050405020304" pitchFamily="18" charset="0"/>
              </a:rPr>
              <a:t> </a:t>
            </a:r>
            <a:endParaRPr lang="hr-HR" altLang="en-US">
              <a:latin typeface="Times New Roman" panose="02020603050405020304" pitchFamily="18" charset="0"/>
            </a:endParaRPr>
          </a:p>
          <a:p>
            <a:pPr marL="533400" indent="-533400" algn="just">
              <a:lnSpc>
                <a:spcPct val="90000"/>
              </a:lnSpc>
              <a:defRPr/>
            </a:pPr>
            <a:r>
              <a:rPr lang="en-US" altLang="en-US">
                <a:cs typeface="Times New Roman" panose="02020603050405020304" pitchFamily="18" charset="0"/>
              </a:rPr>
              <a:t>Ove matrice moraju da poseduju slede</a:t>
            </a:r>
            <a:r>
              <a:rPr lang="hr-HR" altLang="en-US"/>
              <a:t>ć</a:t>
            </a:r>
            <a:r>
              <a:rPr lang="en-US" altLang="en-US">
                <a:cs typeface="Times New Roman" panose="02020603050405020304" pitchFamily="18" charset="0"/>
              </a:rPr>
              <a:t>e tri osobine:</a:t>
            </a:r>
          </a:p>
          <a:p>
            <a:pPr marL="895350" lvl="1" indent="-438150" algn="just">
              <a:lnSpc>
                <a:spcPct val="90000"/>
              </a:lnSpc>
              <a:buFont typeface="Wingdings" panose="05000000000000000000" pitchFamily="2" charset="2"/>
              <a:buNone/>
              <a:defRPr/>
            </a:pPr>
            <a:r>
              <a:rPr lang="en-US" altLang="en-US">
                <a:cs typeface="Times New Roman" panose="02020603050405020304" pitchFamily="18" charset="0"/>
              </a:rPr>
              <a:t>1.      To su kvadratne matrice, </a:t>
            </a:r>
            <a:r>
              <a:rPr lang="hr-HR" altLang="en-US"/>
              <a:t>š</a:t>
            </a:r>
            <a:r>
              <a:rPr lang="en-US" altLang="en-US">
                <a:cs typeface="Times New Roman" panose="02020603050405020304" pitchFamily="18" charset="0"/>
              </a:rPr>
              <a:t>to zna</a:t>
            </a:r>
            <a:r>
              <a:rPr lang="hr-HR" altLang="en-US"/>
              <a:t>č</a:t>
            </a:r>
            <a:r>
              <a:rPr lang="en-US" altLang="en-US">
                <a:cs typeface="Times New Roman" panose="02020603050405020304" pitchFamily="18" charset="0"/>
              </a:rPr>
              <a:t>i da vr</a:t>
            </a:r>
            <a:r>
              <a:rPr lang="hr-HR" altLang="en-US"/>
              <a:t>š</a:t>
            </a:r>
            <a:r>
              <a:rPr lang="en-US" altLang="en-US">
                <a:cs typeface="Times New Roman" panose="02020603050405020304" pitchFamily="18" charset="0"/>
              </a:rPr>
              <a:t>e preslikavanje n-dimenzionalnog indeksnog prostora u n-dimenzionalni indeksni prostor</a:t>
            </a:r>
          </a:p>
          <a:p>
            <a:pPr marL="895350" lvl="1" indent="-438150" algn="just">
              <a:lnSpc>
                <a:spcPct val="90000"/>
              </a:lnSpc>
              <a:buFont typeface="Wingdings" panose="05000000000000000000" pitchFamily="2" charset="2"/>
              <a:buNone/>
              <a:defRPr/>
            </a:pPr>
            <a:r>
              <a:rPr lang="en-US" altLang="en-US">
                <a:cs typeface="Times New Roman" panose="02020603050405020304" pitchFamily="18" charset="0"/>
              </a:rPr>
              <a:t>2.      To su celobrojne matrice</a:t>
            </a:r>
          </a:p>
          <a:p>
            <a:pPr marL="895350" lvl="1" indent="-438150" algn="just">
              <a:lnSpc>
                <a:spcPct val="90000"/>
              </a:lnSpc>
              <a:buFont typeface="Wingdings" panose="05000000000000000000" pitchFamily="2" charset="2"/>
              <a:buNone/>
              <a:defRPr/>
            </a:pPr>
            <a:r>
              <a:rPr lang="en-US" altLang="en-US">
                <a:latin typeface="Times Roman YU"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      </a:t>
            </a:r>
            <a:endParaRPr lang="en-US" altLang="en-US"/>
          </a:p>
        </p:txBody>
      </p:sp>
      <p:sp>
        <p:nvSpPr>
          <p:cNvPr id="6148" name="Rectangle 5">
            <a:extLst>
              <a:ext uri="{FF2B5EF4-FFF2-40B4-BE49-F238E27FC236}">
                <a16:creationId xmlns:a16="http://schemas.microsoft.com/office/drawing/2014/main" id="{FE4F6B4A-B2B2-4437-9A84-B518C0A4A05A}"/>
              </a:ext>
            </a:extLst>
          </p:cNvPr>
          <p:cNvSpPr>
            <a:spLocks noChangeArrowheads="1"/>
          </p:cNvSpPr>
          <p:nvPr/>
        </p:nvSpPr>
        <p:spPr bwMode="auto">
          <a:xfrm>
            <a:off x="428625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6146" name="Object 4">
            <a:extLst>
              <a:ext uri="{FF2B5EF4-FFF2-40B4-BE49-F238E27FC236}">
                <a16:creationId xmlns:a16="http://schemas.microsoft.com/office/drawing/2014/main" id="{1E7F691F-FF1C-4E20-B533-243B99921D8D}"/>
              </a:ext>
            </a:extLst>
          </p:cNvPr>
          <p:cNvGraphicFramePr>
            <a:graphicFrameLocks noChangeAspect="1"/>
          </p:cNvGraphicFramePr>
          <p:nvPr/>
        </p:nvGraphicFramePr>
        <p:xfrm>
          <a:off x="1371600" y="6248400"/>
          <a:ext cx="990600" cy="446088"/>
        </p:xfrm>
        <a:graphic>
          <a:graphicData uri="http://schemas.openxmlformats.org/presentationml/2006/ole">
            <mc:AlternateContent xmlns:mc="http://schemas.openxmlformats.org/markup-compatibility/2006">
              <mc:Choice xmlns:v="urn:schemas-microsoft-com:vml" Requires="v">
                <p:oleObj r:id="rId2" imgW="571252" imgH="253890" progId="Equation.3">
                  <p:embed/>
                </p:oleObj>
              </mc:Choice>
              <mc:Fallback>
                <p:oleObj r:id="rId2" imgW="571252" imgH="253890" progId="Equation.3">
                  <p:embed/>
                  <p:pic>
                    <p:nvPicPr>
                      <p:cNvPr id="6146" name="Object 4">
                        <a:extLst>
                          <a:ext uri="{FF2B5EF4-FFF2-40B4-BE49-F238E27FC236}">
                            <a16:creationId xmlns:a16="http://schemas.microsoft.com/office/drawing/2014/main" id="{1E7F691F-FF1C-4E20-B533-243B99921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6248400"/>
                        <a:ext cx="990600" cy="4460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Rectangle 6">
            <a:extLst>
              <a:ext uri="{FF2B5EF4-FFF2-40B4-BE49-F238E27FC236}">
                <a16:creationId xmlns:a16="http://schemas.microsoft.com/office/drawing/2014/main" id="{B7099179-A741-43EE-AA86-1999A04B0DB3}"/>
              </a:ext>
            </a:extLst>
          </p:cNvPr>
          <p:cNvSpPr>
            <a:spLocks noGrp="1" noChangeArrowheads="1"/>
          </p:cNvSpPr>
          <p:nvPr>
            <p:ph type="title"/>
          </p:nvPr>
        </p:nvSpPr>
        <p:spPr/>
        <p:txBody>
          <a:bodyPr/>
          <a:lstStyle/>
          <a:p>
            <a:pPr>
              <a:defRPr/>
            </a:pPr>
            <a:r>
              <a:rPr lang="hr-HR" altLang="en-US" sz="3600"/>
              <a:t>Vektorizacija ugnj. petlji (nast.)</a:t>
            </a:r>
            <a:endParaRPr lang="en-US" altLang="en-US" sz="3600"/>
          </a:p>
        </p:txBody>
      </p:sp>
    </p:spTree>
  </p:cSld>
  <p:clrMapOvr>
    <a:masterClrMapping/>
  </p:clrMapOvr>
  <p:transition>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91C57C3E-8065-45A0-9488-930A95EDC9EE}"/>
              </a:ext>
            </a:extLst>
          </p:cNvPr>
          <p:cNvSpPr>
            <a:spLocks noGrp="1" noChangeArrowheads="1"/>
          </p:cNvSpPr>
          <p:nvPr>
            <p:ph type="body" idx="1"/>
          </p:nvPr>
        </p:nvSpPr>
        <p:spPr/>
        <p:txBody>
          <a:bodyPr/>
          <a:lstStyle/>
          <a:p>
            <a:pPr algn="just">
              <a:lnSpc>
                <a:spcPct val="90000"/>
              </a:lnSpc>
              <a:defRPr/>
            </a:pPr>
            <a:r>
              <a:rPr lang="en-US" altLang="en-US">
                <a:cs typeface="Times New Roman" panose="02020603050405020304" pitchFamily="18" charset="0"/>
              </a:rPr>
              <a:t>Zbog ovih osobina proizvod dve elementarne transformacije daje va</a:t>
            </a:r>
            <a:r>
              <a:rPr lang="hr-HR" altLang="en-US"/>
              <a:t>ž</a:t>
            </a:r>
            <a:r>
              <a:rPr lang="en-US" altLang="en-US">
                <a:cs typeface="Times New Roman" panose="02020603050405020304" pitchFamily="18" charset="0"/>
              </a:rPr>
              <a:t>e</a:t>
            </a:r>
            <a:r>
              <a:rPr lang="hr-HR" altLang="en-US"/>
              <a:t>ć</a:t>
            </a:r>
            <a:r>
              <a:rPr lang="en-US" altLang="en-US">
                <a:cs typeface="Times New Roman" panose="02020603050405020304" pitchFamily="18" charset="0"/>
              </a:rPr>
              <a:t>u transformaciju. </a:t>
            </a:r>
            <a:endParaRPr lang="hr-HR" altLang="en-US"/>
          </a:p>
          <a:p>
            <a:pPr algn="just">
              <a:lnSpc>
                <a:spcPct val="90000"/>
              </a:lnSpc>
              <a:defRPr/>
            </a:pPr>
            <a:r>
              <a:rPr lang="en-US" altLang="en-US">
                <a:cs typeface="Times New Roman" panose="02020603050405020304" pitchFamily="18" charset="0"/>
              </a:rPr>
              <a:t>Da bi jedna transformacija mogla da se primeni nad indeksnim skupom a da to ne uti</a:t>
            </a:r>
            <a:r>
              <a:rPr lang="hr-HR" altLang="en-US"/>
              <a:t>č</a:t>
            </a:r>
            <a:r>
              <a:rPr lang="en-US" altLang="en-US">
                <a:cs typeface="Times New Roman" panose="02020603050405020304" pitchFamily="18" charset="0"/>
              </a:rPr>
              <a:t>e na korektnost izra</a:t>
            </a:r>
            <a:r>
              <a:rPr lang="hr-HR" altLang="en-US"/>
              <a:t>č</a:t>
            </a:r>
            <a:r>
              <a:rPr lang="en-US" altLang="en-US">
                <a:cs typeface="Times New Roman" panose="02020603050405020304" pitchFamily="18" charset="0"/>
              </a:rPr>
              <a:t>unavanja, matrica transformacije T ne sme da menja znak vektora zavisnosti</a:t>
            </a:r>
            <a:r>
              <a:rPr lang="hr-HR" altLang="en-US"/>
              <a:t>:</a:t>
            </a:r>
            <a:r>
              <a:rPr lang="en-US" altLang="en-US">
                <a:latin typeface="Times Roman YU" pitchFamily="18" charset="0"/>
                <a:cs typeface="Times New Roman" panose="02020603050405020304" pitchFamily="18" charset="0"/>
              </a:rPr>
              <a:t> </a:t>
            </a:r>
            <a:endParaRPr lang="hr-HR" altLang="en-US">
              <a:latin typeface="Times New Roman" panose="02020603050405020304" pitchFamily="18" charset="0"/>
            </a:endParaRPr>
          </a:p>
          <a:p>
            <a:pPr lvl="1" algn="just">
              <a:lnSpc>
                <a:spcPct val="90000"/>
              </a:lnSpc>
              <a:defRPr/>
            </a:pPr>
            <a:r>
              <a:rPr lang="hr-HR" altLang="en-US"/>
              <a:t>A</a:t>
            </a:r>
            <a:r>
              <a:rPr lang="en-US" altLang="en-US">
                <a:cs typeface="Times New Roman" panose="02020603050405020304" pitchFamily="18" charset="0"/>
              </a:rPr>
              <a:t>ko je </a:t>
            </a:r>
            <a:r>
              <a:rPr lang="en-US" altLang="en-US" i="1">
                <a:cs typeface="Times New Roman" panose="02020603050405020304" pitchFamily="18" charset="0"/>
              </a:rPr>
              <a:t>d</a:t>
            </a:r>
            <a:r>
              <a:rPr lang="en-US" altLang="en-US">
                <a:cs typeface="Times New Roman" panose="02020603050405020304" pitchFamily="18" charset="0"/>
              </a:rPr>
              <a:t> vektor zavisnosti, T matrica transformacije, tada novi vektor zavisnosti </a:t>
            </a:r>
            <a:r>
              <a:rPr lang="hr-HR" altLang="en-US"/>
              <a:t> </a:t>
            </a:r>
            <a:r>
              <a:rPr lang="en-US" altLang="en-US">
                <a:cs typeface="Times New Roman" panose="02020603050405020304" pitchFamily="18" charset="0"/>
              </a:rPr>
              <a:t> </a:t>
            </a:r>
            <a:r>
              <a:rPr lang="hr-HR" altLang="en-US"/>
              <a:t> , </a:t>
            </a:r>
            <a:r>
              <a:rPr lang="en-US" altLang="en-US">
                <a:cs typeface="Times New Roman" panose="02020603050405020304" pitchFamily="18" charset="0"/>
              </a:rPr>
              <a:t>koji se dobija kada se T primeni na </a:t>
            </a:r>
            <a:r>
              <a:rPr lang="en-US" altLang="en-US" i="1">
                <a:cs typeface="Times New Roman" panose="02020603050405020304" pitchFamily="18" charset="0"/>
              </a:rPr>
              <a:t>d</a:t>
            </a:r>
            <a:r>
              <a:rPr lang="en-US" altLang="en-US">
                <a:cs typeface="Times New Roman" panose="02020603050405020304" pitchFamily="18" charset="0"/>
              </a:rPr>
              <a:t>, tj.</a:t>
            </a:r>
          </a:p>
          <a:p>
            <a:pPr>
              <a:lnSpc>
                <a:spcPct val="90000"/>
              </a:lnSpc>
              <a:defRPr/>
            </a:pPr>
            <a:endParaRPr lang="hr-HR" altLang="en-US"/>
          </a:p>
          <a:p>
            <a:pPr>
              <a:lnSpc>
                <a:spcPct val="90000"/>
              </a:lnSpc>
              <a:defRPr/>
            </a:pPr>
            <a:endParaRPr lang="hr-HR" altLang="en-US"/>
          </a:p>
          <a:p>
            <a:pPr lvl="1">
              <a:lnSpc>
                <a:spcPct val="90000"/>
              </a:lnSpc>
              <a:defRPr/>
            </a:pPr>
            <a:r>
              <a:rPr lang="en-US" altLang="en-US">
                <a:cs typeface="Times New Roman" panose="02020603050405020304" pitchFamily="18" charset="0"/>
              </a:rPr>
              <a:t>mora biti istog znaka kao i </a:t>
            </a:r>
            <a:r>
              <a:rPr lang="en-US" altLang="en-US" i="1">
                <a:cs typeface="Times New Roman" panose="02020603050405020304" pitchFamily="18" charset="0"/>
              </a:rPr>
              <a:t>d</a:t>
            </a:r>
            <a:r>
              <a:rPr lang="en-US" altLang="en-US">
                <a:cs typeface="Times New Roman" panose="02020603050405020304" pitchFamily="18" charset="0"/>
              </a:rPr>
              <a:t>. </a:t>
            </a:r>
            <a:endParaRPr lang="hr-HR" altLang="en-US"/>
          </a:p>
          <a:p>
            <a:pPr lvl="2">
              <a:lnSpc>
                <a:spcPct val="90000"/>
              </a:lnSpc>
              <a:defRPr/>
            </a:pPr>
            <a:r>
              <a:rPr lang="hr-HR" altLang="en-US"/>
              <a:t>A</a:t>
            </a:r>
            <a:r>
              <a:rPr lang="en-US" altLang="en-US">
                <a:cs typeface="Times New Roman" panose="02020603050405020304" pitchFamily="18" charset="0"/>
              </a:rPr>
              <a:t>ko je d&gt;0, tada mora i </a:t>
            </a:r>
            <a:r>
              <a:rPr lang="hr-HR" altLang="en-US"/>
              <a:t>     </a:t>
            </a:r>
            <a:r>
              <a:rPr lang="en-US" altLang="en-US">
                <a:cs typeface="Times New Roman" panose="02020603050405020304" pitchFamily="18" charset="0"/>
              </a:rPr>
              <a:t>&gt;0, ili ako je d &lt; 0, tada</a:t>
            </a:r>
            <a:r>
              <a:rPr lang="sr-Latn-CS" altLang="en-US">
                <a:cs typeface="Times New Roman" panose="02020603050405020304" pitchFamily="18" charset="0"/>
              </a:rPr>
              <a:t> i </a:t>
            </a:r>
            <a:r>
              <a:rPr lang="en-US" altLang="en-US">
                <a:cs typeface="Times New Roman" panose="02020603050405020304" pitchFamily="18" charset="0"/>
              </a:rPr>
              <a:t> </a:t>
            </a:r>
            <a:r>
              <a:rPr lang="sr-Latn-CS" altLang="en-US">
                <a:cs typeface="Times New Roman" panose="02020603050405020304" pitchFamily="18" charset="0"/>
              </a:rPr>
              <a:t>   </a:t>
            </a:r>
            <a:r>
              <a:rPr lang="en-US" altLang="en-US">
                <a:cs typeface="Times New Roman" panose="02020603050405020304" pitchFamily="18" charset="0"/>
              </a:rPr>
              <a:t>mora  </a:t>
            </a:r>
            <a:r>
              <a:rPr lang="hr-HR" altLang="en-US"/>
              <a:t>     </a:t>
            </a:r>
            <a:r>
              <a:rPr lang="en-US" altLang="en-US">
                <a:cs typeface="Times New Roman" panose="02020603050405020304" pitchFamily="18" charset="0"/>
              </a:rPr>
              <a:t>&lt;0. </a:t>
            </a:r>
            <a:endParaRPr lang="hr-HR" altLang="en-US"/>
          </a:p>
          <a:p>
            <a:pPr lvl="2">
              <a:lnSpc>
                <a:spcPct val="90000"/>
              </a:lnSpc>
              <a:defRPr/>
            </a:pPr>
            <a:r>
              <a:rPr lang="en-US" altLang="en-US">
                <a:cs typeface="Times New Roman" panose="02020603050405020304" pitchFamily="18" charset="0"/>
              </a:rPr>
              <a:t>Za vektor se ka</a:t>
            </a:r>
            <a:r>
              <a:rPr lang="sr-Latn-CS" altLang="en-US">
                <a:cs typeface="Times New Roman" panose="02020603050405020304" pitchFamily="18" charset="0"/>
              </a:rPr>
              <a:t>ž</a:t>
            </a:r>
            <a:r>
              <a:rPr lang="en-US" altLang="en-US">
                <a:cs typeface="Times New Roman" panose="02020603050405020304" pitchFamily="18" charset="0"/>
              </a:rPr>
              <a:t>e da je pozitivan (negativan) ako mu je prvi ne-nulti element pozitivan (negativan).</a:t>
            </a:r>
            <a:r>
              <a:rPr lang="en-US" altLang="en-US"/>
              <a:t> </a:t>
            </a:r>
          </a:p>
        </p:txBody>
      </p:sp>
      <p:sp>
        <p:nvSpPr>
          <p:cNvPr id="7175" name="Rectangle 5">
            <a:extLst>
              <a:ext uri="{FF2B5EF4-FFF2-40B4-BE49-F238E27FC236}">
                <a16:creationId xmlns:a16="http://schemas.microsoft.com/office/drawing/2014/main" id="{1FF16A0B-C46C-465D-8582-0437A62C9DBF}"/>
              </a:ext>
            </a:extLst>
          </p:cNvPr>
          <p:cNvSpPr>
            <a:spLocks noChangeArrowheads="1"/>
          </p:cNvSpPr>
          <p:nvPr/>
        </p:nvSpPr>
        <p:spPr bwMode="auto">
          <a:xfrm>
            <a:off x="45005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7170" name="Object 4">
            <a:extLst>
              <a:ext uri="{FF2B5EF4-FFF2-40B4-BE49-F238E27FC236}">
                <a16:creationId xmlns:a16="http://schemas.microsoft.com/office/drawing/2014/main" id="{21A7232E-898A-4331-90F1-E22D5F20835D}"/>
              </a:ext>
            </a:extLst>
          </p:cNvPr>
          <p:cNvGraphicFramePr>
            <a:graphicFrameLocks noChangeAspect="1"/>
          </p:cNvGraphicFramePr>
          <p:nvPr/>
        </p:nvGraphicFramePr>
        <p:xfrm>
          <a:off x="3124200" y="3581400"/>
          <a:ext cx="269875" cy="414338"/>
        </p:xfrm>
        <a:graphic>
          <a:graphicData uri="http://schemas.openxmlformats.org/presentationml/2006/ole">
            <mc:AlternateContent xmlns:mc="http://schemas.openxmlformats.org/markup-compatibility/2006">
              <mc:Choice xmlns:v="urn:schemas-microsoft-com:vml" Requires="v">
                <p:oleObj r:id="rId2" imgW="139579" imgH="215713" progId="Equation.3">
                  <p:embed/>
                </p:oleObj>
              </mc:Choice>
              <mc:Fallback>
                <p:oleObj r:id="rId2" imgW="139579" imgH="215713" progId="Equation.3">
                  <p:embed/>
                  <p:pic>
                    <p:nvPicPr>
                      <p:cNvPr id="7170" name="Object 4">
                        <a:extLst>
                          <a:ext uri="{FF2B5EF4-FFF2-40B4-BE49-F238E27FC236}">
                            <a16:creationId xmlns:a16="http://schemas.microsoft.com/office/drawing/2014/main" id="{21A7232E-898A-4331-90F1-E22D5F208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581400"/>
                        <a:ext cx="269875" cy="4143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6" name="Rectangle 7">
            <a:extLst>
              <a:ext uri="{FF2B5EF4-FFF2-40B4-BE49-F238E27FC236}">
                <a16:creationId xmlns:a16="http://schemas.microsoft.com/office/drawing/2014/main" id="{F01032E4-1C22-4E53-A31A-11486D26715C}"/>
              </a:ext>
            </a:extLst>
          </p:cNvPr>
          <p:cNvSpPr>
            <a:spLocks noChangeArrowheads="1"/>
          </p:cNvSpPr>
          <p:nvPr/>
        </p:nvSpPr>
        <p:spPr bwMode="auto">
          <a:xfrm>
            <a:off x="42862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7171" name="Object 6">
            <a:extLst>
              <a:ext uri="{FF2B5EF4-FFF2-40B4-BE49-F238E27FC236}">
                <a16:creationId xmlns:a16="http://schemas.microsoft.com/office/drawing/2014/main" id="{2B89920A-3DA9-408A-A37E-C9034BDDEE4C}"/>
              </a:ext>
            </a:extLst>
          </p:cNvPr>
          <p:cNvGraphicFramePr>
            <a:graphicFrameLocks noChangeAspect="1"/>
          </p:cNvGraphicFramePr>
          <p:nvPr/>
        </p:nvGraphicFramePr>
        <p:xfrm>
          <a:off x="3505200" y="4267200"/>
          <a:ext cx="1143000" cy="438150"/>
        </p:xfrm>
        <a:graphic>
          <a:graphicData uri="http://schemas.openxmlformats.org/presentationml/2006/ole">
            <mc:AlternateContent xmlns:mc="http://schemas.openxmlformats.org/markup-compatibility/2006">
              <mc:Choice xmlns:v="urn:schemas-microsoft-com:vml" Requires="v">
                <p:oleObj r:id="rId4" imgW="571252" imgH="215806" progId="Equation.3">
                  <p:embed/>
                </p:oleObj>
              </mc:Choice>
              <mc:Fallback>
                <p:oleObj r:id="rId4" imgW="571252" imgH="215806" progId="Equation.3">
                  <p:embed/>
                  <p:pic>
                    <p:nvPicPr>
                      <p:cNvPr id="7171" name="Object 6">
                        <a:extLst>
                          <a:ext uri="{FF2B5EF4-FFF2-40B4-BE49-F238E27FC236}">
                            <a16:creationId xmlns:a16="http://schemas.microsoft.com/office/drawing/2014/main" id="{2B89920A-3DA9-408A-A37E-C9034BDDEE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4267200"/>
                        <a:ext cx="1143000" cy="43815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2" name="Object 8">
            <a:extLst>
              <a:ext uri="{FF2B5EF4-FFF2-40B4-BE49-F238E27FC236}">
                <a16:creationId xmlns:a16="http://schemas.microsoft.com/office/drawing/2014/main" id="{E9BD6876-FB65-4AF4-9658-BCFB87A48E3C}"/>
              </a:ext>
            </a:extLst>
          </p:cNvPr>
          <p:cNvGraphicFramePr>
            <a:graphicFrameLocks noChangeAspect="1"/>
          </p:cNvGraphicFramePr>
          <p:nvPr/>
        </p:nvGraphicFramePr>
        <p:xfrm>
          <a:off x="4191000" y="5257800"/>
          <a:ext cx="269875" cy="414338"/>
        </p:xfrm>
        <a:graphic>
          <a:graphicData uri="http://schemas.openxmlformats.org/presentationml/2006/ole">
            <mc:AlternateContent xmlns:mc="http://schemas.openxmlformats.org/markup-compatibility/2006">
              <mc:Choice xmlns:v="urn:schemas-microsoft-com:vml" Requires="v">
                <p:oleObj r:id="rId2" imgW="139579" imgH="215713" progId="Equation.3">
                  <p:embed/>
                </p:oleObj>
              </mc:Choice>
              <mc:Fallback>
                <p:oleObj r:id="rId2" imgW="139579" imgH="215713" progId="Equation.3">
                  <p:embed/>
                  <p:pic>
                    <p:nvPicPr>
                      <p:cNvPr id="7172" name="Object 8">
                        <a:extLst>
                          <a:ext uri="{FF2B5EF4-FFF2-40B4-BE49-F238E27FC236}">
                            <a16:creationId xmlns:a16="http://schemas.microsoft.com/office/drawing/2014/main" id="{E9BD6876-FB65-4AF4-9658-BCFB87A48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5257800"/>
                        <a:ext cx="269875" cy="4143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3" name="Object 9">
            <a:extLst>
              <a:ext uri="{FF2B5EF4-FFF2-40B4-BE49-F238E27FC236}">
                <a16:creationId xmlns:a16="http://schemas.microsoft.com/office/drawing/2014/main" id="{EAA10403-9E63-4575-935E-FB9404106934}"/>
              </a:ext>
            </a:extLst>
          </p:cNvPr>
          <p:cNvGraphicFramePr>
            <a:graphicFrameLocks noChangeAspect="1"/>
          </p:cNvGraphicFramePr>
          <p:nvPr/>
        </p:nvGraphicFramePr>
        <p:xfrm>
          <a:off x="7467600" y="5229225"/>
          <a:ext cx="269875" cy="414338"/>
        </p:xfrm>
        <a:graphic>
          <a:graphicData uri="http://schemas.openxmlformats.org/presentationml/2006/ole">
            <mc:AlternateContent xmlns:mc="http://schemas.openxmlformats.org/markup-compatibility/2006">
              <mc:Choice xmlns:v="urn:schemas-microsoft-com:vml" Requires="v">
                <p:oleObj r:id="rId2" imgW="139579" imgH="215713" progId="Equation.3">
                  <p:embed/>
                </p:oleObj>
              </mc:Choice>
              <mc:Fallback>
                <p:oleObj r:id="rId2" imgW="139579" imgH="215713" progId="Equation.3">
                  <p:embed/>
                  <p:pic>
                    <p:nvPicPr>
                      <p:cNvPr id="7173" name="Object 9">
                        <a:extLst>
                          <a:ext uri="{FF2B5EF4-FFF2-40B4-BE49-F238E27FC236}">
                            <a16:creationId xmlns:a16="http://schemas.microsoft.com/office/drawing/2014/main" id="{EAA10403-9E63-4575-935E-FB9404106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5229225"/>
                        <a:ext cx="269875" cy="4143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0" name="Rectangle 10">
            <a:extLst>
              <a:ext uri="{FF2B5EF4-FFF2-40B4-BE49-F238E27FC236}">
                <a16:creationId xmlns:a16="http://schemas.microsoft.com/office/drawing/2014/main" id="{47822D0B-9866-4075-B5D5-5F6E46E6C2E3}"/>
              </a:ext>
            </a:extLst>
          </p:cNvPr>
          <p:cNvSpPr>
            <a:spLocks noGrp="1" noChangeArrowheads="1"/>
          </p:cNvSpPr>
          <p:nvPr>
            <p:ph type="title"/>
          </p:nvPr>
        </p:nvSpPr>
        <p:spPr/>
        <p:txBody>
          <a:bodyPr/>
          <a:lstStyle/>
          <a:p>
            <a:pPr>
              <a:defRPr/>
            </a:pPr>
            <a:r>
              <a:rPr lang="hr-HR" altLang="en-US" sz="3600"/>
              <a:t>Vektorizacija ugnj. petlji (nast.)</a:t>
            </a:r>
            <a:endParaRPr lang="en-US" altLang="en-US" sz="3600"/>
          </a:p>
        </p:txBody>
      </p:sp>
    </p:spTree>
  </p:cSld>
  <p:clrMapOvr>
    <a:masterClrMapping/>
  </p:clrMapOvr>
  <p:transition>
    <p:pull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1180E2C9-96B8-4F69-8FA9-1372B41B8A83}"/>
              </a:ext>
            </a:extLst>
          </p:cNvPr>
          <p:cNvSpPr>
            <a:spLocks noGrp="1" noChangeArrowheads="1"/>
          </p:cNvSpPr>
          <p:nvPr>
            <p:ph type="body" idx="1"/>
          </p:nvPr>
        </p:nvSpPr>
        <p:spPr>
          <a:xfrm>
            <a:off x="0" y="708025"/>
            <a:ext cx="9144000" cy="4016375"/>
          </a:xfrm>
        </p:spPr>
        <p:txBody>
          <a:bodyPr/>
          <a:lstStyle/>
          <a:p>
            <a:pPr lvl="1">
              <a:defRPr/>
            </a:pPr>
            <a:r>
              <a:rPr lang="hr-HR" altLang="en-US"/>
              <a:t>Vektor</a:t>
            </a:r>
          </a:p>
          <a:p>
            <a:pPr lvl="1">
              <a:defRPr/>
            </a:pPr>
            <a:endParaRPr lang="hr-HR" altLang="en-US"/>
          </a:p>
          <a:p>
            <a:pPr lvl="1">
              <a:defRPr/>
            </a:pPr>
            <a:endParaRPr lang="hr-HR" altLang="en-US"/>
          </a:p>
          <a:p>
            <a:pPr lvl="1">
              <a:defRPr/>
            </a:pPr>
            <a:r>
              <a:rPr lang="hr-HR" altLang="en-US"/>
              <a:t>                    je &gt; 0</a:t>
            </a:r>
          </a:p>
          <a:p>
            <a:pPr lvl="1">
              <a:defRPr/>
            </a:pPr>
            <a:endParaRPr lang="hr-HR" altLang="en-US"/>
          </a:p>
          <a:p>
            <a:pPr lvl="1">
              <a:defRPr/>
            </a:pPr>
            <a:endParaRPr lang="hr-HR" altLang="en-US"/>
          </a:p>
          <a:p>
            <a:pPr lvl="1">
              <a:defRPr/>
            </a:pPr>
            <a:endParaRPr lang="hr-HR" altLang="en-US"/>
          </a:p>
          <a:p>
            <a:pPr lvl="1">
              <a:defRPr/>
            </a:pPr>
            <a:r>
              <a:rPr lang="hr-HR" altLang="en-US"/>
              <a:t>                     je &lt; 0  </a:t>
            </a:r>
          </a:p>
          <a:p>
            <a:pPr lvl="1">
              <a:defRPr/>
            </a:pPr>
            <a:endParaRPr lang="en-US" altLang="en-US"/>
          </a:p>
          <a:p>
            <a:pPr lvl="1">
              <a:defRPr/>
            </a:pPr>
            <a:endParaRPr lang="hr-HR" altLang="en-US"/>
          </a:p>
          <a:p>
            <a:pPr lvl="1">
              <a:defRPr/>
            </a:pPr>
            <a:endParaRPr lang="hr-HR" altLang="en-US"/>
          </a:p>
        </p:txBody>
      </p:sp>
      <p:sp>
        <p:nvSpPr>
          <p:cNvPr id="31748" name="Rectangle 4">
            <a:extLst>
              <a:ext uri="{FF2B5EF4-FFF2-40B4-BE49-F238E27FC236}">
                <a16:creationId xmlns:a16="http://schemas.microsoft.com/office/drawing/2014/main" id="{89CD49DF-3664-44CD-9A53-F80707A3E4D6}"/>
              </a:ext>
            </a:extLst>
          </p:cNvPr>
          <p:cNvSpPr>
            <a:spLocks noGrp="1" noChangeArrowheads="1"/>
          </p:cNvSpPr>
          <p:nvPr>
            <p:ph type="title"/>
          </p:nvPr>
        </p:nvSpPr>
        <p:spPr/>
        <p:txBody>
          <a:bodyPr/>
          <a:lstStyle/>
          <a:p>
            <a:pPr>
              <a:defRPr/>
            </a:pPr>
            <a:r>
              <a:rPr lang="hr-HR" altLang="en-US" sz="3600"/>
              <a:t>Vektorizacija ugnj. petlji (nast.)</a:t>
            </a:r>
            <a:endParaRPr lang="en-US" altLang="en-US" sz="3600"/>
          </a:p>
        </p:txBody>
      </p:sp>
      <p:sp>
        <p:nvSpPr>
          <p:cNvPr id="8198" name="Rectangle 6">
            <a:extLst>
              <a:ext uri="{FF2B5EF4-FFF2-40B4-BE49-F238E27FC236}">
                <a16:creationId xmlns:a16="http://schemas.microsoft.com/office/drawing/2014/main" id="{0D74E704-995E-45A5-B084-031DEE509F83}"/>
              </a:ext>
            </a:extLst>
          </p:cNvPr>
          <p:cNvSpPr>
            <a:spLocks noChangeArrowheads="1"/>
          </p:cNvSpPr>
          <p:nvPr/>
        </p:nvSpPr>
        <p:spPr bwMode="auto">
          <a:xfrm>
            <a:off x="4262438"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8194" name="Object 5">
            <a:extLst>
              <a:ext uri="{FF2B5EF4-FFF2-40B4-BE49-F238E27FC236}">
                <a16:creationId xmlns:a16="http://schemas.microsoft.com/office/drawing/2014/main" id="{6258F01A-2F1C-4229-9385-E08919C32475}"/>
              </a:ext>
            </a:extLst>
          </p:cNvPr>
          <p:cNvGraphicFramePr>
            <a:graphicFrameLocks noChangeAspect="1"/>
          </p:cNvGraphicFramePr>
          <p:nvPr/>
        </p:nvGraphicFramePr>
        <p:xfrm>
          <a:off x="1371600" y="1752600"/>
          <a:ext cx="923925" cy="1066800"/>
        </p:xfrm>
        <a:graphic>
          <a:graphicData uri="http://schemas.openxmlformats.org/presentationml/2006/ole">
            <mc:AlternateContent xmlns:mc="http://schemas.openxmlformats.org/markup-compatibility/2006">
              <mc:Choice xmlns:v="urn:schemas-microsoft-com:vml" Requires="v">
                <p:oleObj r:id="rId2" imgW="622030" imgH="710891" progId="Equation.3">
                  <p:embed/>
                </p:oleObj>
              </mc:Choice>
              <mc:Fallback>
                <p:oleObj r:id="rId2" imgW="622030" imgH="710891" progId="Equation.3">
                  <p:embed/>
                  <p:pic>
                    <p:nvPicPr>
                      <p:cNvPr id="8194" name="Object 5">
                        <a:extLst>
                          <a:ext uri="{FF2B5EF4-FFF2-40B4-BE49-F238E27FC236}">
                            <a16:creationId xmlns:a16="http://schemas.microsoft.com/office/drawing/2014/main" id="{6258F01A-2F1C-4229-9385-E08919C32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752600"/>
                        <a:ext cx="923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Rectangle 8">
            <a:extLst>
              <a:ext uri="{FF2B5EF4-FFF2-40B4-BE49-F238E27FC236}">
                <a16:creationId xmlns:a16="http://schemas.microsoft.com/office/drawing/2014/main" id="{42375861-5665-457F-95FB-0B290CB9274E}"/>
              </a:ext>
            </a:extLst>
          </p:cNvPr>
          <p:cNvSpPr>
            <a:spLocks noChangeArrowheads="1"/>
          </p:cNvSpPr>
          <p:nvPr/>
        </p:nvSpPr>
        <p:spPr bwMode="auto">
          <a:xfrm>
            <a:off x="4271963"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8195" name="Object 7">
            <a:extLst>
              <a:ext uri="{FF2B5EF4-FFF2-40B4-BE49-F238E27FC236}">
                <a16:creationId xmlns:a16="http://schemas.microsoft.com/office/drawing/2014/main" id="{F6E775D5-2CA5-4BAB-A793-48D087B3A843}"/>
              </a:ext>
            </a:extLst>
          </p:cNvPr>
          <p:cNvGraphicFramePr>
            <a:graphicFrameLocks noChangeAspect="1"/>
          </p:cNvGraphicFramePr>
          <p:nvPr/>
        </p:nvGraphicFramePr>
        <p:xfrm>
          <a:off x="1371600" y="3429000"/>
          <a:ext cx="1004888" cy="1195388"/>
        </p:xfrm>
        <a:graphic>
          <a:graphicData uri="http://schemas.openxmlformats.org/presentationml/2006/ole">
            <mc:AlternateContent xmlns:mc="http://schemas.openxmlformats.org/markup-compatibility/2006">
              <mc:Choice xmlns:v="urn:schemas-microsoft-com:vml" Requires="v">
                <p:oleObj r:id="rId4" imgW="596900" imgH="711200" progId="Equation.3">
                  <p:embed/>
                </p:oleObj>
              </mc:Choice>
              <mc:Fallback>
                <p:oleObj r:id="rId4" imgW="596900" imgH="711200" progId="Equation.3">
                  <p:embed/>
                  <p:pic>
                    <p:nvPicPr>
                      <p:cNvPr id="8195" name="Object 7">
                        <a:extLst>
                          <a:ext uri="{FF2B5EF4-FFF2-40B4-BE49-F238E27FC236}">
                            <a16:creationId xmlns:a16="http://schemas.microsoft.com/office/drawing/2014/main" id="{F6E775D5-2CA5-4BAB-A793-48D087B3A8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429000"/>
                        <a:ext cx="1004888"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7905230-0AB4-4A0A-B704-AEF8044EE63B}"/>
              </a:ext>
            </a:extLst>
          </p:cNvPr>
          <p:cNvSpPr>
            <a:spLocks noGrp="1" noChangeArrowheads="1"/>
          </p:cNvSpPr>
          <p:nvPr>
            <p:ph type="title"/>
          </p:nvPr>
        </p:nvSpPr>
        <p:spPr>
          <a:xfrm>
            <a:off x="0" y="0"/>
            <a:ext cx="9144000" cy="1066800"/>
          </a:xfrm>
        </p:spPr>
        <p:txBody>
          <a:bodyPr/>
          <a:lstStyle/>
          <a:p>
            <a:pPr>
              <a:defRPr/>
            </a:pPr>
            <a:r>
              <a:rPr lang="hr-HR" altLang="en-US" sz="3200"/>
              <a:t>Elementarne transformacije nad indeksnim skupovima</a:t>
            </a:r>
            <a:endParaRPr lang="en-US" altLang="en-US" sz="3200"/>
          </a:p>
        </p:txBody>
      </p:sp>
      <p:sp>
        <p:nvSpPr>
          <p:cNvPr id="32771" name="Rectangle 3">
            <a:extLst>
              <a:ext uri="{FF2B5EF4-FFF2-40B4-BE49-F238E27FC236}">
                <a16:creationId xmlns:a16="http://schemas.microsoft.com/office/drawing/2014/main" id="{FBAFC8BF-9478-4BBE-8C30-024C582AA448}"/>
              </a:ext>
            </a:extLst>
          </p:cNvPr>
          <p:cNvSpPr>
            <a:spLocks noGrp="1" noChangeArrowheads="1"/>
          </p:cNvSpPr>
          <p:nvPr>
            <p:ph type="body" idx="1"/>
          </p:nvPr>
        </p:nvSpPr>
        <p:spPr>
          <a:xfrm>
            <a:off x="0" y="1143000"/>
            <a:ext cx="9144000" cy="5715000"/>
          </a:xfrm>
        </p:spPr>
        <p:txBody>
          <a:bodyPr/>
          <a:lstStyle/>
          <a:p>
            <a:pPr marL="533400" indent="-533400">
              <a:buFont typeface="Wingdings 2" panose="05020102010507070707" pitchFamily="18" charset="2"/>
              <a:buAutoNum type="arabicPeriod"/>
              <a:defRPr/>
            </a:pPr>
            <a:r>
              <a:rPr lang="en-US" altLang="en-US" i="1">
                <a:cs typeface="Times New Roman" panose="02020603050405020304" pitchFamily="18" charset="0"/>
              </a:rPr>
              <a:t>permutacija</a:t>
            </a:r>
            <a:endParaRPr lang="hr-HR" altLang="en-US" i="1"/>
          </a:p>
          <a:p>
            <a:pPr marL="533400" indent="-533400">
              <a:buFont typeface="Wingdings 2" panose="05020102010507070707" pitchFamily="18" charset="2"/>
              <a:buAutoNum type="arabicPeriod"/>
              <a:defRPr/>
            </a:pPr>
            <a:r>
              <a:rPr lang="en-US" altLang="en-US" i="1">
                <a:cs typeface="Times New Roman" panose="02020603050405020304" pitchFamily="18" charset="0"/>
              </a:rPr>
              <a:t>obrtanje redosleda</a:t>
            </a:r>
            <a:endParaRPr lang="hr-HR" altLang="en-US" i="1"/>
          </a:p>
          <a:p>
            <a:pPr marL="533400" indent="-533400">
              <a:buFont typeface="Wingdings 2" panose="05020102010507070707" pitchFamily="18" charset="2"/>
              <a:buAutoNum type="arabicPeriod"/>
              <a:defRPr/>
            </a:pPr>
            <a:r>
              <a:rPr lang="en-US" altLang="en-US" i="1">
                <a:cs typeface="Times New Roman" panose="02020603050405020304" pitchFamily="18" charset="0"/>
              </a:rPr>
              <a:t>krivljenje</a:t>
            </a:r>
            <a:r>
              <a:rPr lang="en-US" altLang="en-US">
                <a:latin typeface="Times Roman YU" pitchFamily="18" charset="0"/>
                <a:cs typeface="Times New Roman" panose="02020603050405020304" pitchFamily="18" charset="0"/>
              </a:rPr>
              <a:t> </a:t>
            </a:r>
            <a:endParaRPr lang="hr-HR" altLang="en-US">
              <a:latin typeface="Times New Roman" panose="02020603050405020304" pitchFamily="18" charset="0"/>
            </a:endParaRPr>
          </a:p>
          <a:p>
            <a:pPr marL="533400" indent="-533400">
              <a:buFont typeface="Wingdings 2" panose="05020102010507070707" pitchFamily="18" charset="2"/>
              <a:buNone/>
              <a:defRPr/>
            </a:pPr>
            <a:endParaRPr lang="hr-HR" altLang="en-US"/>
          </a:p>
          <a:p>
            <a:pPr marL="533400" indent="-533400">
              <a:buFont typeface="Wingdings 2" panose="05020102010507070707" pitchFamily="18" charset="2"/>
              <a:buNone/>
              <a:defRPr/>
            </a:pPr>
            <a:r>
              <a:rPr lang="hr-HR" altLang="en-US">
                <a:solidFill>
                  <a:schemeClr val="tx1"/>
                </a:solidFill>
              </a:rPr>
              <a:t>Permutacija – omogućava zamenu mesta dvema petljama</a:t>
            </a:r>
          </a:p>
          <a:p>
            <a:pPr marL="533400" indent="-533400" algn="just">
              <a:buFont typeface="Wingdings 2" panose="05020102010507070707" pitchFamily="18" charset="2"/>
              <a:buNone/>
              <a:defRPr/>
            </a:pPr>
            <a:r>
              <a:rPr lang="hr-HR" altLang="en-US">
                <a:solidFill>
                  <a:schemeClr val="tx1"/>
                </a:solidFill>
                <a:latin typeface="Times New Roman" panose="02020603050405020304" pitchFamily="18" charset="0"/>
              </a:rPr>
              <a:t>		</a:t>
            </a:r>
            <a:r>
              <a:rPr lang="en-US" altLang="en-US">
                <a:solidFill>
                  <a:schemeClr val="tx1"/>
                </a:solidFill>
                <a:latin typeface="Times Roman YU" pitchFamily="18" charset="0"/>
                <a:cs typeface="Times New Roman" panose="02020603050405020304" pitchFamily="18" charset="0"/>
              </a:rPr>
              <a:t>I</a:t>
            </a:r>
            <a:r>
              <a:rPr lang="en-US" altLang="en-US" baseline="-30000">
                <a:solidFill>
                  <a:schemeClr val="tx1"/>
                </a:solidFill>
                <a:latin typeface="Times Roman YU" pitchFamily="18" charset="0"/>
                <a:cs typeface="Times New Roman" panose="02020603050405020304" pitchFamily="18" charset="0"/>
              </a:rPr>
              <a:t>1</a:t>
            </a:r>
            <a:r>
              <a:rPr lang="en-US" altLang="en-US">
                <a:solidFill>
                  <a:schemeClr val="tx1"/>
                </a:solidFill>
                <a:latin typeface="Times Roman YU" pitchFamily="18" charset="0"/>
                <a:cs typeface="Times New Roman" panose="02020603050405020304" pitchFamily="18" charset="0"/>
              </a:rPr>
              <a:t> = l</a:t>
            </a:r>
            <a:r>
              <a:rPr lang="en-US" altLang="en-US" baseline="-30000">
                <a:solidFill>
                  <a:schemeClr val="tx1"/>
                </a:solidFill>
                <a:latin typeface="Times Roman YU" pitchFamily="18" charset="0"/>
                <a:cs typeface="Times New Roman" panose="02020603050405020304" pitchFamily="18" charset="0"/>
              </a:rPr>
              <a:t>1</a:t>
            </a:r>
            <a:r>
              <a:rPr lang="en-US" altLang="en-US">
                <a:solidFill>
                  <a:schemeClr val="tx1"/>
                </a:solidFill>
                <a:latin typeface="Times Roman YU" pitchFamily="18" charset="0"/>
                <a:cs typeface="Times New Roman" panose="02020603050405020304" pitchFamily="18" charset="0"/>
              </a:rPr>
              <a:t>, u</a:t>
            </a:r>
            <a:r>
              <a:rPr lang="en-US" altLang="en-US" baseline="-30000">
                <a:solidFill>
                  <a:schemeClr val="tx1"/>
                </a:solidFill>
                <a:latin typeface="Times Roman YU" pitchFamily="18" charset="0"/>
                <a:cs typeface="Times New Roman" panose="02020603050405020304" pitchFamily="18" charset="0"/>
              </a:rPr>
              <a:t>1</a:t>
            </a:r>
            <a:endParaRPr lang="en-US" altLang="en-US">
              <a:solidFill>
                <a:schemeClr val="tx1"/>
              </a:solidFill>
              <a:cs typeface="Times New Roman" panose="02020603050405020304" pitchFamily="18" charset="0"/>
            </a:endParaRPr>
          </a:p>
          <a:p>
            <a:pPr marL="533400" indent="-533400" algn="just">
              <a:buFont typeface="Wingdings 2" panose="05020102010507070707" pitchFamily="18" charset="2"/>
              <a:buNone/>
              <a:defRPr/>
            </a:pPr>
            <a:r>
              <a:rPr lang="en-US" altLang="en-US">
                <a:solidFill>
                  <a:schemeClr val="tx1"/>
                </a:solidFill>
                <a:latin typeface="Times Roman YU" pitchFamily="18" charset="0"/>
                <a:cs typeface="Times New Roman" panose="02020603050405020304" pitchFamily="18" charset="0"/>
              </a:rPr>
              <a:t>		I</a:t>
            </a:r>
            <a:r>
              <a:rPr lang="en-US" altLang="en-US" baseline="-30000">
                <a:solidFill>
                  <a:schemeClr val="tx1"/>
                </a:solidFill>
                <a:latin typeface="Times Roman YU" pitchFamily="18" charset="0"/>
                <a:cs typeface="Times New Roman" panose="02020603050405020304" pitchFamily="18" charset="0"/>
              </a:rPr>
              <a:t>2</a:t>
            </a:r>
            <a:r>
              <a:rPr lang="en-US" altLang="en-US">
                <a:solidFill>
                  <a:schemeClr val="tx1"/>
                </a:solidFill>
                <a:latin typeface="Times Roman YU" pitchFamily="18" charset="0"/>
                <a:cs typeface="Times New Roman" panose="02020603050405020304" pitchFamily="18" charset="0"/>
              </a:rPr>
              <a:t> = l</a:t>
            </a:r>
            <a:r>
              <a:rPr lang="en-US" altLang="en-US" baseline="-30000">
                <a:solidFill>
                  <a:schemeClr val="tx1"/>
                </a:solidFill>
                <a:latin typeface="Times Roman YU" pitchFamily="18" charset="0"/>
                <a:cs typeface="Times New Roman" panose="02020603050405020304" pitchFamily="18" charset="0"/>
              </a:rPr>
              <a:t>2</a:t>
            </a:r>
            <a:r>
              <a:rPr lang="en-US" altLang="en-US">
                <a:solidFill>
                  <a:schemeClr val="tx1"/>
                </a:solidFill>
                <a:latin typeface="Times Roman YU" pitchFamily="18" charset="0"/>
                <a:cs typeface="Times New Roman" panose="02020603050405020304" pitchFamily="18" charset="0"/>
              </a:rPr>
              <a:t>, u</a:t>
            </a:r>
            <a:r>
              <a:rPr lang="en-US" altLang="en-US" baseline="-30000">
                <a:solidFill>
                  <a:schemeClr val="tx1"/>
                </a:solidFill>
                <a:latin typeface="Times Roman YU" pitchFamily="18" charset="0"/>
                <a:cs typeface="Times New Roman" panose="02020603050405020304" pitchFamily="18" charset="0"/>
              </a:rPr>
              <a:t>2</a:t>
            </a:r>
            <a:endParaRPr lang="en-US" altLang="en-US">
              <a:solidFill>
                <a:schemeClr val="tx1"/>
              </a:solidFill>
              <a:cs typeface="Times New Roman" panose="02020603050405020304" pitchFamily="18" charset="0"/>
            </a:endParaRPr>
          </a:p>
          <a:p>
            <a:pPr marL="533400" indent="-533400">
              <a:lnSpc>
                <a:spcPct val="25000"/>
              </a:lnSpc>
              <a:buFont typeface="Wingdings 2" panose="05020102010507070707" pitchFamily="18" charset="2"/>
              <a:buNone/>
              <a:defRPr/>
            </a:pPr>
            <a:r>
              <a:rPr lang="en-US" altLang="en-US">
                <a:solidFill>
                  <a:schemeClr val="tx1"/>
                </a:solidFill>
                <a:latin typeface="Times Roman YU" pitchFamily="18" charset="0"/>
                <a:cs typeface="Times New Roman" panose="02020603050405020304" pitchFamily="18" charset="0"/>
              </a:rPr>
              <a:t>		.</a:t>
            </a:r>
            <a:endParaRPr lang="en-US" altLang="en-US">
              <a:solidFill>
                <a:schemeClr val="tx1"/>
              </a:solidFill>
              <a:cs typeface="Times New Roman" panose="02020603050405020304" pitchFamily="18" charset="0"/>
            </a:endParaRPr>
          </a:p>
          <a:p>
            <a:pPr marL="533400" indent="-533400">
              <a:lnSpc>
                <a:spcPct val="25000"/>
              </a:lnSpc>
              <a:buFont typeface="Wingdings 2" panose="05020102010507070707" pitchFamily="18" charset="2"/>
              <a:buNone/>
              <a:defRPr/>
            </a:pPr>
            <a:r>
              <a:rPr lang="en-US" altLang="en-US">
                <a:solidFill>
                  <a:schemeClr val="tx1"/>
                </a:solidFill>
                <a:latin typeface="Times Roman YU" pitchFamily="18" charset="0"/>
                <a:cs typeface="Times New Roman" panose="02020603050405020304" pitchFamily="18" charset="0"/>
              </a:rPr>
              <a:t>		.</a:t>
            </a:r>
            <a:endParaRPr lang="en-US" altLang="en-US">
              <a:solidFill>
                <a:schemeClr val="tx1"/>
              </a:solidFill>
              <a:cs typeface="Times New Roman" panose="02020603050405020304" pitchFamily="18" charset="0"/>
            </a:endParaRPr>
          </a:p>
          <a:p>
            <a:pPr marL="533400" indent="-533400">
              <a:lnSpc>
                <a:spcPct val="25000"/>
              </a:lnSpc>
              <a:buFont typeface="Wingdings 2" panose="05020102010507070707" pitchFamily="18" charset="2"/>
              <a:buNone/>
              <a:defRPr/>
            </a:pPr>
            <a:r>
              <a:rPr lang="en-US" altLang="en-US">
                <a:solidFill>
                  <a:schemeClr val="tx1"/>
                </a:solidFill>
                <a:latin typeface="Times Roman YU" pitchFamily="18" charset="0"/>
                <a:cs typeface="Times New Roman" panose="02020603050405020304" pitchFamily="18" charset="0"/>
              </a:rPr>
              <a:t>		.</a:t>
            </a:r>
            <a:endParaRPr lang="en-US" altLang="en-US">
              <a:solidFill>
                <a:schemeClr val="tx1"/>
              </a:solidFill>
              <a:cs typeface="Times New Roman" panose="02020603050405020304" pitchFamily="18" charset="0"/>
            </a:endParaRPr>
          </a:p>
          <a:p>
            <a:pPr marL="533400" indent="-533400">
              <a:buFont typeface="Wingdings 2" panose="05020102010507070707" pitchFamily="18" charset="2"/>
              <a:buNone/>
              <a:defRPr/>
            </a:pPr>
            <a:r>
              <a:rPr lang="en-US" altLang="en-US">
                <a:solidFill>
                  <a:schemeClr val="tx1"/>
                </a:solidFill>
                <a:latin typeface="Times Roman YU" pitchFamily="18" charset="0"/>
                <a:cs typeface="Times New Roman" panose="02020603050405020304" pitchFamily="18" charset="0"/>
              </a:rPr>
              <a:t>		I</a:t>
            </a:r>
            <a:r>
              <a:rPr lang="en-US" altLang="en-US" baseline="-30000">
                <a:solidFill>
                  <a:schemeClr val="tx1"/>
                </a:solidFill>
                <a:latin typeface="Times Roman YU" pitchFamily="18" charset="0"/>
                <a:cs typeface="Times New Roman" panose="02020603050405020304" pitchFamily="18" charset="0"/>
              </a:rPr>
              <a:t>m</a:t>
            </a:r>
            <a:r>
              <a:rPr lang="en-US" altLang="en-US">
                <a:solidFill>
                  <a:schemeClr val="tx1"/>
                </a:solidFill>
                <a:latin typeface="Times Roman YU" pitchFamily="18" charset="0"/>
                <a:cs typeface="Times New Roman" panose="02020603050405020304" pitchFamily="18" charset="0"/>
              </a:rPr>
              <a:t> = l</a:t>
            </a:r>
            <a:r>
              <a:rPr lang="en-US" altLang="en-US" baseline="-30000">
                <a:solidFill>
                  <a:schemeClr val="tx1"/>
                </a:solidFill>
                <a:latin typeface="Times Roman YU" pitchFamily="18" charset="0"/>
                <a:cs typeface="Times New Roman" panose="02020603050405020304" pitchFamily="18" charset="0"/>
              </a:rPr>
              <a:t>m</a:t>
            </a:r>
            <a:r>
              <a:rPr lang="en-US" altLang="en-US">
                <a:solidFill>
                  <a:schemeClr val="tx1"/>
                </a:solidFill>
                <a:latin typeface="Times Roman YU" pitchFamily="18" charset="0"/>
                <a:cs typeface="Times New Roman" panose="02020603050405020304" pitchFamily="18" charset="0"/>
              </a:rPr>
              <a:t>, u</a:t>
            </a:r>
            <a:r>
              <a:rPr lang="en-US" altLang="en-US" baseline="-30000">
                <a:solidFill>
                  <a:schemeClr val="tx1"/>
                </a:solidFill>
                <a:latin typeface="Times Roman YU" pitchFamily="18" charset="0"/>
                <a:cs typeface="Times New Roman" panose="02020603050405020304" pitchFamily="18" charset="0"/>
              </a:rPr>
              <a:t>m</a:t>
            </a:r>
            <a:r>
              <a:rPr lang="en-US" altLang="en-US">
                <a:solidFill>
                  <a:schemeClr val="tx1"/>
                </a:solidFill>
              </a:rPr>
              <a:t> </a:t>
            </a:r>
          </a:p>
        </p:txBody>
      </p:sp>
      <p:sp>
        <p:nvSpPr>
          <p:cNvPr id="32772" name="Text Box 4">
            <a:extLst>
              <a:ext uri="{FF2B5EF4-FFF2-40B4-BE49-F238E27FC236}">
                <a16:creationId xmlns:a16="http://schemas.microsoft.com/office/drawing/2014/main" id="{8E073919-2AA5-4F5D-B79A-0DA2DA8361B5}"/>
              </a:ext>
            </a:extLst>
          </p:cNvPr>
          <p:cNvSpPr txBox="1">
            <a:spLocks noChangeArrowheads="1"/>
          </p:cNvSpPr>
          <p:nvPr/>
        </p:nvSpPr>
        <p:spPr bwMode="auto">
          <a:xfrm>
            <a:off x="3657600" y="4191000"/>
            <a:ext cx="4625975" cy="1465263"/>
          </a:xfrm>
          <a:prstGeom prst="rect">
            <a:avLst/>
          </a:prstGeom>
          <a:noFill/>
          <a:ln>
            <a:noFill/>
          </a:ln>
          <a:effectLst/>
        </p:spPr>
        <p:txBody>
          <a:bodyPr anchor="b">
            <a:spAutoFit/>
          </a:bodyPr>
          <a:lstStyle/>
          <a:p>
            <a:pPr>
              <a:spcBef>
                <a:spcPct val="50000"/>
              </a:spcBef>
              <a:defRPr/>
            </a:pPr>
            <a:r>
              <a:rPr lang="hr-HR" altLang="en-US"/>
              <a:t> </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Ako </a:t>
            </a:r>
            <a:r>
              <a:rPr lang="hr-HR" altLang="en-US">
                <a:solidFill>
                  <a:schemeClr val="hlink"/>
                </a:solidFill>
                <a:effectLst>
                  <a:outerShdw blurRad="38100" dist="38100" dir="2700000" algn="tl">
                    <a:srgbClr val="C0C0C0"/>
                  </a:outerShdw>
                </a:effectLst>
                <a:latin typeface="Tahoma" panose="020B0604030504040204" pitchFamily="34" charset="0"/>
              </a:rPr>
              <a:t>ž</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elimo da zamenimo mesta petljama po indeksima I</a:t>
            </a:r>
            <a:r>
              <a:rPr lang="en-US" altLang="en-US" baseline="-300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j</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i I</a:t>
            </a:r>
            <a:r>
              <a:rPr lang="en-US" altLang="en-US" baseline="-300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k</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ta transformacija se opisuje pomo</a:t>
            </a:r>
            <a:r>
              <a:rPr lang="hr-HR" altLang="en-US">
                <a:solidFill>
                  <a:schemeClr val="hlink"/>
                </a:solidFill>
                <a:effectLst>
                  <a:outerShdw blurRad="38100" dist="38100" dir="2700000" algn="tl">
                    <a:srgbClr val="C0C0C0"/>
                  </a:outerShdw>
                </a:effectLst>
                <a:latin typeface="Tahoma" panose="020B0604030504040204" pitchFamily="34" charset="0"/>
              </a:rPr>
              <a:t>ć</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 matrice T koja se dobija kada se u jedini</a:t>
            </a:r>
            <a:r>
              <a:rPr lang="hr-HR" altLang="en-US">
                <a:solidFill>
                  <a:schemeClr val="hlink"/>
                </a:solidFill>
                <a:effectLst>
                  <a:outerShdw blurRad="38100" dist="38100" dir="2700000" algn="tl">
                    <a:srgbClr val="C0C0C0"/>
                  </a:outerShdw>
                </a:effectLst>
                <a:latin typeface="Tahoma" panose="020B0604030504040204" pitchFamily="34" charset="0"/>
              </a:rPr>
              <a:t>č</a:t>
            </a:r>
            <a:r>
              <a:rPr lang="en-US" altLang="en-US">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noj matrici   zamene mesta j-toj i k-toj vrsti.</a:t>
            </a:r>
            <a:r>
              <a:rPr lang="en-US" altLang="en-US">
                <a:solidFill>
                  <a:schemeClr val="hlink"/>
                </a:solidFill>
                <a:effectLst>
                  <a:outerShdw blurRad="38100" dist="38100" dir="2700000" algn="tl">
                    <a:srgbClr val="C0C0C0"/>
                  </a:outerShdw>
                </a:effectLst>
                <a:latin typeface="Times Roman YU" pitchFamily="18" charset="0"/>
                <a:cs typeface="Times New Roman" panose="02020603050405020304" pitchFamily="18" charset="0"/>
              </a:rPr>
              <a:t> </a:t>
            </a:r>
          </a:p>
        </p:txBody>
      </p:sp>
    </p:spTree>
  </p:cSld>
  <p:clrMapOvr>
    <a:masterClrMapping/>
  </p:clrMapOvr>
  <p:transition>
    <p:pull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F71903B-20C5-42A3-9919-93CE5B400E3C}"/>
              </a:ext>
            </a:extLst>
          </p:cNvPr>
          <p:cNvSpPr>
            <a:spLocks noGrp="1" noChangeArrowheads="1"/>
          </p:cNvSpPr>
          <p:nvPr>
            <p:ph type="title"/>
          </p:nvPr>
        </p:nvSpPr>
        <p:spPr/>
        <p:txBody>
          <a:bodyPr/>
          <a:lstStyle/>
          <a:p>
            <a:pPr>
              <a:defRPr/>
            </a:pPr>
            <a:r>
              <a:rPr lang="hr-HR" altLang="en-US"/>
              <a:t>Transformacija permutacije - primer</a:t>
            </a:r>
            <a:endParaRPr lang="en-US" altLang="en-US"/>
          </a:p>
        </p:txBody>
      </p:sp>
      <p:sp>
        <p:nvSpPr>
          <p:cNvPr id="33795" name="Rectangle 3">
            <a:extLst>
              <a:ext uri="{FF2B5EF4-FFF2-40B4-BE49-F238E27FC236}">
                <a16:creationId xmlns:a16="http://schemas.microsoft.com/office/drawing/2014/main" id="{90E07775-1027-4197-A0E7-F420E136E77A}"/>
              </a:ext>
            </a:extLst>
          </p:cNvPr>
          <p:cNvSpPr>
            <a:spLocks noGrp="1" noChangeArrowheads="1"/>
          </p:cNvSpPr>
          <p:nvPr>
            <p:ph type="body" idx="1"/>
          </p:nvPr>
        </p:nvSpPr>
        <p:spPr/>
        <p:txBody>
          <a:bodyPr/>
          <a:lstStyle/>
          <a:p>
            <a:pPr>
              <a:defRPr/>
            </a:pPr>
            <a:r>
              <a:rPr lang="en-US" altLang="en-US">
                <a:cs typeface="Times New Roman" panose="02020603050405020304" pitchFamily="18" charset="0"/>
              </a:rPr>
              <a:t>za m=2 matrica transformacije T je oblika</a:t>
            </a:r>
            <a:r>
              <a:rPr lang="en-US" altLang="en-US"/>
              <a:t> </a:t>
            </a:r>
            <a:endParaRPr lang="hr-HR" altLang="en-US"/>
          </a:p>
          <a:p>
            <a:pPr>
              <a:defRPr/>
            </a:pPr>
            <a:endParaRPr lang="hr-HR" altLang="en-US"/>
          </a:p>
          <a:p>
            <a:pPr>
              <a:defRPr/>
            </a:pPr>
            <a:endParaRPr lang="hr-HR" altLang="en-US"/>
          </a:p>
          <a:p>
            <a:pPr>
              <a:defRPr/>
            </a:pPr>
            <a:endParaRPr lang="hr-HR" altLang="en-US"/>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Ako smo imali petlje</a:t>
            </a:r>
            <a:endParaRPr lang="en-US" altLang="en-US">
              <a:cs typeface="Times New Roman" panose="02020603050405020304" pitchFamily="18" charset="0"/>
            </a:endParaRP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		I = 1, n		</a:t>
            </a:r>
            <a:endParaRPr lang="en-US" altLang="en-US">
              <a:cs typeface="Times New Roman" panose="02020603050405020304" pitchFamily="18" charset="0"/>
            </a:endParaRP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		   J = 1, m</a:t>
            </a:r>
            <a:endParaRPr lang="en-US" altLang="en-US">
              <a:cs typeface="Times New Roman" panose="02020603050405020304" pitchFamily="18" charset="0"/>
            </a:endParaRP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nakon transformacije T dobi</a:t>
            </a:r>
            <a:r>
              <a:rPr lang="sr-Latn-CS" altLang="en-US">
                <a:latin typeface="Times Roman YU" pitchFamily="18" charset="0"/>
                <a:cs typeface="Times New Roman" panose="02020603050405020304" pitchFamily="18" charset="0"/>
              </a:rPr>
              <a:t>ć</a:t>
            </a:r>
            <a:r>
              <a:rPr lang="en-US" altLang="en-US">
                <a:latin typeface="Times Roman YU" pitchFamily="18" charset="0"/>
                <a:cs typeface="Times New Roman" panose="02020603050405020304" pitchFamily="18" charset="0"/>
              </a:rPr>
              <a:t>emo</a:t>
            </a:r>
            <a:endParaRPr lang="en-US" altLang="en-US">
              <a:cs typeface="Times New Roman" panose="02020603050405020304" pitchFamily="18" charset="0"/>
            </a:endParaRP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		J= 1, m		</a:t>
            </a:r>
            <a:endParaRPr lang="en-US" altLang="en-US">
              <a:cs typeface="Times New Roman" panose="02020603050405020304" pitchFamily="18" charset="0"/>
            </a:endParaRP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		   I = 1, n</a:t>
            </a:r>
            <a:endParaRPr lang="en-US" altLang="en-US">
              <a:cs typeface="Times New Roman" panose="02020603050405020304" pitchFamily="18" charset="0"/>
            </a:endParaRPr>
          </a:p>
          <a:p>
            <a:pPr lvl="1">
              <a:buFont typeface="Wingdings" panose="05000000000000000000" pitchFamily="2" charset="2"/>
              <a:buNone/>
              <a:defRPr/>
            </a:pPr>
            <a:endParaRPr lang="en-US" altLang="en-US"/>
          </a:p>
        </p:txBody>
      </p:sp>
      <p:sp>
        <p:nvSpPr>
          <p:cNvPr id="9221" name="Rectangle 5">
            <a:extLst>
              <a:ext uri="{FF2B5EF4-FFF2-40B4-BE49-F238E27FC236}">
                <a16:creationId xmlns:a16="http://schemas.microsoft.com/office/drawing/2014/main" id="{53F00500-1680-42E5-9E7C-107B909D63E8}"/>
              </a:ext>
            </a:extLst>
          </p:cNvPr>
          <p:cNvSpPr>
            <a:spLocks noChangeArrowheads="1"/>
          </p:cNvSpPr>
          <p:nvPr/>
        </p:nvSpPr>
        <p:spPr bwMode="auto">
          <a:xfrm>
            <a:off x="421005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9218" name="Object 4">
            <a:extLst>
              <a:ext uri="{FF2B5EF4-FFF2-40B4-BE49-F238E27FC236}">
                <a16:creationId xmlns:a16="http://schemas.microsoft.com/office/drawing/2014/main" id="{29F9DD17-B5F6-4A1A-B1F7-B3AA979494F2}"/>
              </a:ext>
            </a:extLst>
          </p:cNvPr>
          <p:cNvGraphicFramePr>
            <a:graphicFrameLocks noChangeAspect="1"/>
          </p:cNvGraphicFramePr>
          <p:nvPr/>
        </p:nvGraphicFramePr>
        <p:xfrm>
          <a:off x="2895600" y="1600200"/>
          <a:ext cx="1428750" cy="901700"/>
        </p:xfrm>
        <a:graphic>
          <a:graphicData uri="http://schemas.openxmlformats.org/presentationml/2006/ole">
            <mc:AlternateContent xmlns:mc="http://schemas.openxmlformats.org/markup-compatibility/2006">
              <mc:Choice xmlns:v="urn:schemas-microsoft-com:vml" Requires="v">
                <p:oleObj r:id="rId2" imgW="723586" imgH="457002" progId="Equation.3">
                  <p:embed/>
                </p:oleObj>
              </mc:Choice>
              <mc:Fallback>
                <p:oleObj r:id="rId2" imgW="723586" imgH="457002" progId="Equation.3">
                  <p:embed/>
                  <p:pic>
                    <p:nvPicPr>
                      <p:cNvPr id="9218" name="Object 4">
                        <a:extLst>
                          <a:ext uri="{FF2B5EF4-FFF2-40B4-BE49-F238E27FC236}">
                            <a16:creationId xmlns:a16="http://schemas.microsoft.com/office/drawing/2014/main" id="{29F9DD17-B5F6-4A1A-B1F7-B3AA97949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00200"/>
                        <a:ext cx="1428750" cy="9017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011385B-22A9-4F37-B09D-730BD67135B4}"/>
              </a:ext>
            </a:extLst>
          </p:cNvPr>
          <p:cNvSpPr>
            <a:spLocks noGrp="1" noChangeArrowheads="1"/>
          </p:cNvSpPr>
          <p:nvPr>
            <p:ph type="title"/>
          </p:nvPr>
        </p:nvSpPr>
        <p:spPr>
          <a:xfrm>
            <a:off x="0" y="0"/>
            <a:ext cx="9144000" cy="579438"/>
          </a:xfrm>
        </p:spPr>
        <p:txBody>
          <a:bodyPr/>
          <a:lstStyle/>
          <a:p>
            <a:pPr>
              <a:defRPr/>
            </a:pPr>
            <a:r>
              <a:rPr lang="hr-HR" altLang="en-US" sz="3200"/>
              <a:t>Transformacija permutacije</a:t>
            </a:r>
            <a:endParaRPr lang="en-US" altLang="en-US" sz="3200"/>
          </a:p>
        </p:txBody>
      </p:sp>
      <p:sp>
        <p:nvSpPr>
          <p:cNvPr id="34819" name="Rectangle 3">
            <a:extLst>
              <a:ext uri="{FF2B5EF4-FFF2-40B4-BE49-F238E27FC236}">
                <a16:creationId xmlns:a16="http://schemas.microsoft.com/office/drawing/2014/main" id="{718951A9-D618-47F5-9552-E2BE417A8DA8}"/>
              </a:ext>
            </a:extLst>
          </p:cNvPr>
          <p:cNvSpPr>
            <a:spLocks noGrp="1" noChangeArrowheads="1"/>
          </p:cNvSpPr>
          <p:nvPr>
            <p:ph type="body" idx="1"/>
          </p:nvPr>
        </p:nvSpPr>
        <p:spPr>
          <a:xfrm>
            <a:off x="0" y="685800"/>
            <a:ext cx="9144000" cy="6172200"/>
          </a:xfrm>
        </p:spPr>
        <p:txBody>
          <a:bodyPr>
            <a:normAutofit lnSpcReduction="10000"/>
          </a:bodyPr>
          <a:lstStyle/>
          <a:p>
            <a:pPr lvl="1" algn="just">
              <a:lnSpc>
                <a:spcPct val="90000"/>
              </a:lnSpc>
              <a:defRPr/>
            </a:pPr>
            <a:r>
              <a:rPr lang="en-US" altLang="en-US" sz="2100" dirty="0">
                <a:latin typeface="Times Roman YU" pitchFamily="18" charset="0"/>
                <a:cs typeface="Times New Roman" panose="02020603050405020304" pitchFamily="18" charset="0"/>
              </a:rPr>
              <a:t>PRIMER: </a:t>
            </a:r>
            <a:r>
              <a:rPr lang="en-US" altLang="en-US" sz="2100" dirty="0" err="1">
                <a:cs typeface="Times New Roman" panose="02020603050405020304" pitchFamily="18" charset="0"/>
              </a:rPr>
              <a:t>Izvr</a:t>
            </a:r>
            <a:r>
              <a:rPr lang="hr-HR" altLang="en-US" sz="2100" dirty="0"/>
              <a:t>š</a:t>
            </a:r>
            <a:r>
              <a:rPr lang="en-US" altLang="en-US" sz="2100" dirty="0" err="1">
                <a:cs typeface="Times New Roman" panose="02020603050405020304" pitchFamily="18" charset="0"/>
              </a:rPr>
              <a:t>iti</a:t>
            </a:r>
            <a:r>
              <a:rPr lang="en-US" altLang="en-US" sz="2100" dirty="0">
                <a:cs typeface="Times New Roman" panose="02020603050405020304" pitchFamily="18" charset="0"/>
              </a:rPr>
              <a:t> </a:t>
            </a:r>
            <a:r>
              <a:rPr lang="en-US" altLang="en-US" sz="2100" dirty="0" err="1">
                <a:cs typeface="Times New Roman" panose="02020603050405020304" pitchFamily="18" charset="0"/>
              </a:rPr>
              <a:t>permutaciju</a:t>
            </a:r>
            <a:r>
              <a:rPr lang="en-US" altLang="en-US" sz="2100" dirty="0">
                <a:cs typeface="Times New Roman" panose="02020603050405020304" pitchFamily="18" charset="0"/>
              </a:rPr>
              <a:t> </a:t>
            </a:r>
            <a:r>
              <a:rPr lang="en-US" altLang="en-US" sz="2100" dirty="0" err="1">
                <a:cs typeface="Times New Roman" panose="02020603050405020304" pitchFamily="18" charset="0"/>
              </a:rPr>
              <a:t>indeksnih</a:t>
            </a:r>
            <a:r>
              <a:rPr lang="en-US" altLang="en-US" sz="2100" dirty="0">
                <a:cs typeface="Times New Roman" panose="02020603050405020304" pitchFamily="18" charset="0"/>
              </a:rPr>
              <a:t> </a:t>
            </a:r>
            <a:r>
              <a:rPr lang="en-US" altLang="en-US" sz="2100" dirty="0" err="1">
                <a:cs typeface="Times New Roman" panose="02020603050405020304" pitchFamily="18" charset="0"/>
              </a:rPr>
              <a:t>promenljivih</a:t>
            </a:r>
            <a:r>
              <a:rPr lang="en-US" altLang="en-US" sz="2100" dirty="0">
                <a:cs typeface="Times New Roman" panose="02020603050405020304" pitchFamily="18" charset="0"/>
              </a:rPr>
              <a:t> I </a:t>
            </a:r>
            <a:r>
              <a:rPr lang="en-US" altLang="en-US" sz="2100" dirty="0" err="1">
                <a:cs typeface="Times New Roman" panose="02020603050405020304" pitchFamily="18" charset="0"/>
              </a:rPr>
              <a:t>i</a:t>
            </a:r>
            <a:r>
              <a:rPr lang="en-US" altLang="en-US" sz="2100" dirty="0">
                <a:cs typeface="Times New Roman" panose="02020603050405020304" pitchFamily="18" charset="0"/>
              </a:rPr>
              <a:t> J u </a:t>
            </a:r>
            <a:r>
              <a:rPr lang="en-US" altLang="en-US" sz="2100" dirty="0" err="1">
                <a:cs typeface="Times New Roman" panose="02020603050405020304" pitchFamily="18" charset="0"/>
              </a:rPr>
              <a:t>slede</a:t>
            </a:r>
            <a:r>
              <a:rPr lang="hr-HR" altLang="en-US" sz="2100" dirty="0"/>
              <a:t>ć</a:t>
            </a:r>
            <a:r>
              <a:rPr lang="en-US" altLang="en-US" sz="2100" dirty="0" err="1">
                <a:cs typeface="Times New Roman" panose="02020603050405020304" pitchFamily="18" charset="0"/>
              </a:rPr>
              <a:t>em</a:t>
            </a:r>
            <a:r>
              <a:rPr lang="en-US" altLang="en-US" sz="2100" dirty="0">
                <a:cs typeface="Times New Roman" panose="02020603050405020304" pitchFamily="18" charset="0"/>
              </a:rPr>
              <a:t> </a:t>
            </a:r>
            <a:r>
              <a:rPr lang="en-US" altLang="en-US" sz="2100" dirty="0" err="1">
                <a:cs typeface="Times New Roman" panose="02020603050405020304" pitchFamily="18" charset="0"/>
              </a:rPr>
              <a:t>gnezdu</a:t>
            </a:r>
            <a:r>
              <a:rPr lang="en-US" altLang="en-US" sz="2100" dirty="0">
                <a:cs typeface="Times New Roman" panose="02020603050405020304" pitchFamily="18" charset="0"/>
              </a:rPr>
              <a:t> </a:t>
            </a:r>
            <a:r>
              <a:rPr lang="en-US" altLang="en-US" sz="2100" dirty="0" err="1">
                <a:cs typeface="Times New Roman" panose="02020603050405020304" pitchFamily="18" charset="0"/>
              </a:rPr>
              <a:t>petlji</a:t>
            </a:r>
            <a:endParaRPr lang="en-US" altLang="en-US" sz="2100" dirty="0">
              <a:cs typeface="Times New Roman" panose="02020603050405020304" pitchFamily="18" charset="0"/>
            </a:endParaRP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t>
            </a:r>
            <a:r>
              <a:rPr lang="sr-Latn-CS" altLang="en-US" sz="1800" dirty="0">
                <a:cs typeface="Times New Roman" panose="02020603050405020304" pitchFamily="18" charset="0"/>
              </a:rPr>
              <a:t>for</a:t>
            </a:r>
            <a:r>
              <a:rPr lang="en-US" altLang="en-US" sz="1800" dirty="0">
                <a:cs typeface="Times New Roman" panose="02020603050405020304" pitchFamily="18" charset="0"/>
              </a:rPr>
              <a:t> I = 1, n		</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t>
            </a:r>
            <a:r>
              <a:rPr lang="sr-Latn-CS" altLang="en-US" sz="1800" dirty="0">
                <a:cs typeface="Times New Roman" panose="02020603050405020304" pitchFamily="18" charset="0"/>
              </a:rPr>
              <a:t>for</a:t>
            </a:r>
            <a:r>
              <a:rPr lang="en-US" altLang="en-US" sz="1800" dirty="0">
                <a:cs typeface="Times New Roman" panose="02020603050405020304" pitchFamily="18" charset="0"/>
              </a:rPr>
              <a:t> J = 1, n</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A(J) = A(J) + C(I, J)</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t>
            </a:r>
            <a:r>
              <a:rPr lang="sr-Latn-CS" altLang="en-US" sz="1800" dirty="0">
                <a:cs typeface="Times New Roman" panose="02020603050405020304" pitchFamily="18" charset="0"/>
              </a:rPr>
              <a:t>endfor</a:t>
            </a:r>
            <a:r>
              <a:rPr lang="en-US" altLang="en-US" sz="1800" dirty="0">
                <a:cs typeface="Times New Roman" panose="02020603050405020304" pitchFamily="18" charset="0"/>
              </a:rPr>
              <a:t>{</a:t>
            </a:r>
            <a:r>
              <a:rPr lang="sr-Latn-CS" altLang="en-US" sz="1800" dirty="0">
                <a:cs typeface="Times New Roman" panose="02020603050405020304" pitchFamily="18" charset="0"/>
              </a:rPr>
              <a:t>I,J</a:t>
            </a:r>
            <a:r>
              <a:rPr lang="en-US" altLang="en-US" sz="1800" dirty="0">
                <a:cs typeface="Times New Roman" panose="02020603050405020304" pitchFamily="18" charset="0"/>
              </a:rPr>
              <a:t>}</a:t>
            </a:r>
          </a:p>
          <a:p>
            <a:pPr lvl="2" algn="just">
              <a:lnSpc>
                <a:spcPct val="90000"/>
              </a:lnSpc>
              <a:defRPr/>
            </a:pPr>
            <a:r>
              <a:rPr lang="en-US" altLang="en-US" sz="1800" b="1" dirty="0">
                <a:solidFill>
                  <a:srgbClr val="FF0000"/>
                </a:solidFill>
                <a:cs typeface="Times New Roman" panose="02020603050405020304" pitchFamily="18" charset="0"/>
              </a:rPr>
              <a:t>Koji </a:t>
            </a:r>
            <a:r>
              <a:rPr lang="en-US" altLang="en-US" sz="1800" b="1" dirty="0" err="1">
                <a:solidFill>
                  <a:srgbClr val="FF0000"/>
                </a:solidFill>
                <a:cs typeface="Times New Roman" panose="02020603050405020304" pitchFamily="18" charset="0"/>
              </a:rPr>
              <a:t>su</a:t>
            </a:r>
            <a:r>
              <a:rPr lang="en-US" altLang="en-US" sz="1800" b="1" dirty="0">
                <a:solidFill>
                  <a:srgbClr val="FF0000"/>
                </a:solidFill>
                <a:cs typeface="Times New Roman" panose="02020603050405020304" pitchFamily="18" charset="0"/>
              </a:rPr>
              <a:t> </a:t>
            </a:r>
            <a:r>
              <a:rPr lang="en-US" altLang="en-US" sz="1800" b="1" dirty="0" err="1">
                <a:solidFill>
                  <a:srgbClr val="FF0000"/>
                </a:solidFill>
                <a:cs typeface="Times New Roman" panose="02020603050405020304" pitchFamily="18" charset="0"/>
              </a:rPr>
              <a:t>pravci</a:t>
            </a:r>
            <a:r>
              <a:rPr lang="en-US" altLang="en-US" sz="1800" b="1" dirty="0">
                <a:solidFill>
                  <a:srgbClr val="FF0000"/>
                </a:solidFill>
                <a:cs typeface="Times New Roman" panose="02020603050405020304" pitchFamily="18" charset="0"/>
              </a:rPr>
              <a:t> </a:t>
            </a:r>
            <a:r>
              <a:rPr lang="en-US" altLang="en-US" sz="1800" b="1" dirty="0" err="1">
                <a:solidFill>
                  <a:srgbClr val="FF0000"/>
                </a:solidFill>
                <a:cs typeface="Times New Roman" panose="02020603050405020304" pitchFamily="18" charset="0"/>
              </a:rPr>
              <a:t>zavisnosti</a:t>
            </a:r>
            <a:r>
              <a:rPr lang="en-US" altLang="en-US" sz="1800" b="1" dirty="0">
                <a:solidFill>
                  <a:srgbClr val="FF0000"/>
                </a:solidFill>
                <a:cs typeface="Times New Roman" panose="02020603050405020304" pitchFamily="18" charset="0"/>
              </a:rPr>
              <a:t>? Da li je </a:t>
            </a:r>
            <a:r>
              <a:rPr lang="en-US" altLang="en-US" sz="1800" b="1" dirty="0" err="1">
                <a:solidFill>
                  <a:srgbClr val="FF0000"/>
                </a:solidFill>
                <a:cs typeface="Times New Roman" panose="02020603050405020304" pitchFamily="18" charset="0"/>
              </a:rPr>
              <a:t>legalno</a:t>
            </a:r>
            <a:r>
              <a:rPr lang="en-US" altLang="en-US" sz="1800" b="1" dirty="0">
                <a:solidFill>
                  <a:srgbClr val="FF0000"/>
                </a:solidFill>
                <a:cs typeface="Times New Roman" panose="02020603050405020304" pitchFamily="18" charset="0"/>
              </a:rPr>
              <a:t> </a:t>
            </a:r>
            <a:r>
              <a:rPr lang="en-US" altLang="en-US" sz="1800" b="1" dirty="0" err="1">
                <a:solidFill>
                  <a:srgbClr val="FF0000"/>
                </a:solidFill>
                <a:cs typeface="Times New Roman" panose="02020603050405020304" pitchFamily="18" charset="0"/>
              </a:rPr>
              <a:t>iz</a:t>
            </a:r>
            <a:r>
              <a:rPr lang="sr-Latn-RS" altLang="en-US" sz="1800" b="1" dirty="0">
                <a:solidFill>
                  <a:srgbClr val="FF0000"/>
                </a:solidFill>
                <a:cs typeface="Times New Roman" panose="02020603050405020304" pitchFamily="18" charset="0"/>
              </a:rPr>
              <a:t>vršiti permutaciju?</a:t>
            </a:r>
            <a:endParaRPr lang="en-US" altLang="en-US" sz="1800" b="1" dirty="0">
              <a:solidFill>
                <a:srgbClr val="FF0000"/>
              </a:solidFill>
              <a:cs typeface="Times New Roman" panose="02020603050405020304" pitchFamily="18" charset="0"/>
            </a:endParaRPr>
          </a:p>
          <a:p>
            <a:pPr lvl="1" algn="just">
              <a:lnSpc>
                <a:spcPct val="90000"/>
              </a:lnSpc>
              <a:defRPr/>
            </a:pPr>
            <a:r>
              <a:rPr lang="en-US" altLang="en-US" sz="2100" dirty="0" err="1">
                <a:cs typeface="Times New Roman" panose="02020603050405020304" pitchFamily="18" charset="0"/>
              </a:rPr>
              <a:t>Primenom</a:t>
            </a:r>
            <a:r>
              <a:rPr lang="en-US" altLang="en-US" sz="2100" dirty="0">
                <a:cs typeface="Times New Roman" panose="02020603050405020304" pitchFamily="18" charset="0"/>
              </a:rPr>
              <a:t> </a:t>
            </a:r>
            <a:r>
              <a:rPr lang="en-US" altLang="en-US" sz="2100" dirty="0" err="1">
                <a:cs typeface="Times New Roman" panose="02020603050405020304" pitchFamily="18" charset="0"/>
              </a:rPr>
              <a:t>transformacije</a:t>
            </a:r>
            <a:r>
              <a:rPr lang="en-US" altLang="en-US" sz="2100" dirty="0">
                <a:cs typeface="Times New Roman" panose="02020603050405020304" pitchFamily="18" charset="0"/>
              </a:rPr>
              <a:t> </a:t>
            </a:r>
            <a:r>
              <a:rPr lang="en-US" altLang="en-US" sz="2100" dirty="0" err="1">
                <a:cs typeface="Times New Roman" panose="02020603050405020304" pitchFamily="18" charset="0"/>
              </a:rPr>
              <a:t>permutacije</a:t>
            </a:r>
            <a:r>
              <a:rPr lang="en-US" altLang="en-US" sz="2100" dirty="0">
                <a:cs typeface="Times New Roman" panose="02020603050405020304" pitchFamily="18" charset="0"/>
              </a:rPr>
              <a:t> </a:t>
            </a:r>
            <a:r>
              <a:rPr lang="en-US" altLang="en-US" sz="2100" dirty="0" err="1">
                <a:cs typeface="Times New Roman" panose="02020603050405020304" pitchFamily="18" charset="0"/>
              </a:rPr>
              <a:t>nad</a:t>
            </a:r>
            <a:r>
              <a:rPr lang="en-US" altLang="en-US" sz="2100" dirty="0">
                <a:cs typeface="Times New Roman" panose="02020603050405020304" pitchFamily="18" charset="0"/>
              </a:rPr>
              <a:t> </a:t>
            </a:r>
            <a:r>
              <a:rPr lang="en-US" altLang="en-US" sz="2100" dirty="0" err="1">
                <a:cs typeface="Times New Roman" panose="02020603050405020304" pitchFamily="18" charset="0"/>
              </a:rPr>
              <a:t>indeksnim</a:t>
            </a:r>
            <a:r>
              <a:rPr lang="en-US" altLang="en-US" sz="2100" dirty="0">
                <a:cs typeface="Times New Roman" panose="02020603050405020304" pitchFamily="18" charset="0"/>
              </a:rPr>
              <a:t> </a:t>
            </a:r>
            <a:r>
              <a:rPr lang="en-US" altLang="en-US" sz="2100" dirty="0" err="1">
                <a:cs typeface="Times New Roman" panose="02020603050405020304" pitchFamily="18" charset="0"/>
              </a:rPr>
              <a:t>skupom</a:t>
            </a:r>
            <a:r>
              <a:rPr lang="en-US" altLang="en-US" sz="2100" dirty="0">
                <a:cs typeface="Times New Roman" panose="02020603050405020304" pitchFamily="18" charset="0"/>
              </a:rPr>
              <a:t> (I, J)</a:t>
            </a:r>
            <a:r>
              <a:rPr lang="en-US" altLang="en-US" sz="2100" baseline="30000" dirty="0">
                <a:cs typeface="Times New Roman" panose="02020603050405020304" pitchFamily="18" charset="0"/>
              </a:rPr>
              <a:t>T</a:t>
            </a:r>
            <a:r>
              <a:rPr lang="en-US" altLang="en-US" sz="2100" dirty="0">
                <a:cs typeface="Times New Roman" panose="02020603050405020304" pitchFamily="18" charset="0"/>
              </a:rPr>
              <a:t>  </a:t>
            </a:r>
            <a:r>
              <a:rPr lang="en-US" altLang="en-US" sz="2100" dirty="0" err="1">
                <a:cs typeface="Times New Roman" panose="02020603050405020304" pitchFamily="18" charset="0"/>
              </a:rPr>
              <a:t>dobijamo</a:t>
            </a:r>
            <a:r>
              <a:rPr lang="en-US" altLang="en-US" sz="2100" dirty="0">
                <a:cs typeface="Times New Roman" panose="02020603050405020304" pitchFamily="18" charset="0"/>
              </a:rPr>
              <a:t> </a:t>
            </a:r>
            <a:r>
              <a:rPr lang="en-US" altLang="en-US" sz="2100" dirty="0" err="1">
                <a:cs typeface="Times New Roman" panose="02020603050405020304" pitchFamily="18" charset="0"/>
              </a:rPr>
              <a:t>nove</a:t>
            </a:r>
            <a:r>
              <a:rPr lang="en-US" altLang="en-US" sz="2100" dirty="0">
                <a:cs typeface="Times New Roman" panose="02020603050405020304" pitchFamily="18" charset="0"/>
              </a:rPr>
              <a:t> </a:t>
            </a:r>
            <a:r>
              <a:rPr lang="en-US" altLang="en-US" sz="2100" dirty="0" err="1">
                <a:cs typeface="Times New Roman" panose="02020603050405020304" pitchFamily="18" charset="0"/>
              </a:rPr>
              <a:t>indeksne</a:t>
            </a:r>
            <a:r>
              <a:rPr lang="en-US" altLang="en-US" sz="2100" dirty="0">
                <a:cs typeface="Times New Roman" panose="02020603050405020304" pitchFamily="18" charset="0"/>
              </a:rPr>
              <a:t> </a:t>
            </a:r>
            <a:r>
              <a:rPr lang="en-US" altLang="en-US" sz="2100" dirty="0" err="1">
                <a:cs typeface="Times New Roman" panose="02020603050405020304" pitchFamily="18" charset="0"/>
              </a:rPr>
              <a:t>promenljive</a:t>
            </a:r>
            <a:r>
              <a:rPr lang="en-US" altLang="en-US" sz="2100" dirty="0">
                <a:cs typeface="Times New Roman" panose="02020603050405020304" pitchFamily="18" charset="0"/>
              </a:rPr>
              <a:t> U i V </a:t>
            </a:r>
            <a:r>
              <a:rPr lang="en-US" altLang="en-US" sz="2100" dirty="0" err="1">
                <a:cs typeface="Times New Roman" panose="02020603050405020304" pitchFamily="18" charset="0"/>
              </a:rPr>
              <a:t>na</a:t>
            </a:r>
            <a:r>
              <a:rPr lang="en-US" altLang="en-US" sz="2100" dirty="0">
                <a:cs typeface="Times New Roman" panose="02020603050405020304" pitchFamily="18" charset="0"/>
              </a:rPr>
              <a:t> </a:t>
            </a:r>
            <a:r>
              <a:rPr lang="en-US" altLang="en-US" sz="2100" dirty="0" err="1">
                <a:cs typeface="Times New Roman" panose="02020603050405020304" pitchFamily="18" charset="0"/>
              </a:rPr>
              <a:t>slede</a:t>
            </a:r>
            <a:r>
              <a:rPr lang="hr-HR" altLang="en-US" sz="2100" dirty="0"/>
              <a:t>ć</a:t>
            </a:r>
            <a:r>
              <a:rPr lang="en-US" altLang="en-US" sz="2100" dirty="0">
                <a:cs typeface="Times New Roman" panose="02020603050405020304" pitchFamily="18" charset="0"/>
              </a:rPr>
              <a:t>i </a:t>
            </a:r>
            <a:r>
              <a:rPr lang="en-US" altLang="en-US" sz="2100" dirty="0" err="1">
                <a:cs typeface="Times New Roman" panose="02020603050405020304" pitchFamily="18" charset="0"/>
              </a:rPr>
              <a:t>na</a:t>
            </a:r>
            <a:r>
              <a:rPr lang="hr-HR" altLang="en-US" sz="2100" dirty="0"/>
              <a:t>č</a:t>
            </a:r>
            <a:r>
              <a:rPr lang="en-US" altLang="en-US" sz="2100" dirty="0">
                <a:cs typeface="Times New Roman" panose="02020603050405020304" pitchFamily="18" charset="0"/>
              </a:rPr>
              <a:t>in</a:t>
            </a:r>
            <a:endParaRPr lang="hr-HR" altLang="en-US" sz="2100" dirty="0"/>
          </a:p>
          <a:p>
            <a:pPr lvl="1" algn="just">
              <a:lnSpc>
                <a:spcPct val="90000"/>
              </a:lnSpc>
              <a:defRPr/>
            </a:pPr>
            <a:endParaRPr lang="hr-HR" altLang="en-US" sz="2100" dirty="0"/>
          </a:p>
          <a:p>
            <a:pPr lvl="1" algn="just">
              <a:lnSpc>
                <a:spcPct val="90000"/>
              </a:lnSpc>
              <a:defRPr/>
            </a:pPr>
            <a:endParaRPr lang="hr-HR" altLang="en-US" sz="2100" dirty="0"/>
          </a:p>
          <a:p>
            <a:pPr lvl="1" algn="just">
              <a:lnSpc>
                <a:spcPct val="90000"/>
              </a:lnSpc>
              <a:defRPr/>
            </a:pPr>
            <a:endParaRPr lang="hr-HR" altLang="en-US" sz="2100" dirty="0"/>
          </a:p>
          <a:p>
            <a:pPr lvl="1" algn="just">
              <a:lnSpc>
                <a:spcPct val="90000"/>
              </a:lnSpc>
              <a:defRPr/>
            </a:pPr>
            <a:r>
              <a:rPr lang="en-US" altLang="en-US" sz="2000" dirty="0" err="1">
                <a:cs typeface="Times New Roman" panose="02020603050405020304" pitchFamily="18" charset="0"/>
              </a:rPr>
              <a:t>pri</a:t>
            </a:r>
            <a:r>
              <a:rPr lang="en-US" altLang="en-US" sz="2000" dirty="0">
                <a:cs typeface="Times New Roman" panose="02020603050405020304" pitchFamily="18" charset="0"/>
              </a:rPr>
              <a:t> </a:t>
            </a:r>
            <a:r>
              <a:rPr lang="sr-Latn-CS" altLang="en-US" sz="2000" dirty="0">
                <a:cs typeface="Times New Roman" panose="02020603050405020304" pitchFamily="18" charset="0"/>
              </a:rPr>
              <a:t>č</a:t>
            </a:r>
            <a:r>
              <a:rPr lang="en-US" altLang="en-US" sz="2000" dirty="0">
                <a:cs typeface="Times New Roman" panose="02020603050405020304" pitchFamily="18" charset="0"/>
              </a:rPr>
              <a:t>emu je U = J, a V = I. </a:t>
            </a:r>
            <a:endParaRPr lang="hr-HR" altLang="en-US" sz="2000" dirty="0"/>
          </a:p>
          <a:p>
            <a:pPr lvl="1" algn="just">
              <a:lnSpc>
                <a:spcPct val="90000"/>
              </a:lnSpc>
              <a:defRPr/>
            </a:pPr>
            <a:r>
              <a:rPr lang="en-US" altLang="en-US" sz="2000" dirty="0" err="1">
                <a:cs typeface="Times New Roman" panose="02020603050405020304" pitchFamily="18" charset="0"/>
              </a:rPr>
              <a:t>Granice</a:t>
            </a:r>
            <a:r>
              <a:rPr lang="en-US" altLang="en-US" sz="2000" dirty="0">
                <a:cs typeface="Times New Roman" panose="02020603050405020304" pitchFamily="18" charset="0"/>
              </a:rPr>
              <a:t> za U i V </a:t>
            </a:r>
            <a:r>
              <a:rPr lang="en-US" altLang="en-US" sz="2000" dirty="0" err="1">
                <a:cs typeface="Times New Roman" panose="02020603050405020304" pitchFamily="18" charset="0"/>
              </a:rPr>
              <a:t>odredjujemo</a:t>
            </a:r>
            <a:r>
              <a:rPr lang="en-US" altLang="en-US" sz="2000" dirty="0">
                <a:cs typeface="Times New Roman" panose="02020603050405020304" pitchFamily="18" charset="0"/>
              </a:rPr>
              <a:t> </a:t>
            </a:r>
            <a:r>
              <a:rPr lang="en-US" altLang="en-US" sz="2000" dirty="0" err="1">
                <a:cs typeface="Times New Roman" panose="02020603050405020304" pitchFamily="18" charset="0"/>
              </a:rPr>
              <a:t>na</a:t>
            </a:r>
            <a:r>
              <a:rPr lang="en-US" altLang="en-US" sz="2000" dirty="0">
                <a:cs typeface="Times New Roman" panose="02020603050405020304" pitchFamily="18" charset="0"/>
              </a:rPr>
              <a:t> </a:t>
            </a:r>
            <a:r>
              <a:rPr lang="en-US" altLang="en-US" sz="2000" dirty="0" err="1">
                <a:cs typeface="Times New Roman" panose="02020603050405020304" pitchFamily="18" charset="0"/>
              </a:rPr>
              <a:t>osnovu</a:t>
            </a:r>
            <a:r>
              <a:rPr lang="en-US" altLang="en-US" sz="2000" dirty="0">
                <a:cs typeface="Times New Roman" panose="02020603050405020304" pitchFamily="18" charset="0"/>
              </a:rPr>
              <a:t> </a:t>
            </a:r>
            <a:r>
              <a:rPr lang="en-US" altLang="en-US" sz="2000" dirty="0" err="1">
                <a:cs typeface="Times New Roman" panose="02020603050405020304" pitchFamily="18" charset="0"/>
              </a:rPr>
              <a:t>granica</a:t>
            </a:r>
            <a:r>
              <a:rPr lang="en-US" altLang="en-US" sz="2000" dirty="0">
                <a:cs typeface="Times New Roman" panose="02020603050405020304" pitchFamily="18" charset="0"/>
              </a:rPr>
              <a:t> za </a:t>
            </a:r>
            <a:r>
              <a:rPr lang="en-US" altLang="en-US" sz="2000" dirty="0" err="1">
                <a:cs typeface="Times New Roman" panose="02020603050405020304" pitchFamily="18" charset="0"/>
              </a:rPr>
              <a:t>indeksne</a:t>
            </a:r>
            <a:r>
              <a:rPr lang="en-US" altLang="en-US" sz="2000" dirty="0">
                <a:cs typeface="Times New Roman" panose="02020603050405020304" pitchFamily="18" charset="0"/>
              </a:rPr>
              <a:t> </a:t>
            </a:r>
            <a:r>
              <a:rPr lang="en-US" altLang="en-US" sz="2000" dirty="0" err="1">
                <a:cs typeface="Times New Roman" panose="02020603050405020304" pitchFamily="18" charset="0"/>
              </a:rPr>
              <a:t>promenljive</a:t>
            </a:r>
            <a:r>
              <a:rPr lang="en-US" altLang="en-US" sz="2000" dirty="0">
                <a:cs typeface="Times New Roman" panose="02020603050405020304" pitchFamily="18" charset="0"/>
              </a:rPr>
              <a:t>  J i </a:t>
            </a:r>
            <a:r>
              <a:rPr lang="en-US" altLang="en-US" sz="2000"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respektivno</a:t>
            </a:r>
            <a:r>
              <a:rPr lang="en-US" altLang="en-US" sz="2000" dirty="0">
                <a:cs typeface="Times New Roman" panose="02020603050405020304" pitchFamily="18" charset="0"/>
              </a:rPr>
              <a:t>. </a:t>
            </a:r>
            <a:endParaRPr lang="hr-HR" altLang="en-US" sz="2000" dirty="0"/>
          </a:p>
          <a:p>
            <a:pPr lvl="1" algn="just">
              <a:lnSpc>
                <a:spcPct val="90000"/>
              </a:lnSpc>
              <a:defRPr/>
            </a:pPr>
            <a:r>
              <a:rPr lang="en-US" altLang="en-US" sz="2000" dirty="0" err="1">
                <a:cs typeface="Times New Roman" panose="02020603050405020304" pitchFamily="18" charset="0"/>
              </a:rPr>
              <a:t>Transformisano</a:t>
            </a:r>
            <a:r>
              <a:rPr lang="en-US" altLang="en-US" sz="2000" dirty="0">
                <a:cs typeface="Times New Roman" panose="02020603050405020304" pitchFamily="18" charset="0"/>
              </a:rPr>
              <a:t> </a:t>
            </a:r>
            <a:r>
              <a:rPr lang="en-US" altLang="en-US" sz="2000" dirty="0" err="1">
                <a:cs typeface="Times New Roman" panose="02020603050405020304" pitchFamily="18" charset="0"/>
              </a:rPr>
              <a:t>gnezo</a:t>
            </a:r>
            <a:r>
              <a:rPr lang="en-US" altLang="en-US" sz="2000" dirty="0">
                <a:cs typeface="Times New Roman" panose="02020603050405020304" pitchFamily="18" charset="0"/>
              </a:rPr>
              <a:t> </a:t>
            </a:r>
            <a:r>
              <a:rPr lang="en-US" altLang="en-US" sz="2000" dirty="0" err="1">
                <a:cs typeface="Times New Roman" panose="02020603050405020304" pitchFamily="18" charset="0"/>
              </a:rPr>
              <a:t>petlji</a:t>
            </a:r>
            <a:r>
              <a:rPr lang="en-US" altLang="en-US" sz="2000" dirty="0">
                <a:cs typeface="Times New Roman" panose="02020603050405020304" pitchFamily="18" charset="0"/>
              </a:rPr>
              <a:t> </a:t>
            </a:r>
            <a:r>
              <a:rPr lang="en-US" altLang="en-US" sz="2000" dirty="0" err="1">
                <a:cs typeface="Times New Roman" panose="02020603050405020304" pitchFamily="18" charset="0"/>
              </a:rPr>
              <a:t>sada</a:t>
            </a:r>
            <a:r>
              <a:rPr lang="en-US" altLang="en-US" sz="2000" dirty="0">
                <a:cs typeface="Times New Roman" panose="02020603050405020304" pitchFamily="18" charset="0"/>
              </a:rPr>
              <a:t> </a:t>
            </a:r>
            <a:r>
              <a:rPr lang="en-US" altLang="en-US" sz="2000" dirty="0" err="1">
                <a:cs typeface="Times New Roman" panose="02020603050405020304" pitchFamily="18" charset="0"/>
              </a:rPr>
              <a:t>ima</a:t>
            </a:r>
            <a:r>
              <a:rPr lang="en-US" altLang="en-US" sz="2000" dirty="0">
                <a:cs typeface="Times New Roman" panose="02020603050405020304" pitchFamily="18" charset="0"/>
              </a:rPr>
              <a:t> </a:t>
            </a:r>
            <a:r>
              <a:rPr lang="en-US" altLang="en-US" sz="2000" dirty="0" err="1">
                <a:cs typeface="Times New Roman" panose="02020603050405020304" pitchFamily="18" charset="0"/>
              </a:rPr>
              <a:t>oblik</a:t>
            </a:r>
            <a:endParaRPr lang="en-US" altLang="en-US" sz="2000" dirty="0">
              <a:cs typeface="Times New Roman" panose="02020603050405020304" pitchFamily="18" charset="0"/>
            </a:endParaRP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for 10  U = 1, n		</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for 10  V = 1, n</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A(U) = A(U) + C(V, U)</a:t>
            </a:r>
          </a:p>
          <a:p>
            <a:pPr lvl="2" algn="just">
              <a:lnSpc>
                <a:spcPct val="90000"/>
              </a:lnSpc>
              <a:buFont typeface="Wingdings" panose="05000000000000000000" pitchFamily="2" charset="2"/>
              <a:buNone/>
              <a:defRPr/>
            </a:pPr>
            <a:r>
              <a:rPr lang="en-US" altLang="en-US" sz="1800" dirty="0">
                <a:cs typeface="Times New Roman" panose="02020603050405020304" pitchFamily="18" charset="0"/>
              </a:rPr>
              <a:t> 	      </a:t>
            </a:r>
            <a:r>
              <a:rPr lang="en-US" altLang="en-US" sz="1800" dirty="0" err="1">
                <a:cs typeface="Times New Roman" panose="02020603050405020304" pitchFamily="18" charset="0"/>
              </a:rPr>
              <a:t>endfor</a:t>
            </a:r>
            <a:r>
              <a:rPr lang="en-US" altLang="en-US" sz="1800" dirty="0">
                <a:cs typeface="Times New Roman" panose="02020603050405020304" pitchFamily="18" charset="0"/>
              </a:rPr>
              <a:t>{</a:t>
            </a:r>
            <a:r>
              <a:rPr lang="en-US" altLang="en-US" sz="1800" dirty="0" err="1">
                <a:cs typeface="Times New Roman" panose="02020603050405020304" pitchFamily="18" charset="0"/>
              </a:rPr>
              <a:t>u,v</a:t>
            </a:r>
            <a:r>
              <a:rPr lang="en-US" altLang="en-US" sz="1800" dirty="0">
                <a:cs typeface="Times New Roman" panose="02020603050405020304" pitchFamily="18" charset="0"/>
              </a:rPr>
              <a:t>}</a:t>
            </a:r>
            <a:endParaRPr lang="en-US" altLang="en-US" sz="1800" dirty="0"/>
          </a:p>
          <a:p>
            <a:pPr>
              <a:lnSpc>
                <a:spcPct val="90000"/>
              </a:lnSpc>
              <a:defRPr/>
            </a:pPr>
            <a:endParaRPr lang="en-US" altLang="en-US" sz="2400" dirty="0"/>
          </a:p>
        </p:txBody>
      </p:sp>
      <p:sp>
        <p:nvSpPr>
          <p:cNvPr id="10245" name="Rectangle 5">
            <a:extLst>
              <a:ext uri="{FF2B5EF4-FFF2-40B4-BE49-F238E27FC236}">
                <a16:creationId xmlns:a16="http://schemas.microsoft.com/office/drawing/2014/main" id="{A7E74AC1-0E48-4037-B0B6-D51C69444EAF}"/>
              </a:ext>
            </a:extLst>
          </p:cNvPr>
          <p:cNvSpPr>
            <a:spLocks noChangeArrowheads="1"/>
          </p:cNvSpPr>
          <p:nvPr/>
        </p:nvSpPr>
        <p:spPr bwMode="auto">
          <a:xfrm>
            <a:off x="378618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0242" name="Object 4">
            <a:extLst>
              <a:ext uri="{FF2B5EF4-FFF2-40B4-BE49-F238E27FC236}">
                <a16:creationId xmlns:a16="http://schemas.microsoft.com/office/drawing/2014/main" id="{556424A2-A143-4222-B1A9-6BE8B1E0A056}"/>
              </a:ext>
            </a:extLst>
          </p:cNvPr>
          <p:cNvGraphicFramePr>
            <a:graphicFrameLocks noChangeAspect="1"/>
          </p:cNvGraphicFramePr>
          <p:nvPr/>
        </p:nvGraphicFramePr>
        <p:xfrm>
          <a:off x="2895600" y="3429000"/>
          <a:ext cx="2667000" cy="776288"/>
        </p:xfrm>
        <a:graphic>
          <a:graphicData uri="http://schemas.openxmlformats.org/presentationml/2006/ole">
            <mc:AlternateContent xmlns:mc="http://schemas.openxmlformats.org/markup-compatibility/2006">
              <mc:Choice xmlns:v="urn:schemas-microsoft-com:vml" Requires="v">
                <p:oleObj r:id="rId3" imgW="1574800" imgH="457200" progId="Equation.3">
                  <p:embed/>
                </p:oleObj>
              </mc:Choice>
              <mc:Fallback>
                <p:oleObj r:id="rId3" imgW="1574800" imgH="457200" progId="Equation.3">
                  <p:embed/>
                  <p:pic>
                    <p:nvPicPr>
                      <p:cNvPr id="10242" name="Object 4">
                        <a:extLst>
                          <a:ext uri="{FF2B5EF4-FFF2-40B4-BE49-F238E27FC236}">
                            <a16:creationId xmlns:a16="http://schemas.microsoft.com/office/drawing/2014/main" id="{556424A2-A143-4222-B1A9-6BE8B1E0A0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429000"/>
                        <a:ext cx="2667000" cy="776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895B842-B6C7-48D2-93A7-AA8B6D5A5AD1}"/>
              </a:ext>
            </a:extLst>
          </p:cNvPr>
          <p:cNvSpPr>
            <a:spLocks noGrp="1" noChangeArrowheads="1"/>
          </p:cNvSpPr>
          <p:nvPr>
            <p:ph type="title"/>
          </p:nvPr>
        </p:nvSpPr>
        <p:spPr/>
        <p:txBody>
          <a:bodyPr/>
          <a:lstStyle/>
          <a:p>
            <a:pPr>
              <a:defRPr/>
            </a:pPr>
            <a:r>
              <a:rPr lang="hr-HR" altLang="en-US"/>
              <a:t>Transformacija permutacije</a:t>
            </a:r>
            <a:endParaRPr lang="en-US" altLang="en-US"/>
          </a:p>
        </p:txBody>
      </p:sp>
      <p:sp>
        <p:nvSpPr>
          <p:cNvPr id="46083" name="Text Box 3">
            <a:extLst>
              <a:ext uri="{FF2B5EF4-FFF2-40B4-BE49-F238E27FC236}">
                <a16:creationId xmlns:a16="http://schemas.microsoft.com/office/drawing/2014/main" id="{B7CAABCC-50BD-4974-9150-4084323C344C}"/>
              </a:ext>
            </a:extLst>
          </p:cNvPr>
          <p:cNvSpPr txBox="1">
            <a:spLocks noChangeArrowheads="1"/>
          </p:cNvSpPr>
          <p:nvPr/>
        </p:nvSpPr>
        <p:spPr bwMode="auto">
          <a:xfrm>
            <a:off x="228600" y="1219200"/>
            <a:ext cx="7848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Char char="•"/>
            </a:pPr>
            <a:r>
              <a:rPr lang="hr-HR" altLang="en-US" sz="2400">
                <a:latin typeface="Tahoma" panose="020B0604030504040204" pitchFamily="34" charset="0"/>
              </a:rPr>
              <a:t> Transformacijom je p</a:t>
            </a:r>
            <a:r>
              <a:rPr lang="en-US" altLang="en-US" sz="2400">
                <a:latin typeface="Tahoma" panose="020B0604030504040204" pitchFamily="34" charset="0"/>
                <a:cs typeface="Times New Roman" panose="02020603050405020304" pitchFamily="18" charset="0"/>
              </a:rPr>
              <a:t>romen</a:t>
            </a:r>
            <a:r>
              <a:rPr lang="hr-HR" altLang="en-US" sz="2400">
                <a:latin typeface="Tahoma" panose="020B0604030504040204" pitchFamily="34" charset="0"/>
              </a:rPr>
              <a:t>jen</a:t>
            </a:r>
            <a:r>
              <a:rPr lang="en-US" altLang="en-US" sz="2400">
                <a:latin typeface="Tahoma" panose="020B0604030504040204" pitchFamily="34" charset="0"/>
                <a:cs typeface="Times New Roman" panose="02020603050405020304" pitchFamily="18" charset="0"/>
              </a:rPr>
              <a:t> redosled izra</a:t>
            </a:r>
            <a:r>
              <a:rPr lang="hr-HR" altLang="en-US" sz="2400">
                <a:latin typeface="Tahoma" panose="020B0604030504040204" pitchFamily="34" charset="0"/>
              </a:rPr>
              <a:t>č</a:t>
            </a:r>
            <a:r>
              <a:rPr lang="en-US" altLang="en-US" sz="2400">
                <a:latin typeface="Tahoma" panose="020B0604030504040204" pitchFamily="34" charset="0"/>
                <a:cs typeface="Times New Roman" panose="02020603050405020304" pitchFamily="18" charset="0"/>
              </a:rPr>
              <a:t>unavanja elemenata vektora A. </a:t>
            </a:r>
            <a:endParaRPr lang="en-US" altLang="en-US" sz="2400">
              <a:latin typeface="Tahoma" panose="020B0604030504040204" pitchFamily="34" charset="0"/>
            </a:endParaRPr>
          </a:p>
        </p:txBody>
      </p:sp>
      <p:sp>
        <p:nvSpPr>
          <p:cNvPr id="46084" name="Rectangle 28">
            <a:extLst>
              <a:ext uri="{FF2B5EF4-FFF2-40B4-BE49-F238E27FC236}">
                <a16:creationId xmlns:a16="http://schemas.microsoft.com/office/drawing/2014/main" id="{E2E3CB59-ACCF-4197-B2B9-BF6C96F09053}"/>
              </a:ext>
            </a:extLst>
          </p:cNvPr>
          <p:cNvSpPr>
            <a:spLocks noChangeArrowheads="1"/>
          </p:cNvSpPr>
          <p:nvPr/>
        </p:nvSpPr>
        <p:spPr bwMode="auto">
          <a:xfrm>
            <a:off x="0" y="3087688"/>
            <a:ext cx="91440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1200">
                <a:latin typeface="Times Roman YU" pitchFamily="18" charset="0"/>
                <a:cs typeface="Times New Roman" panose="02020603050405020304" pitchFamily="18" charset="0"/>
              </a:rPr>
              <a:t> </a:t>
            </a:r>
            <a:endParaRPr lang="en-US" altLang="en-US" sz="1200">
              <a:cs typeface="Times New Roman" panose="02020603050405020304" pitchFamily="18" charset="0"/>
            </a:endParaRPr>
          </a:p>
          <a:p>
            <a:endParaRPr lang="en-US" altLang="en-US" sz="2400">
              <a:latin typeface="Times New Roman" panose="02020603050405020304" pitchFamily="18" charset="0"/>
            </a:endParaRPr>
          </a:p>
        </p:txBody>
      </p:sp>
      <p:sp>
        <p:nvSpPr>
          <p:cNvPr id="46085" name="Line 30">
            <a:extLst>
              <a:ext uri="{FF2B5EF4-FFF2-40B4-BE49-F238E27FC236}">
                <a16:creationId xmlns:a16="http://schemas.microsoft.com/office/drawing/2014/main" id="{7FB440BD-9C53-4069-BB4D-EB2267A8CB9E}"/>
              </a:ext>
            </a:extLst>
          </p:cNvPr>
          <p:cNvSpPr>
            <a:spLocks noChangeShapeType="1"/>
          </p:cNvSpPr>
          <p:nvPr/>
        </p:nvSpPr>
        <p:spPr bwMode="auto">
          <a:xfrm>
            <a:off x="990600" y="2819400"/>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6" name="Line 31">
            <a:extLst>
              <a:ext uri="{FF2B5EF4-FFF2-40B4-BE49-F238E27FC236}">
                <a16:creationId xmlns:a16="http://schemas.microsoft.com/office/drawing/2014/main" id="{331496C6-202C-4218-8F04-D29E7CFBFDF4}"/>
              </a:ext>
            </a:extLst>
          </p:cNvPr>
          <p:cNvSpPr>
            <a:spLocks noChangeShapeType="1"/>
          </p:cNvSpPr>
          <p:nvPr/>
        </p:nvSpPr>
        <p:spPr bwMode="auto">
          <a:xfrm>
            <a:off x="4572000" y="2819400"/>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7" name="Line 33">
            <a:extLst>
              <a:ext uri="{FF2B5EF4-FFF2-40B4-BE49-F238E27FC236}">
                <a16:creationId xmlns:a16="http://schemas.microsoft.com/office/drawing/2014/main" id="{623D5E31-294C-41CF-9DA0-5884A7BD1957}"/>
              </a:ext>
            </a:extLst>
          </p:cNvPr>
          <p:cNvSpPr>
            <a:spLocks noChangeShapeType="1"/>
          </p:cNvSpPr>
          <p:nvPr/>
        </p:nvSpPr>
        <p:spPr bwMode="auto">
          <a:xfrm>
            <a:off x="990600" y="4648200"/>
            <a:ext cx="2362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8" name="Line 34">
            <a:extLst>
              <a:ext uri="{FF2B5EF4-FFF2-40B4-BE49-F238E27FC236}">
                <a16:creationId xmlns:a16="http://schemas.microsoft.com/office/drawing/2014/main" id="{BCDC3CD7-6D19-4907-A7DC-D14753B56276}"/>
              </a:ext>
            </a:extLst>
          </p:cNvPr>
          <p:cNvSpPr>
            <a:spLocks noChangeShapeType="1"/>
          </p:cNvSpPr>
          <p:nvPr/>
        </p:nvSpPr>
        <p:spPr bwMode="auto">
          <a:xfrm>
            <a:off x="4572000" y="4648200"/>
            <a:ext cx="2362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89" name="Line 35">
            <a:extLst>
              <a:ext uri="{FF2B5EF4-FFF2-40B4-BE49-F238E27FC236}">
                <a16:creationId xmlns:a16="http://schemas.microsoft.com/office/drawing/2014/main" id="{E93EC34F-C56D-4EDF-B6E1-1604E5F74ACA}"/>
              </a:ext>
            </a:extLst>
          </p:cNvPr>
          <p:cNvSpPr>
            <a:spLocks noChangeShapeType="1"/>
          </p:cNvSpPr>
          <p:nvPr/>
        </p:nvSpPr>
        <p:spPr bwMode="auto">
          <a:xfrm flipV="1">
            <a:off x="1371600" y="4267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0" name="Line 36">
            <a:extLst>
              <a:ext uri="{FF2B5EF4-FFF2-40B4-BE49-F238E27FC236}">
                <a16:creationId xmlns:a16="http://schemas.microsoft.com/office/drawing/2014/main" id="{0DD2F190-C490-4A0A-9479-4F2D25CB53E7}"/>
              </a:ext>
            </a:extLst>
          </p:cNvPr>
          <p:cNvSpPr>
            <a:spLocks noChangeShapeType="1"/>
          </p:cNvSpPr>
          <p:nvPr/>
        </p:nvSpPr>
        <p:spPr bwMode="auto">
          <a:xfrm flipV="1">
            <a:off x="1752600" y="4267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1" name="Line 37">
            <a:extLst>
              <a:ext uri="{FF2B5EF4-FFF2-40B4-BE49-F238E27FC236}">
                <a16:creationId xmlns:a16="http://schemas.microsoft.com/office/drawing/2014/main" id="{CE0299D2-B556-4C33-9FDE-31D4EF26FD84}"/>
              </a:ext>
            </a:extLst>
          </p:cNvPr>
          <p:cNvSpPr>
            <a:spLocks noChangeShapeType="1"/>
          </p:cNvSpPr>
          <p:nvPr/>
        </p:nvSpPr>
        <p:spPr bwMode="auto">
          <a:xfrm flipV="1">
            <a:off x="2133600" y="4267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2" name="Line 38">
            <a:extLst>
              <a:ext uri="{FF2B5EF4-FFF2-40B4-BE49-F238E27FC236}">
                <a16:creationId xmlns:a16="http://schemas.microsoft.com/office/drawing/2014/main" id="{2201F874-D291-46A2-AFCA-BEA82288519C}"/>
              </a:ext>
            </a:extLst>
          </p:cNvPr>
          <p:cNvSpPr>
            <a:spLocks noChangeShapeType="1"/>
          </p:cNvSpPr>
          <p:nvPr/>
        </p:nvSpPr>
        <p:spPr bwMode="auto">
          <a:xfrm flipV="1">
            <a:off x="2514600" y="4267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3" name="Line 39">
            <a:extLst>
              <a:ext uri="{FF2B5EF4-FFF2-40B4-BE49-F238E27FC236}">
                <a16:creationId xmlns:a16="http://schemas.microsoft.com/office/drawing/2014/main" id="{910B1414-BC64-43A5-BC08-F0AF85CB9E23}"/>
              </a:ext>
            </a:extLst>
          </p:cNvPr>
          <p:cNvSpPr>
            <a:spLocks noChangeShapeType="1"/>
          </p:cNvSpPr>
          <p:nvPr/>
        </p:nvSpPr>
        <p:spPr bwMode="auto">
          <a:xfrm flipV="1">
            <a:off x="1371600" y="3886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4" name="Line 40">
            <a:extLst>
              <a:ext uri="{FF2B5EF4-FFF2-40B4-BE49-F238E27FC236}">
                <a16:creationId xmlns:a16="http://schemas.microsoft.com/office/drawing/2014/main" id="{6F6D5F88-3D87-48AD-9F37-51EF28D3BD94}"/>
              </a:ext>
            </a:extLst>
          </p:cNvPr>
          <p:cNvSpPr>
            <a:spLocks noChangeShapeType="1"/>
          </p:cNvSpPr>
          <p:nvPr/>
        </p:nvSpPr>
        <p:spPr bwMode="auto">
          <a:xfrm flipV="1">
            <a:off x="1371600" y="3505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5" name="Line 41">
            <a:extLst>
              <a:ext uri="{FF2B5EF4-FFF2-40B4-BE49-F238E27FC236}">
                <a16:creationId xmlns:a16="http://schemas.microsoft.com/office/drawing/2014/main" id="{1A95DD89-3D40-4462-9D4C-BCAE054F1C1C}"/>
              </a:ext>
            </a:extLst>
          </p:cNvPr>
          <p:cNvSpPr>
            <a:spLocks noChangeShapeType="1"/>
          </p:cNvSpPr>
          <p:nvPr/>
        </p:nvSpPr>
        <p:spPr bwMode="auto">
          <a:xfrm flipV="1">
            <a:off x="1371600" y="3124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6" name="Line 42">
            <a:extLst>
              <a:ext uri="{FF2B5EF4-FFF2-40B4-BE49-F238E27FC236}">
                <a16:creationId xmlns:a16="http://schemas.microsoft.com/office/drawing/2014/main" id="{9625D7C5-C832-4F14-A770-F139EDE12412}"/>
              </a:ext>
            </a:extLst>
          </p:cNvPr>
          <p:cNvSpPr>
            <a:spLocks noChangeShapeType="1"/>
          </p:cNvSpPr>
          <p:nvPr/>
        </p:nvSpPr>
        <p:spPr bwMode="auto">
          <a:xfrm flipV="1">
            <a:off x="1752600" y="3886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7" name="Line 43">
            <a:extLst>
              <a:ext uri="{FF2B5EF4-FFF2-40B4-BE49-F238E27FC236}">
                <a16:creationId xmlns:a16="http://schemas.microsoft.com/office/drawing/2014/main" id="{5AFFC1CE-735F-415D-87E3-738E74E905D4}"/>
              </a:ext>
            </a:extLst>
          </p:cNvPr>
          <p:cNvSpPr>
            <a:spLocks noChangeShapeType="1"/>
          </p:cNvSpPr>
          <p:nvPr/>
        </p:nvSpPr>
        <p:spPr bwMode="auto">
          <a:xfrm flipV="1">
            <a:off x="1752600" y="3505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8" name="Line 44">
            <a:extLst>
              <a:ext uri="{FF2B5EF4-FFF2-40B4-BE49-F238E27FC236}">
                <a16:creationId xmlns:a16="http://schemas.microsoft.com/office/drawing/2014/main" id="{FA081015-474E-4AA0-96E6-92D6056B08D8}"/>
              </a:ext>
            </a:extLst>
          </p:cNvPr>
          <p:cNvSpPr>
            <a:spLocks noChangeShapeType="1"/>
          </p:cNvSpPr>
          <p:nvPr/>
        </p:nvSpPr>
        <p:spPr bwMode="auto">
          <a:xfrm flipV="1">
            <a:off x="1752600" y="3124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099" name="Line 45">
            <a:extLst>
              <a:ext uri="{FF2B5EF4-FFF2-40B4-BE49-F238E27FC236}">
                <a16:creationId xmlns:a16="http://schemas.microsoft.com/office/drawing/2014/main" id="{B2625390-9FEC-47B9-9BD3-27476473AD04}"/>
              </a:ext>
            </a:extLst>
          </p:cNvPr>
          <p:cNvSpPr>
            <a:spLocks noChangeShapeType="1"/>
          </p:cNvSpPr>
          <p:nvPr/>
        </p:nvSpPr>
        <p:spPr bwMode="auto">
          <a:xfrm flipV="1">
            <a:off x="2133600" y="3886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0" name="Line 46">
            <a:extLst>
              <a:ext uri="{FF2B5EF4-FFF2-40B4-BE49-F238E27FC236}">
                <a16:creationId xmlns:a16="http://schemas.microsoft.com/office/drawing/2014/main" id="{ECC6A116-A91F-4862-919F-A0446B452743}"/>
              </a:ext>
            </a:extLst>
          </p:cNvPr>
          <p:cNvSpPr>
            <a:spLocks noChangeShapeType="1"/>
          </p:cNvSpPr>
          <p:nvPr/>
        </p:nvSpPr>
        <p:spPr bwMode="auto">
          <a:xfrm flipV="1">
            <a:off x="2133600" y="3505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1" name="Line 47">
            <a:extLst>
              <a:ext uri="{FF2B5EF4-FFF2-40B4-BE49-F238E27FC236}">
                <a16:creationId xmlns:a16="http://schemas.microsoft.com/office/drawing/2014/main" id="{69919894-CC07-48FE-9D4F-504B2AC37C4E}"/>
              </a:ext>
            </a:extLst>
          </p:cNvPr>
          <p:cNvSpPr>
            <a:spLocks noChangeShapeType="1"/>
          </p:cNvSpPr>
          <p:nvPr/>
        </p:nvSpPr>
        <p:spPr bwMode="auto">
          <a:xfrm flipV="1">
            <a:off x="2133600" y="3124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2" name="Line 48">
            <a:extLst>
              <a:ext uri="{FF2B5EF4-FFF2-40B4-BE49-F238E27FC236}">
                <a16:creationId xmlns:a16="http://schemas.microsoft.com/office/drawing/2014/main" id="{8ED2CC64-600A-40C0-888C-BE006C73794D}"/>
              </a:ext>
            </a:extLst>
          </p:cNvPr>
          <p:cNvSpPr>
            <a:spLocks noChangeShapeType="1"/>
          </p:cNvSpPr>
          <p:nvPr/>
        </p:nvSpPr>
        <p:spPr bwMode="auto">
          <a:xfrm flipV="1">
            <a:off x="2514600" y="3886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3" name="Line 49">
            <a:extLst>
              <a:ext uri="{FF2B5EF4-FFF2-40B4-BE49-F238E27FC236}">
                <a16:creationId xmlns:a16="http://schemas.microsoft.com/office/drawing/2014/main" id="{695BA06E-867A-4908-9DCE-B23D96C92851}"/>
              </a:ext>
            </a:extLst>
          </p:cNvPr>
          <p:cNvSpPr>
            <a:spLocks noChangeShapeType="1"/>
          </p:cNvSpPr>
          <p:nvPr/>
        </p:nvSpPr>
        <p:spPr bwMode="auto">
          <a:xfrm flipV="1">
            <a:off x="2514600" y="3505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4" name="Line 50">
            <a:extLst>
              <a:ext uri="{FF2B5EF4-FFF2-40B4-BE49-F238E27FC236}">
                <a16:creationId xmlns:a16="http://schemas.microsoft.com/office/drawing/2014/main" id="{0B0D59E0-A8C0-460B-86AA-379805356697}"/>
              </a:ext>
            </a:extLst>
          </p:cNvPr>
          <p:cNvSpPr>
            <a:spLocks noChangeShapeType="1"/>
          </p:cNvSpPr>
          <p:nvPr/>
        </p:nvSpPr>
        <p:spPr bwMode="auto">
          <a:xfrm flipV="1">
            <a:off x="2514600" y="3124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5" name="Line 51">
            <a:extLst>
              <a:ext uri="{FF2B5EF4-FFF2-40B4-BE49-F238E27FC236}">
                <a16:creationId xmlns:a16="http://schemas.microsoft.com/office/drawing/2014/main" id="{33F54C91-008E-4A18-B5C6-397116515D80}"/>
              </a:ext>
            </a:extLst>
          </p:cNvPr>
          <p:cNvSpPr>
            <a:spLocks noChangeShapeType="1"/>
          </p:cNvSpPr>
          <p:nvPr/>
        </p:nvSpPr>
        <p:spPr bwMode="auto">
          <a:xfrm rot="5387834" flipV="1">
            <a:off x="4761706" y="4077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6" name="Line 52">
            <a:extLst>
              <a:ext uri="{FF2B5EF4-FFF2-40B4-BE49-F238E27FC236}">
                <a16:creationId xmlns:a16="http://schemas.microsoft.com/office/drawing/2014/main" id="{CDC45DB5-C15E-4C89-9E69-FDB383E38F1A}"/>
              </a:ext>
            </a:extLst>
          </p:cNvPr>
          <p:cNvSpPr>
            <a:spLocks noChangeShapeType="1"/>
          </p:cNvSpPr>
          <p:nvPr/>
        </p:nvSpPr>
        <p:spPr bwMode="auto">
          <a:xfrm rot="5387834" flipV="1">
            <a:off x="4761706" y="3696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7" name="Line 53">
            <a:extLst>
              <a:ext uri="{FF2B5EF4-FFF2-40B4-BE49-F238E27FC236}">
                <a16:creationId xmlns:a16="http://schemas.microsoft.com/office/drawing/2014/main" id="{7F398473-1320-419B-8A9D-83A1AE4BF497}"/>
              </a:ext>
            </a:extLst>
          </p:cNvPr>
          <p:cNvSpPr>
            <a:spLocks noChangeShapeType="1"/>
          </p:cNvSpPr>
          <p:nvPr/>
        </p:nvSpPr>
        <p:spPr bwMode="auto">
          <a:xfrm rot="5387834" flipV="1">
            <a:off x="4761706" y="3315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8" name="Line 54">
            <a:extLst>
              <a:ext uri="{FF2B5EF4-FFF2-40B4-BE49-F238E27FC236}">
                <a16:creationId xmlns:a16="http://schemas.microsoft.com/office/drawing/2014/main" id="{A8CC23C1-B165-4EF2-9FCD-6AC1C0B4C372}"/>
              </a:ext>
            </a:extLst>
          </p:cNvPr>
          <p:cNvSpPr>
            <a:spLocks noChangeShapeType="1"/>
          </p:cNvSpPr>
          <p:nvPr/>
        </p:nvSpPr>
        <p:spPr bwMode="auto">
          <a:xfrm rot="5387834" flipV="1">
            <a:off x="4761706" y="2934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09" name="Line 55">
            <a:extLst>
              <a:ext uri="{FF2B5EF4-FFF2-40B4-BE49-F238E27FC236}">
                <a16:creationId xmlns:a16="http://schemas.microsoft.com/office/drawing/2014/main" id="{80B2F1AA-BDF1-4157-A9D0-AF42C3CE6D2D}"/>
              </a:ext>
            </a:extLst>
          </p:cNvPr>
          <p:cNvSpPr>
            <a:spLocks noChangeShapeType="1"/>
          </p:cNvSpPr>
          <p:nvPr/>
        </p:nvSpPr>
        <p:spPr bwMode="auto">
          <a:xfrm rot="5387834" flipV="1">
            <a:off x="5142706" y="4077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0" name="Line 56">
            <a:extLst>
              <a:ext uri="{FF2B5EF4-FFF2-40B4-BE49-F238E27FC236}">
                <a16:creationId xmlns:a16="http://schemas.microsoft.com/office/drawing/2014/main" id="{BB173C54-02CD-4544-8013-D71E2E1E8437}"/>
              </a:ext>
            </a:extLst>
          </p:cNvPr>
          <p:cNvSpPr>
            <a:spLocks noChangeShapeType="1"/>
          </p:cNvSpPr>
          <p:nvPr/>
        </p:nvSpPr>
        <p:spPr bwMode="auto">
          <a:xfrm rot="5387834" flipV="1">
            <a:off x="5523706" y="4077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1" name="Line 57">
            <a:extLst>
              <a:ext uri="{FF2B5EF4-FFF2-40B4-BE49-F238E27FC236}">
                <a16:creationId xmlns:a16="http://schemas.microsoft.com/office/drawing/2014/main" id="{A879B8EB-B3C9-454F-8C15-183C48F0413B}"/>
              </a:ext>
            </a:extLst>
          </p:cNvPr>
          <p:cNvSpPr>
            <a:spLocks noChangeShapeType="1"/>
          </p:cNvSpPr>
          <p:nvPr/>
        </p:nvSpPr>
        <p:spPr bwMode="auto">
          <a:xfrm rot="5387834" flipV="1">
            <a:off x="5904706" y="4077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2" name="Line 58">
            <a:extLst>
              <a:ext uri="{FF2B5EF4-FFF2-40B4-BE49-F238E27FC236}">
                <a16:creationId xmlns:a16="http://schemas.microsoft.com/office/drawing/2014/main" id="{C7B569D4-7E56-4A3B-BDC5-CEA8FE776C19}"/>
              </a:ext>
            </a:extLst>
          </p:cNvPr>
          <p:cNvSpPr>
            <a:spLocks noChangeShapeType="1"/>
          </p:cNvSpPr>
          <p:nvPr/>
        </p:nvSpPr>
        <p:spPr bwMode="auto">
          <a:xfrm rot="5387834" flipV="1">
            <a:off x="5142706" y="3696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3" name="Line 59">
            <a:extLst>
              <a:ext uri="{FF2B5EF4-FFF2-40B4-BE49-F238E27FC236}">
                <a16:creationId xmlns:a16="http://schemas.microsoft.com/office/drawing/2014/main" id="{ABC380DB-E201-4C5C-9F5C-64A584BD5FF6}"/>
              </a:ext>
            </a:extLst>
          </p:cNvPr>
          <p:cNvSpPr>
            <a:spLocks noChangeShapeType="1"/>
          </p:cNvSpPr>
          <p:nvPr/>
        </p:nvSpPr>
        <p:spPr bwMode="auto">
          <a:xfrm rot="5387834" flipV="1">
            <a:off x="5523706" y="3696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4" name="Line 60">
            <a:extLst>
              <a:ext uri="{FF2B5EF4-FFF2-40B4-BE49-F238E27FC236}">
                <a16:creationId xmlns:a16="http://schemas.microsoft.com/office/drawing/2014/main" id="{AA94E587-2188-4BF2-AE93-B46BD532A0D9}"/>
              </a:ext>
            </a:extLst>
          </p:cNvPr>
          <p:cNvSpPr>
            <a:spLocks noChangeShapeType="1"/>
          </p:cNvSpPr>
          <p:nvPr/>
        </p:nvSpPr>
        <p:spPr bwMode="auto">
          <a:xfrm rot="5387834" flipV="1">
            <a:off x="5904706" y="3696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5" name="Line 61">
            <a:extLst>
              <a:ext uri="{FF2B5EF4-FFF2-40B4-BE49-F238E27FC236}">
                <a16:creationId xmlns:a16="http://schemas.microsoft.com/office/drawing/2014/main" id="{6954D63D-0FD3-4B79-A9F3-BDDD13168B65}"/>
              </a:ext>
            </a:extLst>
          </p:cNvPr>
          <p:cNvSpPr>
            <a:spLocks noChangeShapeType="1"/>
          </p:cNvSpPr>
          <p:nvPr/>
        </p:nvSpPr>
        <p:spPr bwMode="auto">
          <a:xfrm rot="5387834" flipV="1">
            <a:off x="5142706" y="3315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6" name="Line 62">
            <a:extLst>
              <a:ext uri="{FF2B5EF4-FFF2-40B4-BE49-F238E27FC236}">
                <a16:creationId xmlns:a16="http://schemas.microsoft.com/office/drawing/2014/main" id="{C9990D0C-96DA-433A-BA7B-785C411DBC4F}"/>
              </a:ext>
            </a:extLst>
          </p:cNvPr>
          <p:cNvSpPr>
            <a:spLocks noChangeShapeType="1"/>
          </p:cNvSpPr>
          <p:nvPr/>
        </p:nvSpPr>
        <p:spPr bwMode="auto">
          <a:xfrm rot="5387834" flipV="1">
            <a:off x="5523706" y="3315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7" name="Line 63">
            <a:extLst>
              <a:ext uri="{FF2B5EF4-FFF2-40B4-BE49-F238E27FC236}">
                <a16:creationId xmlns:a16="http://schemas.microsoft.com/office/drawing/2014/main" id="{BAA6B32B-AAD7-4B31-8DE4-00702179B707}"/>
              </a:ext>
            </a:extLst>
          </p:cNvPr>
          <p:cNvSpPr>
            <a:spLocks noChangeShapeType="1"/>
          </p:cNvSpPr>
          <p:nvPr/>
        </p:nvSpPr>
        <p:spPr bwMode="auto">
          <a:xfrm rot="5387834" flipV="1">
            <a:off x="5904706" y="3315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8" name="Line 64">
            <a:extLst>
              <a:ext uri="{FF2B5EF4-FFF2-40B4-BE49-F238E27FC236}">
                <a16:creationId xmlns:a16="http://schemas.microsoft.com/office/drawing/2014/main" id="{94211834-7020-4402-A4B7-687B33D97A1F}"/>
              </a:ext>
            </a:extLst>
          </p:cNvPr>
          <p:cNvSpPr>
            <a:spLocks noChangeShapeType="1"/>
          </p:cNvSpPr>
          <p:nvPr/>
        </p:nvSpPr>
        <p:spPr bwMode="auto">
          <a:xfrm rot="5387834" flipV="1">
            <a:off x="5142706" y="2934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19" name="Line 65">
            <a:extLst>
              <a:ext uri="{FF2B5EF4-FFF2-40B4-BE49-F238E27FC236}">
                <a16:creationId xmlns:a16="http://schemas.microsoft.com/office/drawing/2014/main" id="{02619077-0667-40B8-AAFC-2E6CD9D80766}"/>
              </a:ext>
            </a:extLst>
          </p:cNvPr>
          <p:cNvSpPr>
            <a:spLocks noChangeShapeType="1"/>
          </p:cNvSpPr>
          <p:nvPr/>
        </p:nvSpPr>
        <p:spPr bwMode="auto">
          <a:xfrm rot="5387834" flipV="1">
            <a:off x="5523706" y="2934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0" name="Line 66">
            <a:extLst>
              <a:ext uri="{FF2B5EF4-FFF2-40B4-BE49-F238E27FC236}">
                <a16:creationId xmlns:a16="http://schemas.microsoft.com/office/drawing/2014/main" id="{64B73F3E-2AF7-469F-AA1F-0A9CE018341D}"/>
              </a:ext>
            </a:extLst>
          </p:cNvPr>
          <p:cNvSpPr>
            <a:spLocks noChangeShapeType="1"/>
          </p:cNvSpPr>
          <p:nvPr/>
        </p:nvSpPr>
        <p:spPr bwMode="auto">
          <a:xfrm rot="5387834" flipV="1">
            <a:off x="5904706" y="2934494"/>
            <a:ext cx="1588"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1" name="Text Box 67">
            <a:extLst>
              <a:ext uri="{FF2B5EF4-FFF2-40B4-BE49-F238E27FC236}">
                <a16:creationId xmlns:a16="http://schemas.microsoft.com/office/drawing/2014/main" id="{DDA7B8AA-3099-4EAF-B467-F4C298EF8451}"/>
              </a:ext>
            </a:extLst>
          </p:cNvPr>
          <p:cNvSpPr txBox="1">
            <a:spLocks noChangeArrowheads="1"/>
          </p:cNvSpPr>
          <p:nvPr/>
        </p:nvSpPr>
        <p:spPr bwMode="auto">
          <a:xfrm>
            <a:off x="669925" y="27035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I</a:t>
            </a:r>
            <a:endParaRPr lang="en-US" altLang="en-US"/>
          </a:p>
        </p:txBody>
      </p:sp>
      <p:sp>
        <p:nvSpPr>
          <p:cNvPr id="46122" name="Text Box 68">
            <a:extLst>
              <a:ext uri="{FF2B5EF4-FFF2-40B4-BE49-F238E27FC236}">
                <a16:creationId xmlns:a16="http://schemas.microsoft.com/office/drawing/2014/main" id="{88502CD5-AB8A-474A-BBBB-C1353510FF85}"/>
              </a:ext>
            </a:extLst>
          </p:cNvPr>
          <p:cNvSpPr txBox="1">
            <a:spLocks noChangeArrowheads="1"/>
          </p:cNvSpPr>
          <p:nvPr/>
        </p:nvSpPr>
        <p:spPr bwMode="auto">
          <a:xfrm>
            <a:off x="3032125" y="46847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J</a:t>
            </a:r>
            <a:endParaRPr lang="en-US" altLang="en-US"/>
          </a:p>
        </p:txBody>
      </p:sp>
      <p:sp>
        <p:nvSpPr>
          <p:cNvPr id="46123" name="Text Box 69">
            <a:extLst>
              <a:ext uri="{FF2B5EF4-FFF2-40B4-BE49-F238E27FC236}">
                <a16:creationId xmlns:a16="http://schemas.microsoft.com/office/drawing/2014/main" id="{1626331C-5ABA-4498-81DA-E4A537FDAD1D}"/>
              </a:ext>
            </a:extLst>
          </p:cNvPr>
          <p:cNvSpPr txBox="1">
            <a:spLocks noChangeArrowheads="1"/>
          </p:cNvSpPr>
          <p:nvPr/>
        </p:nvSpPr>
        <p:spPr bwMode="auto">
          <a:xfrm>
            <a:off x="4191000" y="26670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V</a:t>
            </a:r>
            <a:endParaRPr lang="en-US" altLang="en-US"/>
          </a:p>
        </p:txBody>
      </p:sp>
      <p:sp>
        <p:nvSpPr>
          <p:cNvPr id="46124" name="Text Box 70">
            <a:extLst>
              <a:ext uri="{FF2B5EF4-FFF2-40B4-BE49-F238E27FC236}">
                <a16:creationId xmlns:a16="http://schemas.microsoft.com/office/drawing/2014/main" id="{0A1E9ED7-8D39-4A2F-995F-A88DAF19F085}"/>
              </a:ext>
            </a:extLst>
          </p:cNvPr>
          <p:cNvSpPr txBox="1">
            <a:spLocks noChangeArrowheads="1"/>
          </p:cNvSpPr>
          <p:nvPr/>
        </p:nvSpPr>
        <p:spPr bwMode="auto">
          <a:xfrm>
            <a:off x="6537325" y="46847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U</a:t>
            </a:r>
            <a:endParaRPr lang="en-US" altLang="en-US"/>
          </a:p>
        </p:txBody>
      </p:sp>
      <p:sp>
        <p:nvSpPr>
          <p:cNvPr id="46125" name="Line 71">
            <a:extLst>
              <a:ext uri="{FF2B5EF4-FFF2-40B4-BE49-F238E27FC236}">
                <a16:creationId xmlns:a16="http://schemas.microsoft.com/office/drawing/2014/main" id="{0D057FF2-3AEF-4930-BDA2-2A75AD021AE5}"/>
              </a:ext>
            </a:extLst>
          </p:cNvPr>
          <p:cNvSpPr>
            <a:spLocks noChangeShapeType="1"/>
          </p:cNvSpPr>
          <p:nvPr/>
        </p:nvSpPr>
        <p:spPr bwMode="auto">
          <a:xfrm>
            <a:off x="990600" y="4267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6" name="Line 72">
            <a:extLst>
              <a:ext uri="{FF2B5EF4-FFF2-40B4-BE49-F238E27FC236}">
                <a16:creationId xmlns:a16="http://schemas.microsoft.com/office/drawing/2014/main" id="{F09B2916-E3B4-461D-98E6-95FEA426BFF6}"/>
              </a:ext>
            </a:extLst>
          </p:cNvPr>
          <p:cNvSpPr>
            <a:spLocks noChangeShapeType="1"/>
          </p:cNvSpPr>
          <p:nvPr/>
        </p:nvSpPr>
        <p:spPr bwMode="auto">
          <a:xfrm>
            <a:off x="990600" y="3886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7" name="Line 73">
            <a:extLst>
              <a:ext uri="{FF2B5EF4-FFF2-40B4-BE49-F238E27FC236}">
                <a16:creationId xmlns:a16="http://schemas.microsoft.com/office/drawing/2014/main" id="{43A27C90-CAA3-4ABC-86D0-377D2C2C9F49}"/>
              </a:ext>
            </a:extLst>
          </p:cNvPr>
          <p:cNvSpPr>
            <a:spLocks noChangeShapeType="1"/>
          </p:cNvSpPr>
          <p:nvPr/>
        </p:nvSpPr>
        <p:spPr bwMode="auto">
          <a:xfrm>
            <a:off x="990600" y="3505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8" name="Line 74">
            <a:extLst>
              <a:ext uri="{FF2B5EF4-FFF2-40B4-BE49-F238E27FC236}">
                <a16:creationId xmlns:a16="http://schemas.microsoft.com/office/drawing/2014/main" id="{02A91D11-5A36-45D3-9B20-D27D71A06C46}"/>
              </a:ext>
            </a:extLst>
          </p:cNvPr>
          <p:cNvSpPr>
            <a:spLocks noChangeShapeType="1"/>
          </p:cNvSpPr>
          <p:nvPr/>
        </p:nvSpPr>
        <p:spPr bwMode="auto">
          <a:xfrm>
            <a:off x="990600" y="3124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29" name="Line 75">
            <a:extLst>
              <a:ext uri="{FF2B5EF4-FFF2-40B4-BE49-F238E27FC236}">
                <a16:creationId xmlns:a16="http://schemas.microsoft.com/office/drawing/2014/main" id="{4DBBFAC5-C939-40B5-A528-FD0267160C1F}"/>
              </a:ext>
            </a:extLst>
          </p:cNvPr>
          <p:cNvSpPr>
            <a:spLocks noChangeShapeType="1"/>
          </p:cNvSpPr>
          <p:nvPr/>
        </p:nvSpPr>
        <p:spPr bwMode="auto">
          <a:xfrm rot="5382812">
            <a:off x="4001294" y="3694906"/>
            <a:ext cx="1905000" cy="15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0" name="Line 76">
            <a:extLst>
              <a:ext uri="{FF2B5EF4-FFF2-40B4-BE49-F238E27FC236}">
                <a16:creationId xmlns:a16="http://schemas.microsoft.com/office/drawing/2014/main" id="{260292B5-C919-46E7-8162-C50A16DDD210}"/>
              </a:ext>
            </a:extLst>
          </p:cNvPr>
          <p:cNvSpPr>
            <a:spLocks noChangeShapeType="1"/>
          </p:cNvSpPr>
          <p:nvPr/>
        </p:nvSpPr>
        <p:spPr bwMode="auto">
          <a:xfrm rot="5382812">
            <a:off x="4380707" y="3694906"/>
            <a:ext cx="1905000"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1" name="Line 77">
            <a:extLst>
              <a:ext uri="{FF2B5EF4-FFF2-40B4-BE49-F238E27FC236}">
                <a16:creationId xmlns:a16="http://schemas.microsoft.com/office/drawing/2014/main" id="{FF30CD21-76A7-4188-BA38-78B8653DA4F2}"/>
              </a:ext>
            </a:extLst>
          </p:cNvPr>
          <p:cNvSpPr>
            <a:spLocks noChangeShapeType="1"/>
          </p:cNvSpPr>
          <p:nvPr/>
        </p:nvSpPr>
        <p:spPr bwMode="auto">
          <a:xfrm rot="5382812">
            <a:off x="4760119" y="3694906"/>
            <a:ext cx="1905000" cy="15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2" name="Line 78">
            <a:extLst>
              <a:ext uri="{FF2B5EF4-FFF2-40B4-BE49-F238E27FC236}">
                <a16:creationId xmlns:a16="http://schemas.microsoft.com/office/drawing/2014/main" id="{D623A03D-1168-4198-827B-4DAEACFC1AEC}"/>
              </a:ext>
            </a:extLst>
          </p:cNvPr>
          <p:cNvSpPr>
            <a:spLocks noChangeShapeType="1"/>
          </p:cNvSpPr>
          <p:nvPr/>
        </p:nvSpPr>
        <p:spPr bwMode="auto">
          <a:xfrm rot="5382812">
            <a:off x="5139532" y="3694906"/>
            <a:ext cx="1905000"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36943" name="Text Box 79">
            <a:extLst>
              <a:ext uri="{FF2B5EF4-FFF2-40B4-BE49-F238E27FC236}">
                <a16:creationId xmlns:a16="http://schemas.microsoft.com/office/drawing/2014/main" id="{5D100A6B-0644-48B9-BE43-3AA31A068D63}"/>
              </a:ext>
            </a:extLst>
          </p:cNvPr>
          <p:cNvSpPr txBox="1">
            <a:spLocks noChangeArrowheads="1"/>
          </p:cNvSpPr>
          <p:nvPr/>
        </p:nvSpPr>
        <p:spPr bwMode="auto">
          <a:xfrm>
            <a:off x="746125" y="5137150"/>
            <a:ext cx="2098675" cy="366713"/>
          </a:xfrm>
          <a:prstGeom prst="rect">
            <a:avLst/>
          </a:prstGeom>
          <a:noFill/>
          <a:ln>
            <a:noFill/>
          </a:ln>
          <a:effectLst/>
        </p:spPr>
        <p:txBody>
          <a:bodyPr wrap="none" anchor="b">
            <a:spAutoFit/>
          </a:bodyPr>
          <a:lstStyle/>
          <a:p>
            <a:pPr>
              <a:defRPr/>
            </a:pPr>
            <a:r>
              <a:rPr lang="hr-HR" altLang="en-US">
                <a:solidFill>
                  <a:schemeClr val="accent1"/>
                </a:solidFill>
                <a:effectLst>
                  <a:outerShdw blurRad="38100" dist="38100" dir="2700000" algn="tl">
                    <a:srgbClr val="C0C0C0"/>
                  </a:outerShdw>
                </a:effectLst>
                <a:latin typeface="Tahoma" panose="020B0604030504040204" pitchFamily="34" charset="0"/>
              </a:rPr>
              <a:t>Pre transformacije</a:t>
            </a:r>
            <a:r>
              <a:rPr lang="hr-HR" altLang="en-US">
                <a:latin typeface="Tahoma" panose="020B0604030504040204" pitchFamily="34" charset="0"/>
              </a:rPr>
              <a:t> </a:t>
            </a:r>
            <a:endParaRPr lang="en-US" altLang="en-US">
              <a:latin typeface="Tahoma" panose="020B0604030504040204" pitchFamily="34" charset="0"/>
            </a:endParaRPr>
          </a:p>
        </p:txBody>
      </p:sp>
      <p:sp>
        <p:nvSpPr>
          <p:cNvPr id="36944" name="Text Box 80">
            <a:extLst>
              <a:ext uri="{FF2B5EF4-FFF2-40B4-BE49-F238E27FC236}">
                <a16:creationId xmlns:a16="http://schemas.microsoft.com/office/drawing/2014/main" id="{22302A1A-737F-4CC7-80E2-5744683D4A2A}"/>
              </a:ext>
            </a:extLst>
          </p:cNvPr>
          <p:cNvSpPr txBox="1">
            <a:spLocks noChangeArrowheads="1"/>
          </p:cNvSpPr>
          <p:nvPr/>
        </p:nvSpPr>
        <p:spPr bwMode="auto">
          <a:xfrm>
            <a:off x="4683125" y="5181600"/>
            <a:ext cx="2293938" cy="366713"/>
          </a:xfrm>
          <a:prstGeom prst="rect">
            <a:avLst/>
          </a:prstGeom>
          <a:noFill/>
          <a:ln>
            <a:noFill/>
          </a:ln>
          <a:effectLst/>
        </p:spPr>
        <p:txBody>
          <a:bodyPr wrap="none" anchor="b">
            <a:spAutoFit/>
          </a:bodyPr>
          <a:lstStyle/>
          <a:p>
            <a:pPr>
              <a:defRPr/>
            </a:pPr>
            <a:r>
              <a:rPr lang="hr-HR" altLang="en-US">
                <a:solidFill>
                  <a:schemeClr val="accent1"/>
                </a:solidFill>
                <a:effectLst>
                  <a:outerShdw blurRad="38100" dist="38100" dir="2700000" algn="tl">
                    <a:srgbClr val="C0C0C0"/>
                  </a:outerShdw>
                </a:effectLst>
                <a:latin typeface="Tahoma" panose="020B0604030504040204" pitchFamily="34" charset="0"/>
              </a:rPr>
              <a:t>Posle transformacije</a:t>
            </a:r>
            <a:r>
              <a:rPr lang="hr-HR" altLang="en-US">
                <a:latin typeface="Tahoma" panose="020B0604030504040204" pitchFamily="34" charset="0"/>
              </a:rPr>
              <a:t> </a:t>
            </a:r>
            <a:endParaRPr lang="en-US" altLang="en-US">
              <a:latin typeface="Tahoma" panose="020B0604030504040204" pitchFamily="34" charset="0"/>
            </a:endParaRPr>
          </a:p>
        </p:txBody>
      </p:sp>
      <p:sp>
        <p:nvSpPr>
          <p:cNvPr id="46135" name="Line 81">
            <a:extLst>
              <a:ext uri="{FF2B5EF4-FFF2-40B4-BE49-F238E27FC236}">
                <a16:creationId xmlns:a16="http://schemas.microsoft.com/office/drawing/2014/main" id="{BB79EDED-1F70-4F7B-BE9A-27B120345012}"/>
              </a:ext>
            </a:extLst>
          </p:cNvPr>
          <p:cNvSpPr>
            <a:spLocks noChangeShapeType="1"/>
          </p:cNvSpPr>
          <p:nvPr/>
        </p:nvSpPr>
        <p:spPr bwMode="auto">
          <a:xfrm flipH="1" flipV="1">
            <a:off x="1371600" y="3886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6" name="Line 82">
            <a:extLst>
              <a:ext uri="{FF2B5EF4-FFF2-40B4-BE49-F238E27FC236}">
                <a16:creationId xmlns:a16="http://schemas.microsoft.com/office/drawing/2014/main" id="{463C0BC3-ADA5-48E1-A9E0-E731DB233CD6}"/>
              </a:ext>
            </a:extLst>
          </p:cNvPr>
          <p:cNvSpPr>
            <a:spLocks noChangeShapeType="1"/>
          </p:cNvSpPr>
          <p:nvPr/>
        </p:nvSpPr>
        <p:spPr bwMode="auto">
          <a:xfrm flipH="1" flipV="1">
            <a:off x="1333500" y="3505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7" name="Line 83">
            <a:extLst>
              <a:ext uri="{FF2B5EF4-FFF2-40B4-BE49-F238E27FC236}">
                <a16:creationId xmlns:a16="http://schemas.microsoft.com/office/drawing/2014/main" id="{B5329257-804E-4F04-BEF1-FF94BFDE7B6B}"/>
              </a:ext>
            </a:extLst>
          </p:cNvPr>
          <p:cNvSpPr>
            <a:spLocks noChangeShapeType="1"/>
          </p:cNvSpPr>
          <p:nvPr/>
        </p:nvSpPr>
        <p:spPr bwMode="auto">
          <a:xfrm flipH="1" flipV="1">
            <a:off x="1314450" y="3124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8" name="Line 85">
            <a:extLst>
              <a:ext uri="{FF2B5EF4-FFF2-40B4-BE49-F238E27FC236}">
                <a16:creationId xmlns:a16="http://schemas.microsoft.com/office/drawing/2014/main" id="{9A27DC55-B7CD-4DC2-AA9F-B246EADC946D}"/>
              </a:ext>
            </a:extLst>
          </p:cNvPr>
          <p:cNvSpPr>
            <a:spLocks noChangeShapeType="1"/>
          </p:cNvSpPr>
          <p:nvPr/>
        </p:nvSpPr>
        <p:spPr bwMode="auto">
          <a:xfrm>
            <a:off x="4953000" y="3124200"/>
            <a:ext cx="3810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39" name="Line 86">
            <a:extLst>
              <a:ext uri="{FF2B5EF4-FFF2-40B4-BE49-F238E27FC236}">
                <a16:creationId xmlns:a16="http://schemas.microsoft.com/office/drawing/2014/main" id="{AA701097-2023-41EA-8E0E-030F79E51B63}"/>
              </a:ext>
            </a:extLst>
          </p:cNvPr>
          <p:cNvSpPr>
            <a:spLocks noChangeShapeType="1"/>
          </p:cNvSpPr>
          <p:nvPr/>
        </p:nvSpPr>
        <p:spPr bwMode="auto">
          <a:xfrm>
            <a:off x="5334000" y="3124200"/>
            <a:ext cx="3810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6140" name="Line 87">
            <a:extLst>
              <a:ext uri="{FF2B5EF4-FFF2-40B4-BE49-F238E27FC236}">
                <a16:creationId xmlns:a16="http://schemas.microsoft.com/office/drawing/2014/main" id="{359E80A8-8074-4EEF-8A4E-1CE6B9C28F1A}"/>
              </a:ext>
            </a:extLst>
          </p:cNvPr>
          <p:cNvSpPr>
            <a:spLocks noChangeShapeType="1"/>
          </p:cNvSpPr>
          <p:nvPr/>
        </p:nvSpPr>
        <p:spPr bwMode="auto">
          <a:xfrm>
            <a:off x="5715000" y="3124200"/>
            <a:ext cx="3810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FDF1A-D9D9-0D37-698F-2C9A78E140AE}"/>
              </a:ext>
            </a:extLst>
          </p:cNvPr>
          <p:cNvSpPr>
            <a:spLocks noGrp="1"/>
          </p:cNvSpPr>
          <p:nvPr>
            <p:ph type="title"/>
          </p:nvPr>
        </p:nvSpPr>
        <p:spPr/>
        <p:txBody>
          <a:bodyPr/>
          <a:lstStyle/>
          <a:p>
            <a:r>
              <a:rPr lang="en-US" dirty="0"/>
              <a:t>Da li je </a:t>
            </a:r>
            <a:r>
              <a:rPr lang="en-US" dirty="0" err="1"/>
              <a:t>legalno</a:t>
            </a:r>
            <a:r>
              <a:rPr lang="en-US" dirty="0"/>
              <a:t> </a:t>
            </a:r>
            <a:r>
              <a:rPr lang="sr-Latn-RS" dirty="0"/>
              <a:t>izvšiti permutaciju?</a:t>
            </a:r>
          </a:p>
        </p:txBody>
      </p:sp>
      <p:pic>
        <p:nvPicPr>
          <p:cNvPr id="4" name="Picture 3">
            <a:extLst>
              <a:ext uri="{FF2B5EF4-FFF2-40B4-BE49-F238E27FC236}">
                <a16:creationId xmlns:a16="http://schemas.microsoft.com/office/drawing/2014/main" id="{EAAFBCB3-8DEA-9DD4-E37D-F8BD4641EE6D}"/>
              </a:ext>
            </a:extLst>
          </p:cNvPr>
          <p:cNvPicPr>
            <a:picLocks noChangeAspect="1"/>
          </p:cNvPicPr>
          <p:nvPr/>
        </p:nvPicPr>
        <p:blipFill>
          <a:blip r:embed="rId3"/>
          <a:stretch>
            <a:fillRect/>
          </a:stretch>
        </p:blipFill>
        <p:spPr>
          <a:xfrm>
            <a:off x="0" y="609600"/>
            <a:ext cx="7820900" cy="6248400"/>
          </a:xfrm>
          <a:prstGeom prst="rect">
            <a:avLst/>
          </a:prstGeom>
        </p:spPr>
      </p:pic>
    </p:spTree>
    <p:extLst>
      <p:ext uri="{BB962C8B-B14F-4D97-AF65-F5344CB8AC3E}">
        <p14:creationId xmlns:p14="http://schemas.microsoft.com/office/powerpoint/2010/main" val="770245438"/>
      </p:ext>
    </p:extLst>
  </p:cSld>
  <p:clrMapOvr>
    <a:masterClrMapping/>
  </p:clrMapOvr>
  <p:transition>
    <p:pull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7BC096D-3A8A-4B9F-8423-86F6AE1F2547}"/>
              </a:ext>
            </a:extLst>
          </p:cNvPr>
          <p:cNvSpPr>
            <a:spLocks noGrp="1" noChangeArrowheads="1"/>
          </p:cNvSpPr>
          <p:nvPr>
            <p:ph type="title"/>
          </p:nvPr>
        </p:nvSpPr>
        <p:spPr/>
        <p:txBody>
          <a:bodyPr/>
          <a:lstStyle/>
          <a:p>
            <a:pPr>
              <a:defRPr/>
            </a:pPr>
            <a:r>
              <a:rPr lang="hr-HR" altLang="en-US"/>
              <a:t>Transformacija obrtanje</a:t>
            </a:r>
            <a:endParaRPr lang="en-US" altLang="en-US"/>
          </a:p>
        </p:txBody>
      </p:sp>
      <p:sp>
        <p:nvSpPr>
          <p:cNvPr id="39939" name="Rectangle 3">
            <a:extLst>
              <a:ext uri="{FF2B5EF4-FFF2-40B4-BE49-F238E27FC236}">
                <a16:creationId xmlns:a16="http://schemas.microsoft.com/office/drawing/2014/main" id="{41A4C087-74A2-47CC-8D0D-1C06C829FD25}"/>
              </a:ext>
            </a:extLst>
          </p:cNvPr>
          <p:cNvSpPr>
            <a:spLocks noGrp="1" noChangeArrowheads="1"/>
          </p:cNvSpPr>
          <p:nvPr>
            <p:ph type="body" idx="1"/>
          </p:nvPr>
        </p:nvSpPr>
        <p:spPr/>
        <p:txBody>
          <a:bodyPr/>
          <a:lstStyle/>
          <a:p>
            <a:pPr>
              <a:defRPr/>
            </a:pPr>
            <a:r>
              <a:rPr kumimoji="0" lang="hr-HR" altLang="en-US" sz="2000" dirty="0">
                <a:solidFill>
                  <a:schemeClr val="hlink"/>
                </a:solidFill>
              </a:rPr>
              <a:t>Omogućava</a:t>
            </a:r>
            <a:r>
              <a:rPr kumimoji="0" lang="hr-HR" altLang="en-US" sz="2000" dirty="0">
                <a:solidFill>
                  <a:schemeClr val="hlink"/>
                </a:solidFill>
                <a:latin typeface="Arial" panose="020B0604020202020204" pitchFamily="34" charset="0"/>
              </a:rPr>
              <a:t> promenu redosleda izračunavanja po odredjenoj indeksnoj promenljivoj</a:t>
            </a:r>
          </a:p>
          <a:p>
            <a:pPr>
              <a:defRPr/>
            </a:pPr>
            <a:r>
              <a:rPr kumimoji="0" lang="hr-HR" altLang="en-US" sz="2000" dirty="0">
                <a:solidFill>
                  <a:schemeClr val="hlink"/>
                </a:solidFill>
              </a:rPr>
              <a:t>T</a:t>
            </a:r>
            <a:r>
              <a:rPr kumimoji="0" lang="en-US" altLang="en-US" sz="2000" dirty="0" err="1">
                <a:solidFill>
                  <a:schemeClr val="hlink"/>
                </a:solidFill>
                <a:cs typeface="Times New Roman" panose="02020603050405020304" pitchFamily="18" charset="0"/>
              </a:rPr>
              <a:t>ransformacij</a:t>
            </a:r>
            <a:r>
              <a:rPr kumimoji="0" lang="hr-HR" altLang="en-US" sz="2000" dirty="0">
                <a:solidFill>
                  <a:schemeClr val="hlink"/>
                </a:solidFill>
              </a:rPr>
              <a:t>a</a:t>
            </a:r>
            <a:r>
              <a:rPr kumimoji="0" lang="en-US" altLang="en-US" sz="2000" dirty="0">
                <a:solidFill>
                  <a:schemeClr val="hlink"/>
                </a:solidFill>
                <a:cs typeface="Times New Roman" panose="02020603050405020304" pitchFamily="18" charset="0"/>
              </a:rPr>
              <a:t> se </a:t>
            </a:r>
            <a:r>
              <a:rPr kumimoji="0" lang="en-US" altLang="en-US" sz="2000" dirty="0" err="1">
                <a:solidFill>
                  <a:schemeClr val="hlink"/>
                </a:solidFill>
                <a:cs typeface="Times New Roman" panose="02020603050405020304" pitchFamily="18" charset="0"/>
              </a:rPr>
              <a:t>opisuje</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jedini</a:t>
            </a:r>
            <a:r>
              <a:rPr kumimoji="0" lang="hr-HR" altLang="en-US" sz="2000" dirty="0">
                <a:solidFill>
                  <a:schemeClr val="hlink"/>
                </a:solidFill>
              </a:rPr>
              <a:t>č</a:t>
            </a:r>
            <a:r>
              <a:rPr kumimoji="0" lang="en-US" altLang="en-US" sz="2000" dirty="0">
                <a:solidFill>
                  <a:schemeClr val="hlink"/>
                </a:solidFill>
                <a:cs typeface="Times New Roman" panose="02020603050405020304" pitchFamily="18" charset="0"/>
              </a:rPr>
              <a:t>nom </a:t>
            </a:r>
            <a:r>
              <a:rPr kumimoji="0" lang="en-US" altLang="en-US" sz="2000" dirty="0" err="1">
                <a:solidFill>
                  <a:schemeClr val="hlink"/>
                </a:solidFill>
                <a:cs typeface="Times New Roman" panose="02020603050405020304" pitchFamily="18" charset="0"/>
              </a:rPr>
              <a:t>matricom</a:t>
            </a:r>
            <a:r>
              <a:rPr kumimoji="0" lang="en-US" altLang="en-US" sz="2000" dirty="0">
                <a:solidFill>
                  <a:schemeClr val="hlink"/>
                </a:solidFill>
                <a:cs typeface="Times New Roman" panose="02020603050405020304" pitchFamily="18" charset="0"/>
              </a:rPr>
              <a:t> u </a:t>
            </a:r>
            <a:r>
              <a:rPr kumimoji="0" lang="en-US" altLang="en-US" sz="2000" dirty="0" err="1">
                <a:solidFill>
                  <a:schemeClr val="hlink"/>
                </a:solidFill>
                <a:cs typeface="Times New Roman" panose="02020603050405020304" pitchFamily="18" charset="0"/>
              </a:rPr>
              <a:t>kojoj</a:t>
            </a:r>
            <a:r>
              <a:rPr kumimoji="0" lang="en-US" altLang="en-US" sz="2000" dirty="0">
                <a:solidFill>
                  <a:schemeClr val="hlink"/>
                </a:solidFill>
                <a:cs typeface="Times New Roman" panose="02020603050405020304" pitchFamily="18" charset="0"/>
              </a:rPr>
              <a:t> je u i-</a:t>
            </a:r>
            <a:r>
              <a:rPr kumimoji="0" lang="en-US" altLang="en-US" sz="2000" dirty="0" err="1">
                <a:solidFill>
                  <a:schemeClr val="hlink"/>
                </a:solidFill>
                <a:cs typeface="Times New Roman" panose="02020603050405020304" pitchFamily="18" charset="0"/>
              </a:rPr>
              <a:t>toj</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vrsti</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dijagonalni</a:t>
            </a:r>
            <a:r>
              <a:rPr kumimoji="0" lang="en-US" altLang="en-US" sz="2000" dirty="0">
                <a:solidFill>
                  <a:schemeClr val="hlink"/>
                </a:solidFill>
                <a:cs typeface="Times New Roman" panose="02020603050405020304" pitchFamily="18" charset="0"/>
              </a:rPr>
              <a:t> element </a:t>
            </a:r>
            <a:r>
              <a:rPr kumimoji="0" lang="en-US" altLang="en-US" sz="2000" dirty="0" err="1">
                <a:solidFill>
                  <a:schemeClr val="hlink"/>
                </a:solidFill>
                <a:cs typeface="Times New Roman" panose="02020603050405020304" pitchFamily="18" charset="0"/>
              </a:rPr>
              <a:t>jednak</a:t>
            </a:r>
            <a:r>
              <a:rPr kumimoji="0" lang="en-US" altLang="en-US" sz="2000" dirty="0">
                <a:solidFill>
                  <a:schemeClr val="hlink"/>
                </a:solidFill>
                <a:cs typeface="Times New Roman" panose="02020603050405020304" pitchFamily="18" charset="0"/>
              </a:rPr>
              <a:t> –1</a:t>
            </a:r>
            <a:r>
              <a:rPr kumimoji="0" lang="en-US" altLang="en-US" sz="1800" dirty="0">
                <a:solidFill>
                  <a:schemeClr val="hlink"/>
                </a:solidFill>
                <a:latin typeface="Times Roman YU" pitchFamily="18" charset="0"/>
                <a:cs typeface="Times New Roman" panose="02020603050405020304" pitchFamily="18" charset="0"/>
              </a:rPr>
              <a:t>.</a:t>
            </a:r>
            <a:endParaRPr kumimoji="0" lang="hr-HR" altLang="en-US" sz="1800" dirty="0">
              <a:solidFill>
                <a:schemeClr val="hlink"/>
              </a:solidFill>
              <a:latin typeface="Times New Roman" panose="02020603050405020304" pitchFamily="18" charset="0"/>
            </a:endParaRPr>
          </a:p>
          <a:p>
            <a:pPr>
              <a:defRPr/>
            </a:pPr>
            <a:endParaRPr kumimoji="0" lang="hr-HR" altLang="en-US" sz="1800" dirty="0">
              <a:solidFill>
                <a:schemeClr val="hlink"/>
              </a:solidFill>
              <a:latin typeface="Times New Roman" panose="02020603050405020304" pitchFamily="18" charset="0"/>
            </a:endParaRPr>
          </a:p>
          <a:p>
            <a:pPr>
              <a:defRPr/>
            </a:pPr>
            <a:r>
              <a:rPr kumimoji="0" lang="en-US" altLang="en-US" sz="2000" dirty="0">
                <a:effectLst/>
                <a:cs typeface="Times New Roman" panose="02020603050405020304" pitchFamily="18" charset="0"/>
              </a:rPr>
              <a:t>PRIMER:</a:t>
            </a:r>
            <a:r>
              <a:rPr kumimoji="0" lang="en-US" altLang="en-US" sz="1800" dirty="0">
                <a:solidFill>
                  <a:schemeClr val="tx1"/>
                </a:solidFill>
                <a:effectLst/>
                <a:latin typeface="Times Roman YU" pitchFamily="18" charset="0"/>
                <a:cs typeface="Times New Roman" panose="02020603050405020304" pitchFamily="18" charset="0"/>
              </a:rPr>
              <a:t> </a:t>
            </a:r>
            <a:r>
              <a:rPr kumimoji="0" lang="en-US" altLang="en-US" sz="1800" dirty="0" err="1">
                <a:solidFill>
                  <a:schemeClr val="tx1"/>
                </a:solidFill>
                <a:effectLst/>
                <a:cs typeface="Times New Roman" panose="02020603050405020304" pitchFamily="18" charset="0"/>
              </a:rPr>
              <a:t>Posmatrajmo</a:t>
            </a:r>
            <a:r>
              <a:rPr kumimoji="0" lang="en-US" altLang="en-US" sz="1800" dirty="0">
                <a:solidFill>
                  <a:schemeClr val="tx1"/>
                </a:solidFill>
                <a:effectLst/>
                <a:cs typeface="Times New Roman" panose="02020603050405020304" pitchFamily="18" charset="0"/>
              </a:rPr>
              <a:t> </a:t>
            </a:r>
            <a:r>
              <a:rPr kumimoji="0" lang="en-US" altLang="en-US" sz="1800" dirty="0" err="1">
                <a:solidFill>
                  <a:schemeClr val="tx1"/>
                </a:solidFill>
                <a:effectLst/>
                <a:cs typeface="Times New Roman" panose="02020603050405020304" pitchFamily="18" charset="0"/>
              </a:rPr>
              <a:t>ovakvo</a:t>
            </a:r>
            <a:r>
              <a:rPr kumimoji="0" lang="en-US" altLang="en-US" sz="1800" dirty="0">
                <a:solidFill>
                  <a:schemeClr val="tx1"/>
                </a:solidFill>
                <a:effectLst/>
                <a:cs typeface="Times New Roman" panose="02020603050405020304" pitchFamily="18" charset="0"/>
              </a:rPr>
              <a:t> </a:t>
            </a:r>
            <a:r>
              <a:rPr kumimoji="0" lang="en-US" altLang="en-US" sz="1800" dirty="0" err="1">
                <a:solidFill>
                  <a:schemeClr val="tx1"/>
                </a:solidFill>
                <a:effectLst/>
                <a:cs typeface="Times New Roman" panose="02020603050405020304" pitchFamily="18" charset="0"/>
              </a:rPr>
              <a:t>gnezdo</a:t>
            </a:r>
            <a:r>
              <a:rPr kumimoji="0" lang="en-US" altLang="en-US" sz="1800" dirty="0">
                <a:solidFill>
                  <a:schemeClr val="tx1"/>
                </a:solidFill>
                <a:effectLst/>
                <a:cs typeface="Times New Roman" panose="02020603050405020304" pitchFamily="18" charset="0"/>
              </a:rPr>
              <a:t> </a:t>
            </a:r>
            <a:r>
              <a:rPr kumimoji="0" lang="en-US" altLang="en-US" sz="1800" dirty="0" err="1">
                <a:solidFill>
                  <a:schemeClr val="tx1"/>
                </a:solidFill>
                <a:effectLst/>
                <a:cs typeface="Times New Roman" panose="02020603050405020304" pitchFamily="18" charset="0"/>
              </a:rPr>
              <a:t>petlji</a:t>
            </a:r>
            <a:r>
              <a:rPr kumimoji="0" lang="en-US" altLang="en-US" sz="1800" dirty="0">
                <a:solidFill>
                  <a:schemeClr val="tx1"/>
                </a:solidFill>
                <a:effectLst/>
                <a:cs typeface="Times New Roman" panose="02020603050405020304" pitchFamily="18" charset="0"/>
              </a:rPr>
              <a:t>:</a:t>
            </a:r>
            <a:endParaRPr kumimoji="0" lang="hr-HR" altLang="en-US" sz="1800" dirty="0">
              <a:solidFill>
                <a:schemeClr val="tx1"/>
              </a:solidFill>
              <a:effectLst/>
            </a:endParaRPr>
          </a:p>
          <a:p>
            <a:pPr>
              <a:defRPr/>
            </a:pPr>
            <a:endParaRPr kumimoji="0" lang="hr-HR" altLang="en-US" sz="1800" dirty="0">
              <a:solidFill>
                <a:schemeClr val="tx1"/>
              </a:solidFill>
              <a:effectLst/>
            </a:endParaRPr>
          </a:p>
          <a:p>
            <a:pPr>
              <a:spcBef>
                <a:spcPct val="0"/>
              </a:spcBef>
              <a:buClrTx/>
              <a:buSzTx/>
              <a:buFontTx/>
              <a:buNone/>
              <a:defRPr/>
            </a:pPr>
            <a:r>
              <a:rPr kumimoji="0" lang="hr-HR" altLang="en-US" sz="2000" dirty="0">
                <a:solidFill>
                  <a:schemeClr val="tx1"/>
                </a:solidFill>
                <a:effectLst/>
              </a:rPr>
              <a:t>			</a:t>
            </a:r>
            <a:r>
              <a:rPr kumimoji="0" lang="sr-Latn-CS" altLang="en-US" sz="2000" dirty="0">
                <a:cs typeface="Times New Roman" panose="02020603050405020304" pitchFamily="18" charset="0"/>
              </a:rPr>
              <a:t>for</a:t>
            </a:r>
            <a:r>
              <a:rPr kumimoji="0" lang="en-US" altLang="en-US" sz="2000" dirty="0">
                <a:cs typeface="Times New Roman" panose="02020603050405020304" pitchFamily="18" charset="0"/>
              </a:rPr>
              <a:t> i = 1, n			</a:t>
            </a:r>
          </a:p>
          <a:p>
            <a:pPr>
              <a:spcBef>
                <a:spcPct val="0"/>
              </a:spcBef>
              <a:buClrTx/>
              <a:buSzTx/>
              <a:buFontTx/>
              <a:buNone/>
              <a:defRPr/>
            </a:pPr>
            <a:r>
              <a:rPr kumimoji="0" lang="en-US" altLang="en-US" sz="2000" dirty="0">
                <a:cs typeface="Times New Roman" panose="02020603050405020304" pitchFamily="18" charset="0"/>
              </a:rPr>
              <a:t>		</a:t>
            </a:r>
            <a:r>
              <a:rPr kumimoji="0" lang="hr-HR" altLang="en-US" sz="2000" dirty="0"/>
              <a:t>	</a:t>
            </a:r>
            <a:r>
              <a:rPr kumimoji="0" lang="sr-Latn-CS" altLang="en-US" sz="2000" dirty="0">
                <a:cs typeface="Times New Roman" panose="02020603050405020304" pitchFamily="18" charset="0"/>
              </a:rPr>
              <a:t>for</a:t>
            </a:r>
            <a:r>
              <a:rPr kumimoji="0" lang="en-US" altLang="en-US" sz="2000" dirty="0">
                <a:cs typeface="Times New Roman" panose="02020603050405020304" pitchFamily="18" charset="0"/>
              </a:rPr>
              <a:t> j = 1, n					</a:t>
            </a:r>
          </a:p>
          <a:p>
            <a:pPr>
              <a:spcBef>
                <a:spcPct val="0"/>
              </a:spcBef>
              <a:buClrTx/>
              <a:buSzTx/>
              <a:buFontTx/>
              <a:buNone/>
              <a:defRPr/>
            </a:pPr>
            <a:r>
              <a:rPr kumimoji="0" lang="en-US" altLang="en-US" sz="2000" dirty="0">
                <a:cs typeface="Times New Roman" panose="02020603050405020304" pitchFamily="18" charset="0"/>
              </a:rPr>
              <a:t>		</a:t>
            </a:r>
            <a:r>
              <a:rPr kumimoji="0" lang="hr-HR" altLang="en-US" sz="2000" dirty="0"/>
              <a:t>	</a:t>
            </a:r>
            <a:r>
              <a:rPr kumimoji="0" lang="en-US" altLang="en-US" sz="2000" dirty="0"/>
              <a:t>  </a:t>
            </a:r>
            <a:r>
              <a:rPr kumimoji="0" lang="en-US" altLang="en-US" sz="2000" dirty="0">
                <a:cs typeface="Times New Roman" panose="02020603050405020304" pitchFamily="18" charset="0"/>
              </a:rPr>
              <a:t>A(i, j) = A(i-1, j</a:t>
            </a:r>
            <a:r>
              <a:rPr kumimoji="0" lang="sr-Latn-RS" altLang="en-US" sz="2000" dirty="0">
                <a:cs typeface="Times New Roman" panose="02020603050405020304" pitchFamily="18" charset="0"/>
              </a:rPr>
              <a:t>-2</a:t>
            </a:r>
            <a:r>
              <a:rPr kumimoji="0" lang="en-US" altLang="en-US" sz="2000" dirty="0">
                <a:cs typeface="Times New Roman" panose="02020603050405020304" pitchFamily="18" charset="0"/>
              </a:rPr>
              <a:t>)*k</a:t>
            </a:r>
            <a:endParaRPr kumimoji="0" lang="hr-HR" altLang="en-US" sz="2000" dirty="0"/>
          </a:p>
          <a:p>
            <a:pPr>
              <a:spcBef>
                <a:spcPct val="0"/>
              </a:spcBef>
              <a:buClrTx/>
              <a:buSzTx/>
              <a:buFontTx/>
              <a:buNone/>
              <a:defRPr/>
            </a:pPr>
            <a:r>
              <a:rPr kumimoji="0" lang="hr-HR" altLang="en-US" sz="2000" dirty="0"/>
              <a:t>		</a:t>
            </a:r>
            <a:r>
              <a:rPr kumimoji="0" lang="en-US" altLang="en-US" sz="2000" dirty="0"/>
              <a:t>            </a:t>
            </a:r>
            <a:r>
              <a:rPr kumimoji="0" lang="hr-HR" altLang="en-US" sz="2000" dirty="0"/>
              <a:t>endfor</a:t>
            </a:r>
            <a:r>
              <a:rPr kumimoji="0" lang="en-US" altLang="en-US" sz="2000" dirty="0"/>
              <a:t>{</a:t>
            </a:r>
            <a:r>
              <a:rPr kumimoji="0" lang="hr-HR" altLang="en-US" sz="2000" dirty="0"/>
              <a:t>i,j</a:t>
            </a:r>
            <a:r>
              <a:rPr kumimoji="0" lang="en-US" altLang="en-US" sz="2000" dirty="0"/>
              <a:t>}</a:t>
            </a:r>
            <a:endParaRPr kumimoji="0" lang="hr-HR" altLang="en-US" sz="2000" dirty="0"/>
          </a:p>
          <a:p>
            <a:pPr>
              <a:spcBef>
                <a:spcPct val="0"/>
              </a:spcBef>
              <a:buClrTx/>
              <a:buSzTx/>
              <a:buFontTx/>
              <a:buChar char="•"/>
              <a:defRPr/>
            </a:pPr>
            <a:endParaRPr kumimoji="0" lang="hr-HR" altLang="en-US" sz="1800" dirty="0">
              <a:solidFill>
                <a:schemeClr val="hlink"/>
              </a:solidFill>
            </a:endParaRPr>
          </a:p>
          <a:p>
            <a:pPr>
              <a:spcBef>
                <a:spcPct val="0"/>
              </a:spcBef>
              <a:buClrTx/>
              <a:buSzTx/>
              <a:buFontTx/>
              <a:buChar char="•"/>
              <a:defRPr/>
            </a:pPr>
            <a:r>
              <a:rPr kumimoji="0" lang="hr-HR" altLang="en-US" sz="2000" dirty="0">
                <a:solidFill>
                  <a:schemeClr val="hlink"/>
                </a:solidFill>
              </a:rPr>
              <a:t>Ž</a:t>
            </a:r>
            <a:r>
              <a:rPr kumimoji="0" lang="en-US" altLang="en-US" sz="2000" dirty="0" err="1">
                <a:solidFill>
                  <a:schemeClr val="hlink"/>
                </a:solidFill>
                <a:cs typeface="Times New Roman" panose="02020603050405020304" pitchFamily="18" charset="0"/>
              </a:rPr>
              <a:t>elimo</a:t>
            </a:r>
            <a:r>
              <a:rPr kumimoji="0" lang="en-US" altLang="en-US" sz="2000" dirty="0">
                <a:solidFill>
                  <a:schemeClr val="hlink"/>
                </a:solidFill>
                <a:cs typeface="Times New Roman" panose="02020603050405020304" pitchFamily="18" charset="0"/>
              </a:rPr>
              <a:t> da </a:t>
            </a:r>
            <a:r>
              <a:rPr kumimoji="0" lang="en-US" altLang="en-US" sz="2000" dirty="0" err="1">
                <a:solidFill>
                  <a:schemeClr val="hlink"/>
                </a:solidFill>
                <a:cs typeface="Times New Roman" panose="02020603050405020304" pitchFamily="18" charset="0"/>
              </a:rPr>
              <a:t>primenimo</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transformaciju</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obrtanja</a:t>
            </a:r>
            <a:r>
              <a:rPr kumimoji="0" lang="en-US" altLang="en-US" sz="2000" dirty="0">
                <a:solidFill>
                  <a:schemeClr val="hlink"/>
                </a:solidFill>
                <a:cs typeface="Times New Roman" panose="02020603050405020304" pitchFamily="18" charset="0"/>
              </a:rPr>
              <a:t> po </a:t>
            </a:r>
            <a:r>
              <a:rPr kumimoji="0" lang="en-US" altLang="en-US" sz="2000" dirty="0" err="1">
                <a:solidFill>
                  <a:schemeClr val="hlink"/>
                </a:solidFill>
                <a:cs typeface="Times New Roman" panose="02020603050405020304" pitchFamily="18" charset="0"/>
              </a:rPr>
              <a:t>indeksnoj</a:t>
            </a:r>
            <a:r>
              <a:rPr kumimoji="0" lang="en-US" altLang="en-US" sz="2000" dirty="0">
                <a:solidFill>
                  <a:schemeClr val="hlink"/>
                </a:solidFill>
                <a:cs typeface="Times New Roman" panose="02020603050405020304" pitchFamily="18" charset="0"/>
              </a:rPr>
              <a:t> </a:t>
            </a:r>
            <a:r>
              <a:rPr kumimoji="0" lang="en-US" altLang="en-US" sz="2000" dirty="0" err="1">
                <a:solidFill>
                  <a:schemeClr val="hlink"/>
                </a:solidFill>
                <a:cs typeface="Times New Roman" panose="02020603050405020304" pitchFamily="18" charset="0"/>
              </a:rPr>
              <a:t>promenljivoj</a:t>
            </a:r>
            <a:r>
              <a:rPr kumimoji="0" lang="en-US" altLang="en-US" sz="2000" dirty="0">
                <a:solidFill>
                  <a:schemeClr val="hlink"/>
                </a:solidFill>
                <a:cs typeface="Times New Roman" panose="02020603050405020304" pitchFamily="18" charset="0"/>
              </a:rPr>
              <a:t> </a:t>
            </a:r>
            <a:r>
              <a:rPr kumimoji="0" lang="en-US" altLang="en-US" sz="2000" i="1" dirty="0">
                <a:cs typeface="Times New Roman" panose="02020603050405020304" pitchFamily="18" charset="0"/>
              </a:rPr>
              <a:t>j</a:t>
            </a:r>
            <a:r>
              <a:rPr kumimoji="0" lang="en-US" altLang="en-US" sz="2000" dirty="0">
                <a:solidFill>
                  <a:schemeClr val="hlink"/>
                </a:solidFill>
                <a:cs typeface="Times New Roman" panose="02020603050405020304" pitchFamily="18" charset="0"/>
              </a:rPr>
              <a:t>.</a:t>
            </a:r>
            <a:endParaRPr kumimoji="0" lang="hr-HR" altLang="en-US" sz="2000" dirty="0">
              <a:solidFill>
                <a:schemeClr val="hlink"/>
              </a:solidFill>
            </a:endParaRPr>
          </a:p>
          <a:p>
            <a:pPr>
              <a:spcBef>
                <a:spcPct val="0"/>
              </a:spcBef>
              <a:buClrTx/>
              <a:buSzTx/>
              <a:buFontTx/>
              <a:buChar char="•"/>
              <a:defRPr/>
            </a:pPr>
            <a:r>
              <a:rPr kumimoji="0" lang="en-US" altLang="en-US" sz="1800" dirty="0">
                <a:solidFill>
                  <a:schemeClr val="hlink"/>
                </a:solidFill>
                <a:cs typeface="Times New Roman" panose="02020603050405020304" pitchFamily="18" charset="0"/>
              </a:rPr>
              <a:t> </a:t>
            </a:r>
            <a:r>
              <a:rPr kumimoji="0" lang="hr-HR" altLang="en-US" sz="1800" dirty="0">
                <a:solidFill>
                  <a:schemeClr val="hlink"/>
                </a:solidFill>
              </a:rPr>
              <a:t>Matrica transformacije je oblika</a:t>
            </a:r>
          </a:p>
          <a:p>
            <a:pPr>
              <a:defRPr/>
            </a:pPr>
            <a:endParaRPr kumimoji="0" lang="en-US" altLang="en-US" sz="1800" dirty="0">
              <a:solidFill>
                <a:schemeClr val="hlink"/>
              </a:solidFill>
            </a:endParaRPr>
          </a:p>
        </p:txBody>
      </p:sp>
      <p:sp>
        <p:nvSpPr>
          <p:cNvPr id="11269" name="Rectangle 5">
            <a:extLst>
              <a:ext uri="{FF2B5EF4-FFF2-40B4-BE49-F238E27FC236}">
                <a16:creationId xmlns:a16="http://schemas.microsoft.com/office/drawing/2014/main" id="{6C58D43A-79D9-48E7-BB32-FA28F74B3C4F}"/>
              </a:ext>
            </a:extLst>
          </p:cNvPr>
          <p:cNvSpPr>
            <a:spLocks noChangeArrowheads="1"/>
          </p:cNvSpPr>
          <p:nvPr/>
        </p:nvSpPr>
        <p:spPr bwMode="auto">
          <a:xfrm>
            <a:off x="371951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1266" name="Object 4">
            <a:extLst>
              <a:ext uri="{FF2B5EF4-FFF2-40B4-BE49-F238E27FC236}">
                <a16:creationId xmlns:a16="http://schemas.microsoft.com/office/drawing/2014/main" id="{3EE95A0B-D4B1-433F-9927-3DD5938A9BFC}"/>
              </a:ext>
            </a:extLst>
          </p:cNvPr>
          <p:cNvGraphicFramePr>
            <a:graphicFrameLocks noChangeAspect="1"/>
          </p:cNvGraphicFramePr>
          <p:nvPr/>
        </p:nvGraphicFramePr>
        <p:xfrm>
          <a:off x="3200400" y="5489575"/>
          <a:ext cx="1524000" cy="873125"/>
        </p:xfrm>
        <a:graphic>
          <a:graphicData uri="http://schemas.openxmlformats.org/presentationml/2006/ole">
            <mc:AlternateContent xmlns:mc="http://schemas.openxmlformats.org/markup-compatibility/2006">
              <mc:Choice xmlns:v="urn:schemas-microsoft-com:vml" Requires="v">
                <p:oleObj name="Equation" r:id="rId2" imgW="685800" imgH="393700" progId="Equation.3">
                  <p:embed/>
                </p:oleObj>
              </mc:Choice>
              <mc:Fallback>
                <p:oleObj name="Equation" r:id="rId2" imgW="685800" imgH="393700" progId="Equation.3">
                  <p:embed/>
                  <p:pic>
                    <p:nvPicPr>
                      <p:cNvPr id="11266" name="Object 4">
                        <a:extLst>
                          <a:ext uri="{FF2B5EF4-FFF2-40B4-BE49-F238E27FC236}">
                            <a16:creationId xmlns:a16="http://schemas.microsoft.com/office/drawing/2014/main" id="{3EE95A0B-D4B1-433F-9927-3DD5938A9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5489575"/>
                        <a:ext cx="1524000" cy="873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3AAEAEE-69BA-49BA-8490-23FB3B7EE90F}"/>
              </a:ext>
            </a:extLst>
          </p:cNvPr>
          <p:cNvSpPr>
            <a:spLocks noGrp="1" noChangeArrowheads="1"/>
          </p:cNvSpPr>
          <p:nvPr>
            <p:ph type="title"/>
          </p:nvPr>
        </p:nvSpPr>
        <p:spPr/>
        <p:txBody>
          <a:bodyPr/>
          <a:lstStyle/>
          <a:p>
            <a:pPr>
              <a:defRPr/>
            </a:pPr>
            <a:r>
              <a:rPr lang="hr-HR" altLang="en-US"/>
              <a:t>Obrtanje – primer (nast.)</a:t>
            </a:r>
            <a:endParaRPr lang="en-US" altLang="en-US"/>
          </a:p>
        </p:txBody>
      </p:sp>
      <p:sp>
        <p:nvSpPr>
          <p:cNvPr id="12292" name="Text Box 3">
            <a:extLst>
              <a:ext uri="{FF2B5EF4-FFF2-40B4-BE49-F238E27FC236}">
                <a16:creationId xmlns:a16="http://schemas.microsoft.com/office/drawing/2014/main" id="{7C28730F-FA85-42C2-AD2B-A504988F480B}"/>
              </a:ext>
            </a:extLst>
          </p:cNvPr>
          <p:cNvSpPr txBox="1">
            <a:spLocks noChangeArrowheads="1"/>
          </p:cNvSpPr>
          <p:nvPr/>
        </p:nvSpPr>
        <p:spPr bwMode="auto">
          <a:xfrm>
            <a:off x="250825" y="3519488"/>
            <a:ext cx="797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altLang="en-US"/>
          </a:p>
        </p:txBody>
      </p:sp>
      <p:sp>
        <p:nvSpPr>
          <p:cNvPr id="40964" name="Text Box 4">
            <a:extLst>
              <a:ext uri="{FF2B5EF4-FFF2-40B4-BE49-F238E27FC236}">
                <a16:creationId xmlns:a16="http://schemas.microsoft.com/office/drawing/2014/main" id="{43699CC3-7D2E-4BE3-A9AD-C56EC47B9A0F}"/>
              </a:ext>
            </a:extLst>
          </p:cNvPr>
          <p:cNvSpPr txBox="1">
            <a:spLocks noChangeArrowheads="1"/>
          </p:cNvSpPr>
          <p:nvPr/>
        </p:nvSpPr>
        <p:spPr bwMode="auto">
          <a:xfrm>
            <a:off x="457200" y="1219200"/>
            <a:ext cx="7216775" cy="396875"/>
          </a:xfrm>
          <a:prstGeom prst="rect">
            <a:avLst/>
          </a:prstGeom>
          <a:noFill/>
          <a:ln>
            <a:noFill/>
          </a:ln>
          <a:effectLst/>
        </p:spPr>
        <p:txBody>
          <a:bodyPr anchor="b">
            <a:spAutoFit/>
          </a:bodyPr>
          <a:lstStyle/>
          <a:p>
            <a:pPr>
              <a:spcBef>
                <a:spcPct val="50000"/>
              </a:spcBef>
              <a:buFontTx/>
              <a:buChar char="•"/>
              <a:defRPr/>
            </a:pPr>
            <a:r>
              <a:rPr lang="hr-HR" altLang="en-US" sz="2000">
                <a:latin typeface="Tahoma" panose="020B0604030504040204" pitchFamily="34" charset="0"/>
              </a:rPr>
              <a:t> </a:t>
            </a:r>
            <a:r>
              <a:rPr lang="en-US" altLang="en-US" sz="20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Novi indeksni skup dobijamo na slede</a:t>
            </a:r>
            <a:r>
              <a:rPr lang="hr-HR" altLang="en-US" sz="2000">
                <a:solidFill>
                  <a:schemeClr val="hlink"/>
                </a:solidFill>
                <a:effectLst>
                  <a:outerShdw blurRad="38100" dist="38100" dir="2700000" algn="tl">
                    <a:srgbClr val="C0C0C0"/>
                  </a:outerShdw>
                </a:effectLst>
                <a:latin typeface="Tahoma" panose="020B0604030504040204" pitchFamily="34" charset="0"/>
              </a:rPr>
              <a:t>ć</a:t>
            </a:r>
            <a:r>
              <a:rPr lang="en-US" altLang="en-US" sz="20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 na</a:t>
            </a:r>
            <a:r>
              <a:rPr lang="hr-HR" altLang="en-US" sz="2000">
                <a:solidFill>
                  <a:schemeClr val="hlink"/>
                </a:solidFill>
                <a:effectLst>
                  <a:outerShdw blurRad="38100" dist="38100" dir="2700000" algn="tl">
                    <a:srgbClr val="C0C0C0"/>
                  </a:outerShdw>
                </a:effectLst>
                <a:latin typeface="Tahoma" panose="020B0604030504040204" pitchFamily="34" charset="0"/>
              </a:rPr>
              <a:t>č</a:t>
            </a:r>
            <a:r>
              <a:rPr lang="en-US" altLang="en-US" sz="20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in</a:t>
            </a:r>
            <a:endParaRPr lang="en-US" altLang="en-US" sz="2000">
              <a:solidFill>
                <a:schemeClr val="hlink"/>
              </a:solidFill>
              <a:effectLst>
                <a:outerShdw blurRad="38100" dist="38100" dir="2700000" algn="tl">
                  <a:srgbClr val="C0C0C0"/>
                </a:outerShdw>
              </a:effectLst>
              <a:latin typeface="Tahoma" panose="020B0604030504040204" pitchFamily="34" charset="0"/>
            </a:endParaRPr>
          </a:p>
        </p:txBody>
      </p:sp>
      <p:sp>
        <p:nvSpPr>
          <p:cNvPr id="12294" name="Rectangle 6">
            <a:extLst>
              <a:ext uri="{FF2B5EF4-FFF2-40B4-BE49-F238E27FC236}">
                <a16:creationId xmlns:a16="http://schemas.microsoft.com/office/drawing/2014/main" id="{C6E571CA-CB84-41DD-97FB-06ADF370D435}"/>
              </a:ext>
            </a:extLst>
          </p:cNvPr>
          <p:cNvSpPr>
            <a:spLocks noChangeArrowheads="1"/>
          </p:cNvSpPr>
          <p:nvPr/>
        </p:nvSpPr>
        <p:spPr bwMode="auto">
          <a:xfrm>
            <a:off x="371951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2290" name="Object 5">
            <a:extLst>
              <a:ext uri="{FF2B5EF4-FFF2-40B4-BE49-F238E27FC236}">
                <a16:creationId xmlns:a16="http://schemas.microsoft.com/office/drawing/2014/main" id="{F42E257F-B907-4684-8C27-CB71B25B96F4}"/>
              </a:ext>
            </a:extLst>
          </p:cNvPr>
          <p:cNvGraphicFramePr>
            <a:graphicFrameLocks noChangeAspect="1"/>
          </p:cNvGraphicFramePr>
          <p:nvPr/>
        </p:nvGraphicFramePr>
        <p:xfrm>
          <a:off x="1981200" y="1905000"/>
          <a:ext cx="3824288" cy="1025525"/>
        </p:xfrm>
        <a:graphic>
          <a:graphicData uri="http://schemas.openxmlformats.org/presentationml/2006/ole">
            <mc:AlternateContent xmlns:mc="http://schemas.openxmlformats.org/markup-compatibility/2006">
              <mc:Choice xmlns:v="urn:schemas-microsoft-com:vml" Requires="v">
                <p:oleObj r:id="rId2" imgW="1701800" imgH="457200" progId="Equation.3">
                  <p:embed/>
                </p:oleObj>
              </mc:Choice>
              <mc:Fallback>
                <p:oleObj r:id="rId2" imgW="1701800" imgH="457200" progId="Equation.3">
                  <p:embed/>
                  <p:pic>
                    <p:nvPicPr>
                      <p:cNvPr id="12290" name="Object 5">
                        <a:extLst>
                          <a:ext uri="{FF2B5EF4-FFF2-40B4-BE49-F238E27FC236}">
                            <a16:creationId xmlns:a16="http://schemas.microsoft.com/office/drawing/2014/main" id="{F42E257F-B907-4684-8C27-CB71B25B96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05000"/>
                        <a:ext cx="3824288" cy="10255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7" name="Text Box 7">
            <a:extLst>
              <a:ext uri="{FF2B5EF4-FFF2-40B4-BE49-F238E27FC236}">
                <a16:creationId xmlns:a16="http://schemas.microsoft.com/office/drawing/2014/main" id="{348D6E93-047A-4DF7-9CAE-267AD28CD4D7}"/>
              </a:ext>
            </a:extLst>
          </p:cNvPr>
          <p:cNvSpPr txBox="1">
            <a:spLocks noChangeArrowheads="1"/>
          </p:cNvSpPr>
          <p:nvPr/>
        </p:nvSpPr>
        <p:spPr bwMode="auto">
          <a:xfrm>
            <a:off x="381000" y="3124200"/>
            <a:ext cx="7543800" cy="3292475"/>
          </a:xfrm>
          <a:prstGeom prst="rect">
            <a:avLst/>
          </a:prstGeom>
          <a:noFill/>
          <a:ln>
            <a:noFill/>
          </a:ln>
          <a:effectLst/>
        </p:spPr>
        <p:txBody>
          <a:bodyPr anchor="b">
            <a:spAutoFit/>
          </a:bodyPr>
          <a:lstStyle/>
          <a:p>
            <a:pPr>
              <a:spcBef>
                <a:spcPct val="50000"/>
              </a:spcBef>
              <a:buFontTx/>
              <a:buChar char="•"/>
              <a:defRPr/>
            </a:pPr>
            <a:r>
              <a:rPr lang="hr-HR" altLang="en-US" sz="2000" dirty="0">
                <a:latin typeface="Tahoma" panose="020B0604030504040204" pitchFamily="34" charset="0"/>
              </a:rPr>
              <a:t> </a:t>
            </a:r>
            <a:r>
              <a:rPr lang="hr-HR" altLang="en-US" sz="2000" dirty="0">
                <a:solidFill>
                  <a:schemeClr val="hlink"/>
                </a:solidFill>
                <a:effectLst>
                  <a:outerShdw blurRad="38100" dist="38100" dir="2700000" algn="tl">
                    <a:srgbClr val="C0C0C0"/>
                  </a:outerShdw>
                </a:effectLst>
                <a:latin typeface="Tahoma" panose="020B0604030504040204" pitchFamily="34" charset="0"/>
              </a:rPr>
              <a:t>Š</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to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zna</a:t>
            </a:r>
            <a:r>
              <a:rPr lang="hr-HR" altLang="en-US" sz="2000" dirty="0">
                <a:solidFill>
                  <a:schemeClr val="hlink"/>
                </a:solidFill>
                <a:effectLst>
                  <a:outerShdw blurRad="38100" dist="38100" dir="2700000" algn="tl">
                    <a:srgbClr val="C0C0C0"/>
                  </a:outerShdw>
                </a:effectLst>
                <a:latin typeface="Tahoma" panose="020B0604030504040204" pitchFamily="34" charset="0"/>
              </a:rPr>
              <a:t>č</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 da je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u</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i</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v</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j</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granice</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indeksa</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u</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v</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hr-HR" altLang="en-US" sz="2000" dirty="0">
                <a:solidFill>
                  <a:schemeClr val="hlink"/>
                </a:solidFill>
                <a:effectLst>
                  <a:outerShdw blurRad="38100" dist="38100" dir="2700000" algn="tl">
                    <a:srgbClr val="C0C0C0"/>
                  </a:outerShdw>
                </a:effectLst>
                <a:latin typeface="Tahoma" panose="020B0604030504040204" pitchFamily="34"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su</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u</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=1, n</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i </a:t>
            </a:r>
            <a:r>
              <a:rPr lang="en-US" altLang="en-US" sz="2000" i="1"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v</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=-n, -1</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endParaRPr lang="hr-HR" altLang="en-US" sz="2000" dirty="0">
              <a:solidFill>
                <a:schemeClr val="hlink"/>
              </a:solidFill>
              <a:effectLst>
                <a:outerShdw blurRad="38100" dist="38100" dir="2700000" algn="tl">
                  <a:srgbClr val="C0C0C0"/>
                </a:outerShdw>
              </a:effectLst>
              <a:latin typeface="Tahoma" panose="020B0604030504040204" pitchFamily="34" charset="0"/>
            </a:endParaRPr>
          </a:p>
          <a:p>
            <a:pPr>
              <a:spcBef>
                <a:spcPct val="50000"/>
              </a:spcBef>
              <a:buFontTx/>
              <a:buChar char="•"/>
              <a:defRPr/>
            </a:pPr>
            <a:r>
              <a:rPr lang="hr-HR" altLang="en-US" sz="2000" dirty="0">
                <a:solidFill>
                  <a:schemeClr val="hlink"/>
                </a:solidFill>
                <a:effectLst>
                  <a:outerShdw blurRad="38100" dist="38100" dir="2700000" algn="tl">
                    <a:srgbClr val="C0C0C0"/>
                  </a:outerShdw>
                </a:effectLst>
                <a:latin typeface="Tahoma" panose="020B0604030504040204" pitchFamily="34"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Transformisana</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petlja</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ima</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slede</a:t>
            </a:r>
            <a:r>
              <a:rPr lang="hr-HR" altLang="en-US" sz="2000" dirty="0">
                <a:solidFill>
                  <a:schemeClr val="hlink"/>
                </a:solidFill>
                <a:effectLst>
                  <a:outerShdw blurRad="38100" dist="38100" dir="2700000" algn="tl">
                    <a:srgbClr val="C0C0C0"/>
                  </a:outerShdw>
                </a:effectLst>
                <a:latin typeface="Tahoma" panose="020B0604030504040204" pitchFamily="34" charset="0"/>
              </a:rPr>
              <a:t>ć</a:t>
            </a:r>
            <a:r>
              <a:rPr lang="en-US" altLang="en-US" sz="2000" dirty="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 </a:t>
            </a:r>
            <a:r>
              <a:rPr lang="en-US" altLang="en-US" sz="2000" dirty="0" err="1">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izgled</a:t>
            </a:r>
            <a:r>
              <a:rPr lang="en-US" altLang="en-US" sz="2000" dirty="0">
                <a:solidFill>
                  <a:schemeClr val="hlink"/>
                </a:solidFill>
                <a:effectLst>
                  <a:outerShdw blurRad="38100" dist="38100" dir="2700000" algn="tl">
                    <a:srgbClr val="C0C0C0"/>
                  </a:outerShdw>
                </a:effectLst>
                <a:latin typeface="Tahoma" panose="020B0604030504040204" pitchFamily="34" charset="0"/>
              </a:rPr>
              <a:t> </a:t>
            </a:r>
            <a:endParaRPr lang="hr-HR" altLang="en-US" sz="2000" dirty="0">
              <a:solidFill>
                <a:schemeClr val="hlink"/>
              </a:solidFill>
              <a:effectLst>
                <a:outerShdw blurRad="38100" dist="38100" dir="2700000" algn="tl">
                  <a:srgbClr val="C0C0C0"/>
                </a:outerShdw>
              </a:effectLst>
              <a:latin typeface="Tahoma" panose="020B0604030504040204" pitchFamily="34" charset="0"/>
            </a:endParaRPr>
          </a:p>
          <a:p>
            <a:pPr algn="just">
              <a:defRPr/>
            </a:pPr>
            <a:r>
              <a:rPr lang="hr-HR" altLang="en-US" sz="2000" dirty="0">
                <a:solidFill>
                  <a:schemeClr val="hlink"/>
                </a:solidFill>
                <a:effectLst>
                  <a:outerShdw blurRad="38100" dist="38100" dir="2700000" algn="tl">
                    <a:srgbClr val="C0C0C0"/>
                  </a:outerShdw>
                </a:effectLst>
                <a:latin typeface="Tahoma" panose="020B0604030504040204" pitchFamily="34" charset="0"/>
              </a:rPr>
              <a:t>		</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for u = 1, n</a:t>
            </a:r>
          </a:p>
          <a:p>
            <a:pPr algn="just">
              <a:defRPr/>
            </a:pP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		for v = - n, -1</a:t>
            </a:r>
          </a:p>
          <a:p>
            <a:pPr algn="just">
              <a:defRPr/>
            </a:pP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		A(u, -v) = A(u-1, -v</a:t>
            </a:r>
            <a:r>
              <a:rPr lang="sr-Latn-R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-2</a:t>
            </a:r>
            <a:r>
              <a:rPr lang="en-US" altLang="en-US" sz="2000" dirty="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)*k</a:t>
            </a:r>
            <a:endParaRPr lang="hr-HR" altLang="en-US" sz="2000" dirty="0">
              <a:solidFill>
                <a:schemeClr val="accent1"/>
              </a:solidFill>
              <a:effectLst>
                <a:outerShdw blurRad="38100" dist="38100" dir="2700000" algn="tl">
                  <a:srgbClr val="C0C0C0"/>
                </a:outerShdw>
              </a:effectLst>
              <a:latin typeface="Tahoma" panose="020B0604030504040204" pitchFamily="34" charset="0"/>
            </a:endParaRPr>
          </a:p>
          <a:p>
            <a:pPr algn="just">
              <a:defRPr/>
            </a:pPr>
            <a:r>
              <a:rPr lang="hr-HR" altLang="en-US" sz="2000" dirty="0">
                <a:solidFill>
                  <a:schemeClr val="accent1"/>
                </a:solidFill>
                <a:effectLst>
                  <a:outerShdw blurRad="38100" dist="38100" dir="2700000" algn="tl">
                    <a:srgbClr val="C0C0C0"/>
                  </a:outerShdw>
                </a:effectLst>
                <a:latin typeface="Tahoma" panose="020B0604030504040204" pitchFamily="34" charset="0"/>
              </a:rPr>
              <a:t>	 	</a:t>
            </a:r>
            <a:r>
              <a:rPr lang="en-US" altLang="en-US" sz="2000" dirty="0" err="1">
                <a:solidFill>
                  <a:schemeClr val="accent1"/>
                </a:solidFill>
                <a:effectLst>
                  <a:outerShdw blurRad="38100" dist="38100" dir="2700000" algn="tl">
                    <a:srgbClr val="C0C0C0"/>
                  </a:outerShdw>
                </a:effectLst>
                <a:latin typeface="Tahoma" panose="020B0604030504040204" pitchFamily="34" charset="0"/>
              </a:rPr>
              <a:t>endfor</a:t>
            </a:r>
            <a:r>
              <a:rPr lang="en-US" altLang="en-US" sz="2000" dirty="0">
                <a:solidFill>
                  <a:schemeClr val="accent1"/>
                </a:solidFill>
                <a:effectLst>
                  <a:outerShdw blurRad="38100" dist="38100" dir="2700000" algn="tl">
                    <a:srgbClr val="C0C0C0"/>
                  </a:outerShdw>
                </a:effectLst>
                <a:latin typeface="Tahoma" panose="020B0604030504040204" pitchFamily="34" charset="0"/>
              </a:rPr>
              <a:t>{</a:t>
            </a:r>
            <a:r>
              <a:rPr lang="en-US" altLang="en-US" sz="2000" dirty="0" err="1">
                <a:solidFill>
                  <a:schemeClr val="accent1"/>
                </a:solidFill>
                <a:effectLst>
                  <a:outerShdw blurRad="38100" dist="38100" dir="2700000" algn="tl">
                    <a:srgbClr val="C0C0C0"/>
                  </a:outerShdw>
                </a:effectLst>
                <a:latin typeface="Tahoma" panose="020B0604030504040204" pitchFamily="34" charset="0"/>
              </a:rPr>
              <a:t>u,v</a:t>
            </a:r>
            <a:r>
              <a:rPr lang="en-US" altLang="en-US" sz="2000" dirty="0">
                <a:solidFill>
                  <a:schemeClr val="accent1"/>
                </a:solidFill>
                <a:effectLst>
                  <a:outerShdw blurRad="38100" dist="38100" dir="2700000" algn="tl">
                    <a:srgbClr val="C0C0C0"/>
                  </a:outerShdw>
                </a:effectLst>
                <a:latin typeface="Tahoma" panose="020B0604030504040204" pitchFamily="34" charset="0"/>
              </a:rPr>
              <a:t>}</a:t>
            </a:r>
            <a:endParaRPr lang="hr-HR" altLang="en-US" sz="2000" dirty="0">
              <a:solidFill>
                <a:schemeClr val="accent1"/>
              </a:solidFill>
              <a:effectLst>
                <a:outerShdw blurRad="38100" dist="38100" dir="2700000" algn="tl">
                  <a:srgbClr val="C0C0C0"/>
                </a:outerShdw>
              </a:effectLst>
              <a:latin typeface="Tahoma" panose="020B0604030504040204" pitchFamily="34" charset="0"/>
            </a:endParaRPr>
          </a:p>
          <a:p>
            <a:pPr algn="just">
              <a:buFontTx/>
              <a:buChar char="•"/>
              <a:defRPr/>
            </a:pPr>
            <a:r>
              <a:rPr lang="hr-HR" altLang="en-US" sz="2000" dirty="0">
                <a:solidFill>
                  <a:schemeClr val="accent1"/>
                </a:solidFill>
                <a:effectLst>
                  <a:outerShdw blurRad="38100" dist="38100" dir="2700000" algn="tl">
                    <a:srgbClr val="C0C0C0"/>
                  </a:outerShdw>
                </a:effectLst>
                <a:latin typeface="Tahoma" panose="020B0604030504040204" pitchFamily="34" charset="0"/>
              </a:rPr>
              <a:t> </a:t>
            </a:r>
            <a:r>
              <a:rPr lang="hr-HR" altLang="en-US" sz="2000" dirty="0">
                <a:solidFill>
                  <a:schemeClr val="hlink"/>
                </a:solidFill>
                <a:effectLst>
                  <a:outerShdw blurRad="38100" dist="38100" dir="2700000" algn="tl">
                    <a:srgbClr val="C0C0C0"/>
                  </a:outerShdw>
                </a:effectLst>
                <a:latin typeface="Tahoma" panose="020B0604030504040204" pitchFamily="34" charset="0"/>
              </a:rPr>
              <a:t>Transformacijom je izmenjen redosled izračunavanja po indeksnoj promenljivoj </a:t>
            </a:r>
            <a:r>
              <a:rPr lang="hr-HR" altLang="en-US" sz="2000" i="1" dirty="0">
                <a:solidFill>
                  <a:schemeClr val="accent1"/>
                </a:solidFill>
                <a:effectLst>
                  <a:outerShdw blurRad="38100" dist="38100" dir="2700000" algn="tl">
                    <a:srgbClr val="C0C0C0"/>
                  </a:outerShdw>
                </a:effectLst>
                <a:latin typeface="Tahoma" panose="020B0604030504040204" pitchFamily="34" charset="0"/>
              </a:rPr>
              <a:t>j</a:t>
            </a:r>
            <a:endParaRPr lang="en-US" altLang="en-US" sz="2000" i="1" dirty="0">
              <a:solidFill>
                <a:schemeClr val="accent1"/>
              </a:solidFill>
              <a:effectLst>
                <a:outerShdw blurRad="38100" dist="38100" dir="2700000" algn="tl">
                  <a:srgbClr val="C0C0C0"/>
                </a:outerShdw>
              </a:effectLst>
              <a:latin typeface="Tahoma" panose="020B0604030504040204" pitchFamily="34" charset="0"/>
            </a:endParaRPr>
          </a:p>
          <a:p>
            <a:pPr>
              <a:defRPr/>
            </a:pPr>
            <a:endParaRPr lang="en-US" altLang="en-US" sz="2000" dirty="0">
              <a:solidFill>
                <a:schemeClr val="hlink"/>
              </a:solidFill>
              <a:effectLst>
                <a:outerShdw blurRad="38100" dist="38100" dir="2700000" algn="tl">
                  <a:srgbClr val="C0C0C0"/>
                </a:outerShdw>
              </a:effectLst>
              <a:latin typeface="Tahoma" panose="020B0604030504040204" pitchFamily="34" charset="0"/>
            </a:endParaRPr>
          </a:p>
        </p:txBody>
      </p:sp>
    </p:spTree>
  </p:cSld>
  <p:clrMapOvr>
    <a:masterClrMapping/>
  </p:clrMapOvr>
  <p:transition>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020B6B-A94E-4F54-98AE-3367EEBB64D8}"/>
              </a:ext>
            </a:extLst>
          </p:cNvPr>
          <p:cNvSpPr>
            <a:spLocks noGrp="1" noChangeArrowheads="1"/>
          </p:cNvSpPr>
          <p:nvPr>
            <p:ph type="title"/>
          </p:nvPr>
        </p:nvSpPr>
        <p:spPr/>
        <p:txBody>
          <a:bodyPr/>
          <a:lstStyle/>
          <a:p>
            <a:pPr>
              <a:defRPr/>
            </a:pPr>
            <a:r>
              <a:rPr lang="hr-HR" altLang="en-US"/>
              <a:t>Obrtanje – primer </a:t>
            </a:r>
            <a:endParaRPr lang="en-US" altLang="en-US"/>
          </a:p>
        </p:txBody>
      </p:sp>
      <p:sp>
        <p:nvSpPr>
          <p:cNvPr id="47107" name="Line 3">
            <a:extLst>
              <a:ext uri="{FF2B5EF4-FFF2-40B4-BE49-F238E27FC236}">
                <a16:creationId xmlns:a16="http://schemas.microsoft.com/office/drawing/2014/main" id="{49A739F6-7692-4D09-BD55-29AB65F31475}"/>
              </a:ext>
            </a:extLst>
          </p:cNvPr>
          <p:cNvSpPr>
            <a:spLocks noChangeShapeType="1"/>
          </p:cNvSpPr>
          <p:nvPr/>
        </p:nvSpPr>
        <p:spPr bwMode="auto">
          <a:xfrm>
            <a:off x="990600" y="1277938"/>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08" name="Line 4">
            <a:extLst>
              <a:ext uri="{FF2B5EF4-FFF2-40B4-BE49-F238E27FC236}">
                <a16:creationId xmlns:a16="http://schemas.microsoft.com/office/drawing/2014/main" id="{66A20530-2C52-4670-82B7-858BEAB781DD}"/>
              </a:ext>
            </a:extLst>
          </p:cNvPr>
          <p:cNvSpPr>
            <a:spLocks noChangeShapeType="1"/>
          </p:cNvSpPr>
          <p:nvPr/>
        </p:nvSpPr>
        <p:spPr bwMode="auto">
          <a:xfrm>
            <a:off x="990600" y="3106738"/>
            <a:ext cx="2362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09" name="Line 5">
            <a:extLst>
              <a:ext uri="{FF2B5EF4-FFF2-40B4-BE49-F238E27FC236}">
                <a16:creationId xmlns:a16="http://schemas.microsoft.com/office/drawing/2014/main" id="{A489C0CA-7206-4B47-B63D-354D037D29A1}"/>
              </a:ext>
            </a:extLst>
          </p:cNvPr>
          <p:cNvSpPr>
            <a:spLocks noChangeShapeType="1"/>
          </p:cNvSpPr>
          <p:nvPr/>
        </p:nvSpPr>
        <p:spPr bwMode="auto">
          <a:xfrm flipV="1">
            <a:off x="1371600" y="2725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0" name="Line 6">
            <a:extLst>
              <a:ext uri="{FF2B5EF4-FFF2-40B4-BE49-F238E27FC236}">
                <a16:creationId xmlns:a16="http://schemas.microsoft.com/office/drawing/2014/main" id="{F5CC2954-CF0E-4FD4-8EDD-9D997F96A8ED}"/>
              </a:ext>
            </a:extLst>
          </p:cNvPr>
          <p:cNvSpPr>
            <a:spLocks noChangeShapeType="1"/>
          </p:cNvSpPr>
          <p:nvPr/>
        </p:nvSpPr>
        <p:spPr bwMode="auto">
          <a:xfrm flipV="1">
            <a:off x="1752600" y="2725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1" name="Line 7">
            <a:extLst>
              <a:ext uri="{FF2B5EF4-FFF2-40B4-BE49-F238E27FC236}">
                <a16:creationId xmlns:a16="http://schemas.microsoft.com/office/drawing/2014/main" id="{CCCFEC6B-B755-4573-A904-5E0F9AF6E040}"/>
              </a:ext>
            </a:extLst>
          </p:cNvPr>
          <p:cNvSpPr>
            <a:spLocks noChangeShapeType="1"/>
          </p:cNvSpPr>
          <p:nvPr/>
        </p:nvSpPr>
        <p:spPr bwMode="auto">
          <a:xfrm flipV="1">
            <a:off x="2133600" y="2725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2" name="Line 8">
            <a:extLst>
              <a:ext uri="{FF2B5EF4-FFF2-40B4-BE49-F238E27FC236}">
                <a16:creationId xmlns:a16="http://schemas.microsoft.com/office/drawing/2014/main" id="{61493C10-98BA-4EFA-AB28-905E356CE976}"/>
              </a:ext>
            </a:extLst>
          </p:cNvPr>
          <p:cNvSpPr>
            <a:spLocks noChangeShapeType="1"/>
          </p:cNvSpPr>
          <p:nvPr/>
        </p:nvSpPr>
        <p:spPr bwMode="auto">
          <a:xfrm flipV="1">
            <a:off x="2514600" y="2725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3" name="Line 9">
            <a:extLst>
              <a:ext uri="{FF2B5EF4-FFF2-40B4-BE49-F238E27FC236}">
                <a16:creationId xmlns:a16="http://schemas.microsoft.com/office/drawing/2014/main" id="{63F74390-87F4-453F-9433-73F93C6B6486}"/>
              </a:ext>
            </a:extLst>
          </p:cNvPr>
          <p:cNvSpPr>
            <a:spLocks noChangeShapeType="1"/>
          </p:cNvSpPr>
          <p:nvPr/>
        </p:nvSpPr>
        <p:spPr bwMode="auto">
          <a:xfrm flipV="1">
            <a:off x="1371600" y="2344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4" name="Line 10">
            <a:extLst>
              <a:ext uri="{FF2B5EF4-FFF2-40B4-BE49-F238E27FC236}">
                <a16:creationId xmlns:a16="http://schemas.microsoft.com/office/drawing/2014/main" id="{9CFEAC00-0619-44FC-B8C0-326223406407}"/>
              </a:ext>
            </a:extLst>
          </p:cNvPr>
          <p:cNvSpPr>
            <a:spLocks noChangeShapeType="1"/>
          </p:cNvSpPr>
          <p:nvPr/>
        </p:nvSpPr>
        <p:spPr bwMode="auto">
          <a:xfrm flipV="1">
            <a:off x="1371600" y="1963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5" name="Line 11">
            <a:extLst>
              <a:ext uri="{FF2B5EF4-FFF2-40B4-BE49-F238E27FC236}">
                <a16:creationId xmlns:a16="http://schemas.microsoft.com/office/drawing/2014/main" id="{68B66003-7D85-4BD2-9F50-C6D4E75D56AD}"/>
              </a:ext>
            </a:extLst>
          </p:cNvPr>
          <p:cNvSpPr>
            <a:spLocks noChangeShapeType="1"/>
          </p:cNvSpPr>
          <p:nvPr/>
        </p:nvSpPr>
        <p:spPr bwMode="auto">
          <a:xfrm flipV="1">
            <a:off x="1371600" y="1582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6" name="Line 12">
            <a:extLst>
              <a:ext uri="{FF2B5EF4-FFF2-40B4-BE49-F238E27FC236}">
                <a16:creationId xmlns:a16="http://schemas.microsoft.com/office/drawing/2014/main" id="{E59372C5-688B-4B70-B641-BE064E203565}"/>
              </a:ext>
            </a:extLst>
          </p:cNvPr>
          <p:cNvSpPr>
            <a:spLocks noChangeShapeType="1"/>
          </p:cNvSpPr>
          <p:nvPr/>
        </p:nvSpPr>
        <p:spPr bwMode="auto">
          <a:xfrm flipV="1">
            <a:off x="1752600" y="2344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7" name="Line 13">
            <a:extLst>
              <a:ext uri="{FF2B5EF4-FFF2-40B4-BE49-F238E27FC236}">
                <a16:creationId xmlns:a16="http://schemas.microsoft.com/office/drawing/2014/main" id="{CCC451ED-8080-4D7D-8E6A-44B884400A9A}"/>
              </a:ext>
            </a:extLst>
          </p:cNvPr>
          <p:cNvSpPr>
            <a:spLocks noChangeShapeType="1"/>
          </p:cNvSpPr>
          <p:nvPr/>
        </p:nvSpPr>
        <p:spPr bwMode="auto">
          <a:xfrm flipV="1">
            <a:off x="1752600" y="1963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8" name="Line 14">
            <a:extLst>
              <a:ext uri="{FF2B5EF4-FFF2-40B4-BE49-F238E27FC236}">
                <a16:creationId xmlns:a16="http://schemas.microsoft.com/office/drawing/2014/main" id="{0D721FBD-A0DD-4215-8F20-2014F40D7AA3}"/>
              </a:ext>
            </a:extLst>
          </p:cNvPr>
          <p:cNvSpPr>
            <a:spLocks noChangeShapeType="1"/>
          </p:cNvSpPr>
          <p:nvPr/>
        </p:nvSpPr>
        <p:spPr bwMode="auto">
          <a:xfrm flipV="1">
            <a:off x="1752600" y="1582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19" name="Line 15">
            <a:extLst>
              <a:ext uri="{FF2B5EF4-FFF2-40B4-BE49-F238E27FC236}">
                <a16:creationId xmlns:a16="http://schemas.microsoft.com/office/drawing/2014/main" id="{6A262513-0367-496C-B7C4-047BA44ED976}"/>
              </a:ext>
            </a:extLst>
          </p:cNvPr>
          <p:cNvSpPr>
            <a:spLocks noChangeShapeType="1"/>
          </p:cNvSpPr>
          <p:nvPr/>
        </p:nvSpPr>
        <p:spPr bwMode="auto">
          <a:xfrm flipV="1">
            <a:off x="2133600" y="2344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0" name="Line 16">
            <a:extLst>
              <a:ext uri="{FF2B5EF4-FFF2-40B4-BE49-F238E27FC236}">
                <a16:creationId xmlns:a16="http://schemas.microsoft.com/office/drawing/2014/main" id="{15EC33D6-B7E6-4D30-85AD-7C30A42BE3EC}"/>
              </a:ext>
            </a:extLst>
          </p:cNvPr>
          <p:cNvSpPr>
            <a:spLocks noChangeShapeType="1"/>
          </p:cNvSpPr>
          <p:nvPr/>
        </p:nvSpPr>
        <p:spPr bwMode="auto">
          <a:xfrm flipV="1">
            <a:off x="2133600" y="1963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1" name="Line 17">
            <a:extLst>
              <a:ext uri="{FF2B5EF4-FFF2-40B4-BE49-F238E27FC236}">
                <a16:creationId xmlns:a16="http://schemas.microsoft.com/office/drawing/2014/main" id="{7C74CF95-6D66-42E6-A3B5-19C310157B2A}"/>
              </a:ext>
            </a:extLst>
          </p:cNvPr>
          <p:cNvSpPr>
            <a:spLocks noChangeShapeType="1"/>
          </p:cNvSpPr>
          <p:nvPr/>
        </p:nvSpPr>
        <p:spPr bwMode="auto">
          <a:xfrm flipV="1">
            <a:off x="2133600" y="1582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2" name="Line 18">
            <a:extLst>
              <a:ext uri="{FF2B5EF4-FFF2-40B4-BE49-F238E27FC236}">
                <a16:creationId xmlns:a16="http://schemas.microsoft.com/office/drawing/2014/main" id="{3E1F1B89-6191-4F1B-9C4E-3F84C79024E5}"/>
              </a:ext>
            </a:extLst>
          </p:cNvPr>
          <p:cNvSpPr>
            <a:spLocks noChangeShapeType="1"/>
          </p:cNvSpPr>
          <p:nvPr/>
        </p:nvSpPr>
        <p:spPr bwMode="auto">
          <a:xfrm flipV="1">
            <a:off x="2514600" y="2344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3" name="Line 19">
            <a:extLst>
              <a:ext uri="{FF2B5EF4-FFF2-40B4-BE49-F238E27FC236}">
                <a16:creationId xmlns:a16="http://schemas.microsoft.com/office/drawing/2014/main" id="{7E50D60B-151B-44ED-B9E2-3188B1176774}"/>
              </a:ext>
            </a:extLst>
          </p:cNvPr>
          <p:cNvSpPr>
            <a:spLocks noChangeShapeType="1"/>
          </p:cNvSpPr>
          <p:nvPr/>
        </p:nvSpPr>
        <p:spPr bwMode="auto">
          <a:xfrm flipV="1">
            <a:off x="2514600" y="1963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4" name="Line 20">
            <a:extLst>
              <a:ext uri="{FF2B5EF4-FFF2-40B4-BE49-F238E27FC236}">
                <a16:creationId xmlns:a16="http://schemas.microsoft.com/office/drawing/2014/main" id="{E81E3D05-B44D-411E-9601-6C1EDC9BB903}"/>
              </a:ext>
            </a:extLst>
          </p:cNvPr>
          <p:cNvSpPr>
            <a:spLocks noChangeShapeType="1"/>
          </p:cNvSpPr>
          <p:nvPr/>
        </p:nvSpPr>
        <p:spPr bwMode="auto">
          <a:xfrm flipV="1">
            <a:off x="2514600" y="1582738"/>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5" name="Text Box 21">
            <a:extLst>
              <a:ext uri="{FF2B5EF4-FFF2-40B4-BE49-F238E27FC236}">
                <a16:creationId xmlns:a16="http://schemas.microsoft.com/office/drawing/2014/main" id="{EBDBECF4-AFD3-42A4-8469-F68C60D95C68}"/>
              </a:ext>
            </a:extLst>
          </p:cNvPr>
          <p:cNvSpPr txBox="1">
            <a:spLocks noChangeArrowheads="1"/>
          </p:cNvSpPr>
          <p:nvPr/>
        </p:nvSpPr>
        <p:spPr bwMode="auto">
          <a:xfrm>
            <a:off x="669925" y="116205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I</a:t>
            </a:r>
            <a:endParaRPr lang="en-US" altLang="en-US"/>
          </a:p>
        </p:txBody>
      </p:sp>
      <p:sp>
        <p:nvSpPr>
          <p:cNvPr id="47126" name="Text Box 22">
            <a:extLst>
              <a:ext uri="{FF2B5EF4-FFF2-40B4-BE49-F238E27FC236}">
                <a16:creationId xmlns:a16="http://schemas.microsoft.com/office/drawing/2014/main" id="{6747B39A-EDAF-459D-B513-A8BAA23CDFB5}"/>
              </a:ext>
            </a:extLst>
          </p:cNvPr>
          <p:cNvSpPr txBox="1">
            <a:spLocks noChangeArrowheads="1"/>
          </p:cNvSpPr>
          <p:nvPr/>
        </p:nvSpPr>
        <p:spPr bwMode="auto">
          <a:xfrm>
            <a:off x="3032125" y="31432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J</a:t>
            </a:r>
            <a:endParaRPr lang="en-US" altLang="en-US"/>
          </a:p>
        </p:txBody>
      </p:sp>
      <p:sp>
        <p:nvSpPr>
          <p:cNvPr id="47127" name="Line 23">
            <a:extLst>
              <a:ext uri="{FF2B5EF4-FFF2-40B4-BE49-F238E27FC236}">
                <a16:creationId xmlns:a16="http://schemas.microsoft.com/office/drawing/2014/main" id="{E3608A5C-4228-43BD-91FC-B51EC217F267}"/>
              </a:ext>
            </a:extLst>
          </p:cNvPr>
          <p:cNvSpPr>
            <a:spLocks noChangeShapeType="1"/>
          </p:cNvSpPr>
          <p:nvPr/>
        </p:nvSpPr>
        <p:spPr bwMode="auto">
          <a:xfrm>
            <a:off x="990600" y="272573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8" name="Line 24">
            <a:extLst>
              <a:ext uri="{FF2B5EF4-FFF2-40B4-BE49-F238E27FC236}">
                <a16:creationId xmlns:a16="http://schemas.microsoft.com/office/drawing/2014/main" id="{2F405AE4-7D65-48C8-97EA-767F64F63975}"/>
              </a:ext>
            </a:extLst>
          </p:cNvPr>
          <p:cNvSpPr>
            <a:spLocks noChangeShapeType="1"/>
          </p:cNvSpPr>
          <p:nvPr/>
        </p:nvSpPr>
        <p:spPr bwMode="auto">
          <a:xfrm>
            <a:off x="990600" y="234473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29" name="Line 25">
            <a:extLst>
              <a:ext uri="{FF2B5EF4-FFF2-40B4-BE49-F238E27FC236}">
                <a16:creationId xmlns:a16="http://schemas.microsoft.com/office/drawing/2014/main" id="{C21A14C1-E496-44C8-B589-00D0F2BFD038}"/>
              </a:ext>
            </a:extLst>
          </p:cNvPr>
          <p:cNvSpPr>
            <a:spLocks noChangeShapeType="1"/>
          </p:cNvSpPr>
          <p:nvPr/>
        </p:nvSpPr>
        <p:spPr bwMode="auto">
          <a:xfrm>
            <a:off x="990600" y="196373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0" name="Line 26">
            <a:extLst>
              <a:ext uri="{FF2B5EF4-FFF2-40B4-BE49-F238E27FC236}">
                <a16:creationId xmlns:a16="http://schemas.microsoft.com/office/drawing/2014/main" id="{019B2FC8-3097-42B4-ADA0-B078D8B0948A}"/>
              </a:ext>
            </a:extLst>
          </p:cNvPr>
          <p:cNvSpPr>
            <a:spLocks noChangeShapeType="1"/>
          </p:cNvSpPr>
          <p:nvPr/>
        </p:nvSpPr>
        <p:spPr bwMode="auto">
          <a:xfrm>
            <a:off x="990600" y="158273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2011" name="Text Box 27">
            <a:extLst>
              <a:ext uri="{FF2B5EF4-FFF2-40B4-BE49-F238E27FC236}">
                <a16:creationId xmlns:a16="http://schemas.microsoft.com/office/drawing/2014/main" id="{3DBFCEDF-F8E9-42B8-BCB1-2AEB80265280}"/>
              </a:ext>
            </a:extLst>
          </p:cNvPr>
          <p:cNvSpPr txBox="1">
            <a:spLocks noChangeArrowheads="1"/>
          </p:cNvSpPr>
          <p:nvPr/>
        </p:nvSpPr>
        <p:spPr bwMode="auto">
          <a:xfrm>
            <a:off x="746125" y="3595688"/>
            <a:ext cx="2098675" cy="366712"/>
          </a:xfrm>
          <a:prstGeom prst="rect">
            <a:avLst/>
          </a:prstGeom>
          <a:noFill/>
          <a:ln>
            <a:noFill/>
          </a:ln>
          <a:effectLst/>
        </p:spPr>
        <p:txBody>
          <a:bodyPr wrap="none" anchor="b">
            <a:spAutoFit/>
          </a:bodyPr>
          <a:lstStyle/>
          <a:p>
            <a:pPr>
              <a:defRPr/>
            </a:pPr>
            <a:r>
              <a:rPr lang="hr-HR" altLang="en-US">
                <a:solidFill>
                  <a:schemeClr val="hlink"/>
                </a:solidFill>
                <a:effectLst>
                  <a:outerShdw blurRad="38100" dist="38100" dir="2700000" algn="tl">
                    <a:srgbClr val="C0C0C0"/>
                  </a:outerShdw>
                </a:effectLst>
                <a:latin typeface="Tahoma" panose="020B0604030504040204" pitchFamily="34" charset="0"/>
              </a:rPr>
              <a:t>Pre transformacije</a:t>
            </a:r>
            <a:r>
              <a:rPr lang="hr-HR" altLang="en-US">
                <a:solidFill>
                  <a:schemeClr val="hlink"/>
                </a:solidFill>
                <a:latin typeface="Tahoma" panose="020B0604030504040204" pitchFamily="34" charset="0"/>
              </a:rPr>
              <a:t> </a:t>
            </a:r>
            <a:endParaRPr lang="en-US" altLang="en-US">
              <a:solidFill>
                <a:schemeClr val="hlink"/>
              </a:solidFill>
              <a:latin typeface="Tahoma" panose="020B0604030504040204" pitchFamily="34" charset="0"/>
            </a:endParaRPr>
          </a:p>
        </p:txBody>
      </p:sp>
      <p:sp>
        <p:nvSpPr>
          <p:cNvPr id="47132" name="Line 28">
            <a:extLst>
              <a:ext uri="{FF2B5EF4-FFF2-40B4-BE49-F238E27FC236}">
                <a16:creationId xmlns:a16="http://schemas.microsoft.com/office/drawing/2014/main" id="{E6C4A99C-DAF6-4779-A3AE-A372D9814FAA}"/>
              </a:ext>
            </a:extLst>
          </p:cNvPr>
          <p:cNvSpPr>
            <a:spLocks noChangeShapeType="1"/>
          </p:cNvSpPr>
          <p:nvPr/>
        </p:nvSpPr>
        <p:spPr bwMode="auto">
          <a:xfrm>
            <a:off x="4648200" y="1258888"/>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3" name="Line 29">
            <a:extLst>
              <a:ext uri="{FF2B5EF4-FFF2-40B4-BE49-F238E27FC236}">
                <a16:creationId xmlns:a16="http://schemas.microsoft.com/office/drawing/2014/main" id="{5FAB1B78-6793-40BA-A349-651E6E0B40B1}"/>
              </a:ext>
            </a:extLst>
          </p:cNvPr>
          <p:cNvSpPr>
            <a:spLocks noChangeShapeType="1"/>
          </p:cNvSpPr>
          <p:nvPr/>
        </p:nvSpPr>
        <p:spPr bwMode="auto">
          <a:xfrm>
            <a:off x="4648200" y="3087688"/>
            <a:ext cx="2362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4" name="Line 30">
            <a:extLst>
              <a:ext uri="{FF2B5EF4-FFF2-40B4-BE49-F238E27FC236}">
                <a16:creationId xmlns:a16="http://schemas.microsoft.com/office/drawing/2014/main" id="{EB94F2D7-6350-488A-9A4E-B95325476D89}"/>
              </a:ext>
            </a:extLst>
          </p:cNvPr>
          <p:cNvSpPr>
            <a:spLocks noChangeShapeType="1"/>
          </p:cNvSpPr>
          <p:nvPr/>
        </p:nvSpPr>
        <p:spPr bwMode="auto">
          <a:xfrm flipV="1">
            <a:off x="5029200" y="27051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5" name="Line 31">
            <a:extLst>
              <a:ext uri="{FF2B5EF4-FFF2-40B4-BE49-F238E27FC236}">
                <a16:creationId xmlns:a16="http://schemas.microsoft.com/office/drawing/2014/main" id="{592B90AF-6007-4BDA-9A34-FA2325DB6809}"/>
              </a:ext>
            </a:extLst>
          </p:cNvPr>
          <p:cNvSpPr>
            <a:spLocks noChangeShapeType="1"/>
          </p:cNvSpPr>
          <p:nvPr/>
        </p:nvSpPr>
        <p:spPr bwMode="auto">
          <a:xfrm flipV="1">
            <a:off x="5410200" y="2743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6" name="Line 32">
            <a:extLst>
              <a:ext uri="{FF2B5EF4-FFF2-40B4-BE49-F238E27FC236}">
                <a16:creationId xmlns:a16="http://schemas.microsoft.com/office/drawing/2014/main" id="{CDE2054F-0076-4B51-890D-CD57B4C167EC}"/>
              </a:ext>
            </a:extLst>
          </p:cNvPr>
          <p:cNvSpPr>
            <a:spLocks noChangeShapeType="1"/>
          </p:cNvSpPr>
          <p:nvPr/>
        </p:nvSpPr>
        <p:spPr bwMode="auto">
          <a:xfrm flipV="1">
            <a:off x="5791200" y="2743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7" name="Line 33">
            <a:extLst>
              <a:ext uri="{FF2B5EF4-FFF2-40B4-BE49-F238E27FC236}">
                <a16:creationId xmlns:a16="http://schemas.microsoft.com/office/drawing/2014/main" id="{80A2CD91-ED02-4D7F-9346-31457B040E96}"/>
              </a:ext>
            </a:extLst>
          </p:cNvPr>
          <p:cNvSpPr>
            <a:spLocks noChangeShapeType="1"/>
          </p:cNvSpPr>
          <p:nvPr/>
        </p:nvSpPr>
        <p:spPr bwMode="auto">
          <a:xfrm flipV="1">
            <a:off x="6172200" y="2743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8" name="Line 34">
            <a:extLst>
              <a:ext uri="{FF2B5EF4-FFF2-40B4-BE49-F238E27FC236}">
                <a16:creationId xmlns:a16="http://schemas.microsoft.com/office/drawing/2014/main" id="{C39A6CA4-0BAF-4023-9791-397A725BC4F9}"/>
              </a:ext>
            </a:extLst>
          </p:cNvPr>
          <p:cNvSpPr>
            <a:spLocks noChangeShapeType="1"/>
          </p:cNvSpPr>
          <p:nvPr/>
        </p:nvSpPr>
        <p:spPr bwMode="auto">
          <a:xfrm flipV="1">
            <a:off x="5029200" y="19050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39" name="Line 35">
            <a:extLst>
              <a:ext uri="{FF2B5EF4-FFF2-40B4-BE49-F238E27FC236}">
                <a16:creationId xmlns:a16="http://schemas.microsoft.com/office/drawing/2014/main" id="{28AFFCA5-CD84-4B93-A173-DF22062B0F37}"/>
              </a:ext>
            </a:extLst>
          </p:cNvPr>
          <p:cNvSpPr>
            <a:spLocks noChangeShapeType="1"/>
          </p:cNvSpPr>
          <p:nvPr/>
        </p:nvSpPr>
        <p:spPr bwMode="auto">
          <a:xfrm flipV="1">
            <a:off x="5029200" y="22860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0" name="Line 36">
            <a:extLst>
              <a:ext uri="{FF2B5EF4-FFF2-40B4-BE49-F238E27FC236}">
                <a16:creationId xmlns:a16="http://schemas.microsoft.com/office/drawing/2014/main" id="{0952D0D5-1909-48BD-958A-CB259D0323E8}"/>
              </a:ext>
            </a:extLst>
          </p:cNvPr>
          <p:cNvSpPr>
            <a:spLocks noChangeShapeType="1"/>
          </p:cNvSpPr>
          <p:nvPr/>
        </p:nvSpPr>
        <p:spPr bwMode="auto">
          <a:xfrm flipV="1">
            <a:off x="5029200" y="1600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1" name="Line 37">
            <a:extLst>
              <a:ext uri="{FF2B5EF4-FFF2-40B4-BE49-F238E27FC236}">
                <a16:creationId xmlns:a16="http://schemas.microsoft.com/office/drawing/2014/main" id="{28A64DBE-6425-4185-AD2A-D5EE4D5CF0A8}"/>
              </a:ext>
            </a:extLst>
          </p:cNvPr>
          <p:cNvSpPr>
            <a:spLocks noChangeShapeType="1"/>
          </p:cNvSpPr>
          <p:nvPr/>
        </p:nvSpPr>
        <p:spPr bwMode="auto">
          <a:xfrm flipV="1">
            <a:off x="5410200" y="23526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2" name="Line 38">
            <a:extLst>
              <a:ext uri="{FF2B5EF4-FFF2-40B4-BE49-F238E27FC236}">
                <a16:creationId xmlns:a16="http://schemas.microsoft.com/office/drawing/2014/main" id="{042853EF-16FD-4B24-A1C0-AD55A12DE779}"/>
              </a:ext>
            </a:extLst>
          </p:cNvPr>
          <p:cNvSpPr>
            <a:spLocks noChangeShapeType="1"/>
          </p:cNvSpPr>
          <p:nvPr/>
        </p:nvSpPr>
        <p:spPr bwMode="auto">
          <a:xfrm flipV="1">
            <a:off x="5410200" y="196215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3" name="Line 39">
            <a:extLst>
              <a:ext uri="{FF2B5EF4-FFF2-40B4-BE49-F238E27FC236}">
                <a16:creationId xmlns:a16="http://schemas.microsoft.com/office/drawing/2014/main" id="{D12244FA-49CF-4562-9298-D1F976488B2B}"/>
              </a:ext>
            </a:extLst>
          </p:cNvPr>
          <p:cNvSpPr>
            <a:spLocks noChangeShapeType="1"/>
          </p:cNvSpPr>
          <p:nvPr/>
        </p:nvSpPr>
        <p:spPr bwMode="auto">
          <a:xfrm flipV="1">
            <a:off x="5410200" y="15525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4" name="Line 40">
            <a:extLst>
              <a:ext uri="{FF2B5EF4-FFF2-40B4-BE49-F238E27FC236}">
                <a16:creationId xmlns:a16="http://schemas.microsoft.com/office/drawing/2014/main" id="{87A41278-AE99-48BF-981D-7156FECE0C19}"/>
              </a:ext>
            </a:extLst>
          </p:cNvPr>
          <p:cNvSpPr>
            <a:spLocks noChangeShapeType="1"/>
          </p:cNvSpPr>
          <p:nvPr/>
        </p:nvSpPr>
        <p:spPr bwMode="auto">
          <a:xfrm flipV="1">
            <a:off x="5791200" y="2362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5" name="Line 41">
            <a:extLst>
              <a:ext uri="{FF2B5EF4-FFF2-40B4-BE49-F238E27FC236}">
                <a16:creationId xmlns:a16="http://schemas.microsoft.com/office/drawing/2014/main" id="{98B6CF9F-F29A-4BC6-A0E0-DCD4FA32C723}"/>
              </a:ext>
            </a:extLst>
          </p:cNvPr>
          <p:cNvSpPr>
            <a:spLocks noChangeShapeType="1"/>
          </p:cNvSpPr>
          <p:nvPr/>
        </p:nvSpPr>
        <p:spPr bwMode="auto">
          <a:xfrm flipV="1">
            <a:off x="5791200" y="1981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6" name="Line 42">
            <a:extLst>
              <a:ext uri="{FF2B5EF4-FFF2-40B4-BE49-F238E27FC236}">
                <a16:creationId xmlns:a16="http://schemas.microsoft.com/office/drawing/2014/main" id="{3C96ECE4-B5F8-4915-9C44-9CCD2BBE83D7}"/>
              </a:ext>
            </a:extLst>
          </p:cNvPr>
          <p:cNvSpPr>
            <a:spLocks noChangeShapeType="1"/>
          </p:cNvSpPr>
          <p:nvPr/>
        </p:nvSpPr>
        <p:spPr bwMode="auto">
          <a:xfrm flipV="1">
            <a:off x="5791200" y="1600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7" name="Line 43">
            <a:extLst>
              <a:ext uri="{FF2B5EF4-FFF2-40B4-BE49-F238E27FC236}">
                <a16:creationId xmlns:a16="http://schemas.microsoft.com/office/drawing/2014/main" id="{11AFDC5C-4B38-427C-B0B6-9ED68875BDFD}"/>
              </a:ext>
            </a:extLst>
          </p:cNvPr>
          <p:cNvSpPr>
            <a:spLocks noChangeShapeType="1"/>
          </p:cNvSpPr>
          <p:nvPr/>
        </p:nvSpPr>
        <p:spPr bwMode="auto">
          <a:xfrm flipV="1">
            <a:off x="6172200" y="2398713"/>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8" name="Line 44">
            <a:extLst>
              <a:ext uri="{FF2B5EF4-FFF2-40B4-BE49-F238E27FC236}">
                <a16:creationId xmlns:a16="http://schemas.microsoft.com/office/drawing/2014/main" id="{44723107-A1CA-4741-8029-BB77AC0F2370}"/>
              </a:ext>
            </a:extLst>
          </p:cNvPr>
          <p:cNvSpPr>
            <a:spLocks noChangeShapeType="1"/>
          </p:cNvSpPr>
          <p:nvPr/>
        </p:nvSpPr>
        <p:spPr bwMode="auto">
          <a:xfrm flipV="1">
            <a:off x="6172200" y="199072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49" name="Line 45">
            <a:extLst>
              <a:ext uri="{FF2B5EF4-FFF2-40B4-BE49-F238E27FC236}">
                <a16:creationId xmlns:a16="http://schemas.microsoft.com/office/drawing/2014/main" id="{5BB5ED66-E6BD-4076-AD7D-62CA8D64252E}"/>
              </a:ext>
            </a:extLst>
          </p:cNvPr>
          <p:cNvSpPr>
            <a:spLocks noChangeShapeType="1"/>
          </p:cNvSpPr>
          <p:nvPr/>
        </p:nvSpPr>
        <p:spPr bwMode="auto">
          <a:xfrm flipV="1">
            <a:off x="6172200" y="1600200"/>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50" name="Text Box 46">
            <a:extLst>
              <a:ext uri="{FF2B5EF4-FFF2-40B4-BE49-F238E27FC236}">
                <a16:creationId xmlns:a16="http://schemas.microsoft.com/office/drawing/2014/main" id="{40510A95-545D-4B5C-A0A0-1B110D7112B9}"/>
              </a:ext>
            </a:extLst>
          </p:cNvPr>
          <p:cNvSpPr txBox="1">
            <a:spLocks noChangeArrowheads="1"/>
          </p:cNvSpPr>
          <p:nvPr/>
        </p:nvSpPr>
        <p:spPr bwMode="auto">
          <a:xfrm>
            <a:off x="4327525" y="114300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I</a:t>
            </a:r>
            <a:endParaRPr lang="en-US" altLang="en-US"/>
          </a:p>
        </p:txBody>
      </p:sp>
      <p:sp>
        <p:nvSpPr>
          <p:cNvPr id="47151" name="Text Box 47">
            <a:extLst>
              <a:ext uri="{FF2B5EF4-FFF2-40B4-BE49-F238E27FC236}">
                <a16:creationId xmlns:a16="http://schemas.microsoft.com/office/drawing/2014/main" id="{0F59E2EB-C274-44D8-BEE7-8FF3FB7204E8}"/>
              </a:ext>
            </a:extLst>
          </p:cNvPr>
          <p:cNvSpPr txBox="1">
            <a:spLocks noChangeArrowheads="1"/>
          </p:cNvSpPr>
          <p:nvPr/>
        </p:nvSpPr>
        <p:spPr bwMode="auto">
          <a:xfrm>
            <a:off x="6689725" y="3124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J</a:t>
            </a:r>
            <a:endParaRPr lang="en-US" altLang="en-US"/>
          </a:p>
        </p:txBody>
      </p:sp>
      <p:sp>
        <p:nvSpPr>
          <p:cNvPr id="47152" name="Line 48">
            <a:extLst>
              <a:ext uri="{FF2B5EF4-FFF2-40B4-BE49-F238E27FC236}">
                <a16:creationId xmlns:a16="http://schemas.microsoft.com/office/drawing/2014/main" id="{5B6588AC-6FF8-4783-827E-38A99A384AE2}"/>
              </a:ext>
            </a:extLst>
          </p:cNvPr>
          <p:cNvSpPr>
            <a:spLocks noChangeShapeType="1"/>
          </p:cNvSpPr>
          <p:nvPr/>
        </p:nvSpPr>
        <p:spPr bwMode="auto">
          <a:xfrm>
            <a:off x="4648200" y="2743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53" name="Line 49">
            <a:extLst>
              <a:ext uri="{FF2B5EF4-FFF2-40B4-BE49-F238E27FC236}">
                <a16:creationId xmlns:a16="http://schemas.microsoft.com/office/drawing/2014/main" id="{126DD140-E256-469E-AF08-D859C46C6D96}"/>
              </a:ext>
            </a:extLst>
          </p:cNvPr>
          <p:cNvSpPr>
            <a:spLocks noChangeShapeType="1"/>
          </p:cNvSpPr>
          <p:nvPr/>
        </p:nvSpPr>
        <p:spPr bwMode="auto">
          <a:xfrm>
            <a:off x="4648200" y="23622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54" name="Line 50">
            <a:extLst>
              <a:ext uri="{FF2B5EF4-FFF2-40B4-BE49-F238E27FC236}">
                <a16:creationId xmlns:a16="http://schemas.microsoft.com/office/drawing/2014/main" id="{CACA9F42-C82E-4499-AF57-7359D472B4D4}"/>
              </a:ext>
            </a:extLst>
          </p:cNvPr>
          <p:cNvSpPr>
            <a:spLocks noChangeShapeType="1"/>
          </p:cNvSpPr>
          <p:nvPr/>
        </p:nvSpPr>
        <p:spPr bwMode="auto">
          <a:xfrm>
            <a:off x="4648200" y="194468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55" name="Line 51">
            <a:extLst>
              <a:ext uri="{FF2B5EF4-FFF2-40B4-BE49-F238E27FC236}">
                <a16:creationId xmlns:a16="http://schemas.microsoft.com/office/drawing/2014/main" id="{8967F825-A81D-454F-8F3F-DA8E3884CC7D}"/>
              </a:ext>
            </a:extLst>
          </p:cNvPr>
          <p:cNvSpPr>
            <a:spLocks noChangeShapeType="1"/>
          </p:cNvSpPr>
          <p:nvPr/>
        </p:nvSpPr>
        <p:spPr bwMode="auto">
          <a:xfrm>
            <a:off x="4648200" y="1563688"/>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2036" name="Text Box 52">
            <a:extLst>
              <a:ext uri="{FF2B5EF4-FFF2-40B4-BE49-F238E27FC236}">
                <a16:creationId xmlns:a16="http://schemas.microsoft.com/office/drawing/2014/main" id="{CD355032-8D05-46CA-938F-77FDA827BCAC}"/>
              </a:ext>
            </a:extLst>
          </p:cNvPr>
          <p:cNvSpPr txBox="1">
            <a:spLocks noChangeArrowheads="1"/>
          </p:cNvSpPr>
          <p:nvPr/>
        </p:nvSpPr>
        <p:spPr bwMode="auto">
          <a:xfrm>
            <a:off x="4403725" y="3576638"/>
            <a:ext cx="2293938" cy="366712"/>
          </a:xfrm>
          <a:prstGeom prst="rect">
            <a:avLst/>
          </a:prstGeom>
          <a:noFill/>
          <a:ln>
            <a:noFill/>
          </a:ln>
          <a:effectLst/>
        </p:spPr>
        <p:txBody>
          <a:bodyPr wrap="none" anchor="b">
            <a:spAutoFit/>
          </a:bodyPr>
          <a:lstStyle/>
          <a:p>
            <a:pPr>
              <a:defRPr/>
            </a:pPr>
            <a:r>
              <a:rPr lang="hr-HR" altLang="en-US">
                <a:solidFill>
                  <a:schemeClr val="hlink"/>
                </a:solidFill>
                <a:effectLst>
                  <a:outerShdw blurRad="38100" dist="38100" dir="2700000" algn="tl">
                    <a:srgbClr val="C0C0C0"/>
                  </a:outerShdw>
                </a:effectLst>
                <a:latin typeface="Tahoma" panose="020B0604030504040204" pitchFamily="34" charset="0"/>
              </a:rPr>
              <a:t>Posle transformacije</a:t>
            </a:r>
            <a:r>
              <a:rPr lang="hr-HR" altLang="en-US">
                <a:solidFill>
                  <a:schemeClr val="hlink"/>
                </a:solidFill>
                <a:latin typeface="Tahoma" panose="020B0604030504040204" pitchFamily="34" charset="0"/>
              </a:rPr>
              <a:t> </a:t>
            </a:r>
            <a:endParaRPr lang="en-US" altLang="en-US">
              <a:solidFill>
                <a:schemeClr val="hlink"/>
              </a:solidFill>
              <a:latin typeface="Tahoma" panose="020B0604030504040204" pitchFamily="34" charset="0"/>
            </a:endParaRPr>
          </a:p>
        </p:txBody>
      </p:sp>
      <p:sp>
        <p:nvSpPr>
          <p:cNvPr id="42037" name="Text Box 53">
            <a:extLst>
              <a:ext uri="{FF2B5EF4-FFF2-40B4-BE49-F238E27FC236}">
                <a16:creationId xmlns:a16="http://schemas.microsoft.com/office/drawing/2014/main" id="{B7EB6747-2DDA-441F-BC43-B181B21BFB51}"/>
              </a:ext>
            </a:extLst>
          </p:cNvPr>
          <p:cNvSpPr txBox="1">
            <a:spLocks noChangeArrowheads="1"/>
          </p:cNvSpPr>
          <p:nvPr/>
        </p:nvSpPr>
        <p:spPr bwMode="auto">
          <a:xfrm>
            <a:off x="381000" y="4267200"/>
            <a:ext cx="8207375" cy="1616075"/>
          </a:xfrm>
          <a:prstGeom prst="rect">
            <a:avLst/>
          </a:prstGeom>
          <a:noFill/>
          <a:ln>
            <a:noFill/>
          </a:ln>
          <a:effectLst/>
        </p:spPr>
        <p:txBody>
          <a:bodyPr anchor="b">
            <a:spAutoFit/>
          </a:bodyPr>
          <a:lstStyle/>
          <a:p>
            <a:pPr>
              <a:spcBef>
                <a:spcPct val="50000"/>
              </a:spcBef>
              <a:buFontTx/>
              <a:buChar char="•"/>
              <a:defRPr/>
            </a:pPr>
            <a:r>
              <a:rPr lang="hr-HR" altLang="en-US" sz="2000">
                <a:latin typeface="Tahoma" panose="020B0604030504040204" pitchFamily="34" charset="0"/>
              </a:rPr>
              <a:t> Npr.</a:t>
            </a:r>
            <a:r>
              <a:rPr lang="en-US" altLang="en-US" sz="2000">
                <a:latin typeface="Tahoma" panose="020B0604030504040204" pitchFamily="34" charset="0"/>
                <a:cs typeface="Times New Roman" panose="02020603050405020304" pitchFamily="18" charset="0"/>
              </a:rPr>
              <a:t> za n=3 i i=1 pre transformacije </a:t>
            </a:r>
            <a:r>
              <a:rPr lang="hr-HR" altLang="en-US" sz="2000">
                <a:latin typeface="Tahoma" panose="020B0604030504040204" pitchFamily="34" charset="0"/>
              </a:rPr>
              <a:t> se </a:t>
            </a:r>
            <a:r>
              <a:rPr lang="en-US" altLang="en-US" sz="2000">
                <a:latin typeface="Tahoma" panose="020B0604030504040204" pitchFamily="34" charset="0"/>
                <a:cs typeface="Times New Roman" panose="02020603050405020304" pitchFamily="18" charset="0"/>
              </a:rPr>
              <a:t>redom izra</a:t>
            </a:r>
            <a:r>
              <a:rPr lang="hr-HR" altLang="en-US" sz="2000">
                <a:latin typeface="Tahoma" panose="020B0604030504040204" pitchFamily="34" charset="0"/>
              </a:rPr>
              <a:t>č</a:t>
            </a:r>
            <a:r>
              <a:rPr lang="en-US" altLang="en-US" sz="2000">
                <a:latin typeface="Tahoma" panose="020B0604030504040204" pitchFamily="34" charset="0"/>
                <a:cs typeface="Times New Roman" panose="02020603050405020304" pitchFamily="18" charset="0"/>
              </a:rPr>
              <a:t>unavaju elementi </a:t>
            </a:r>
            <a:r>
              <a:rPr lang="hr-HR" altLang="en-US" sz="2000">
                <a:latin typeface="Tahoma" panose="020B0604030504040204" pitchFamily="34" charset="0"/>
              </a:rPr>
              <a:t>		</a:t>
            </a:r>
            <a:r>
              <a:rPr lang="en-US" altLang="en-US" sz="200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A(1,1), A(1,2) i A(1,3),</a:t>
            </a:r>
            <a:r>
              <a:rPr lang="en-US" altLang="en-US" sz="2000">
                <a:latin typeface="Tahoma" panose="020B0604030504040204" pitchFamily="34" charset="0"/>
                <a:cs typeface="Times New Roman" panose="02020603050405020304" pitchFamily="18" charset="0"/>
              </a:rPr>
              <a:t> </a:t>
            </a:r>
            <a:endParaRPr lang="hr-HR" altLang="en-US" sz="2000">
              <a:latin typeface="Tahoma" panose="020B0604030504040204" pitchFamily="34" charset="0"/>
            </a:endParaRPr>
          </a:p>
          <a:p>
            <a:pPr>
              <a:spcBef>
                <a:spcPct val="50000"/>
              </a:spcBef>
              <a:buFontTx/>
              <a:buChar char="•"/>
              <a:defRPr/>
            </a:pPr>
            <a:r>
              <a:rPr lang="hr-HR" altLang="en-US" sz="2000">
                <a:latin typeface="Tahoma" panose="020B0604030504040204" pitchFamily="34" charset="0"/>
              </a:rPr>
              <a:t> N</a:t>
            </a:r>
            <a:r>
              <a:rPr lang="en-US" altLang="en-US" sz="2000">
                <a:latin typeface="Tahoma" panose="020B0604030504040204" pitchFamily="34" charset="0"/>
                <a:cs typeface="Times New Roman" panose="02020603050405020304" pitchFamily="18" charset="0"/>
              </a:rPr>
              <a:t>akon transformacije redosled izra</a:t>
            </a:r>
            <a:r>
              <a:rPr lang="hr-HR" altLang="en-US" sz="2000">
                <a:latin typeface="Tahoma" panose="020B0604030504040204" pitchFamily="34" charset="0"/>
              </a:rPr>
              <a:t>č</a:t>
            </a:r>
            <a:r>
              <a:rPr lang="en-US" altLang="en-US" sz="2000">
                <a:latin typeface="Tahoma" panose="020B0604030504040204" pitchFamily="34" charset="0"/>
                <a:cs typeface="Times New Roman" panose="02020603050405020304" pitchFamily="18" charset="0"/>
              </a:rPr>
              <a:t>unavanja elemenata </a:t>
            </a:r>
            <a:r>
              <a:rPr lang="hr-HR" altLang="en-US" sz="2000">
                <a:latin typeface="Tahoma" panose="020B0604030504040204" pitchFamily="34" charset="0"/>
              </a:rPr>
              <a:t>je </a:t>
            </a:r>
          </a:p>
          <a:p>
            <a:pPr lvl="1">
              <a:spcBef>
                <a:spcPct val="50000"/>
              </a:spcBef>
              <a:defRPr/>
            </a:pPr>
            <a:r>
              <a:rPr lang="hr-HR" altLang="en-US" sz="2000">
                <a:solidFill>
                  <a:schemeClr val="accent1"/>
                </a:solidFill>
                <a:effectLst>
                  <a:outerShdw blurRad="38100" dist="38100" dir="2700000" algn="tl">
                    <a:srgbClr val="C0C0C0"/>
                  </a:outerShdw>
                </a:effectLst>
                <a:latin typeface="Tahoma" panose="020B0604030504040204" pitchFamily="34" charset="0"/>
              </a:rPr>
              <a:t>		</a:t>
            </a:r>
            <a:r>
              <a:rPr lang="en-US" altLang="en-US" sz="2000">
                <a:solidFill>
                  <a:schemeClr val="accent1"/>
                </a:solidFill>
                <a:effectLst>
                  <a:outerShdw blurRad="38100" dist="38100" dir="2700000" algn="tl">
                    <a:srgbClr val="C0C0C0"/>
                  </a:outerShdw>
                </a:effectLst>
                <a:latin typeface="Tahoma" panose="020B0604030504040204" pitchFamily="34" charset="0"/>
                <a:cs typeface="Times New Roman" panose="02020603050405020304" pitchFamily="18" charset="0"/>
              </a:rPr>
              <a:t>A(1,3), A(1,2) i A(1,1).</a:t>
            </a:r>
            <a:r>
              <a:rPr lang="en-US" altLang="en-US">
                <a:solidFill>
                  <a:schemeClr val="accent1"/>
                </a:solidFill>
                <a:effectLst>
                  <a:outerShdw blurRad="38100" dist="38100" dir="2700000" algn="tl">
                    <a:srgbClr val="C0C0C0"/>
                  </a:outerShdw>
                </a:effectLst>
                <a:latin typeface="Times Roman YU" pitchFamily="18" charset="0"/>
                <a:cs typeface="Times New Roman" panose="02020603050405020304" pitchFamily="18" charset="0"/>
              </a:rPr>
              <a:t> </a:t>
            </a:r>
          </a:p>
        </p:txBody>
      </p:sp>
      <p:sp>
        <p:nvSpPr>
          <p:cNvPr id="47158" name="Line 54">
            <a:extLst>
              <a:ext uri="{FF2B5EF4-FFF2-40B4-BE49-F238E27FC236}">
                <a16:creationId xmlns:a16="http://schemas.microsoft.com/office/drawing/2014/main" id="{6171801F-6854-43BF-B527-DC295D119443}"/>
              </a:ext>
            </a:extLst>
          </p:cNvPr>
          <p:cNvSpPr>
            <a:spLocks noChangeShapeType="1"/>
          </p:cNvSpPr>
          <p:nvPr/>
        </p:nvSpPr>
        <p:spPr bwMode="auto">
          <a:xfrm flipH="1" flipV="1">
            <a:off x="1371600" y="2362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59" name="Line 55">
            <a:extLst>
              <a:ext uri="{FF2B5EF4-FFF2-40B4-BE49-F238E27FC236}">
                <a16:creationId xmlns:a16="http://schemas.microsoft.com/office/drawing/2014/main" id="{37E66494-3302-45FB-8C36-AB10A0FAFCBE}"/>
              </a:ext>
            </a:extLst>
          </p:cNvPr>
          <p:cNvSpPr>
            <a:spLocks noChangeShapeType="1"/>
          </p:cNvSpPr>
          <p:nvPr/>
        </p:nvSpPr>
        <p:spPr bwMode="auto">
          <a:xfrm flipH="1" flipV="1">
            <a:off x="1381125" y="1981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60" name="Line 56">
            <a:extLst>
              <a:ext uri="{FF2B5EF4-FFF2-40B4-BE49-F238E27FC236}">
                <a16:creationId xmlns:a16="http://schemas.microsoft.com/office/drawing/2014/main" id="{122BC485-3F1F-417C-9038-60D78C88D230}"/>
              </a:ext>
            </a:extLst>
          </p:cNvPr>
          <p:cNvSpPr>
            <a:spLocks noChangeShapeType="1"/>
          </p:cNvSpPr>
          <p:nvPr/>
        </p:nvSpPr>
        <p:spPr bwMode="auto">
          <a:xfrm flipH="1" flipV="1">
            <a:off x="1390650" y="16002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7161" name="Line 61">
            <a:extLst>
              <a:ext uri="{FF2B5EF4-FFF2-40B4-BE49-F238E27FC236}">
                <a16:creationId xmlns:a16="http://schemas.microsoft.com/office/drawing/2014/main" id="{02A9EA6B-33D5-45C3-98A3-2822FC0FEFA2}"/>
              </a:ext>
            </a:extLst>
          </p:cNvPr>
          <p:cNvSpPr>
            <a:spLocks noChangeShapeType="1"/>
          </p:cNvSpPr>
          <p:nvPr/>
        </p:nvSpPr>
        <p:spPr bwMode="auto">
          <a:xfrm flipV="1">
            <a:off x="5029200" y="2362200"/>
            <a:ext cx="114300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7162" name="Line 62">
            <a:extLst>
              <a:ext uri="{FF2B5EF4-FFF2-40B4-BE49-F238E27FC236}">
                <a16:creationId xmlns:a16="http://schemas.microsoft.com/office/drawing/2014/main" id="{33DC440B-6F14-415C-B07D-EB379CFFC64D}"/>
              </a:ext>
            </a:extLst>
          </p:cNvPr>
          <p:cNvSpPr>
            <a:spLocks noChangeShapeType="1"/>
          </p:cNvSpPr>
          <p:nvPr/>
        </p:nvSpPr>
        <p:spPr bwMode="auto">
          <a:xfrm flipV="1">
            <a:off x="5057775" y="1952625"/>
            <a:ext cx="114300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7163" name="Line 63">
            <a:extLst>
              <a:ext uri="{FF2B5EF4-FFF2-40B4-BE49-F238E27FC236}">
                <a16:creationId xmlns:a16="http://schemas.microsoft.com/office/drawing/2014/main" id="{1DCEDBF9-1BA5-45AF-B809-96CC410C270D}"/>
              </a:ext>
            </a:extLst>
          </p:cNvPr>
          <p:cNvSpPr>
            <a:spLocks noChangeShapeType="1"/>
          </p:cNvSpPr>
          <p:nvPr/>
        </p:nvSpPr>
        <p:spPr bwMode="auto">
          <a:xfrm flipV="1">
            <a:off x="5067300" y="1543050"/>
            <a:ext cx="114300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spTree>
  </p:cSld>
  <p:clrMapOvr>
    <a:masterClrMapping/>
  </p:clrMapOvr>
  <p:transition>
    <p:pull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147A183-144C-42D2-B4F9-90CA5B8E8BDF}"/>
              </a:ext>
            </a:extLst>
          </p:cNvPr>
          <p:cNvSpPr>
            <a:spLocks noGrp="1" noChangeArrowheads="1"/>
          </p:cNvSpPr>
          <p:nvPr>
            <p:ph type="title"/>
          </p:nvPr>
        </p:nvSpPr>
        <p:spPr/>
        <p:txBody>
          <a:bodyPr/>
          <a:lstStyle/>
          <a:p>
            <a:pPr>
              <a:defRPr/>
            </a:pPr>
            <a:r>
              <a:rPr lang="en-US" altLang="en-US" b="1">
                <a:latin typeface="Times Roman YU" pitchFamily="18" charset="0"/>
                <a:cs typeface="Times New Roman" panose="02020603050405020304" pitchFamily="18" charset="0"/>
              </a:rPr>
              <a:t>3.</a:t>
            </a:r>
            <a:r>
              <a:rPr lang="en-US" altLang="en-US" b="1">
                <a:latin typeface="Times New Roman" panose="02020603050405020304" pitchFamily="18" charset="0"/>
                <a:cs typeface="Times New Roman" panose="02020603050405020304" pitchFamily="18" charset="0"/>
              </a:rPr>
              <a:t>  </a:t>
            </a:r>
            <a:r>
              <a:rPr lang="en-US" altLang="en-US" sz="3200">
                <a:cs typeface="Times New Roman" panose="02020603050405020304" pitchFamily="18" charset="0"/>
              </a:rPr>
              <a:t>Transformacija krivljenja (skewing)</a:t>
            </a:r>
          </a:p>
        </p:txBody>
      </p:sp>
      <p:sp>
        <p:nvSpPr>
          <p:cNvPr id="43011" name="Rectangle 3">
            <a:extLst>
              <a:ext uri="{FF2B5EF4-FFF2-40B4-BE49-F238E27FC236}">
                <a16:creationId xmlns:a16="http://schemas.microsoft.com/office/drawing/2014/main" id="{B85BBC1F-8201-466F-9AF9-78EC931D240C}"/>
              </a:ext>
            </a:extLst>
          </p:cNvPr>
          <p:cNvSpPr>
            <a:spLocks noGrp="1" noChangeArrowheads="1"/>
          </p:cNvSpPr>
          <p:nvPr>
            <p:ph type="body" idx="1"/>
          </p:nvPr>
        </p:nvSpPr>
        <p:spPr/>
        <p:txBody>
          <a:bodyPr/>
          <a:lstStyle/>
          <a:p>
            <a:pPr lvl="1">
              <a:defRPr/>
            </a:pPr>
            <a:r>
              <a:rPr lang="en-US" altLang="en-US">
                <a:cs typeface="Times New Roman" panose="02020603050405020304" pitchFamily="18" charset="0"/>
              </a:rPr>
              <a:t>Ovom transformacijom se obavlja krivljenje (skeweing) jednog iterativnog indeksa u odnosu na drugi za faktor </a:t>
            </a:r>
            <a:r>
              <a:rPr lang="en-US" altLang="en-US" b="1">
                <a:solidFill>
                  <a:schemeClr val="accent1"/>
                </a:solidFill>
                <a:cs typeface="Times New Roman" panose="02020603050405020304" pitchFamily="18" charset="0"/>
              </a:rPr>
              <a:t>f</a:t>
            </a:r>
            <a:r>
              <a:rPr lang="en-US" altLang="en-US">
                <a:cs typeface="Times New Roman" panose="02020603050405020304" pitchFamily="18" charset="0"/>
              </a:rPr>
              <a:t>.</a:t>
            </a:r>
            <a:r>
              <a:rPr lang="en-US" altLang="en-US"/>
              <a:t> </a:t>
            </a:r>
            <a:endParaRPr lang="hr-HR" altLang="en-US"/>
          </a:p>
          <a:p>
            <a:pPr lvl="1">
              <a:defRPr/>
            </a:pPr>
            <a:r>
              <a:rPr lang="en-US" altLang="en-US">
                <a:cs typeface="Times New Roman" panose="02020603050405020304" pitchFamily="18" charset="0"/>
              </a:rPr>
              <a:t>Pretpostavimo da imamo ovakvu iteraciju</a:t>
            </a:r>
            <a:r>
              <a:rPr lang="hr-HR" altLang="en-US"/>
              <a:t> indeksnih promenljivih</a:t>
            </a:r>
          </a:p>
          <a:p>
            <a:pPr lvl="1">
              <a:defRPr/>
            </a:pPr>
            <a:endParaRPr lang="hr-HR" altLang="en-US"/>
          </a:p>
          <a:p>
            <a:pPr lvl="1">
              <a:defRPr/>
            </a:pPr>
            <a:endParaRPr lang="en-US" altLang="en-US"/>
          </a:p>
          <a:p>
            <a:pPr lvl="1" algn="just">
              <a:defRPr/>
            </a:pPr>
            <a:r>
              <a:rPr lang="en-US" altLang="en-US">
                <a:cs typeface="Times New Roman" panose="02020603050405020304" pitchFamily="18" charset="0"/>
              </a:rPr>
              <a:t>ako primenimo krivljenje petlje </a:t>
            </a:r>
            <a:r>
              <a:rPr lang="hr-HR" altLang="en-US">
                <a:solidFill>
                  <a:schemeClr val="accent1"/>
                </a:solidFill>
              </a:rPr>
              <a:t>I</a:t>
            </a:r>
            <a:r>
              <a:rPr lang="hr-HR" altLang="en-US" baseline="-25000">
                <a:solidFill>
                  <a:schemeClr val="accent1"/>
                </a:solidFill>
              </a:rPr>
              <a:t>j</a:t>
            </a:r>
            <a:r>
              <a:rPr lang="en-US" altLang="en-US">
                <a:cs typeface="Times New Roman" panose="02020603050405020304" pitchFamily="18" charset="0"/>
              </a:rPr>
              <a:t> u odnosu na</a:t>
            </a:r>
            <a:r>
              <a:rPr lang="hr-HR" altLang="en-US"/>
              <a:t> </a:t>
            </a:r>
            <a:r>
              <a:rPr lang="hr-HR" altLang="en-US">
                <a:solidFill>
                  <a:schemeClr val="accent1"/>
                </a:solidFill>
              </a:rPr>
              <a:t>I</a:t>
            </a:r>
            <a:r>
              <a:rPr lang="hr-HR" altLang="en-US" baseline="-25000">
                <a:solidFill>
                  <a:schemeClr val="accent1"/>
                </a:solidFill>
              </a:rPr>
              <a:t>i</a:t>
            </a:r>
            <a:r>
              <a:rPr lang="en-US" altLang="en-US">
                <a:cs typeface="Times New Roman" panose="02020603050405020304" pitchFamily="18" charset="0"/>
              </a:rPr>
              <a:t>  za faktor f izvr</a:t>
            </a:r>
            <a:r>
              <a:rPr lang="sr-Latn-CS" altLang="en-US">
                <a:cs typeface="Times New Roman" panose="02020603050405020304" pitchFamily="18" charset="0"/>
              </a:rPr>
              <a:t>šić</a:t>
            </a:r>
            <a:r>
              <a:rPr lang="en-US" altLang="en-US">
                <a:cs typeface="Times New Roman" panose="02020603050405020304" pitchFamily="18" charset="0"/>
              </a:rPr>
              <a:t>e se preslikavanje gornje iteracije u</a:t>
            </a:r>
            <a:endParaRPr lang="hr-HR" altLang="en-US"/>
          </a:p>
          <a:p>
            <a:pPr lvl="1" algn="just">
              <a:defRPr/>
            </a:pPr>
            <a:endParaRPr lang="hr-HR" altLang="en-US"/>
          </a:p>
          <a:p>
            <a:pPr lvl="1" algn="just">
              <a:defRPr/>
            </a:pPr>
            <a:endParaRPr lang="en-US" altLang="en-US">
              <a:latin typeface="Times New Roman" panose="02020603050405020304" pitchFamily="18" charset="0"/>
            </a:endParaRPr>
          </a:p>
          <a:p>
            <a:pPr lvl="1">
              <a:defRPr/>
            </a:pPr>
            <a:endParaRPr lang="en-US" altLang="en-US"/>
          </a:p>
        </p:txBody>
      </p:sp>
      <p:sp>
        <p:nvSpPr>
          <p:cNvPr id="13318" name="Rectangle 5">
            <a:extLst>
              <a:ext uri="{FF2B5EF4-FFF2-40B4-BE49-F238E27FC236}">
                <a16:creationId xmlns:a16="http://schemas.microsoft.com/office/drawing/2014/main" id="{01ABAE40-59F9-4FDB-B884-8A22B3836A05}"/>
              </a:ext>
            </a:extLst>
          </p:cNvPr>
          <p:cNvSpPr>
            <a:spLocks noChangeArrowheads="1"/>
          </p:cNvSpPr>
          <p:nvPr/>
        </p:nvSpPr>
        <p:spPr bwMode="auto">
          <a:xfrm>
            <a:off x="3228975" y="3286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3314" name="Object 4">
            <a:extLst>
              <a:ext uri="{FF2B5EF4-FFF2-40B4-BE49-F238E27FC236}">
                <a16:creationId xmlns:a16="http://schemas.microsoft.com/office/drawing/2014/main" id="{F96B9514-BCC1-44D0-9268-2F7BEE593201}"/>
              </a:ext>
            </a:extLst>
          </p:cNvPr>
          <p:cNvGraphicFramePr>
            <a:graphicFrameLocks noChangeAspect="1"/>
          </p:cNvGraphicFramePr>
          <p:nvPr/>
        </p:nvGraphicFramePr>
        <p:xfrm>
          <a:off x="1905000" y="2286000"/>
          <a:ext cx="4800600" cy="511175"/>
        </p:xfrm>
        <a:graphic>
          <a:graphicData uri="http://schemas.openxmlformats.org/presentationml/2006/ole">
            <mc:AlternateContent xmlns:mc="http://schemas.openxmlformats.org/markup-compatibility/2006">
              <mc:Choice xmlns:v="urn:schemas-microsoft-com:vml" Requires="v">
                <p:oleObj r:id="rId2" imgW="2260600" imgH="241300" progId="Equation.3">
                  <p:embed/>
                </p:oleObj>
              </mc:Choice>
              <mc:Fallback>
                <p:oleObj r:id="rId2" imgW="2260600" imgH="241300" progId="Equation.3">
                  <p:embed/>
                  <p:pic>
                    <p:nvPicPr>
                      <p:cNvPr id="13314" name="Object 4">
                        <a:extLst>
                          <a:ext uri="{FF2B5EF4-FFF2-40B4-BE49-F238E27FC236}">
                            <a16:creationId xmlns:a16="http://schemas.microsoft.com/office/drawing/2014/main" id="{F96B9514-BCC1-44D0-9268-2F7BEE593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86000"/>
                        <a:ext cx="4800600" cy="5111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9" name="Rectangle 7">
            <a:extLst>
              <a:ext uri="{FF2B5EF4-FFF2-40B4-BE49-F238E27FC236}">
                <a16:creationId xmlns:a16="http://schemas.microsoft.com/office/drawing/2014/main" id="{74B7024F-8DEF-447C-89D0-2D47B2C730FC}"/>
              </a:ext>
            </a:extLst>
          </p:cNvPr>
          <p:cNvSpPr>
            <a:spLocks noChangeArrowheads="1"/>
          </p:cNvSpPr>
          <p:nvPr/>
        </p:nvSpPr>
        <p:spPr bwMode="auto">
          <a:xfrm>
            <a:off x="2871788"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3315" name="Object 6">
            <a:extLst>
              <a:ext uri="{FF2B5EF4-FFF2-40B4-BE49-F238E27FC236}">
                <a16:creationId xmlns:a16="http://schemas.microsoft.com/office/drawing/2014/main" id="{D9424B31-20A3-4A50-92FB-7C183B932077}"/>
              </a:ext>
            </a:extLst>
          </p:cNvPr>
          <p:cNvGraphicFramePr>
            <a:graphicFrameLocks noChangeAspect="1"/>
          </p:cNvGraphicFramePr>
          <p:nvPr/>
        </p:nvGraphicFramePr>
        <p:xfrm>
          <a:off x="1524000" y="4343400"/>
          <a:ext cx="5610225" cy="487363"/>
        </p:xfrm>
        <a:graphic>
          <a:graphicData uri="http://schemas.openxmlformats.org/presentationml/2006/ole">
            <mc:AlternateContent xmlns:mc="http://schemas.openxmlformats.org/markup-compatibility/2006">
              <mc:Choice xmlns:v="urn:schemas-microsoft-com:vml" Requires="v">
                <p:oleObj r:id="rId4" imgW="2743200" imgH="241300" progId="Equation.3">
                  <p:embed/>
                </p:oleObj>
              </mc:Choice>
              <mc:Fallback>
                <p:oleObj r:id="rId4" imgW="2743200" imgH="241300" progId="Equation.3">
                  <p:embed/>
                  <p:pic>
                    <p:nvPicPr>
                      <p:cNvPr id="13315" name="Object 6">
                        <a:extLst>
                          <a:ext uri="{FF2B5EF4-FFF2-40B4-BE49-F238E27FC236}">
                            <a16:creationId xmlns:a16="http://schemas.microsoft.com/office/drawing/2014/main" id="{D9424B31-20A3-4A50-92FB-7C183B9320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343400"/>
                        <a:ext cx="5610225" cy="4873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A6E8-0859-4480-9203-1888486762B1}"/>
              </a:ext>
            </a:extLst>
          </p:cNvPr>
          <p:cNvSpPr>
            <a:spLocks noGrp="1"/>
          </p:cNvSpPr>
          <p:nvPr>
            <p:ph type="title"/>
          </p:nvPr>
        </p:nvSpPr>
        <p:spPr/>
        <p:txBody>
          <a:bodyPr/>
          <a:lstStyle/>
          <a:p>
            <a:pPr>
              <a:defRPr/>
            </a:pPr>
            <a:r>
              <a:rPr lang="en-US"/>
              <a:t>Krivljenje</a:t>
            </a:r>
            <a:endParaRPr lang="en-US" dirty="0"/>
          </a:p>
        </p:txBody>
      </p:sp>
      <p:sp>
        <p:nvSpPr>
          <p:cNvPr id="3" name="Content Placeholder 2">
            <a:extLst>
              <a:ext uri="{FF2B5EF4-FFF2-40B4-BE49-F238E27FC236}">
                <a16:creationId xmlns:a16="http://schemas.microsoft.com/office/drawing/2014/main" id="{0E3AD2CE-CF41-47BE-99E6-1D15DEBD23CC}"/>
              </a:ext>
            </a:extLst>
          </p:cNvPr>
          <p:cNvSpPr>
            <a:spLocks noGrp="1"/>
          </p:cNvSpPr>
          <p:nvPr>
            <p:ph idx="1"/>
          </p:nvPr>
        </p:nvSpPr>
        <p:spPr>
          <a:xfrm>
            <a:off x="0" y="708025"/>
            <a:ext cx="9144000" cy="968375"/>
          </a:xfrm>
        </p:spPr>
        <p:txBody>
          <a:bodyPr/>
          <a:lstStyle/>
          <a:p>
            <a:pPr>
              <a:defRPr/>
            </a:pPr>
            <a:r>
              <a:rPr lang="en-US" dirty="0" err="1"/>
              <a:t>Krivljenje</a:t>
            </a:r>
            <a:r>
              <a:rPr lang="en-US" dirty="0"/>
              <a:t> </a:t>
            </a:r>
            <a:r>
              <a:rPr lang="en-US" dirty="0" err="1"/>
              <a:t>petlje</a:t>
            </a:r>
            <a:r>
              <a:rPr lang="en-US" dirty="0"/>
              <a:t> </a:t>
            </a:r>
            <a:r>
              <a:rPr lang="en-US" dirty="0" err="1"/>
              <a:t>i</a:t>
            </a:r>
            <a:r>
              <a:rPr lang="en-US" sz="1600" dirty="0" err="1"/>
              <a:t>k</a:t>
            </a:r>
            <a:r>
              <a:rPr lang="en-US" dirty="0"/>
              <a:t> u </a:t>
            </a:r>
            <a:r>
              <a:rPr lang="en-US" dirty="0" err="1"/>
              <a:t>odnosu</a:t>
            </a:r>
            <a:r>
              <a:rPr lang="en-US" dirty="0"/>
              <a:t> </a:t>
            </a:r>
            <a:r>
              <a:rPr lang="en-US" dirty="0" err="1"/>
              <a:t>na</a:t>
            </a:r>
            <a:r>
              <a:rPr lang="en-US" dirty="0"/>
              <a:t> </a:t>
            </a:r>
            <a:r>
              <a:rPr lang="en-US" dirty="0" err="1"/>
              <a:t>i</a:t>
            </a:r>
            <a:r>
              <a:rPr lang="en-US" sz="1800" dirty="0" err="1"/>
              <a:t>j</a:t>
            </a:r>
            <a:r>
              <a:rPr lang="en-US" dirty="0"/>
              <a:t>  </a:t>
            </a:r>
            <a:r>
              <a:rPr lang="en-US" dirty="0" err="1"/>
              <a:t>za</a:t>
            </a:r>
            <a:r>
              <a:rPr lang="en-US" dirty="0"/>
              <a:t> </a:t>
            </a:r>
            <a:r>
              <a:rPr lang="en-US" dirty="0" err="1"/>
              <a:t>faktor</a:t>
            </a:r>
            <a:r>
              <a:rPr lang="en-US" dirty="0"/>
              <a:t> f</a:t>
            </a:r>
          </a:p>
          <a:p>
            <a:pPr>
              <a:buFont typeface="Wingdings 2" panose="05020102010507070707" pitchFamily="18" charset="2"/>
              <a:buNone/>
              <a:defRPr/>
            </a:pPr>
            <a:endParaRPr lang="en-US" dirty="0"/>
          </a:p>
          <a:p>
            <a:pPr>
              <a:defRPr/>
            </a:pPr>
            <a:endParaRPr lang="en-US" dirty="0"/>
          </a:p>
        </p:txBody>
      </p:sp>
      <p:pic>
        <p:nvPicPr>
          <p:cNvPr id="48132" name="Picture 3">
            <a:extLst>
              <a:ext uri="{FF2B5EF4-FFF2-40B4-BE49-F238E27FC236}">
                <a16:creationId xmlns:a16="http://schemas.microsoft.com/office/drawing/2014/main" id="{C62405EF-5B0A-408E-A7CC-EC1F8E0105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32038"/>
            <a:ext cx="6629400" cy="405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161B77D-AE66-47AF-9F1C-2DE0134918F1}"/>
              </a:ext>
            </a:extLst>
          </p:cNvPr>
          <p:cNvSpPr>
            <a:spLocks noGrp="1" noChangeArrowheads="1"/>
          </p:cNvSpPr>
          <p:nvPr>
            <p:ph type="title"/>
          </p:nvPr>
        </p:nvSpPr>
        <p:spPr/>
        <p:txBody>
          <a:bodyPr/>
          <a:lstStyle/>
          <a:p>
            <a:pPr>
              <a:defRPr/>
            </a:pPr>
            <a:r>
              <a:rPr lang="hr-HR" altLang="en-US"/>
              <a:t>Krivljenje – primer </a:t>
            </a:r>
            <a:endParaRPr lang="en-US" altLang="en-US"/>
          </a:p>
        </p:txBody>
      </p:sp>
      <p:sp>
        <p:nvSpPr>
          <p:cNvPr id="44035" name="Rectangle 3">
            <a:extLst>
              <a:ext uri="{FF2B5EF4-FFF2-40B4-BE49-F238E27FC236}">
                <a16:creationId xmlns:a16="http://schemas.microsoft.com/office/drawing/2014/main" id="{83935877-B215-451F-98BC-7288FBDF13AE}"/>
              </a:ext>
            </a:extLst>
          </p:cNvPr>
          <p:cNvSpPr>
            <a:spLocks noGrp="1" noChangeArrowheads="1"/>
          </p:cNvSpPr>
          <p:nvPr>
            <p:ph type="body" idx="1"/>
          </p:nvPr>
        </p:nvSpPr>
        <p:spPr/>
        <p:txBody>
          <a:bodyPr/>
          <a:lstStyle/>
          <a:p>
            <a:pPr algn="just">
              <a:defRPr/>
            </a:pPr>
            <a:r>
              <a:rPr lang="en-US" altLang="en-US">
                <a:cs typeface="Times New Roman" panose="02020603050405020304" pitchFamily="18" charset="0"/>
              </a:rPr>
              <a:t>PRIMER: </a:t>
            </a:r>
            <a:r>
              <a:rPr lang="en-US" altLang="en-US">
                <a:solidFill>
                  <a:schemeClr val="tx1"/>
                </a:solidFill>
                <a:cs typeface="Times New Roman" panose="02020603050405020304" pitchFamily="18" charset="0"/>
              </a:rPr>
              <a:t>Posmatrajmo slede</a:t>
            </a:r>
            <a:r>
              <a:rPr lang="hr-HR" altLang="en-US">
                <a:solidFill>
                  <a:schemeClr val="tx1"/>
                </a:solidFill>
              </a:rPr>
              <a:t>ć</a:t>
            </a:r>
            <a:r>
              <a:rPr lang="en-US" altLang="en-US">
                <a:solidFill>
                  <a:schemeClr val="tx1"/>
                </a:solidFill>
                <a:cs typeface="Times New Roman" panose="02020603050405020304" pitchFamily="18" charset="0"/>
              </a:rPr>
              <a:t>e gnezdo petlji</a:t>
            </a:r>
          </a:p>
          <a:p>
            <a:pPr lvl="1" algn="just">
              <a:buFont typeface="Wingdings" panose="05000000000000000000" pitchFamily="2" charset="2"/>
              <a:buNone/>
              <a:defRPr/>
            </a:pPr>
            <a:r>
              <a:rPr lang="en-US" altLang="en-US">
                <a:latin typeface="Times Roman YU" pitchFamily="18" charset="0"/>
                <a:cs typeface="Times New Roman" panose="02020603050405020304" pitchFamily="18" charset="0"/>
              </a:rPr>
              <a:t> 		</a:t>
            </a:r>
            <a:r>
              <a:rPr lang="sr-Latn-CS" altLang="en-US">
                <a:cs typeface="Times New Roman" panose="02020603050405020304" pitchFamily="18" charset="0"/>
              </a:rPr>
              <a:t>for</a:t>
            </a:r>
            <a:r>
              <a:rPr lang="en-US" altLang="en-US">
                <a:cs typeface="Times New Roman" panose="02020603050405020304" pitchFamily="18" charset="0"/>
              </a:rPr>
              <a:t> i = 1, n			</a:t>
            </a:r>
          </a:p>
          <a:p>
            <a:pPr lvl="1" algn="just">
              <a:spcBef>
                <a:spcPct val="0"/>
              </a:spcBef>
              <a:buFont typeface="Wingdings" panose="05000000000000000000" pitchFamily="2" charset="2"/>
              <a:buNone/>
              <a:defRPr/>
            </a:pPr>
            <a:r>
              <a:rPr lang="en-US" altLang="en-US">
                <a:cs typeface="Times New Roman" panose="02020603050405020304" pitchFamily="18" charset="0"/>
              </a:rPr>
              <a:t>		</a:t>
            </a:r>
            <a:r>
              <a:rPr lang="sr-Latn-CS" altLang="en-US">
                <a:cs typeface="Times New Roman" panose="02020603050405020304" pitchFamily="18" charset="0"/>
              </a:rPr>
              <a:t>for</a:t>
            </a:r>
            <a:r>
              <a:rPr lang="en-US" altLang="en-US">
                <a:cs typeface="Times New Roman" panose="02020603050405020304" pitchFamily="18" charset="0"/>
              </a:rPr>
              <a:t> j = 1, n					</a:t>
            </a:r>
          </a:p>
          <a:p>
            <a:pPr lvl="1">
              <a:spcBef>
                <a:spcPct val="0"/>
              </a:spcBef>
              <a:buFont typeface="Wingdings" panose="05000000000000000000" pitchFamily="2" charset="2"/>
              <a:buNone/>
              <a:defRPr/>
            </a:pPr>
            <a:r>
              <a:rPr lang="en-US" altLang="en-US">
                <a:cs typeface="Times New Roman" panose="02020603050405020304" pitchFamily="18" charset="0"/>
              </a:rPr>
              <a:t>		  A(i, j) = A(i, j-1) + A(i-1,j)</a:t>
            </a:r>
            <a:endParaRPr lang="hr-HR" altLang="en-US"/>
          </a:p>
          <a:p>
            <a:pPr lvl="1">
              <a:spcBef>
                <a:spcPct val="0"/>
              </a:spcBef>
              <a:buFont typeface="Wingdings" panose="05000000000000000000" pitchFamily="2" charset="2"/>
              <a:buNone/>
              <a:defRPr/>
            </a:pPr>
            <a:r>
              <a:rPr lang="en-US" altLang="en-US"/>
              <a:t>     </a:t>
            </a:r>
            <a:r>
              <a:rPr lang="hr-HR" altLang="en-US"/>
              <a:t>endfor</a:t>
            </a:r>
            <a:r>
              <a:rPr lang="en-US" altLang="en-US"/>
              <a:t>{i,j}</a:t>
            </a:r>
            <a:endParaRPr lang="hr-HR" altLang="en-US"/>
          </a:p>
          <a:p>
            <a:pPr lvl="1">
              <a:spcBef>
                <a:spcPct val="0"/>
              </a:spcBef>
              <a:buFont typeface="Wingdings" panose="05000000000000000000" pitchFamily="2" charset="2"/>
              <a:buNone/>
              <a:defRPr/>
            </a:pPr>
            <a:endParaRPr lang="hr-HR" altLang="en-US"/>
          </a:p>
          <a:p>
            <a:pPr lvl="1" algn="just">
              <a:spcBef>
                <a:spcPct val="0"/>
              </a:spcBef>
              <a:defRPr/>
            </a:pPr>
            <a:r>
              <a:rPr lang="hr-HR" altLang="en-US"/>
              <a:t>P</a:t>
            </a:r>
            <a:r>
              <a:rPr lang="en-US" altLang="en-US">
                <a:cs typeface="Times New Roman" panose="02020603050405020304" pitchFamily="18" charset="0"/>
              </a:rPr>
              <a:t>rimenimo krivljenje indeksne promenljive </a:t>
            </a:r>
            <a:r>
              <a:rPr lang="en-US" altLang="en-US" i="1">
                <a:solidFill>
                  <a:schemeClr val="accent1"/>
                </a:solidFill>
                <a:cs typeface="Times New Roman" panose="02020603050405020304" pitchFamily="18" charset="0"/>
              </a:rPr>
              <a:t>j</a:t>
            </a:r>
            <a:r>
              <a:rPr lang="en-US" altLang="en-US">
                <a:cs typeface="Times New Roman" panose="02020603050405020304" pitchFamily="18" charset="0"/>
              </a:rPr>
              <a:t> u odnosu na </a:t>
            </a:r>
            <a:r>
              <a:rPr lang="en-US" altLang="en-US" i="1">
                <a:solidFill>
                  <a:schemeClr val="accent1"/>
                </a:solidFill>
                <a:cs typeface="Times New Roman" panose="02020603050405020304" pitchFamily="18" charset="0"/>
              </a:rPr>
              <a:t>i</a:t>
            </a:r>
            <a:r>
              <a:rPr lang="en-US" altLang="en-US">
                <a:solidFill>
                  <a:schemeClr val="accent1"/>
                </a:solidFill>
                <a:cs typeface="Times New Roman" panose="02020603050405020304" pitchFamily="18" charset="0"/>
              </a:rPr>
              <a:t> </a:t>
            </a:r>
            <a:r>
              <a:rPr lang="en-US" altLang="en-US">
                <a:cs typeface="Times New Roman" panose="02020603050405020304" pitchFamily="18" charset="0"/>
              </a:rPr>
              <a:t>za faktor </a:t>
            </a:r>
            <a:r>
              <a:rPr lang="en-US" altLang="en-US">
                <a:solidFill>
                  <a:schemeClr val="accent1"/>
                </a:solidFill>
                <a:cs typeface="Times New Roman" panose="02020603050405020304" pitchFamily="18" charset="0"/>
              </a:rPr>
              <a:t>2</a:t>
            </a:r>
            <a:r>
              <a:rPr lang="en-US" altLang="en-US">
                <a:cs typeface="Times New Roman" panose="02020603050405020304" pitchFamily="18" charset="0"/>
              </a:rPr>
              <a:t>. </a:t>
            </a:r>
            <a:endParaRPr lang="hr-HR" altLang="en-US"/>
          </a:p>
          <a:p>
            <a:pPr lvl="1" algn="just">
              <a:spcBef>
                <a:spcPct val="0"/>
              </a:spcBef>
              <a:defRPr/>
            </a:pPr>
            <a:r>
              <a:rPr lang="en-US" altLang="en-US">
                <a:cs typeface="Times New Roman" panose="02020603050405020304" pitchFamily="18" charset="0"/>
              </a:rPr>
              <a:t>Transformacija </a:t>
            </a:r>
            <a:r>
              <a:rPr lang="hr-HR" altLang="en-US"/>
              <a:t>se</a:t>
            </a:r>
            <a:r>
              <a:rPr lang="en-US" altLang="en-US">
                <a:cs typeface="Times New Roman" panose="02020603050405020304" pitchFamily="18" charset="0"/>
              </a:rPr>
              <a:t> opis</a:t>
            </a:r>
            <a:r>
              <a:rPr lang="hr-HR" altLang="en-US"/>
              <a:t>uje</a:t>
            </a:r>
            <a:r>
              <a:rPr lang="en-US" altLang="en-US">
                <a:cs typeface="Times New Roman" panose="02020603050405020304" pitchFamily="18" charset="0"/>
              </a:rPr>
              <a:t> na slede</a:t>
            </a:r>
            <a:r>
              <a:rPr lang="hr-HR" altLang="en-US"/>
              <a:t>ć</a:t>
            </a:r>
            <a:r>
              <a:rPr lang="en-US" altLang="en-US">
                <a:cs typeface="Times New Roman" panose="02020603050405020304" pitchFamily="18" charset="0"/>
              </a:rPr>
              <a:t>i na</a:t>
            </a:r>
            <a:r>
              <a:rPr lang="hr-HR" altLang="en-US"/>
              <a:t>č</a:t>
            </a:r>
            <a:r>
              <a:rPr lang="en-US" altLang="en-US">
                <a:cs typeface="Times New Roman" panose="02020603050405020304" pitchFamily="18" charset="0"/>
              </a:rPr>
              <a:t>in</a:t>
            </a:r>
          </a:p>
          <a:p>
            <a:pPr lvl="1" algn="just">
              <a:spcBef>
                <a:spcPct val="0"/>
              </a:spcBef>
              <a:buFont typeface="Wingdings" panose="05000000000000000000" pitchFamily="2" charset="2"/>
              <a:buNone/>
              <a:defRPr/>
            </a:pPr>
            <a:r>
              <a:rPr lang="en-US" altLang="en-US">
                <a:cs typeface="Times New Roman" panose="02020603050405020304" pitchFamily="18" charset="0"/>
              </a:rPr>
              <a:t> </a:t>
            </a:r>
            <a:endParaRPr lang="hr-HR" altLang="en-US"/>
          </a:p>
          <a:p>
            <a:pPr lvl="1" algn="just">
              <a:spcBef>
                <a:spcPct val="0"/>
              </a:spcBef>
              <a:defRPr/>
            </a:pPr>
            <a:r>
              <a:rPr lang="hr-HR" altLang="en-US"/>
              <a:t>Novi indeksni skup je </a:t>
            </a:r>
          </a:p>
          <a:p>
            <a:pPr lvl="1" algn="just">
              <a:spcBef>
                <a:spcPct val="0"/>
              </a:spcBef>
              <a:defRPr/>
            </a:pPr>
            <a:endParaRPr lang="hr-HR" altLang="en-US"/>
          </a:p>
          <a:p>
            <a:pPr lvl="1" algn="just">
              <a:spcBef>
                <a:spcPct val="0"/>
              </a:spcBef>
              <a:defRPr/>
            </a:pPr>
            <a:endParaRPr lang="hr-HR" altLang="en-US"/>
          </a:p>
          <a:p>
            <a:pPr lvl="1" algn="just">
              <a:spcBef>
                <a:spcPct val="0"/>
              </a:spcBef>
              <a:defRPr/>
            </a:pPr>
            <a:r>
              <a:rPr lang="hr-HR" altLang="en-US"/>
              <a:t>š</a:t>
            </a:r>
            <a:r>
              <a:rPr lang="en-US" altLang="en-US">
                <a:cs typeface="Times New Roman" panose="02020603050405020304" pitchFamily="18" charset="0"/>
              </a:rPr>
              <a:t>to zna</a:t>
            </a:r>
            <a:r>
              <a:rPr lang="hr-HR" altLang="en-US"/>
              <a:t>č</a:t>
            </a:r>
            <a:r>
              <a:rPr lang="en-US" altLang="en-US">
                <a:cs typeface="Times New Roman" panose="02020603050405020304" pitchFamily="18" charset="0"/>
              </a:rPr>
              <a:t>i da je </a:t>
            </a:r>
            <a:r>
              <a:rPr lang="en-US" altLang="en-US" i="1">
                <a:solidFill>
                  <a:schemeClr val="accent1"/>
                </a:solidFill>
                <a:cs typeface="Times New Roman" panose="02020603050405020304" pitchFamily="18" charset="0"/>
              </a:rPr>
              <a:t>u</a:t>
            </a:r>
            <a:r>
              <a:rPr lang="en-US" altLang="en-US">
                <a:solidFill>
                  <a:schemeClr val="accent1"/>
                </a:solidFill>
                <a:cs typeface="Times New Roman" panose="02020603050405020304" pitchFamily="18" charset="0"/>
              </a:rPr>
              <a:t>=</a:t>
            </a:r>
            <a:r>
              <a:rPr lang="en-US" altLang="en-US" i="1">
                <a:solidFill>
                  <a:schemeClr val="accent1"/>
                </a:solidFill>
                <a:cs typeface="Times New Roman" panose="02020603050405020304" pitchFamily="18" charset="0"/>
              </a:rPr>
              <a:t>i</a:t>
            </a:r>
            <a:r>
              <a:rPr lang="en-US" altLang="en-US">
                <a:solidFill>
                  <a:schemeClr val="accent1"/>
                </a:solidFill>
                <a:cs typeface="Times New Roman" panose="02020603050405020304" pitchFamily="18" charset="0"/>
              </a:rPr>
              <a:t>,</a:t>
            </a:r>
            <a:r>
              <a:rPr lang="en-US" altLang="en-US">
                <a:cs typeface="Times New Roman" panose="02020603050405020304" pitchFamily="18" charset="0"/>
              </a:rPr>
              <a:t> </a:t>
            </a:r>
            <a:r>
              <a:rPr lang="en-US" altLang="en-US" i="1">
                <a:solidFill>
                  <a:schemeClr val="accent1"/>
                </a:solidFill>
                <a:cs typeface="Times New Roman" panose="02020603050405020304" pitchFamily="18" charset="0"/>
              </a:rPr>
              <a:t>v</a:t>
            </a:r>
            <a:r>
              <a:rPr lang="en-US" altLang="en-US">
                <a:solidFill>
                  <a:schemeClr val="accent1"/>
                </a:solidFill>
                <a:cs typeface="Times New Roman" panose="02020603050405020304" pitchFamily="18" charset="0"/>
              </a:rPr>
              <a:t>=2</a:t>
            </a:r>
            <a:r>
              <a:rPr lang="en-US" altLang="en-US" i="1">
                <a:solidFill>
                  <a:schemeClr val="accent1"/>
                </a:solidFill>
                <a:cs typeface="Times New Roman" panose="02020603050405020304" pitchFamily="18" charset="0"/>
              </a:rPr>
              <a:t>i</a:t>
            </a:r>
            <a:r>
              <a:rPr lang="en-US" altLang="en-US">
                <a:solidFill>
                  <a:schemeClr val="accent1"/>
                </a:solidFill>
                <a:cs typeface="Times New Roman" panose="02020603050405020304" pitchFamily="18" charset="0"/>
              </a:rPr>
              <a:t>+</a:t>
            </a:r>
            <a:r>
              <a:rPr lang="en-US" altLang="en-US" i="1">
                <a:solidFill>
                  <a:schemeClr val="accent1"/>
                </a:solidFill>
                <a:cs typeface="Times New Roman" panose="02020603050405020304" pitchFamily="18" charset="0"/>
              </a:rPr>
              <a:t>j</a:t>
            </a:r>
            <a:r>
              <a:rPr lang="en-US" altLang="en-US">
                <a:solidFill>
                  <a:schemeClr val="accent1"/>
                </a:solidFill>
                <a:cs typeface="Times New Roman" panose="02020603050405020304" pitchFamily="18" charset="0"/>
              </a:rPr>
              <a:t>, </a:t>
            </a:r>
            <a:endParaRPr lang="hr-HR" altLang="en-US">
              <a:solidFill>
                <a:schemeClr val="accent1"/>
              </a:solidFill>
            </a:endParaRPr>
          </a:p>
          <a:p>
            <a:pPr lvl="1" algn="just">
              <a:spcBef>
                <a:spcPct val="0"/>
              </a:spcBef>
              <a:defRPr/>
            </a:pPr>
            <a:r>
              <a:rPr lang="en-US" altLang="en-US">
                <a:cs typeface="Times New Roman" panose="02020603050405020304" pitchFamily="18" charset="0"/>
              </a:rPr>
              <a:t>granice novih indeksnih promenljivih su </a:t>
            </a:r>
            <a:r>
              <a:rPr lang="en-US" altLang="en-US" i="1">
                <a:solidFill>
                  <a:schemeClr val="accent1"/>
                </a:solidFill>
                <a:cs typeface="Times New Roman" panose="02020603050405020304" pitchFamily="18" charset="0"/>
              </a:rPr>
              <a:t>u</a:t>
            </a:r>
            <a:r>
              <a:rPr lang="en-US" altLang="en-US">
                <a:solidFill>
                  <a:schemeClr val="accent1"/>
                </a:solidFill>
                <a:cs typeface="Times New Roman" panose="02020603050405020304" pitchFamily="18" charset="0"/>
              </a:rPr>
              <a:t>=1,</a:t>
            </a:r>
            <a:r>
              <a:rPr lang="en-US" altLang="en-US" i="1">
                <a:solidFill>
                  <a:schemeClr val="accent1"/>
                </a:solidFill>
                <a:cs typeface="Times New Roman" panose="02020603050405020304" pitchFamily="18" charset="0"/>
              </a:rPr>
              <a:t>n</a:t>
            </a:r>
            <a:r>
              <a:rPr lang="en-US" altLang="en-US">
                <a:cs typeface="Times New Roman" panose="02020603050405020304" pitchFamily="18" charset="0"/>
              </a:rPr>
              <a:t> i </a:t>
            </a:r>
            <a:r>
              <a:rPr lang="en-US" altLang="en-US" i="1">
                <a:solidFill>
                  <a:schemeClr val="accent1"/>
                </a:solidFill>
                <a:cs typeface="Times New Roman" panose="02020603050405020304" pitchFamily="18" charset="0"/>
              </a:rPr>
              <a:t>v</a:t>
            </a:r>
            <a:r>
              <a:rPr lang="en-US" altLang="en-US">
                <a:solidFill>
                  <a:schemeClr val="accent1"/>
                </a:solidFill>
                <a:cs typeface="Times New Roman" panose="02020603050405020304" pitchFamily="18" charset="0"/>
              </a:rPr>
              <a:t>=2</a:t>
            </a:r>
            <a:r>
              <a:rPr lang="en-US" altLang="en-US" i="1">
                <a:solidFill>
                  <a:schemeClr val="accent1"/>
                </a:solidFill>
                <a:cs typeface="Times New Roman" panose="02020603050405020304" pitchFamily="18" charset="0"/>
              </a:rPr>
              <a:t>u</a:t>
            </a:r>
            <a:r>
              <a:rPr lang="en-US" altLang="en-US">
                <a:solidFill>
                  <a:schemeClr val="accent1"/>
                </a:solidFill>
                <a:cs typeface="Times New Roman" panose="02020603050405020304" pitchFamily="18" charset="0"/>
              </a:rPr>
              <a:t>+1,2</a:t>
            </a:r>
            <a:r>
              <a:rPr lang="en-US" altLang="en-US" i="1">
                <a:solidFill>
                  <a:schemeClr val="accent1"/>
                </a:solidFill>
                <a:cs typeface="Times New Roman" panose="02020603050405020304" pitchFamily="18" charset="0"/>
              </a:rPr>
              <a:t>u</a:t>
            </a:r>
            <a:r>
              <a:rPr lang="en-US" altLang="en-US">
                <a:solidFill>
                  <a:schemeClr val="accent1"/>
                </a:solidFill>
                <a:cs typeface="Times New Roman" panose="02020603050405020304" pitchFamily="18" charset="0"/>
              </a:rPr>
              <a:t>+</a:t>
            </a:r>
            <a:r>
              <a:rPr lang="en-US" altLang="en-US" i="1">
                <a:solidFill>
                  <a:schemeClr val="accent1"/>
                </a:solidFill>
                <a:cs typeface="Times New Roman" panose="02020603050405020304" pitchFamily="18" charset="0"/>
              </a:rPr>
              <a:t>n</a:t>
            </a:r>
            <a:r>
              <a:rPr lang="en-US" altLang="en-US">
                <a:solidFill>
                  <a:schemeClr val="accent1"/>
                </a:solidFill>
                <a:cs typeface="Times New Roman" panose="02020603050405020304" pitchFamily="18" charset="0"/>
              </a:rPr>
              <a:t>.</a:t>
            </a:r>
            <a:r>
              <a:rPr lang="en-US" altLang="en-US">
                <a:latin typeface="Times Roman YU" pitchFamily="18" charset="0"/>
                <a:cs typeface="Times New Roman" panose="02020603050405020304" pitchFamily="18" charset="0"/>
              </a:rPr>
              <a:t> </a:t>
            </a:r>
            <a:endParaRPr lang="en-US" altLang="en-US"/>
          </a:p>
        </p:txBody>
      </p:sp>
      <p:sp>
        <p:nvSpPr>
          <p:cNvPr id="14342" name="Rectangle 5">
            <a:extLst>
              <a:ext uri="{FF2B5EF4-FFF2-40B4-BE49-F238E27FC236}">
                <a16:creationId xmlns:a16="http://schemas.microsoft.com/office/drawing/2014/main" id="{8B78B0FF-2ED8-4833-8DF3-A1BC4BB61B4C}"/>
              </a:ext>
            </a:extLst>
          </p:cNvPr>
          <p:cNvSpPr>
            <a:spLocks noChangeArrowheads="1"/>
          </p:cNvSpPr>
          <p:nvPr/>
        </p:nvSpPr>
        <p:spPr bwMode="auto">
          <a:xfrm>
            <a:off x="368141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4338" name="Object 4">
            <a:extLst>
              <a:ext uri="{FF2B5EF4-FFF2-40B4-BE49-F238E27FC236}">
                <a16:creationId xmlns:a16="http://schemas.microsoft.com/office/drawing/2014/main" id="{6B6E3239-DAC4-4EF9-BB77-A067BE64C82C}"/>
              </a:ext>
            </a:extLst>
          </p:cNvPr>
          <p:cNvGraphicFramePr>
            <a:graphicFrameLocks noChangeAspect="1"/>
          </p:cNvGraphicFramePr>
          <p:nvPr/>
        </p:nvGraphicFramePr>
        <p:xfrm>
          <a:off x="6705600" y="3657600"/>
          <a:ext cx="1166813" cy="754063"/>
        </p:xfrm>
        <a:graphic>
          <a:graphicData uri="http://schemas.openxmlformats.org/presentationml/2006/ole">
            <mc:AlternateContent xmlns:mc="http://schemas.openxmlformats.org/markup-compatibility/2006">
              <mc:Choice xmlns:v="urn:schemas-microsoft-com:vml" Requires="v">
                <p:oleObj name="Equation" r:id="rId2" imgW="609336" imgH="393529" progId="Equation.3">
                  <p:embed/>
                </p:oleObj>
              </mc:Choice>
              <mc:Fallback>
                <p:oleObj name="Equation" r:id="rId2" imgW="609336" imgH="393529" progId="Equation.3">
                  <p:embed/>
                  <p:pic>
                    <p:nvPicPr>
                      <p:cNvPr id="14338" name="Object 4">
                        <a:extLst>
                          <a:ext uri="{FF2B5EF4-FFF2-40B4-BE49-F238E27FC236}">
                            <a16:creationId xmlns:a16="http://schemas.microsoft.com/office/drawing/2014/main" id="{6B6E3239-DAC4-4EF9-BB77-A067BE64C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657600"/>
                        <a:ext cx="1166813" cy="7540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7">
            <a:extLst>
              <a:ext uri="{FF2B5EF4-FFF2-40B4-BE49-F238E27FC236}">
                <a16:creationId xmlns:a16="http://schemas.microsoft.com/office/drawing/2014/main" id="{4F60F5C8-BDE7-42AC-91D0-047D809E7BFD}"/>
              </a:ext>
            </a:extLst>
          </p:cNvPr>
          <p:cNvSpPr>
            <a:spLocks noChangeArrowheads="1"/>
          </p:cNvSpPr>
          <p:nvPr/>
        </p:nvSpPr>
        <p:spPr bwMode="auto">
          <a:xfrm>
            <a:off x="368141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4339" name="Object 6">
            <a:extLst>
              <a:ext uri="{FF2B5EF4-FFF2-40B4-BE49-F238E27FC236}">
                <a16:creationId xmlns:a16="http://schemas.microsoft.com/office/drawing/2014/main" id="{40C77426-71FB-4B42-9CDD-93E20D2C7003}"/>
              </a:ext>
            </a:extLst>
          </p:cNvPr>
          <p:cNvGraphicFramePr>
            <a:graphicFrameLocks noChangeAspect="1"/>
          </p:cNvGraphicFramePr>
          <p:nvPr/>
        </p:nvGraphicFramePr>
        <p:xfrm>
          <a:off x="3962400" y="4648200"/>
          <a:ext cx="3048000" cy="782638"/>
        </p:xfrm>
        <a:graphic>
          <a:graphicData uri="http://schemas.openxmlformats.org/presentationml/2006/ole">
            <mc:AlternateContent xmlns:mc="http://schemas.openxmlformats.org/markup-compatibility/2006">
              <mc:Choice xmlns:v="urn:schemas-microsoft-com:vml" Requires="v">
                <p:oleObj r:id="rId4" imgW="1778000" imgH="457200" progId="Equation.3">
                  <p:embed/>
                </p:oleObj>
              </mc:Choice>
              <mc:Fallback>
                <p:oleObj r:id="rId4" imgW="1778000" imgH="457200" progId="Equation.3">
                  <p:embed/>
                  <p:pic>
                    <p:nvPicPr>
                      <p:cNvPr id="14339" name="Object 6">
                        <a:extLst>
                          <a:ext uri="{FF2B5EF4-FFF2-40B4-BE49-F238E27FC236}">
                            <a16:creationId xmlns:a16="http://schemas.microsoft.com/office/drawing/2014/main" id="{40C77426-71FB-4B42-9CDD-93E20D2C70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4648200"/>
                        <a:ext cx="3048000" cy="7826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67DF-6F22-46B2-932A-D0F4A735FD29}"/>
              </a:ext>
            </a:extLst>
          </p:cNvPr>
          <p:cNvSpPr>
            <a:spLocks noGrp="1"/>
          </p:cNvSpPr>
          <p:nvPr>
            <p:ph type="title"/>
          </p:nvPr>
        </p:nvSpPr>
        <p:spPr/>
        <p:txBody>
          <a:bodyPr/>
          <a:lstStyle/>
          <a:p>
            <a:pPr>
              <a:defRPr/>
            </a:pPr>
            <a:endParaRPr lang="en-US"/>
          </a:p>
        </p:txBody>
      </p:sp>
      <p:sp>
        <p:nvSpPr>
          <p:cNvPr id="3" name="Content Placeholder 2">
            <a:extLst>
              <a:ext uri="{FF2B5EF4-FFF2-40B4-BE49-F238E27FC236}">
                <a16:creationId xmlns:a16="http://schemas.microsoft.com/office/drawing/2014/main" id="{5B37DD24-65DB-4C46-84D1-D11A8C0381F6}"/>
              </a:ext>
            </a:extLst>
          </p:cNvPr>
          <p:cNvSpPr>
            <a:spLocks noGrp="1"/>
          </p:cNvSpPr>
          <p:nvPr>
            <p:ph idx="1"/>
          </p:nvPr>
        </p:nvSpPr>
        <p:spPr/>
        <p:txBody>
          <a:bodyPr/>
          <a:lstStyle/>
          <a:p>
            <a:pPr>
              <a:defRPr/>
            </a:pPr>
            <a:r>
              <a:rPr lang="en-US" dirty="0" err="1"/>
              <a:t>Matrica</a:t>
            </a:r>
            <a:r>
              <a:rPr lang="en-US" dirty="0"/>
              <a:t> </a:t>
            </a:r>
            <a:r>
              <a:rPr lang="en-US" dirty="0" err="1"/>
              <a:t>krivljenja</a:t>
            </a:r>
            <a:endParaRPr lang="en-US" dirty="0"/>
          </a:p>
          <a:p>
            <a:pPr>
              <a:defRPr/>
            </a:pPr>
            <a:endParaRPr lang="en-US" dirty="0"/>
          </a:p>
          <a:p>
            <a:pPr>
              <a:buFont typeface="Wingdings 2" panose="05020102010507070707" pitchFamily="18" charset="2"/>
              <a:buNone/>
              <a:defRPr/>
            </a:pPr>
            <a:endParaRPr lang="en-US" sz="3200" dirty="0"/>
          </a:p>
        </p:txBody>
      </p:sp>
      <p:graphicFrame>
        <p:nvGraphicFramePr>
          <p:cNvPr id="15362" name="Object 2">
            <a:extLst>
              <a:ext uri="{FF2B5EF4-FFF2-40B4-BE49-F238E27FC236}">
                <a16:creationId xmlns:a16="http://schemas.microsoft.com/office/drawing/2014/main" id="{CC9326E1-028E-4682-9D3C-659F60260008}"/>
              </a:ext>
            </a:extLst>
          </p:cNvPr>
          <p:cNvGraphicFramePr>
            <a:graphicFrameLocks noChangeAspect="1"/>
          </p:cNvGraphicFramePr>
          <p:nvPr/>
        </p:nvGraphicFramePr>
        <p:xfrm>
          <a:off x="1905000" y="1343025"/>
          <a:ext cx="1371600" cy="866775"/>
        </p:xfrm>
        <a:graphic>
          <a:graphicData uri="http://schemas.openxmlformats.org/presentationml/2006/ole">
            <mc:AlternateContent xmlns:mc="http://schemas.openxmlformats.org/markup-compatibility/2006">
              <mc:Choice xmlns:v="urn:schemas-microsoft-com:vml" Requires="v">
                <p:oleObj name="Equation" r:id="rId2" imgW="723600" imgH="457200" progId="Equation.3">
                  <p:embed/>
                </p:oleObj>
              </mc:Choice>
              <mc:Fallback>
                <p:oleObj name="Equation" r:id="rId2" imgW="723600" imgH="457200" progId="Equation.3">
                  <p:embed/>
                  <p:pic>
                    <p:nvPicPr>
                      <p:cNvPr id="15362" name="Object 2">
                        <a:extLst>
                          <a:ext uri="{FF2B5EF4-FFF2-40B4-BE49-F238E27FC236}">
                            <a16:creationId xmlns:a16="http://schemas.microsoft.com/office/drawing/2014/main" id="{CC9326E1-028E-4682-9D3C-659F60260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343025"/>
                        <a:ext cx="1371600"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 name="Rectangle 4">
            <a:extLst>
              <a:ext uri="{FF2B5EF4-FFF2-40B4-BE49-F238E27FC236}">
                <a16:creationId xmlns:a16="http://schemas.microsoft.com/office/drawing/2014/main" id="{CAC500D8-6957-4236-9CE1-CA73D10CC4E8}"/>
              </a:ext>
            </a:extLst>
          </p:cNvPr>
          <p:cNvSpPr>
            <a:spLocks noChangeArrowheads="1"/>
          </p:cNvSpPr>
          <p:nvPr/>
        </p:nvSpPr>
        <p:spPr bwMode="auto">
          <a:xfrm>
            <a:off x="457200" y="3244850"/>
            <a:ext cx="25146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sr-Latn-RS" dirty="0"/>
              <a:t>Original Loop</a:t>
            </a:r>
          </a:p>
          <a:p>
            <a:endParaRPr lang="en-US" altLang="sr-Latn-RS" dirty="0"/>
          </a:p>
          <a:p>
            <a:r>
              <a:rPr lang="sr-Latn-RS" altLang="sr-Latn-RS" dirty="0"/>
              <a:t>for</a:t>
            </a:r>
            <a:r>
              <a:rPr lang="pt-BR" altLang="sr-Latn-RS" dirty="0"/>
              <a:t> I1 = n1, N1                                         </a:t>
            </a:r>
          </a:p>
          <a:p>
            <a:r>
              <a:rPr lang="pt-BR" altLang="sr-Latn-RS" dirty="0"/>
              <a:t>  </a:t>
            </a:r>
            <a:r>
              <a:rPr lang="sr-Latn-RS" altLang="sr-Latn-RS" dirty="0"/>
              <a:t>for</a:t>
            </a:r>
            <a:r>
              <a:rPr lang="pt-BR" altLang="sr-Latn-RS" dirty="0"/>
              <a:t> I2 = n2, N2</a:t>
            </a:r>
          </a:p>
          <a:p>
            <a:r>
              <a:rPr lang="en-US" altLang="sr-Latn-RS" dirty="0"/>
              <a:t>     H(I1, I2)</a:t>
            </a:r>
          </a:p>
          <a:p>
            <a:r>
              <a:rPr lang="en-US" altLang="sr-Latn-RS" dirty="0"/>
              <a:t>  end </a:t>
            </a:r>
            <a:r>
              <a:rPr lang="sr-Latn-RS" altLang="sr-Latn-RS" dirty="0"/>
              <a:t>for</a:t>
            </a:r>
            <a:endParaRPr lang="en-US" altLang="sr-Latn-RS" dirty="0"/>
          </a:p>
          <a:p>
            <a:r>
              <a:rPr lang="en-US" altLang="sr-Latn-RS" dirty="0"/>
              <a:t>end </a:t>
            </a:r>
            <a:r>
              <a:rPr lang="sr-Latn-RS" altLang="sr-Latn-RS" dirty="0"/>
              <a:t>for</a:t>
            </a:r>
            <a:endParaRPr lang="en-US" altLang="sr-Latn-RS" dirty="0"/>
          </a:p>
          <a:p>
            <a:endParaRPr lang="en-US" altLang="sr-Latn-RS" dirty="0"/>
          </a:p>
          <a:p>
            <a:endParaRPr lang="en-US" altLang="sr-Latn-RS" dirty="0"/>
          </a:p>
          <a:p>
            <a:endParaRPr lang="en-US" altLang="sr-Latn-RS" dirty="0"/>
          </a:p>
        </p:txBody>
      </p:sp>
      <p:sp>
        <p:nvSpPr>
          <p:cNvPr id="15366" name="Rectangle 5">
            <a:extLst>
              <a:ext uri="{FF2B5EF4-FFF2-40B4-BE49-F238E27FC236}">
                <a16:creationId xmlns:a16="http://schemas.microsoft.com/office/drawing/2014/main" id="{A726780C-275C-4A36-98D1-EF90BFFDF494}"/>
              </a:ext>
            </a:extLst>
          </p:cNvPr>
          <p:cNvSpPr>
            <a:spLocks noChangeArrowheads="1"/>
          </p:cNvSpPr>
          <p:nvPr/>
        </p:nvSpPr>
        <p:spPr bwMode="auto">
          <a:xfrm>
            <a:off x="3581400" y="3352800"/>
            <a:ext cx="4572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sr-Latn-RS" dirty="0"/>
              <a:t>Transformed Loop</a:t>
            </a:r>
          </a:p>
          <a:p>
            <a:endParaRPr lang="pt-BR" altLang="sr-Latn-RS" dirty="0"/>
          </a:p>
          <a:p>
            <a:r>
              <a:rPr lang="sr-Latn-RS" altLang="sr-Latn-RS" dirty="0"/>
              <a:t>for</a:t>
            </a:r>
            <a:r>
              <a:rPr lang="pt-BR" altLang="sr-Latn-RS" dirty="0"/>
              <a:t> K 1 = n1, N1</a:t>
            </a:r>
          </a:p>
          <a:p>
            <a:r>
              <a:rPr lang="pt-BR" altLang="sr-Latn-RS" dirty="0"/>
              <a:t>  </a:t>
            </a:r>
            <a:r>
              <a:rPr lang="sr-Latn-RS" altLang="sr-Latn-RS" dirty="0"/>
              <a:t>for</a:t>
            </a:r>
            <a:r>
              <a:rPr lang="pt-BR" altLang="sr-Latn-RS" dirty="0"/>
              <a:t> K 2 = n2 + q*K 1, N2 + q*</a:t>
            </a:r>
            <a:r>
              <a:rPr lang="pt-BR" altLang="sr-Latn-RS"/>
              <a:t>K 1 </a:t>
            </a:r>
            <a:endParaRPr lang="pt-BR" altLang="sr-Latn-RS" dirty="0"/>
          </a:p>
          <a:p>
            <a:r>
              <a:rPr lang="pt-BR" altLang="sr-Latn-RS" dirty="0"/>
              <a:t>          H(K 1, K 2 - q*K 1)</a:t>
            </a:r>
          </a:p>
          <a:p>
            <a:r>
              <a:rPr lang="en-US" altLang="sr-Latn-RS" dirty="0"/>
              <a:t>  end </a:t>
            </a:r>
            <a:r>
              <a:rPr lang="sr-Latn-RS" altLang="sr-Latn-RS" dirty="0"/>
              <a:t>for</a:t>
            </a:r>
            <a:endParaRPr lang="en-US" altLang="sr-Latn-RS" dirty="0"/>
          </a:p>
          <a:p>
            <a:r>
              <a:rPr lang="en-US" altLang="sr-Latn-RS" dirty="0"/>
              <a:t>end </a:t>
            </a:r>
            <a:r>
              <a:rPr lang="sr-Latn-RS" altLang="sr-Latn-RS" dirty="0"/>
              <a:t>for</a:t>
            </a:r>
            <a:endParaRPr lang="en-US" altLang="sr-Latn-RS" dirty="0"/>
          </a:p>
        </p:txBody>
      </p:sp>
    </p:spTree>
  </p:cSld>
  <p:clrMapOvr>
    <a:masterClrMapping/>
  </p:clrMapOvr>
  <p:transition>
    <p:pull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0F479893-182A-4E09-AFF0-9ED6A3BD2958}"/>
              </a:ext>
            </a:extLst>
          </p:cNvPr>
          <p:cNvSpPr>
            <a:spLocks noGrp="1" noChangeArrowheads="1"/>
          </p:cNvSpPr>
          <p:nvPr>
            <p:ph type="body" idx="1"/>
          </p:nvPr>
        </p:nvSpPr>
        <p:spPr/>
        <p:txBody>
          <a:bodyPr/>
          <a:lstStyle/>
          <a:p>
            <a:pPr>
              <a:defRPr/>
            </a:pPr>
            <a:r>
              <a:rPr lang="hr-HR" altLang="en-US"/>
              <a:t>Transformisana petlja ima sledeći izgled</a:t>
            </a:r>
          </a:p>
          <a:p>
            <a:pPr lvl="1" algn="just">
              <a:spcBef>
                <a:spcPct val="0"/>
              </a:spcBef>
              <a:buFont typeface="Wingdings" panose="05000000000000000000" pitchFamily="2" charset="2"/>
              <a:buNone/>
              <a:defRPr/>
            </a:pPr>
            <a:r>
              <a:rPr lang="hr-HR" altLang="en-US"/>
              <a:t>		</a:t>
            </a:r>
            <a:r>
              <a:rPr lang="en-US" altLang="en-US">
                <a:cs typeface="Times New Roman" panose="02020603050405020304" pitchFamily="18" charset="0"/>
              </a:rPr>
              <a:t>for u = 1, n</a:t>
            </a:r>
          </a:p>
          <a:p>
            <a:pPr lvl="1" algn="just">
              <a:spcBef>
                <a:spcPct val="0"/>
              </a:spcBef>
              <a:buFont typeface="Wingdings" panose="05000000000000000000" pitchFamily="2" charset="2"/>
              <a:buNone/>
              <a:defRPr/>
            </a:pPr>
            <a:r>
              <a:rPr lang="en-US" altLang="en-US">
                <a:cs typeface="Times New Roman" panose="02020603050405020304" pitchFamily="18" charset="0"/>
              </a:rPr>
              <a:t>		for v = 2u+1, 2u+ n</a:t>
            </a:r>
          </a:p>
          <a:p>
            <a:pPr lvl="1" algn="just">
              <a:spcBef>
                <a:spcPct val="0"/>
              </a:spcBef>
              <a:buFont typeface="Wingdings" panose="05000000000000000000" pitchFamily="2" charset="2"/>
              <a:buNone/>
              <a:defRPr/>
            </a:pPr>
            <a:r>
              <a:rPr lang="en-US" altLang="en-US">
                <a:cs typeface="Times New Roman" panose="02020603050405020304" pitchFamily="18" charset="0"/>
              </a:rPr>
              <a:t>		A(u, v-2u) = A(u,v-2u-1) + A(u-1, v-2u)</a:t>
            </a:r>
            <a:endParaRPr lang="hr-HR" altLang="en-US"/>
          </a:p>
          <a:p>
            <a:pPr lvl="1" algn="just">
              <a:spcBef>
                <a:spcPct val="0"/>
              </a:spcBef>
              <a:buFont typeface="Wingdings" panose="05000000000000000000" pitchFamily="2" charset="2"/>
              <a:buNone/>
              <a:defRPr/>
            </a:pPr>
            <a:r>
              <a:rPr lang="en-US" altLang="en-US"/>
              <a:t>     endfor{u,v}</a:t>
            </a:r>
            <a:endParaRPr lang="hr-HR" altLang="en-US"/>
          </a:p>
          <a:p>
            <a:pPr lvl="1" algn="just">
              <a:spcBef>
                <a:spcPct val="0"/>
              </a:spcBef>
              <a:buFont typeface="Wingdings" panose="05000000000000000000" pitchFamily="2" charset="2"/>
              <a:buNone/>
              <a:defRPr/>
            </a:pPr>
            <a:endParaRPr lang="en-US" altLang="en-US"/>
          </a:p>
          <a:p>
            <a:pPr lvl="1">
              <a:spcBef>
                <a:spcPct val="0"/>
              </a:spcBef>
              <a:buFont typeface="Wingdings" panose="05000000000000000000" pitchFamily="2" charset="2"/>
              <a:buNone/>
              <a:defRPr/>
            </a:pPr>
            <a:endParaRPr lang="en-US" altLang="en-US"/>
          </a:p>
        </p:txBody>
      </p:sp>
      <p:sp>
        <p:nvSpPr>
          <p:cNvPr id="45060" name="Rectangle 4">
            <a:extLst>
              <a:ext uri="{FF2B5EF4-FFF2-40B4-BE49-F238E27FC236}">
                <a16:creationId xmlns:a16="http://schemas.microsoft.com/office/drawing/2014/main" id="{E9FE029A-07BA-4AE6-9A8A-C869B8F4AC18}"/>
              </a:ext>
            </a:extLst>
          </p:cNvPr>
          <p:cNvSpPr>
            <a:spLocks noGrp="1" noChangeArrowheads="1"/>
          </p:cNvSpPr>
          <p:nvPr>
            <p:ph type="title"/>
          </p:nvPr>
        </p:nvSpPr>
        <p:spPr/>
        <p:txBody>
          <a:bodyPr/>
          <a:lstStyle/>
          <a:p>
            <a:pPr>
              <a:defRPr/>
            </a:pPr>
            <a:r>
              <a:rPr lang="hr-HR" altLang="en-US"/>
              <a:t>Krivljenje – primer (nast.)</a:t>
            </a:r>
            <a:endParaRPr lang="en-US" altLang="en-US"/>
          </a:p>
        </p:txBody>
      </p:sp>
      <p:sp>
        <p:nvSpPr>
          <p:cNvPr id="49156" name="Text Box 23">
            <a:extLst>
              <a:ext uri="{FF2B5EF4-FFF2-40B4-BE49-F238E27FC236}">
                <a16:creationId xmlns:a16="http://schemas.microsoft.com/office/drawing/2014/main" id="{9755B299-FD9B-47B7-B9C0-920628D5BD4D}"/>
              </a:ext>
            </a:extLst>
          </p:cNvPr>
          <p:cNvSpPr txBox="1">
            <a:spLocks noChangeArrowheads="1"/>
          </p:cNvSpPr>
          <p:nvPr/>
        </p:nvSpPr>
        <p:spPr bwMode="auto">
          <a:xfrm>
            <a:off x="152400" y="350520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I</a:t>
            </a:r>
            <a:endParaRPr lang="en-US" altLang="en-US"/>
          </a:p>
        </p:txBody>
      </p:sp>
      <p:sp>
        <p:nvSpPr>
          <p:cNvPr id="45085" name="Text Box 29">
            <a:extLst>
              <a:ext uri="{FF2B5EF4-FFF2-40B4-BE49-F238E27FC236}">
                <a16:creationId xmlns:a16="http://schemas.microsoft.com/office/drawing/2014/main" id="{C07B9029-A1B2-44B3-8BAA-46A97E273658}"/>
              </a:ext>
            </a:extLst>
          </p:cNvPr>
          <p:cNvSpPr txBox="1">
            <a:spLocks noChangeArrowheads="1"/>
          </p:cNvSpPr>
          <p:nvPr/>
        </p:nvSpPr>
        <p:spPr bwMode="auto">
          <a:xfrm>
            <a:off x="228600" y="5805488"/>
            <a:ext cx="2098675" cy="366712"/>
          </a:xfrm>
          <a:prstGeom prst="rect">
            <a:avLst/>
          </a:prstGeom>
          <a:noFill/>
          <a:ln>
            <a:noFill/>
          </a:ln>
          <a:effectLst/>
        </p:spPr>
        <p:txBody>
          <a:bodyPr wrap="none" anchor="b">
            <a:spAutoFit/>
          </a:bodyPr>
          <a:lstStyle/>
          <a:p>
            <a:pPr>
              <a:defRPr/>
            </a:pPr>
            <a:r>
              <a:rPr lang="hr-HR" altLang="en-US">
                <a:solidFill>
                  <a:schemeClr val="hlink"/>
                </a:solidFill>
                <a:effectLst>
                  <a:outerShdw blurRad="38100" dist="38100" dir="2700000" algn="tl">
                    <a:srgbClr val="C0C0C0"/>
                  </a:outerShdw>
                </a:effectLst>
                <a:latin typeface="Tahoma" panose="020B0604030504040204" pitchFamily="34" charset="0"/>
              </a:rPr>
              <a:t>Pre transformacije</a:t>
            </a:r>
            <a:r>
              <a:rPr lang="hr-HR" altLang="en-US">
                <a:solidFill>
                  <a:schemeClr val="hlink"/>
                </a:solidFill>
                <a:latin typeface="Tahoma" panose="020B0604030504040204" pitchFamily="34" charset="0"/>
              </a:rPr>
              <a:t> </a:t>
            </a:r>
            <a:endParaRPr lang="en-US" altLang="en-US">
              <a:solidFill>
                <a:schemeClr val="hlink"/>
              </a:solidFill>
              <a:latin typeface="Tahoma" panose="020B0604030504040204" pitchFamily="34" charset="0"/>
            </a:endParaRPr>
          </a:p>
        </p:txBody>
      </p:sp>
      <p:sp>
        <p:nvSpPr>
          <p:cNvPr id="49158" name="Line 5">
            <a:extLst>
              <a:ext uri="{FF2B5EF4-FFF2-40B4-BE49-F238E27FC236}">
                <a16:creationId xmlns:a16="http://schemas.microsoft.com/office/drawing/2014/main" id="{DFFDD8DE-15C5-4EB8-9E35-34948C3B26DC}"/>
              </a:ext>
            </a:extLst>
          </p:cNvPr>
          <p:cNvSpPr>
            <a:spLocks noChangeShapeType="1"/>
          </p:cNvSpPr>
          <p:nvPr/>
        </p:nvSpPr>
        <p:spPr bwMode="auto">
          <a:xfrm>
            <a:off x="473075" y="3635375"/>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59" name="Line 6">
            <a:extLst>
              <a:ext uri="{FF2B5EF4-FFF2-40B4-BE49-F238E27FC236}">
                <a16:creationId xmlns:a16="http://schemas.microsoft.com/office/drawing/2014/main" id="{C632B8D7-06FC-4265-9DB3-36376F18BCFF}"/>
              </a:ext>
            </a:extLst>
          </p:cNvPr>
          <p:cNvSpPr>
            <a:spLocks noChangeShapeType="1"/>
          </p:cNvSpPr>
          <p:nvPr/>
        </p:nvSpPr>
        <p:spPr bwMode="auto">
          <a:xfrm>
            <a:off x="473075" y="5464175"/>
            <a:ext cx="2362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0" name="Line 7">
            <a:extLst>
              <a:ext uri="{FF2B5EF4-FFF2-40B4-BE49-F238E27FC236}">
                <a16:creationId xmlns:a16="http://schemas.microsoft.com/office/drawing/2014/main" id="{47F60944-DD56-4B1A-805F-75738045A85D}"/>
              </a:ext>
            </a:extLst>
          </p:cNvPr>
          <p:cNvSpPr>
            <a:spLocks noChangeShapeType="1"/>
          </p:cNvSpPr>
          <p:nvPr/>
        </p:nvSpPr>
        <p:spPr bwMode="auto">
          <a:xfrm flipV="1">
            <a:off x="854075" y="5083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1" name="Line 8">
            <a:extLst>
              <a:ext uri="{FF2B5EF4-FFF2-40B4-BE49-F238E27FC236}">
                <a16:creationId xmlns:a16="http://schemas.microsoft.com/office/drawing/2014/main" id="{CF97D8B7-B4F4-482F-B2FB-E141145E35B6}"/>
              </a:ext>
            </a:extLst>
          </p:cNvPr>
          <p:cNvSpPr>
            <a:spLocks noChangeShapeType="1"/>
          </p:cNvSpPr>
          <p:nvPr/>
        </p:nvSpPr>
        <p:spPr bwMode="auto">
          <a:xfrm flipV="1">
            <a:off x="1235075" y="5083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2" name="Line 9">
            <a:extLst>
              <a:ext uri="{FF2B5EF4-FFF2-40B4-BE49-F238E27FC236}">
                <a16:creationId xmlns:a16="http://schemas.microsoft.com/office/drawing/2014/main" id="{3ADB102D-D1F3-4BC5-B9B9-7920A6DBB704}"/>
              </a:ext>
            </a:extLst>
          </p:cNvPr>
          <p:cNvSpPr>
            <a:spLocks noChangeShapeType="1"/>
          </p:cNvSpPr>
          <p:nvPr/>
        </p:nvSpPr>
        <p:spPr bwMode="auto">
          <a:xfrm flipV="1">
            <a:off x="1616075" y="5083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3" name="Line 10">
            <a:extLst>
              <a:ext uri="{FF2B5EF4-FFF2-40B4-BE49-F238E27FC236}">
                <a16:creationId xmlns:a16="http://schemas.microsoft.com/office/drawing/2014/main" id="{01CBA4CE-865D-4F39-A80E-40A71ECC15B7}"/>
              </a:ext>
            </a:extLst>
          </p:cNvPr>
          <p:cNvSpPr>
            <a:spLocks noChangeShapeType="1"/>
          </p:cNvSpPr>
          <p:nvPr/>
        </p:nvSpPr>
        <p:spPr bwMode="auto">
          <a:xfrm flipV="1">
            <a:off x="1997075" y="5083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4" name="Line 11">
            <a:extLst>
              <a:ext uri="{FF2B5EF4-FFF2-40B4-BE49-F238E27FC236}">
                <a16:creationId xmlns:a16="http://schemas.microsoft.com/office/drawing/2014/main" id="{D3CD6ADF-D016-4741-BC8A-AF125B6340A6}"/>
              </a:ext>
            </a:extLst>
          </p:cNvPr>
          <p:cNvSpPr>
            <a:spLocks noChangeShapeType="1"/>
          </p:cNvSpPr>
          <p:nvPr/>
        </p:nvSpPr>
        <p:spPr bwMode="auto">
          <a:xfrm flipV="1">
            <a:off x="854075" y="4702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5" name="Line 12">
            <a:extLst>
              <a:ext uri="{FF2B5EF4-FFF2-40B4-BE49-F238E27FC236}">
                <a16:creationId xmlns:a16="http://schemas.microsoft.com/office/drawing/2014/main" id="{97DD2091-6949-47E9-AE2C-CD507288750D}"/>
              </a:ext>
            </a:extLst>
          </p:cNvPr>
          <p:cNvSpPr>
            <a:spLocks noChangeShapeType="1"/>
          </p:cNvSpPr>
          <p:nvPr/>
        </p:nvSpPr>
        <p:spPr bwMode="auto">
          <a:xfrm flipV="1">
            <a:off x="854075" y="4321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6" name="Line 13">
            <a:extLst>
              <a:ext uri="{FF2B5EF4-FFF2-40B4-BE49-F238E27FC236}">
                <a16:creationId xmlns:a16="http://schemas.microsoft.com/office/drawing/2014/main" id="{BCF4DA7F-0191-4F56-9F84-12C4B21F66DA}"/>
              </a:ext>
            </a:extLst>
          </p:cNvPr>
          <p:cNvSpPr>
            <a:spLocks noChangeShapeType="1"/>
          </p:cNvSpPr>
          <p:nvPr/>
        </p:nvSpPr>
        <p:spPr bwMode="auto">
          <a:xfrm flipV="1">
            <a:off x="854075" y="3940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7" name="Line 14">
            <a:extLst>
              <a:ext uri="{FF2B5EF4-FFF2-40B4-BE49-F238E27FC236}">
                <a16:creationId xmlns:a16="http://schemas.microsoft.com/office/drawing/2014/main" id="{5C1F7A6B-11A7-4B5E-8850-1694369C9423}"/>
              </a:ext>
            </a:extLst>
          </p:cNvPr>
          <p:cNvSpPr>
            <a:spLocks noChangeShapeType="1"/>
          </p:cNvSpPr>
          <p:nvPr/>
        </p:nvSpPr>
        <p:spPr bwMode="auto">
          <a:xfrm flipV="1">
            <a:off x="1235075" y="4702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8" name="Line 15">
            <a:extLst>
              <a:ext uri="{FF2B5EF4-FFF2-40B4-BE49-F238E27FC236}">
                <a16:creationId xmlns:a16="http://schemas.microsoft.com/office/drawing/2014/main" id="{922232B3-9C47-4BFB-928B-8CC988D5413B}"/>
              </a:ext>
            </a:extLst>
          </p:cNvPr>
          <p:cNvSpPr>
            <a:spLocks noChangeShapeType="1"/>
          </p:cNvSpPr>
          <p:nvPr/>
        </p:nvSpPr>
        <p:spPr bwMode="auto">
          <a:xfrm flipV="1">
            <a:off x="1235075" y="4321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69" name="Line 16">
            <a:extLst>
              <a:ext uri="{FF2B5EF4-FFF2-40B4-BE49-F238E27FC236}">
                <a16:creationId xmlns:a16="http://schemas.microsoft.com/office/drawing/2014/main" id="{39D0BC8E-7D0F-4A45-BD65-436118527021}"/>
              </a:ext>
            </a:extLst>
          </p:cNvPr>
          <p:cNvSpPr>
            <a:spLocks noChangeShapeType="1"/>
          </p:cNvSpPr>
          <p:nvPr/>
        </p:nvSpPr>
        <p:spPr bwMode="auto">
          <a:xfrm flipV="1">
            <a:off x="1235075" y="3940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0" name="Line 17">
            <a:extLst>
              <a:ext uri="{FF2B5EF4-FFF2-40B4-BE49-F238E27FC236}">
                <a16:creationId xmlns:a16="http://schemas.microsoft.com/office/drawing/2014/main" id="{49C19F31-D51F-4AC9-BE56-1879529C9416}"/>
              </a:ext>
            </a:extLst>
          </p:cNvPr>
          <p:cNvSpPr>
            <a:spLocks noChangeShapeType="1"/>
          </p:cNvSpPr>
          <p:nvPr/>
        </p:nvSpPr>
        <p:spPr bwMode="auto">
          <a:xfrm flipV="1">
            <a:off x="1616075" y="4702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1" name="Line 18">
            <a:extLst>
              <a:ext uri="{FF2B5EF4-FFF2-40B4-BE49-F238E27FC236}">
                <a16:creationId xmlns:a16="http://schemas.microsoft.com/office/drawing/2014/main" id="{3F14A379-B711-4D10-94BD-44BA9F00D4FB}"/>
              </a:ext>
            </a:extLst>
          </p:cNvPr>
          <p:cNvSpPr>
            <a:spLocks noChangeShapeType="1"/>
          </p:cNvSpPr>
          <p:nvPr/>
        </p:nvSpPr>
        <p:spPr bwMode="auto">
          <a:xfrm flipV="1">
            <a:off x="1616075" y="4321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2" name="Line 19">
            <a:extLst>
              <a:ext uri="{FF2B5EF4-FFF2-40B4-BE49-F238E27FC236}">
                <a16:creationId xmlns:a16="http://schemas.microsoft.com/office/drawing/2014/main" id="{9495128C-CF7D-496D-8A89-ED09C0BCD208}"/>
              </a:ext>
            </a:extLst>
          </p:cNvPr>
          <p:cNvSpPr>
            <a:spLocks noChangeShapeType="1"/>
          </p:cNvSpPr>
          <p:nvPr/>
        </p:nvSpPr>
        <p:spPr bwMode="auto">
          <a:xfrm flipV="1">
            <a:off x="1616075" y="3940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3" name="Line 20">
            <a:extLst>
              <a:ext uri="{FF2B5EF4-FFF2-40B4-BE49-F238E27FC236}">
                <a16:creationId xmlns:a16="http://schemas.microsoft.com/office/drawing/2014/main" id="{4A1AF272-61F5-4D54-9ED5-9A0BE07B3339}"/>
              </a:ext>
            </a:extLst>
          </p:cNvPr>
          <p:cNvSpPr>
            <a:spLocks noChangeShapeType="1"/>
          </p:cNvSpPr>
          <p:nvPr/>
        </p:nvSpPr>
        <p:spPr bwMode="auto">
          <a:xfrm flipV="1">
            <a:off x="1997075" y="4702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4" name="Line 21">
            <a:extLst>
              <a:ext uri="{FF2B5EF4-FFF2-40B4-BE49-F238E27FC236}">
                <a16:creationId xmlns:a16="http://schemas.microsoft.com/office/drawing/2014/main" id="{C808BF1D-8E03-4980-840B-4A4B379908E2}"/>
              </a:ext>
            </a:extLst>
          </p:cNvPr>
          <p:cNvSpPr>
            <a:spLocks noChangeShapeType="1"/>
          </p:cNvSpPr>
          <p:nvPr/>
        </p:nvSpPr>
        <p:spPr bwMode="auto">
          <a:xfrm flipV="1">
            <a:off x="1997075" y="4321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5" name="Line 22">
            <a:extLst>
              <a:ext uri="{FF2B5EF4-FFF2-40B4-BE49-F238E27FC236}">
                <a16:creationId xmlns:a16="http://schemas.microsoft.com/office/drawing/2014/main" id="{3F213061-6E65-40B1-AC43-2EC4E85AE13B}"/>
              </a:ext>
            </a:extLst>
          </p:cNvPr>
          <p:cNvSpPr>
            <a:spLocks noChangeShapeType="1"/>
          </p:cNvSpPr>
          <p:nvPr/>
        </p:nvSpPr>
        <p:spPr bwMode="auto">
          <a:xfrm flipV="1">
            <a:off x="1997075" y="3940175"/>
            <a:ext cx="0" cy="381000"/>
          </a:xfrm>
          <a:prstGeom prst="line">
            <a:avLst/>
          </a:prstGeom>
          <a:noFill/>
          <a:ln w="190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6" name="Text Box 24">
            <a:extLst>
              <a:ext uri="{FF2B5EF4-FFF2-40B4-BE49-F238E27FC236}">
                <a16:creationId xmlns:a16="http://schemas.microsoft.com/office/drawing/2014/main" id="{3D848C12-34AC-404A-8BFF-B849353F3BF6}"/>
              </a:ext>
            </a:extLst>
          </p:cNvPr>
          <p:cNvSpPr txBox="1">
            <a:spLocks noChangeArrowheads="1"/>
          </p:cNvSpPr>
          <p:nvPr/>
        </p:nvSpPr>
        <p:spPr bwMode="auto">
          <a:xfrm>
            <a:off x="2514600" y="550068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J</a:t>
            </a:r>
            <a:endParaRPr lang="en-US" altLang="en-US"/>
          </a:p>
        </p:txBody>
      </p:sp>
      <p:sp>
        <p:nvSpPr>
          <p:cNvPr id="49177" name="Line 25">
            <a:extLst>
              <a:ext uri="{FF2B5EF4-FFF2-40B4-BE49-F238E27FC236}">
                <a16:creationId xmlns:a16="http://schemas.microsoft.com/office/drawing/2014/main" id="{BE543EFD-E7C7-4173-8D97-80B0B6280E59}"/>
              </a:ext>
            </a:extLst>
          </p:cNvPr>
          <p:cNvSpPr>
            <a:spLocks noChangeShapeType="1"/>
          </p:cNvSpPr>
          <p:nvPr/>
        </p:nvSpPr>
        <p:spPr bwMode="auto">
          <a:xfrm>
            <a:off x="473075" y="5083175"/>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8" name="Line 26">
            <a:extLst>
              <a:ext uri="{FF2B5EF4-FFF2-40B4-BE49-F238E27FC236}">
                <a16:creationId xmlns:a16="http://schemas.microsoft.com/office/drawing/2014/main" id="{CB383F91-51D4-437B-B779-1E693EA77190}"/>
              </a:ext>
            </a:extLst>
          </p:cNvPr>
          <p:cNvSpPr>
            <a:spLocks noChangeShapeType="1"/>
          </p:cNvSpPr>
          <p:nvPr/>
        </p:nvSpPr>
        <p:spPr bwMode="auto">
          <a:xfrm>
            <a:off x="473075" y="4702175"/>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79" name="Line 27">
            <a:extLst>
              <a:ext uri="{FF2B5EF4-FFF2-40B4-BE49-F238E27FC236}">
                <a16:creationId xmlns:a16="http://schemas.microsoft.com/office/drawing/2014/main" id="{3EAE4A18-3DDA-4E3A-93F1-DF4A56ED5270}"/>
              </a:ext>
            </a:extLst>
          </p:cNvPr>
          <p:cNvSpPr>
            <a:spLocks noChangeShapeType="1"/>
          </p:cNvSpPr>
          <p:nvPr/>
        </p:nvSpPr>
        <p:spPr bwMode="auto">
          <a:xfrm>
            <a:off x="473075" y="4321175"/>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80" name="Line 28">
            <a:extLst>
              <a:ext uri="{FF2B5EF4-FFF2-40B4-BE49-F238E27FC236}">
                <a16:creationId xmlns:a16="http://schemas.microsoft.com/office/drawing/2014/main" id="{FCCFA6D4-6855-401B-95C6-BB684F52146E}"/>
              </a:ext>
            </a:extLst>
          </p:cNvPr>
          <p:cNvSpPr>
            <a:spLocks noChangeShapeType="1"/>
          </p:cNvSpPr>
          <p:nvPr/>
        </p:nvSpPr>
        <p:spPr bwMode="auto">
          <a:xfrm>
            <a:off x="473075" y="3940175"/>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5086" name="Text Box 30">
            <a:extLst>
              <a:ext uri="{FF2B5EF4-FFF2-40B4-BE49-F238E27FC236}">
                <a16:creationId xmlns:a16="http://schemas.microsoft.com/office/drawing/2014/main" id="{1B801E3B-B470-4F49-BA5B-D3CA4AB91AB3}"/>
              </a:ext>
            </a:extLst>
          </p:cNvPr>
          <p:cNvSpPr txBox="1">
            <a:spLocks noChangeArrowheads="1"/>
          </p:cNvSpPr>
          <p:nvPr/>
        </p:nvSpPr>
        <p:spPr bwMode="auto">
          <a:xfrm>
            <a:off x="3311525" y="5805488"/>
            <a:ext cx="2293938" cy="366712"/>
          </a:xfrm>
          <a:prstGeom prst="rect">
            <a:avLst/>
          </a:prstGeom>
          <a:noFill/>
          <a:ln>
            <a:noFill/>
          </a:ln>
          <a:effectLst/>
        </p:spPr>
        <p:txBody>
          <a:bodyPr wrap="none" anchor="b">
            <a:spAutoFit/>
          </a:bodyPr>
          <a:lstStyle/>
          <a:p>
            <a:pPr>
              <a:defRPr/>
            </a:pPr>
            <a:r>
              <a:rPr lang="hr-HR" altLang="en-US">
                <a:solidFill>
                  <a:schemeClr val="hlink"/>
                </a:solidFill>
                <a:effectLst>
                  <a:outerShdw blurRad="38100" dist="38100" dir="2700000" algn="tl">
                    <a:srgbClr val="C0C0C0"/>
                  </a:outerShdw>
                </a:effectLst>
                <a:latin typeface="Tahoma" panose="020B0604030504040204" pitchFamily="34" charset="0"/>
              </a:rPr>
              <a:t>Posle transformacije</a:t>
            </a:r>
            <a:r>
              <a:rPr lang="hr-HR" altLang="en-US">
                <a:solidFill>
                  <a:schemeClr val="hlink"/>
                </a:solidFill>
                <a:latin typeface="Tahoma" panose="020B0604030504040204" pitchFamily="34" charset="0"/>
              </a:rPr>
              <a:t> </a:t>
            </a:r>
            <a:endParaRPr lang="en-US" altLang="en-US">
              <a:solidFill>
                <a:schemeClr val="hlink"/>
              </a:solidFill>
              <a:latin typeface="Tahoma" panose="020B0604030504040204" pitchFamily="34" charset="0"/>
            </a:endParaRPr>
          </a:p>
        </p:txBody>
      </p:sp>
      <p:sp>
        <p:nvSpPr>
          <p:cNvPr id="49182" name="Line 31">
            <a:extLst>
              <a:ext uri="{FF2B5EF4-FFF2-40B4-BE49-F238E27FC236}">
                <a16:creationId xmlns:a16="http://schemas.microsoft.com/office/drawing/2014/main" id="{6EEF9DB2-EB7F-40DA-A44F-722DD62D58F0}"/>
              </a:ext>
            </a:extLst>
          </p:cNvPr>
          <p:cNvSpPr>
            <a:spLocks noChangeShapeType="1"/>
          </p:cNvSpPr>
          <p:nvPr/>
        </p:nvSpPr>
        <p:spPr bwMode="auto">
          <a:xfrm>
            <a:off x="3276600" y="3657600"/>
            <a:ext cx="0" cy="182880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83" name="Line 32">
            <a:extLst>
              <a:ext uri="{FF2B5EF4-FFF2-40B4-BE49-F238E27FC236}">
                <a16:creationId xmlns:a16="http://schemas.microsoft.com/office/drawing/2014/main" id="{DAEE9D41-7C4B-4B23-80ED-FB03CC078D8F}"/>
              </a:ext>
            </a:extLst>
          </p:cNvPr>
          <p:cNvSpPr>
            <a:spLocks noChangeShapeType="1"/>
          </p:cNvSpPr>
          <p:nvPr/>
        </p:nvSpPr>
        <p:spPr bwMode="auto">
          <a:xfrm>
            <a:off x="3276600" y="5486400"/>
            <a:ext cx="55626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9184" name="Line 33">
            <a:extLst>
              <a:ext uri="{FF2B5EF4-FFF2-40B4-BE49-F238E27FC236}">
                <a16:creationId xmlns:a16="http://schemas.microsoft.com/office/drawing/2014/main" id="{568C4AE1-C457-4CA6-A831-6D82BA616850}"/>
              </a:ext>
            </a:extLst>
          </p:cNvPr>
          <p:cNvSpPr>
            <a:spLocks noChangeShapeType="1"/>
          </p:cNvSpPr>
          <p:nvPr/>
        </p:nvSpPr>
        <p:spPr bwMode="auto">
          <a:xfrm>
            <a:off x="3276600" y="5105400"/>
            <a:ext cx="5181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9185" name="Line 34">
            <a:extLst>
              <a:ext uri="{FF2B5EF4-FFF2-40B4-BE49-F238E27FC236}">
                <a16:creationId xmlns:a16="http://schemas.microsoft.com/office/drawing/2014/main" id="{8A3AC164-DB2C-4B23-AD4D-A6888F4EA3D9}"/>
              </a:ext>
            </a:extLst>
          </p:cNvPr>
          <p:cNvSpPr>
            <a:spLocks noChangeShapeType="1"/>
          </p:cNvSpPr>
          <p:nvPr/>
        </p:nvSpPr>
        <p:spPr bwMode="auto">
          <a:xfrm>
            <a:off x="3352800" y="4724400"/>
            <a:ext cx="5105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9186" name="Line 35">
            <a:extLst>
              <a:ext uri="{FF2B5EF4-FFF2-40B4-BE49-F238E27FC236}">
                <a16:creationId xmlns:a16="http://schemas.microsoft.com/office/drawing/2014/main" id="{5A7DFF28-40AC-483F-A77A-764876907A74}"/>
              </a:ext>
            </a:extLst>
          </p:cNvPr>
          <p:cNvSpPr>
            <a:spLocks noChangeShapeType="1"/>
          </p:cNvSpPr>
          <p:nvPr/>
        </p:nvSpPr>
        <p:spPr bwMode="auto">
          <a:xfrm>
            <a:off x="3276600" y="4343400"/>
            <a:ext cx="5181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9187" name="Line 36">
            <a:extLst>
              <a:ext uri="{FF2B5EF4-FFF2-40B4-BE49-F238E27FC236}">
                <a16:creationId xmlns:a16="http://schemas.microsoft.com/office/drawing/2014/main" id="{C480E698-627B-4181-B71D-98660DDD8527}"/>
              </a:ext>
            </a:extLst>
          </p:cNvPr>
          <p:cNvSpPr>
            <a:spLocks noChangeShapeType="1"/>
          </p:cNvSpPr>
          <p:nvPr/>
        </p:nvSpPr>
        <p:spPr bwMode="auto">
          <a:xfrm>
            <a:off x="3276600" y="3962400"/>
            <a:ext cx="5257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49188" name="Text Box 53">
            <a:extLst>
              <a:ext uri="{FF2B5EF4-FFF2-40B4-BE49-F238E27FC236}">
                <a16:creationId xmlns:a16="http://schemas.microsoft.com/office/drawing/2014/main" id="{B2D63356-2FA8-41FF-901E-B1C2C4AC40D5}"/>
              </a:ext>
            </a:extLst>
          </p:cNvPr>
          <p:cNvSpPr txBox="1">
            <a:spLocks noChangeArrowheads="1"/>
          </p:cNvSpPr>
          <p:nvPr/>
        </p:nvSpPr>
        <p:spPr bwMode="auto">
          <a:xfrm>
            <a:off x="2955925" y="34655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U</a:t>
            </a:r>
            <a:endParaRPr lang="en-US" altLang="en-US"/>
          </a:p>
        </p:txBody>
      </p:sp>
      <p:sp>
        <p:nvSpPr>
          <p:cNvPr id="49189" name="Text Box 54">
            <a:extLst>
              <a:ext uri="{FF2B5EF4-FFF2-40B4-BE49-F238E27FC236}">
                <a16:creationId xmlns:a16="http://schemas.microsoft.com/office/drawing/2014/main" id="{C1B115D2-D9CA-4486-AC0B-C86A0C91B052}"/>
              </a:ext>
            </a:extLst>
          </p:cNvPr>
          <p:cNvSpPr txBox="1">
            <a:spLocks noChangeArrowheads="1"/>
          </p:cNvSpPr>
          <p:nvPr/>
        </p:nvSpPr>
        <p:spPr bwMode="auto">
          <a:xfrm>
            <a:off x="8442325" y="55991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t>V</a:t>
            </a:r>
            <a:endParaRPr lang="en-US" altLang="en-US"/>
          </a:p>
        </p:txBody>
      </p:sp>
      <p:sp>
        <p:nvSpPr>
          <p:cNvPr id="49190" name="Line 56">
            <a:extLst>
              <a:ext uri="{FF2B5EF4-FFF2-40B4-BE49-F238E27FC236}">
                <a16:creationId xmlns:a16="http://schemas.microsoft.com/office/drawing/2014/main" id="{DC5423A4-10BF-46E4-B79E-FEC9FD950867}"/>
              </a:ext>
            </a:extLst>
          </p:cNvPr>
          <p:cNvSpPr>
            <a:spLocks noChangeShapeType="1"/>
          </p:cNvSpPr>
          <p:nvPr/>
        </p:nvSpPr>
        <p:spPr bwMode="auto">
          <a:xfrm flipV="1">
            <a:off x="36576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1" name="Line 57">
            <a:extLst>
              <a:ext uri="{FF2B5EF4-FFF2-40B4-BE49-F238E27FC236}">
                <a16:creationId xmlns:a16="http://schemas.microsoft.com/office/drawing/2014/main" id="{E5001245-6895-471F-91AA-94BE2456A3BA}"/>
              </a:ext>
            </a:extLst>
          </p:cNvPr>
          <p:cNvSpPr>
            <a:spLocks noChangeShapeType="1"/>
          </p:cNvSpPr>
          <p:nvPr/>
        </p:nvSpPr>
        <p:spPr bwMode="auto">
          <a:xfrm flipV="1">
            <a:off x="405765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2" name="Line 58">
            <a:extLst>
              <a:ext uri="{FF2B5EF4-FFF2-40B4-BE49-F238E27FC236}">
                <a16:creationId xmlns:a16="http://schemas.microsoft.com/office/drawing/2014/main" id="{17E3CF78-4AB4-4F4F-862B-AFB34BD1031C}"/>
              </a:ext>
            </a:extLst>
          </p:cNvPr>
          <p:cNvSpPr>
            <a:spLocks noChangeShapeType="1"/>
          </p:cNvSpPr>
          <p:nvPr/>
        </p:nvSpPr>
        <p:spPr bwMode="auto">
          <a:xfrm flipV="1">
            <a:off x="44577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3" name="Line 59">
            <a:extLst>
              <a:ext uri="{FF2B5EF4-FFF2-40B4-BE49-F238E27FC236}">
                <a16:creationId xmlns:a16="http://schemas.microsoft.com/office/drawing/2014/main" id="{38B82C4A-89EA-41C6-BB7F-05A0E7612B31}"/>
              </a:ext>
            </a:extLst>
          </p:cNvPr>
          <p:cNvSpPr>
            <a:spLocks noChangeShapeType="1"/>
          </p:cNvSpPr>
          <p:nvPr/>
        </p:nvSpPr>
        <p:spPr bwMode="auto">
          <a:xfrm flipV="1">
            <a:off x="485775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4" name="Line 60">
            <a:extLst>
              <a:ext uri="{FF2B5EF4-FFF2-40B4-BE49-F238E27FC236}">
                <a16:creationId xmlns:a16="http://schemas.microsoft.com/office/drawing/2014/main" id="{7F258D7D-8949-44BA-9132-57A6B263676D}"/>
              </a:ext>
            </a:extLst>
          </p:cNvPr>
          <p:cNvSpPr>
            <a:spLocks noChangeShapeType="1"/>
          </p:cNvSpPr>
          <p:nvPr/>
        </p:nvSpPr>
        <p:spPr bwMode="auto">
          <a:xfrm flipV="1">
            <a:off x="52578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5" name="Line 61">
            <a:extLst>
              <a:ext uri="{FF2B5EF4-FFF2-40B4-BE49-F238E27FC236}">
                <a16:creationId xmlns:a16="http://schemas.microsoft.com/office/drawing/2014/main" id="{32FAD86C-1681-4F27-BAF0-BF2FA14D63CC}"/>
              </a:ext>
            </a:extLst>
          </p:cNvPr>
          <p:cNvSpPr>
            <a:spLocks noChangeShapeType="1"/>
          </p:cNvSpPr>
          <p:nvPr/>
        </p:nvSpPr>
        <p:spPr bwMode="auto">
          <a:xfrm flipV="1">
            <a:off x="565785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6" name="Line 62">
            <a:extLst>
              <a:ext uri="{FF2B5EF4-FFF2-40B4-BE49-F238E27FC236}">
                <a16:creationId xmlns:a16="http://schemas.microsoft.com/office/drawing/2014/main" id="{940730E0-55EE-4C9C-B384-998995FFA329}"/>
              </a:ext>
            </a:extLst>
          </p:cNvPr>
          <p:cNvSpPr>
            <a:spLocks noChangeShapeType="1"/>
          </p:cNvSpPr>
          <p:nvPr/>
        </p:nvSpPr>
        <p:spPr bwMode="auto">
          <a:xfrm flipV="1">
            <a:off x="60579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7" name="Line 63">
            <a:extLst>
              <a:ext uri="{FF2B5EF4-FFF2-40B4-BE49-F238E27FC236}">
                <a16:creationId xmlns:a16="http://schemas.microsoft.com/office/drawing/2014/main" id="{F5BDC98B-85FD-4152-ACD6-865CF7B957B9}"/>
              </a:ext>
            </a:extLst>
          </p:cNvPr>
          <p:cNvSpPr>
            <a:spLocks noChangeShapeType="1"/>
          </p:cNvSpPr>
          <p:nvPr/>
        </p:nvSpPr>
        <p:spPr bwMode="auto">
          <a:xfrm flipV="1">
            <a:off x="645795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198" name="Line 64">
            <a:extLst>
              <a:ext uri="{FF2B5EF4-FFF2-40B4-BE49-F238E27FC236}">
                <a16:creationId xmlns:a16="http://schemas.microsoft.com/office/drawing/2014/main" id="{4CB9547B-7278-4E09-8362-1EB46A0977F6}"/>
              </a:ext>
            </a:extLst>
          </p:cNvPr>
          <p:cNvSpPr>
            <a:spLocks noChangeShapeType="1"/>
          </p:cNvSpPr>
          <p:nvPr/>
        </p:nvSpPr>
        <p:spPr bwMode="auto">
          <a:xfrm flipV="1">
            <a:off x="68580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cxnSp>
        <p:nvCxnSpPr>
          <p:cNvPr id="49199" name="Straight Arrow Connector 83">
            <a:extLst>
              <a:ext uri="{FF2B5EF4-FFF2-40B4-BE49-F238E27FC236}">
                <a16:creationId xmlns:a16="http://schemas.microsoft.com/office/drawing/2014/main" id="{86CB29F8-D587-4434-9EF1-FE3D984E55ED}"/>
              </a:ext>
            </a:extLst>
          </p:cNvPr>
          <p:cNvCxnSpPr>
            <a:cxnSpLocks noChangeShapeType="1"/>
            <a:stCxn id="49191" idx="0"/>
          </p:cNvCxnSpPr>
          <p:nvPr/>
        </p:nvCxnSpPr>
        <p:spPr bwMode="auto">
          <a:xfrm rot="5400000" flipH="1" flipV="1">
            <a:off x="4276725" y="4886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0" name="Straight Arrow Connector 84">
            <a:extLst>
              <a:ext uri="{FF2B5EF4-FFF2-40B4-BE49-F238E27FC236}">
                <a16:creationId xmlns:a16="http://schemas.microsoft.com/office/drawing/2014/main" id="{961B1D1A-1212-4AF9-8C1C-47BCF72A288D}"/>
              </a:ext>
            </a:extLst>
          </p:cNvPr>
          <p:cNvCxnSpPr>
            <a:cxnSpLocks noChangeShapeType="1"/>
          </p:cNvCxnSpPr>
          <p:nvPr/>
        </p:nvCxnSpPr>
        <p:spPr bwMode="auto">
          <a:xfrm rot="5400000" flipH="1" flipV="1">
            <a:off x="4689475" y="4878388"/>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1" name="Straight Arrow Connector 85">
            <a:extLst>
              <a:ext uri="{FF2B5EF4-FFF2-40B4-BE49-F238E27FC236}">
                <a16:creationId xmlns:a16="http://schemas.microsoft.com/office/drawing/2014/main" id="{E03E9BE9-AF7C-4948-93D3-610127676E10}"/>
              </a:ext>
            </a:extLst>
          </p:cNvPr>
          <p:cNvCxnSpPr>
            <a:cxnSpLocks noChangeShapeType="1"/>
          </p:cNvCxnSpPr>
          <p:nvPr/>
        </p:nvCxnSpPr>
        <p:spPr bwMode="auto">
          <a:xfrm rot="5400000" flipH="1" flipV="1">
            <a:off x="5100638" y="4868863"/>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2" name="Straight Arrow Connector 86">
            <a:extLst>
              <a:ext uri="{FF2B5EF4-FFF2-40B4-BE49-F238E27FC236}">
                <a16:creationId xmlns:a16="http://schemas.microsoft.com/office/drawing/2014/main" id="{D6E5DEAF-5CB6-4CFF-A5FF-781ADB413113}"/>
              </a:ext>
            </a:extLst>
          </p:cNvPr>
          <p:cNvCxnSpPr>
            <a:cxnSpLocks noChangeShapeType="1"/>
          </p:cNvCxnSpPr>
          <p:nvPr/>
        </p:nvCxnSpPr>
        <p:spPr bwMode="auto">
          <a:xfrm rot="5400000" flipH="1" flipV="1">
            <a:off x="5495925" y="4868863"/>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3" name="Straight Arrow Connector 87">
            <a:extLst>
              <a:ext uri="{FF2B5EF4-FFF2-40B4-BE49-F238E27FC236}">
                <a16:creationId xmlns:a16="http://schemas.microsoft.com/office/drawing/2014/main" id="{1BD3B04D-64B9-4791-B796-195807E4591A}"/>
              </a:ext>
            </a:extLst>
          </p:cNvPr>
          <p:cNvCxnSpPr>
            <a:cxnSpLocks noChangeShapeType="1"/>
          </p:cNvCxnSpPr>
          <p:nvPr/>
        </p:nvCxnSpPr>
        <p:spPr bwMode="auto">
          <a:xfrm rot="5400000" flipH="1" flipV="1">
            <a:off x="5095875" y="4505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4" name="Straight Arrow Connector 88">
            <a:extLst>
              <a:ext uri="{FF2B5EF4-FFF2-40B4-BE49-F238E27FC236}">
                <a16:creationId xmlns:a16="http://schemas.microsoft.com/office/drawing/2014/main" id="{4DB5BB0D-1422-4A02-B160-1BAE9AE633A8}"/>
              </a:ext>
            </a:extLst>
          </p:cNvPr>
          <p:cNvCxnSpPr>
            <a:cxnSpLocks noChangeShapeType="1"/>
          </p:cNvCxnSpPr>
          <p:nvPr/>
        </p:nvCxnSpPr>
        <p:spPr bwMode="auto">
          <a:xfrm rot="5400000" flipH="1" flipV="1">
            <a:off x="5857875" y="4141788"/>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5" name="Straight Arrow Connector 89">
            <a:extLst>
              <a:ext uri="{FF2B5EF4-FFF2-40B4-BE49-F238E27FC236}">
                <a16:creationId xmlns:a16="http://schemas.microsoft.com/office/drawing/2014/main" id="{9E8CC21A-2E3A-42B7-905B-8364F9CA64F9}"/>
              </a:ext>
            </a:extLst>
          </p:cNvPr>
          <p:cNvCxnSpPr>
            <a:cxnSpLocks noChangeShapeType="1"/>
          </p:cNvCxnSpPr>
          <p:nvPr/>
        </p:nvCxnSpPr>
        <p:spPr bwMode="auto">
          <a:xfrm rot="5400000" flipH="1" flipV="1">
            <a:off x="5476875" y="4505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6" name="Straight Arrow Connector 90">
            <a:extLst>
              <a:ext uri="{FF2B5EF4-FFF2-40B4-BE49-F238E27FC236}">
                <a16:creationId xmlns:a16="http://schemas.microsoft.com/office/drawing/2014/main" id="{206E96D1-02D3-46A6-9703-BC6972210FE5}"/>
              </a:ext>
            </a:extLst>
          </p:cNvPr>
          <p:cNvCxnSpPr>
            <a:cxnSpLocks noChangeShapeType="1"/>
          </p:cNvCxnSpPr>
          <p:nvPr/>
        </p:nvCxnSpPr>
        <p:spPr bwMode="auto">
          <a:xfrm rot="5400000" flipH="1" flipV="1">
            <a:off x="5857875" y="4505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7" name="Straight Arrow Connector 91">
            <a:extLst>
              <a:ext uri="{FF2B5EF4-FFF2-40B4-BE49-F238E27FC236}">
                <a16:creationId xmlns:a16="http://schemas.microsoft.com/office/drawing/2014/main" id="{D8C6114C-5426-4B41-BFA6-FE5A2160D690}"/>
              </a:ext>
            </a:extLst>
          </p:cNvPr>
          <p:cNvCxnSpPr>
            <a:cxnSpLocks noChangeShapeType="1"/>
          </p:cNvCxnSpPr>
          <p:nvPr/>
        </p:nvCxnSpPr>
        <p:spPr bwMode="auto">
          <a:xfrm rot="5400000" flipH="1" flipV="1">
            <a:off x="6315075" y="4505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8" name="Straight Arrow Connector 92">
            <a:extLst>
              <a:ext uri="{FF2B5EF4-FFF2-40B4-BE49-F238E27FC236}">
                <a16:creationId xmlns:a16="http://schemas.microsoft.com/office/drawing/2014/main" id="{7EDFDF0A-DE2C-4C5A-85CD-8E9FB1E0CC98}"/>
              </a:ext>
            </a:extLst>
          </p:cNvPr>
          <p:cNvCxnSpPr>
            <a:cxnSpLocks noChangeShapeType="1"/>
          </p:cNvCxnSpPr>
          <p:nvPr/>
        </p:nvCxnSpPr>
        <p:spPr bwMode="auto">
          <a:xfrm rot="5400000" flipH="1" flipV="1">
            <a:off x="6315075" y="4124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09" name="Straight Arrow Connector 93">
            <a:extLst>
              <a:ext uri="{FF2B5EF4-FFF2-40B4-BE49-F238E27FC236}">
                <a16:creationId xmlns:a16="http://schemas.microsoft.com/office/drawing/2014/main" id="{722CB088-C7C4-4AF8-A797-BA45E907E285}"/>
              </a:ext>
            </a:extLst>
          </p:cNvPr>
          <p:cNvCxnSpPr>
            <a:cxnSpLocks noChangeShapeType="1"/>
          </p:cNvCxnSpPr>
          <p:nvPr/>
        </p:nvCxnSpPr>
        <p:spPr bwMode="auto">
          <a:xfrm rot="5400000" flipH="1" flipV="1">
            <a:off x="6696075" y="4124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10" name="Straight Arrow Connector 94">
            <a:extLst>
              <a:ext uri="{FF2B5EF4-FFF2-40B4-BE49-F238E27FC236}">
                <a16:creationId xmlns:a16="http://schemas.microsoft.com/office/drawing/2014/main" id="{90256F26-E5A2-4FA1-ABFA-72990CD2BC51}"/>
              </a:ext>
            </a:extLst>
          </p:cNvPr>
          <p:cNvCxnSpPr>
            <a:cxnSpLocks noChangeShapeType="1"/>
          </p:cNvCxnSpPr>
          <p:nvPr/>
        </p:nvCxnSpPr>
        <p:spPr bwMode="auto">
          <a:xfrm rot="5400000" flipH="1" flipV="1">
            <a:off x="7077075" y="41497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sp>
        <p:nvSpPr>
          <p:cNvPr id="49211" name="Line 64">
            <a:extLst>
              <a:ext uri="{FF2B5EF4-FFF2-40B4-BE49-F238E27FC236}">
                <a16:creationId xmlns:a16="http://schemas.microsoft.com/office/drawing/2014/main" id="{5447BD8E-B498-42B1-9D76-27DC35351C7D}"/>
              </a:ext>
            </a:extLst>
          </p:cNvPr>
          <p:cNvSpPr>
            <a:spLocks noChangeShapeType="1"/>
          </p:cNvSpPr>
          <p:nvPr/>
        </p:nvSpPr>
        <p:spPr bwMode="auto">
          <a:xfrm flipV="1">
            <a:off x="7272338"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212" name="Line 64">
            <a:extLst>
              <a:ext uri="{FF2B5EF4-FFF2-40B4-BE49-F238E27FC236}">
                <a16:creationId xmlns:a16="http://schemas.microsoft.com/office/drawing/2014/main" id="{08478DBF-7C61-460D-928D-0400D84E1456}"/>
              </a:ext>
            </a:extLst>
          </p:cNvPr>
          <p:cNvSpPr>
            <a:spLocks noChangeShapeType="1"/>
          </p:cNvSpPr>
          <p:nvPr/>
        </p:nvSpPr>
        <p:spPr bwMode="auto">
          <a:xfrm flipV="1">
            <a:off x="7669213"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cxnSp>
        <p:nvCxnSpPr>
          <p:cNvPr id="49213" name="Straight Arrow Connector 97">
            <a:extLst>
              <a:ext uri="{FF2B5EF4-FFF2-40B4-BE49-F238E27FC236}">
                <a16:creationId xmlns:a16="http://schemas.microsoft.com/office/drawing/2014/main" id="{26AD468B-B12B-41FA-B681-2243D9FAB82C}"/>
              </a:ext>
            </a:extLst>
          </p:cNvPr>
          <p:cNvCxnSpPr>
            <a:cxnSpLocks noChangeShapeType="1"/>
          </p:cNvCxnSpPr>
          <p:nvPr/>
        </p:nvCxnSpPr>
        <p:spPr bwMode="auto">
          <a:xfrm rot="5400000" flipH="1" flipV="1">
            <a:off x="6696075" y="37433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14" name="Straight Arrow Connector 98">
            <a:extLst>
              <a:ext uri="{FF2B5EF4-FFF2-40B4-BE49-F238E27FC236}">
                <a16:creationId xmlns:a16="http://schemas.microsoft.com/office/drawing/2014/main" id="{70D8FA1F-5F2D-4AFA-8EC1-16812DA2C123}"/>
              </a:ext>
            </a:extLst>
          </p:cNvPr>
          <p:cNvCxnSpPr>
            <a:cxnSpLocks noChangeShapeType="1"/>
          </p:cNvCxnSpPr>
          <p:nvPr/>
        </p:nvCxnSpPr>
        <p:spPr bwMode="auto">
          <a:xfrm rot="5400000" flipH="1" flipV="1">
            <a:off x="7094538" y="3751263"/>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15" name="Straight Arrow Connector 99">
            <a:extLst>
              <a:ext uri="{FF2B5EF4-FFF2-40B4-BE49-F238E27FC236}">
                <a16:creationId xmlns:a16="http://schemas.microsoft.com/office/drawing/2014/main" id="{769D3527-8A6D-45BD-9E5F-825A8CB8C422}"/>
              </a:ext>
            </a:extLst>
          </p:cNvPr>
          <p:cNvCxnSpPr>
            <a:cxnSpLocks noChangeShapeType="1"/>
          </p:cNvCxnSpPr>
          <p:nvPr/>
        </p:nvCxnSpPr>
        <p:spPr bwMode="auto">
          <a:xfrm rot="5400000" flipH="1" flipV="1">
            <a:off x="7493000" y="3760788"/>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49216" name="Straight Arrow Connector 100">
            <a:extLst>
              <a:ext uri="{FF2B5EF4-FFF2-40B4-BE49-F238E27FC236}">
                <a16:creationId xmlns:a16="http://schemas.microsoft.com/office/drawing/2014/main" id="{F6DF839C-7CDB-4796-924C-DB46B560861F}"/>
              </a:ext>
            </a:extLst>
          </p:cNvPr>
          <p:cNvCxnSpPr>
            <a:cxnSpLocks noChangeShapeType="1"/>
          </p:cNvCxnSpPr>
          <p:nvPr/>
        </p:nvCxnSpPr>
        <p:spPr bwMode="auto">
          <a:xfrm rot="5400000" flipH="1" flipV="1">
            <a:off x="7891463" y="3768725"/>
            <a:ext cx="381000" cy="819150"/>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sp>
        <p:nvSpPr>
          <p:cNvPr id="49217" name="Line 64">
            <a:extLst>
              <a:ext uri="{FF2B5EF4-FFF2-40B4-BE49-F238E27FC236}">
                <a16:creationId xmlns:a16="http://schemas.microsoft.com/office/drawing/2014/main" id="{01E6CCD6-90C4-4A0F-B7AD-A712EAB80B14}"/>
              </a:ext>
            </a:extLst>
          </p:cNvPr>
          <p:cNvSpPr>
            <a:spLocks noChangeShapeType="1"/>
          </p:cNvSpPr>
          <p:nvPr/>
        </p:nvSpPr>
        <p:spPr bwMode="auto">
          <a:xfrm flipV="1">
            <a:off x="8077200"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49218" name="Line 64">
            <a:extLst>
              <a:ext uri="{FF2B5EF4-FFF2-40B4-BE49-F238E27FC236}">
                <a16:creationId xmlns:a16="http://schemas.microsoft.com/office/drawing/2014/main" id="{9CAF6AC4-04AA-47F4-946B-0A7D878A3E34}"/>
              </a:ext>
            </a:extLst>
          </p:cNvPr>
          <p:cNvSpPr>
            <a:spLocks noChangeShapeType="1"/>
          </p:cNvSpPr>
          <p:nvPr/>
        </p:nvSpPr>
        <p:spPr bwMode="auto">
          <a:xfrm flipV="1">
            <a:off x="8485188" y="3810000"/>
            <a:ext cx="0" cy="167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4FEDB3A-10A0-467F-9087-22CF711F52AE}"/>
              </a:ext>
            </a:extLst>
          </p:cNvPr>
          <p:cNvSpPr>
            <a:spLocks noGrp="1" noChangeArrowheads="1"/>
          </p:cNvSpPr>
          <p:nvPr>
            <p:ph type="title"/>
          </p:nvPr>
        </p:nvSpPr>
        <p:spPr/>
        <p:txBody>
          <a:bodyPr/>
          <a:lstStyle/>
          <a:p>
            <a:pPr>
              <a:defRPr/>
            </a:pPr>
            <a:r>
              <a:rPr lang="en-US" altLang="en-US">
                <a:cs typeface="Times New Roman" panose="02020603050405020304" pitchFamily="18" charset="0"/>
              </a:rPr>
              <a:t>Primer-1</a:t>
            </a:r>
          </a:p>
        </p:txBody>
      </p:sp>
      <p:sp>
        <p:nvSpPr>
          <p:cNvPr id="73731" name="Rectangle 3">
            <a:extLst>
              <a:ext uri="{FF2B5EF4-FFF2-40B4-BE49-F238E27FC236}">
                <a16:creationId xmlns:a16="http://schemas.microsoft.com/office/drawing/2014/main" id="{A74412FC-5548-43FC-9A80-D323989EA4EF}"/>
              </a:ext>
            </a:extLst>
          </p:cNvPr>
          <p:cNvSpPr>
            <a:spLocks noGrp="1" noChangeArrowheads="1"/>
          </p:cNvSpPr>
          <p:nvPr>
            <p:ph type="body" sz="half" idx="1"/>
          </p:nvPr>
        </p:nvSpPr>
        <p:spPr>
          <a:xfrm>
            <a:off x="0" y="708025"/>
            <a:ext cx="4648200" cy="6149975"/>
          </a:xfrm>
        </p:spPr>
        <p:txBody>
          <a:bodyPr/>
          <a:lstStyle/>
          <a:p>
            <a:pPr>
              <a:defRPr/>
            </a:pPr>
            <a:r>
              <a:rPr lang="hr-HR" altLang="en-US" sz="1400"/>
              <a:t>Da</a:t>
            </a:r>
            <a:r>
              <a:rPr lang="en-US" altLang="en-US" sz="1400">
                <a:cs typeface="Times New Roman" panose="02020603050405020304" pitchFamily="18" charset="0"/>
              </a:rPr>
              <a:t> bi neka transformacija mogla da se primeni nad indeksnim skupom ona ne sme da menja znak vektora zavisnosti da bi se sa</a:t>
            </a:r>
            <a:r>
              <a:rPr lang="hr-HR" altLang="en-US" sz="1400"/>
              <a:t>č</a:t>
            </a:r>
            <a:r>
              <a:rPr lang="en-US" altLang="en-US" sz="1400">
                <a:cs typeface="Times New Roman" panose="02020603050405020304" pitchFamily="18" charset="0"/>
              </a:rPr>
              <a:t>uvale zavisnosti koje postoje u redosledu izra</a:t>
            </a:r>
            <a:r>
              <a:rPr lang="hr-HR" altLang="en-US" sz="1400"/>
              <a:t>č</a:t>
            </a:r>
            <a:r>
              <a:rPr lang="en-US" altLang="en-US" sz="1400">
                <a:cs typeface="Times New Roman" panose="02020603050405020304" pitchFamily="18" charset="0"/>
              </a:rPr>
              <a:t>unavanja</a:t>
            </a:r>
          </a:p>
          <a:p>
            <a:pPr lvl="1">
              <a:buFont typeface="Wingdings" panose="05000000000000000000" pitchFamily="2" charset="2"/>
              <a:buNone/>
              <a:defRPr/>
            </a:pPr>
            <a:r>
              <a:rPr lang="hr-HR" altLang="en-US" sz="2100"/>
              <a:t>	</a:t>
            </a:r>
            <a:r>
              <a:rPr lang="sr-Latn-CS" altLang="en-US" sz="1800">
                <a:cs typeface="Times New Roman" panose="02020603050405020304" pitchFamily="18" charset="0"/>
              </a:rPr>
              <a:t>for</a:t>
            </a:r>
            <a:r>
              <a:rPr lang="en-US" altLang="en-US" sz="1800">
                <a:cs typeface="Times New Roman" panose="02020603050405020304" pitchFamily="18" charset="0"/>
              </a:rPr>
              <a:t>  i = 1, 5</a:t>
            </a:r>
          </a:p>
          <a:p>
            <a:pPr lvl="1">
              <a:buFont typeface="Wingdings" panose="05000000000000000000" pitchFamily="2" charset="2"/>
              <a:buNone/>
              <a:defRPr/>
            </a:pPr>
            <a:r>
              <a:rPr lang="en-US" altLang="en-US" sz="1800">
                <a:cs typeface="Times New Roman" panose="02020603050405020304" pitchFamily="18" charset="0"/>
              </a:rPr>
              <a:t>	</a:t>
            </a:r>
            <a:r>
              <a:rPr lang="sr-Latn-CS" altLang="en-US" sz="1800">
                <a:cs typeface="Times New Roman" panose="02020603050405020304" pitchFamily="18" charset="0"/>
              </a:rPr>
              <a:t>for</a:t>
            </a:r>
            <a:r>
              <a:rPr lang="en-US" altLang="en-US" sz="1800">
                <a:cs typeface="Times New Roman" panose="02020603050405020304" pitchFamily="18" charset="0"/>
              </a:rPr>
              <a:t>  j = 1, 10</a:t>
            </a:r>
          </a:p>
          <a:p>
            <a:pPr lvl="1">
              <a:buFont typeface="Wingdings" panose="05000000000000000000" pitchFamily="2" charset="2"/>
              <a:buNone/>
              <a:defRPr/>
            </a:pPr>
            <a:r>
              <a:rPr lang="en-US" altLang="en-US" sz="1800">
                <a:cs typeface="Times New Roman" panose="02020603050405020304" pitchFamily="18" charset="0"/>
              </a:rPr>
              <a:t>	</a:t>
            </a:r>
            <a:r>
              <a:rPr lang="sr-Latn-CS" altLang="en-US" sz="1800">
                <a:cs typeface="Times New Roman" panose="02020603050405020304" pitchFamily="18" charset="0"/>
              </a:rPr>
              <a:t>for</a:t>
            </a:r>
            <a:r>
              <a:rPr lang="en-US" altLang="en-US" sz="1800">
                <a:cs typeface="Times New Roman" panose="02020603050405020304" pitchFamily="18" charset="0"/>
              </a:rPr>
              <a:t>  k =1, 20</a:t>
            </a:r>
            <a:endParaRPr lang="hr-HR" altLang="en-US" sz="1800"/>
          </a:p>
          <a:p>
            <a:pPr lvl="1">
              <a:buFont typeface="Wingdings" panose="05000000000000000000" pitchFamily="2" charset="2"/>
              <a:buNone/>
              <a:defRPr/>
            </a:pPr>
            <a:r>
              <a:rPr lang="en-US" altLang="en-US" sz="1800">
                <a:cs typeface="Times New Roman" panose="02020603050405020304" pitchFamily="18" charset="0"/>
              </a:rPr>
              <a:t>A(i, j, k) = A(i-1, j, k+1)+ B(i, j, k)</a:t>
            </a:r>
          </a:p>
          <a:p>
            <a:pPr lvl="1">
              <a:buFont typeface="Wingdings" panose="05000000000000000000" pitchFamily="2" charset="2"/>
              <a:buNone/>
              <a:defRPr/>
            </a:pPr>
            <a:r>
              <a:rPr lang="en-US" altLang="en-US" sz="1800">
                <a:cs typeface="Times New Roman" panose="02020603050405020304" pitchFamily="18" charset="0"/>
              </a:rPr>
              <a:t>	B(i, j, k+1) = B(i, j-1, k-1) * 3</a:t>
            </a:r>
          </a:p>
          <a:p>
            <a:pPr lvl="1">
              <a:buFont typeface="Wingdings" panose="05000000000000000000" pitchFamily="2" charset="2"/>
              <a:buNone/>
              <a:defRPr/>
            </a:pPr>
            <a:r>
              <a:rPr lang="hr-HR" altLang="en-US" sz="1800"/>
              <a:t>endfor</a:t>
            </a:r>
            <a:r>
              <a:rPr lang="en-US" altLang="en-US" sz="1800"/>
              <a:t>{</a:t>
            </a:r>
            <a:r>
              <a:rPr lang="hr-HR" altLang="en-US" sz="1800"/>
              <a:t>i,j,k</a:t>
            </a:r>
            <a:r>
              <a:rPr lang="en-US" altLang="en-US" sz="1800"/>
              <a:t>}</a:t>
            </a:r>
            <a:r>
              <a:rPr lang="en-US" altLang="en-US" sz="2100"/>
              <a:t> </a:t>
            </a:r>
          </a:p>
        </p:txBody>
      </p:sp>
      <p:sp>
        <p:nvSpPr>
          <p:cNvPr id="73732" name="Rectangle 4">
            <a:extLst>
              <a:ext uri="{FF2B5EF4-FFF2-40B4-BE49-F238E27FC236}">
                <a16:creationId xmlns:a16="http://schemas.microsoft.com/office/drawing/2014/main" id="{71222C2F-EE26-4AA5-9792-1E9E3383E4F3}"/>
              </a:ext>
            </a:extLst>
          </p:cNvPr>
          <p:cNvSpPr>
            <a:spLocks noGrp="1" noChangeArrowheads="1"/>
          </p:cNvSpPr>
          <p:nvPr>
            <p:ph type="body" sz="half" idx="2"/>
          </p:nvPr>
        </p:nvSpPr>
        <p:spPr/>
        <p:txBody>
          <a:bodyPr/>
          <a:lstStyle/>
          <a:p>
            <a:pPr>
              <a:defRPr/>
            </a:pPr>
            <a:r>
              <a:rPr lang="en-US" altLang="en-US" sz="2000">
                <a:cs typeface="Times New Roman" panose="02020603050405020304" pitchFamily="18" charset="0"/>
              </a:rPr>
              <a:t>RE</a:t>
            </a:r>
            <a:r>
              <a:rPr lang="sr-Latn-CS" altLang="en-US" sz="2000">
                <a:cs typeface="Times New Roman" panose="02020603050405020304" pitchFamily="18" charset="0"/>
              </a:rPr>
              <a:t>Š</a:t>
            </a:r>
            <a:r>
              <a:rPr lang="en-US" altLang="en-US" sz="2000">
                <a:cs typeface="Times New Roman" panose="02020603050405020304" pitchFamily="18" charset="0"/>
              </a:rPr>
              <a:t>ENJE:</a:t>
            </a:r>
            <a:r>
              <a:rPr lang="en-US" altLang="en-US" sz="2000">
                <a:latin typeface="Times Roman YU" pitchFamily="18" charset="0"/>
                <a:cs typeface="Times New Roman" panose="02020603050405020304" pitchFamily="18" charset="0"/>
              </a:rPr>
              <a:t>  </a:t>
            </a:r>
            <a:endParaRPr lang="hr-HR" altLang="en-US" sz="2000">
              <a:latin typeface="Times New Roman" panose="02020603050405020304" pitchFamily="18" charset="0"/>
            </a:endParaRPr>
          </a:p>
          <a:p>
            <a:pPr lvl="1">
              <a:defRPr/>
            </a:pPr>
            <a:r>
              <a:rPr lang="en-US" altLang="en-US" sz="1800">
                <a:cs typeface="Times New Roman" panose="02020603050405020304" pitchFamily="18" charset="0"/>
              </a:rPr>
              <a:t>Uo</a:t>
            </a:r>
            <a:r>
              <a:rPr lang="sr-Latn-CS" altLang="en-US" sz="1800">
                <a:cs typeface="Times New Roman" panose="02020603050405020304" pitchFamily="18" charset="0"/>
              </a:rPr>
              <a:t>č</a:t>
            </a:r>
            <a:r>
              <a:rPr lang="en-US" altLang="en-US" sz="1800">
                <a:cs typeface="Times New Roman" panose="02020603050405020304" pitchFamily="18" charset="0"/>
              </a:rPr>
              <a:t>imo prvo sve parove generisanih—kori</a:t>
            </a:r>
            <a:r>
              <a:rPr lang="sr-Latn-CS" altLang="en-US" sz="1800">
                <a:cs typeface="Times New Roman" panose="02020603050405020304" pitchFamily="18" charset="0"/>
              </a:rPr>
              <a:t>šć</a:t>
            </a:r>
            <a:r>
              <a:rPr lang="en-US" altLang="en-US" sz="1800">
                <a:cs typeface="Times New Roman" panose="02020603050405020304" pitchFamily="18" charset="0"/>
              </a:rPr>
              <a:t>enih promenljivih</a:t>
            </a:r>
            <a:r>
              <a:rPr lang="hr-HR" altLang="en-US" sz="1800"/>
              <a:t>:</a:t>
            </a:r>
            <a:endParaRPr lang="en-US" altLang="en-US" sz="1800"/>
          </a:p>
          <a:p>
            <a:pPr lvl="1">
              <a:buFont typeface="Wingdings" panose="05000000000000000000" pitchFamily="2" charset="2"/>
              <a:buNone/>
              <a:defRPr/>
            </a:pPr>
            <a:r>
              <a:rPr lang="en-US" altLang="en-US" sz="1800">
                <a:cs typeface="Times New Roman" panose="02020603050405020304" pitchFamily="18" charset="0"/>
              </a:rPr>
              <a:t>A(i, j, k) i  A(i-1, j, k+1)</a:t>
            </a:r>
          </a:p>
          <a:p>
            <a:pPr lvl="1">
              <a:buFont typeface="Wingdings" panose="05000000000000000000" pitchFamily="2" charset="2"/>
              <a:buNone/>
              <a:defRPr/>
            </a:pPr>
            <a:r>
              <a:rPr lang="en-US" altLang="en-US" sz="1800">
                <a:cs typeface="Times New Roman" panose="02020603050405020304" pitchFamily="18" charset="0"/>
              </a:rPr>
              <a:t>B(i, j, k+1) i  B(i, j, k),</a:t>
            </a:r>
          </a:p>
          <a:p>
            <a:pPr lvl="1">
              <a:buFont typeface="Wingdings" panose="05000000000000000000" pitchFamily="2" charset="2"/>
              <a:buNone/>
              <a:defRPr/>
            </a:pPr>
            <a:r>
              <a:rPr lang="en-US" altLang="en-US" sz="1800">
                <a:cs typeface="Times New Roman" panose="02020603050405020304" pitchFamily="18" charset="0"/>
              </a:rPr>
              <a:t>B(i, j, k+1) i  B(i, j-1, k-1)</a:t>
            </a:r>
            <a:r>
              <a:rPr lang="en-US" altLang="en-US" sz="1900"/>
              <a:t> </a:t>
            </a:r>
            <a:endParaRPr lang="hr-HR" altLang="en-US" sz="1900"/>
          </a:p>
          <a:p>
            <a:pPr>
              <a:buFont typeface="Wingdings 2" panose="05020102010507070707" pitchFamily="18" charset="2"/>
              <a:buNone/>
              <a:defRPr/>
            </a:pPr>
            <a:r>
              <a:rPr lang="en-US" altLang="en-US" sz="1800">
                <a:cs typeface="Times New Roman" panose="02020603050405020304" pitchFamily="18" charset="0"/>
              </a:rPr>
              <a:t>Odgovaraju</a:t>
            </a:r>
            <a:r>
              <a:rPr lang="sr-Latn-CS" altLang="en-US" sz="1800">
                <a:cs typeface="Times New Roman" panose="02020603050405020304" pitchFamily="18" charset="0"/>
              </a:rPr>
              <a:t>ć</a:t>
            </a:r>
            <a:r>
              <a:rPr lang="en-US" altLang="en-US" sz="1800">
                <a:cs typeface="Times New Roman" panose="02020603050405020304" pitchFamily="18" charset="0"/>
              </a:rPr>
              <a:t>i</a:t>
            </a:r>
            <a:r>
              <a:rPr lang="sr-Latn-CS" altLang="en-US" sz="1800">
                <a:cs typeface="Times New Roman" panose="02020603050405020304" pitchFamily="18" charset="0"/>
              </a:rPr>
              <a:t> </a:t>
            </a:r>
            <a:r>
              <a:rPr lang="en-US" altLang="en-US" sz="1800">
                <a:cs typeface="Times New Roman" panose="02020603050405020304" pitchFamily="18" charset="0"/>
              </a:rPr>
              <a:t>vektori zavisnosti </a:t>
            </a:r>
          </a:p>
          <a:p>
            <a:pPr lvl="1">
              <a:buFont typeface="Wingdings" panose="05000000000000000000" pitchFamily="2" charset="2"/>
              <a:buNone/>
              <a:defRPr/>
            </a:pPr>
            <a:r>
              <a:rPr lang="en-US" altLang="en-US" sz="1800">
                <a:cs typeface="Times New Roman" panose="02020603050405020304" pitchFamily="18" charset="0"/>
              </a:rPr>
              <a:t>d</a:t>
            </a:r>
            <a:r>
              <a:rPr lang="en-US" altLang="en-US" sz="1800" baseline="-30000">
                <a:cs typeface="Times New Roman" panose="02020603050405020304" pitchFamily="18" charset="0"/>
              </a:rPr>
              <a:t>1</a:t>
            </a:r>
            <a:r>
              <a:rPr lang="en-US" altLang="en-US" sz="1800">
                <a:cs typeface="Times New Roman" panose="02020603050405020304" pitchFamily="18" charset="0"/>
              </a:rPr>
              <a:t> = (i, j, k)</a:t>
            </a:r>
            <a:r>
              <a:rPr lang="en-US" altLang="en-US" sz="1800" baseline="30000">
                <a:cs typeface="Times New Roman" panose="02020603050405020304" pitchFamily="18" charset="0"/>
              </a:rPr>
              <a:t>T</a:t>
            </a:r>
            <a:r>
              <a:rPr lang="en-US" altLang="en-US" sz="1800">
                <a:cs typeface="Times New Roman" panose="02020603050405020304" pitchFamily="18" charset="0"/>
              </a:rPr>
              <a:t> – (i-1, j, k+1)</a:t>
            </a:r>
            <a:r>
              <a:rPr lang="en-US" altLang="en-US" sz="1800" baseline="30000">
                <a:cs typeface="Times New Roman" panose="02020603050405020304" pitchFamily="18" charset="0"/>
              </a:rPr>
              <a:t>T</a:t>
            </a:r>
            <a:r>
              <a:rPr lang="en-US" altLang="en-US" sz="1800">
                <a:cs typeface="Times New Roman" panose="02020603050405020304" pitchFamily="18" charset="0"/>
              </a:rPr>
              <a:t> = </a:t>
            </a:r>
            <a:endParaRPr lang="hr-HR" altLang="en-US" sz="1800"/>
          </a:p>
          <a:p>
            <a:pPr lvl="1">
              <a:buFont typeface="Wingdings" panose="05000000000000000000" pitchFamily="2" charset="2"/>
              <a:buNone/>
              <a:defRPr/>
            </a:pPr>
            <a:r>
              <a:rPr lang="en-US" altLang="en-US" sz="1800">
                <a:cs typeface="Times New Roman" panose="02020603050405020304" pitchFamily="18" charset="0"/>
              </a:rPr>
              <a:t>[ 1, 0, -1]</a:t>
            </a:r>
            <a:r>
              <a:rPr lang="en-US" altLang="en-US" sz="1800" baseline="30000">
                <a:cs typeface="Times New Roman" panose="02020603050405020304" pitchFamily="18" charset="0"/>
              </a:rPr>
              <a:t>T</a:t>
            </a:r>
            <a:r>
              <a:rPr lang="en-US" altLang="en-US" sz="1800">
                <a:cs typeface="Times New Roman" panose="02020603050405020304" pitchFamily="18" charset="0"/>
              </a:rPr>
              <a:t> </a:t>
            </a:r>
          </a:p>
          <a:p>
            <a:pPr lvl="1">
              <a:buFont typeface="Wingdings" panose="05000000000000000000" pitchFamily="2" charset="2"/>
              <a:buNone/>
              <a:defRPr/>
            </a:pPr>
            <a:r>
              <a:rPr lang="en-US" altLang="en-US" sz="1800">
                <a:cs typeface="Times New Roman" panose="02020603050405020304" pitchFamily="18" charset="0"/>
              </a:rPr>
              <a:t>d</a:t>
            </a:r>
            <a:r>
              <a:rPr lang="en-US" altLang="en-US" sz="1800" baseline="-30000">
                <a:cs typeface="Times New Roman" panose="02020603050405020304" pitchFamily="18" charset="0"/>
              </a:rPr>
              <a:t>2</a:t>
            </a:r>
            <a:r>
              <a:rPr lang="en-US" altLang="en-US" sz="1800">
                <a:cs typeface="Times New Roman" panose="02020603050405020304" pitchFamily="18" charset="0"/>
              </a:rPr>
              <a:t> = (i, j, k+1)</a:t>
            </a:r>
            <a:r>
              <a:rPr lang="en-US" altLang="en-US" sz="1800" baseline="30000">
                <a:cs typeface="Times New Roman" panose="02020603050405020304" pitchFamily="18" charset="0"/>
              </a:rPr>
              <a:t>T</a:t>
            </a:r>
            <a:r>
              <a:rPr lang="en-US" altLang="en-US" sz="1800">
                <a:cs typeface="Times New Roman" panose="02020603050405020304" pitchFamily="18" charset="0"/>
              </a:rPr>
              <a:t> – (i, j, k)</a:t>
            </a:r>
            <a:r>
              <a:rPr lang="en-US" altLang="en-US" sz="1800" baseline="30000">
                <a:cs typeface="Times New Roman" panose="02020603050405020304" pitchFamily="18" charset="0"/>
              </a:rPr>
              <a:t>T</a:t>
            </a:r>
            <a:r>
              <a:rPr lang="en-US" altLang="en-US" sz="1800">
                <a:cs typeface="Times New Roman" panose="02020603050405020304" pitchFamily="18" charset="0"/>
              </a:rPr>
              <a:t> = </a:t>
            </a:r>
            <a:endParaRPr lang="hr-HR" altLang="en-US" sz="1800"/>
          </a:p>
          <a:p>
            <a:pPr lvl="1">
              <a:buFont typeface="Wingdings" panose="05000000000000000000" pitchFamily="2" charset="2"/>
              <a:buNone/>
              <a:defRPr/>
            </a:pPr>
            <a:r>
              <a:rPr lang="en-US" altLang="en-US" sz="1800">
                <a:cs typeface="Times New Roman" panose="02020603050405020304" pitchFamily="18" charset="0"/>
              </a:rPr>
              <a:t>[ 0, 0, 1]</a:t>
            </a:r>
            <a:r>
              <a:rPr lang="en-US" altLang="en-US" sz="1800" baseline="30000">
                <a:cs typeface="Times New Roman" panose="02020603050405020304" pitchFamily="18" charset="0"/>
              </a:rPr>
              <a:t>T</a:t>
            </a:r>
            <a:endParaRPr lang="en-US" altLang="en-US" sz="1800">
              <a:cs typeface="Times New Roman" panose="02020603050405020304" pitchFamily="18" charset="0"/>
            </a:endParaRPr>
          </a:p>
          <a:p>
            <a:pPr lvl="1">
              <a:buFont typeface="Wingdings" panose="05000000000000000000" pitchFamily="2" charset="2"/>
              <a:buNone/>
              <a:defRPr/>
            </a:pPr>
            <a:r>
              <a:rPr lang="en-US" altLang="en-US" sz="1800">
                <a:cs typeface="Times New Roman" panose="02020603050405020304" pitchFamily="18" charset="0"/>
              </a:rPr>
              <a:t>d</a:t>
            </a:r>
            <a:r>
              <a:rPr lang="en-US" altLang="en-US" sz="1800" baseline="-30000">
                <a:cs typeface="Times New Roman" panose="02020603050405020304" pitchFamily="18" charset="0"/>
              </a:rPr>
              <a:t>3</a:t>
            </a:r>
            <a:r>
              <a:rPr lang="en-US" altLang="en-US" sz="1800">
                <a:cs typeface="Times New Roman" panose="02020603050405020304" pitchFamily="18" charset="0"/>
              </a:rPr>
              <a:t> = (i, j, k+1)</a:t>
            </a:r>
            <a:r>
              <a:rPr lang="en-US" altLang="en-US" sz="1800" baseline="30000">
                <a:cs typeface="Times New Roman" panose="02020603050405020304" pitchFamily="18" charset="0"/>
              </a:rPr>
              <a:t>T</a:t>
            </a:r>
            <a:r>
              <a:rPr lang="en-US" altLang="en-US" sz="1800">
                <a:cs typeface="Times New Roman" panose="02020603050405020304" pitchFamily="18" charset="0"/>
              </a:rPr>
              <a:t> – (i, j-1, k-1)</a:t>
            </a:r>
            <a:r>
              <a:rPr lang="en-US" altLang="en-US" sz="1800" baseline="30000">
                <a:cs typeface="Times New Roman" panose="02020603050405020304" pitchFamily="18" charset="0"/>
              </a:rPr>
              <a:t>T</a:t>
            </a:r>
            <a:r>
              <a:rPr lang="en-US" altLang="en-US" sz="1800">
                <a:cs typeface="Times New Roman" panose="02020603050405020304" pitchFamily="18" charset="0"/>
              </a:rPr>
              <a:t> = </a:t>
            </a:r>
            <a:endParaRPr lang="hr-HR" altLang="en-US" sz="1800"/>
          </a:p>
          <a:p>
            <a:pPr lvl="1">
              <a:buFont typeface="Wingdings" panose="05000000000000000000" pitchFamily="2" charset="2"/>
              <a:buNone/>
              <a:defRPr/>
            </a:pPr>
            <a:r>
              <a:rPr lang="en-US" altLang="en-US" sz="1800">
                <a:cs typeface="Times New Roman" panose="02020603050405020304" pitchFamily="18" charset="0"/>
              </a:rPr>
              <a:t>[0, 1, 2]</a:t>
            </a:r>
            <a:r>
              <a:rPr lang="en-US" altLang="en-US" sz="1800" baseline="30000">
                <a:cs typeface="Times New Roman" panose="02020603050405020304" pitchFamily="18" charset="0"/>
              </a:rPr>
              <a:t>T</a:t>
            </a:r>
          </a:p>
          <a:p>
            <a:pPr>
              <a:defRPr/>
            </a:pPr>
            <a:r>
              <a:rPr lang="en-US" altLang="en-US" sz="1800">
                <a:cs typeface="Times New Roman" panose="02020603050405020304" pitchFamily="18" charset="0"/>
              </a:rPr>
              <a:t>Zbog vektora d2 nije mogu</a:t>
            </a:r>
            <a:r>
              <a:rPr lang="sr-Latn-RS" altLang="en-US" sz="1800">
                <a:cs typeface="Times New Roman" panose="02020603050405020304" pitchFamily="18" charset="0"/>
              </a:rPr>
              <a:t>će izvršiti vektorizaciju.</a:t>
            </a:r>
          </a:p>
          <a:p>
            <a:pPr lvl="1">
              <a:defRPr/>
            </a:pPr>
            <a:r>
              <a:rPr lang="sr-Latn-RS" altLang="en-US" sz="1700">
                <a:cs typeface="Tahoma" panose="020B0604030504040204" pitchFamily="34" charset="0"/>
              </a:rPr>
              <a:t>permutacijom petlji j i k dobićemo kod koji je moguće vektorizovati</a:t>
            </a:r>
            <a:endParaRPr lang="en-US" altLang="en-US" sz="1700">
              <a:cs typeface="Tahoma" panose="020B0604030504040204" pitchFamily="34" charset="0"/>
            </a:endParaRPr>
          </a:p>
          <a:p>
            <a:pPr lvl="1">
              <a:buFont typeface="Wingdings" panose="05000000000000000000" pitchFamily="2" charset="2"/>
              <a:buNone/>
              <a:defRPr/>
            </a:pPr>
            <a:endParaRPr lang="en-US" altLang="en-US" sz="1800"/>
          </a:p>
        </p:txBody>
      </p:sp>
      <p:sp>
        <p:nvSpPr>
          <p:cNvPr id="16390" name="Rectangle 5">
            <a:extLst>
              <a:ext uri="{FF2B5EF4-FFF2-40B4-BE49-F238E27FC236}">
                <a16:creationId xmlns:a16="http://schemas.microsoft.com/office/drawing/2014/main" id="{64AE0D88-D64D-4FEF-80F3-D4CC04618561}"/>
              </a:ext>
            </a:extLst>
          </p:cNvPr>
          <p:cNvSpPr>
            <a:spLocks noChangeArrowheads="1"/>
          </p:cNvSpPr>
          <p:nvPr/>
        </p:nvSpPr>
        <p:spPr bwMode="auto">
          <a:xfrm>
            <a:off x="3481388"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6386" name="Object 6">
            <a:extLst>
              <a:ext uri="{FF2B5EF4-FFF2-40B4-BE49-F238E27FC236}">
                <a16:creationId xmlns:a16="http://schemas.microsoft.com/office/drawing/2014/main" id="{A1642786-1B26-4064-9AF9-BED034BB800F}"/>
              </a:ext>
            </a:extLst>
          </p:cNvPr>
          <p:cNvGraphicFramePr>
            <a:graphicFrameLocks noChangeAspect="1"/>
          </p:cNvGraphicFramePr>
          <p:nvPr/>
        </p:nvGraphicFramePr>
        <p:xfrm>
          <a:off x="304800" y="4419600"/>
          <a:ext cx="3810000" cy="1247775"/>
        </p:xfrm>
        <a:graphic>
          <a:graphicData uri="http://schemas.openxmlformats.org/presentationml/2006/ole">
            <mc:AlternateContent xmlns:mc="http://schemas.openxmlformats.org/markup-compatibility/2006">
              <mc:Choice xmlns:v="urn:schemas-microsoft-com:vml" Requires="v">
                <p:oleObj r:id="rId2" imgW="2184400" imgH="711200" progId="Equation.3">
                  <p:embed/>
                </p:oleObj>
              </mc:Choice>
              <mc:Fallback>
                <p:oleObj r:id="rId2" imgW="2184400" imgH="711200" progId="Equation.3">
                  <p:embed/>
                  <p:pic>
                    <p:nvPicPr>
                      <p:cNvPr id="16386" name="Object 6">
                        <a:extLst>
                          <a:ext uri="{FF2B5EF4-FFF2-40B4-BE49-F238E27FC236}">
                            <a16:creationId xmlns:a16="http://schemas.microsoft.com/office/drawing/2014/main" id="{A1642786-1B26-4064-9AF9-BED034BB8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419600"/>
                        <a:ext cx="381000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5" name="AutoShape 7">
            <a:extLst>
              <a:ext uri="{FF2B5EF4-FFF2-40B4-BE49-F238E27FC236}">
                <a16:creationId xmlns:a16="http://schemas.microsoft.com/office/drawing/2014/main" id="{A57CF16B-49F4-497B-8F5E-D61A08A15F34}"/>
              </a:ext>
            </a:extLst>
          </p:cNvPr>
          <p:cNvSpPr>
            <a:spLocks/>
          </p:cNvSpPr>
          <p:nvPr/>
        </p:nvSpPr>
        <p:spPr bwMode="auto">
          <a:xfrm>
            <a:off x="1371600" y="6019800"/>
            <a:ext cx="1447800" cy="609600"/>
          </a:xfrm>
          <a:prstGeom prst="borderCallout2">
            <a:avLst>
              <a:gd name="adj1" fmla="val 18750"/>
              <a:gd name="adj2" fmla="val -5264"/>
              <a:gd name="adj3" fmla="val 18750"/>
              <a:gd name="adj4" fmla="val -16338"/>
              <a:gd name="adj5" fmla="val -110157"/>
              <a:gd name="adj6" fmla="val -56468"/>
            </a:avLst>
          </a:prstGeom>
          <a:solidFill>
            <a:schemeClr val="accent1"/>
          </a:solidFill>
          <a:ln w="9525">
            <a:solidFill>
              <a:schemeClr val="tx1"/>
            </a:solidFill>
            <a:miter lim="800000"/>
            <a:headEnd/>
            <a:tailEnd/>
          </a:ln>
          <a:effectLst/>
        </p:spPr>
        <p:txBody>
          <a:bodyPr anchor="b"/>
          <a:lstStyle/>
          <a:p>
            <a:pPr algn="ctr">
              <a:defRPr/>
            </a:pPr>
            <a:r>
              <a:rPr lang="hr-HR" altLang="en-US">
                <a:solidFill>
                  <a:schemeClr val="tx2"/>
                </a:solidFill>
                <a:effectLst>
                  <a:outerShdw blurRad="38100" dist="38100" dir="2700000" algn="tl">
                    <a:srgbClr val="000000"/>
                  </a:outerShdw>
                </a:effectLst>
                <a:latin typeface="Tahoma" panose="020B0604030504040204" pitchFamily="34" charset="0"/>
              </a:rPr>
              <a:t>matrica zavisnosti</a:t>
            </a:r>
            <a:endParaRPr lang="en-US" altLang="en-US">
              <a:solidFill>
                <a:schemeClr val="tx2"/>
              </a:solidFill>
              <a:effectLst>
                <a:outerShdw blurRad="38100" dist="38100" dir="2700000" algn="tl">
                  <a:srgbClr val="000000"/>
                </a:outerShdw>
              </a:effectLst>
              <a:latin typeface="Tahoma" panose="020B0604030504040204" pitchFamily="34" charset="0"/>
            </a:endParaRPr>
          </a:p>
        </p:txBody>
      </p:sp>
    </p:spTree>
  </p:cSld>
  <p:clrMapOvr>
    <a:masterClrMapping/>
  </p:clrMapOvr>
  <p:transition>
    <p:pull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5">
            <a:extLst>
              <a:ext uri="{FF2B5EF4-FFF2-40B4-BE49-F238E27FC236}">
                <a16:creationId xmlns:a16="http://schemas.microsoft.com/office/drawing/2014/main" id="{DDB1C2EB-D140-4A41-B469-D704DA1A1D1F}"/>
              </a:ext>
            </a:extLst>
          </p:cNvPr>
          <p:cNvSpPr>
            <a:spLocks noGrp="1" noChangeArrowheads="1"/>
          </p:cNvSpPr>
          <p:nvPr>
            <p:ph type="title"/>
          </p:nvPr>
        </p:nvSpPr>
        <p:spPr/>
        <p:txBody>
          <a:bodyPr/>
          <a:lstStyle/>
          <a:p>
            <a:pPr>
              <a:defRPr/>
            </a:pPr>
            <a:r>
              <a:rPr lang="en-US" altLang="en-US"/>
              <a:t>Primer-1</a:t>
            </a:r>
          </a:p>
        </p:txBody>
      </p:sp>
      <p:sp>
        <p:nvSpPr>
          <p:cNvPr id="72711" name="Rectangle 7">
            <a:extLst>
              <a:ext uri="{FF2B5EF4-FFF2-40B4-BE49-F238E27FC236}">
                <a16:creationId xmlns:a16="http://schemas.microsoft.com/office/drawing/2014/main" id="{E68C4091-1281-40E4-8E22-274ACA15431C}"/>
              </a:ext>
            </a:extLst>
          </p:cNvPr>
          <p:cNvSpPr>
            <a:spLocks noGrp="1" noChangeArrowheads="1"/>
          </p:cNvSpPr>
          <p:nvPr>
            <p:ph type="body" idx="1"/>
          </p:nvPr>
        </p:nvSpPr>
        <p:spPr/>
        <p:txBody>
          <a:bodyPr/>
          <a:lstStyle/>
          <a:p>
            <a:pPr>
              <a:defRPr/>
            </a:pPr>
            <a:r>
              <a:rPr lang="sr-Latn-RS" altLang="en-US"/>
              <a:t>Matrica z</a:t>
            </a:r>
            <a:r>
              <a:rPr lang="en-US" altLang="en-US"/>
              <a:t>av</a:t>
            </a:r>
            <a:r>
              <a:rPr lang="sr-Latn-RS" altLang="en-US"/>
              <a:t>isnosti pre permutacije</a:t>
            </a:r>
          </a:p>
          <a:p>
            <a:pPr>
              <a:defRPr/>
            </a:pPr>
            <a:endParaRPr lang="sr-Latn-RS" altLang="en-US"/>
          </a:p>
          <a:p>
            <a:pPr>
              <a:defRPr/>
            </a:pPr>
            <a:endParaRPr lang="sr-Latn-RS" altLang="en-US"/>
          </a:p>
          <a:p>
            <a:pPr>
              <a:defRPr/>
            </a:pPr>
            <a:r>
              <a:rPr lang="sr-Latn-RS" altLang="en-US"/>
              <a:t>Matrica zavisnosti nakon permutacije</a:t>
            </a:r>
            <a:endParaRPr lang="en-US" altLang="en-US"/>
          </a:p>
          <a:p>
            <a:pPr>
              <a:defRPr/>
            </a:pPr>
            <a:endParaRPr lang="en-US" altLang="en-US"/>
          </a:p>
          <a:p>
            <a:pPr>
              <a:defRPr/>
            </a:pPr>
            <a:endParaRPr lang="en-US" altLang="en-US"/>
          </a:p>
          <a:p>
            <a:pPr>
              <a:defRPr/>
            </a:pPr>
            <a:endParaRPr lang="en-US" altLang="en-US"/>
          </a:p>
          <a:p>
            <a:pPr>
              <a:defRPr/>
            </a:pPr>
            <a:r>
              <a:rPr lang="sr-Latn-RS" altLang="en-US"/>
              <a:t>zavisnosti su zadržane ali se unutrašnja petlja može vektorizovati</a:t>
            </a:r>
            <a:endParaRPr lang="en-US" altLang="en-US"/>
          </a:p>
        </p:txBody>
      </p:sp>
      <p:graphicFrame>
        <p:nvGraphicFramePr>
          <p:cNvPr id="17410" name="Object 8">
            <a:extLst>
              <a:ext uri="{FF2B5EF4-FFF2-40B4-BE49-F238E27FC236}">
                <a16:creationId xmlns:a16="http://schemas.microsoft.com/office/drawing/2014/main" id="{1C44B671-18B5-443B-AB98-B2F1E6451CEC}"/>
              </a:ext>
            </a:extLst>
          </p:cNvPr>
          <p:cNvGraphicFramePr>
            <a:graphicFrameLocks noChangeAspect="1"/>
          </p:cNvGraphicFramePr>
          <p:nvPr/>
        </p:nvGraphicFramePr>
        <p:xfrm>
          <a:off x="1447800" y="1295400"/>
          <a:ext cx="3362325" cy="1120775"/>
        </p:xfrm>
        <a:graphic>
          <a:graphicData uri="http://schemas.openxmlformats.org/presentationml/2006/ole">
            <mc:AlternateContent xmlns:mc="http://schemas.openxmlformats.org/markup-compatibility/2006">
              <mc:Choice xmlns:v="urn:schemas-microsoft-com:vml" Requires="v">
                <p:oleObj name="Equation" r:id="rId2" imgW="2146300" imgH="711200" progId="Equation.3">
                  <p:embed/>
                </p:oleObj>
              </mc:Choice>
              <mc:Fallback>
                <p:oleObj name="Equation" r:id="rId2" imgW="2146300" imgH="711200" progId="Equation.3">
                  <p:embed/>
                  <p:pic>
                    <p:nvPicPr>
                      <p:cNvPr id="17410" name="Object 8">
                        <a:extLst>
                          <a:ext uri="{FF2B5EF4-FFF2-40B4-BE49-F238E27FC236}">
                            <a16:creationId xmlns:a16="http://schemas.microsoft.com/office/drawing/2014/main" id="{1C44B671-18B5-443B-AB98-B2F1E6451C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295400"/>
                        <a:ext cx="33623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1" name="Object 9">
            <a:extLst>
              <a:ext uri="{FF2B5EF4-FFF2-40B4-BE49-F238E27FC236}">
                <a16:creationId xmlns:a16="http://schemas.microsoft.com/office/drawing/2014/main" id="{8FBFEDB6-7262-4350-9E9D-B2A2F981531B}"/>
              </a:ext>
            </a:extLst>
          </p:cNvPr>
          <p:cNvGraphicFramePr>
            <a:graphicFrameLocks noChangeAspect="1"/>
          </p:cNvGraphicFramePr>
          <p:nvPr/>
        </p:nvGraphicFramePr>
        <p:xfrm>
          <a:off x="1371600" y="2917825"/>
          <a:ext cx="3362325" cy="1120775"/>
        </p:xfrm>
        <a:graphic>
          <a:graphicData uri="http://schemas.openxmlformats.org/presentationml/2006/ole">
            <mc:AlternateContent xmlns:mc="http://schemas.openxmlformats.org/markup-compatibility/2006">
              <mc:Choice xmlns:v="urn:schemas-microsoft-com:vml" Requires="v">
                <p:oleObj name="Equation" r:id="rId4" imgW="2146300" imgH="711200" progId="Equation.3">
                  <p:embed/>
                </p:oleObj>
              </mc:Choice>
              <mc:Fallback>
                <p:oleObj name="Equation" r:id="rId4" imgW="2146300" imgH="711200" progId="Equation.3">
                  <p:embed/>
                  <p:pic>
                    <p:nvPicPr>
                      <p:cNvPr id="17411" name="Object 9">
                        <a:extLst>
                          <a:ext uri="{FF2B5EF4-FFF2-40B4-BE49-F238E27FC236}">
                            <a16:creationId xmlns:a16="http://schemas.microsoft.com/office/drawing/2014/main" id="{8FBFEDB6-7262-4350-9E9D-B2A2F98153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2917825"/>
                        <a:ext cx="33623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4">
            <a:extLst>
              <a:ext uri="{FF2B5EF4-FFF2-40B4-BE49-F238E27FC236}">
                <a16:creationId xmlns:a16="http://schemas.microsoft.com/office/drawing/2014/main" id="{10B0C030-8445-4F99-83BD-0FC55B6F9CA5}"/>
              </a:ext>
            </a:extLst>
          </p:cNvPr>
          <p:cNvSpPr>
            <a:spLocks noGrp="1" noChangeArrowheads="1"/>
          </p:cNvSpPr>
          <p:nvPr>
            <p:ph type="title"/>
          </p:nvPr>
        </p:nvSpPr>
        <p:spPr/>
        <p:txBody>
          <a:bodyPr/>
          <a:lstStyle/>
          <a:p>
            <a:pPr>
              <a:defRPr/>
            </a:pPr>
            <a:r>
              <a:rPr lang="en-US" altLang="en-US"/>
              <a:t>Primer-1–nast.</a:t>
            </a:r>
          </a:p>
        </p:txBody>
      </p:sp>
      <p:sp>
        <p:nvSpPr>
          <p:cNvPr id="74755" name="Rectangle 3">
            <a:extLst>
              <a:ext uri="{FF2B5EF4-FFF2-40B4-BE49-F238E27FC236}">
                <a16:creationId xmlns:a16="http://schemas.microsoft.com/office/drawing/2014/main" id="{93B12EB7-4B2D-4973-9BD7-12443574DD9D}"/>
              </a:ext>
            </a:extLst>
          </p:cNvPr>
          <p:cNvSpPr>
            <a:spLocks noGrp="1" noChangeArrowheads="1"/>
          </p:cNvSpPr>
          <p:nvPr>
            <p:ph type="body" sz="half" idx="1"/>
          </p:nvPr>
        </p:nvSpPr>
        <p:spPr/>
        <p:txBody>
          <a:bodyPr/>
          <a:lstStyle/>
          <a:p>
            <a:pPr>
              <a:defRPr/>
            </a:pPr>
            <a:r>
              <a:rPr lang="en-US" altLang="en-US" sz="2400"/>
              <a:t>transformisana petlja</a:t>
            </a:r>
            <a:endParaRPr lang="sr-Latn-RS" altLang="en-US" sz="2400"/>
          </a:p>
          <a:p>
            <a:pPr>
              <a:defRPr/>
            </a:pPr>
            <a:endParaRPr lang="en-US" altLang="en-US" sz="2400"/>
          </a:p>
        </p:txBody>
      </p:sp>
      <p:sp>
        <p:nvSpPr>
          <p:cNvPr id="74757" name="Rectangle 5">
            <a:extLst>
              <a:ext uri="{FF2B5EF4-FFF2-40B4-BE49-F238E27FC236}">
                <a16:creationId xmlns:a16="http://schemas.microsoft.com/office/drawing/2014/main" id="{8E8ADAD6-38CE-4A22-8420-F79B04461DD7}"/>
              </a:ext>
            </a:extLst>
          </p:cNvPr>
          <p:cNvSpPr>
            <a:spLocks noGrp="1" noChangeArrowheads="1"/>
          </p:cNvSpPr>
          <p:nvPr>
            <p:ph type="body" sz="half" idx="2"/>
          </p:nvPr>
        </p:nvSpPr>
        <p:spPr/>
        <p:txBody>
          <a:bodyPr/>
          <a:lstStyle/>
          <a:p>
            <a:pPr>
              <a:defRPr/>
            </a:pPr>
            <a:r>
              <a:rPr lang="sr-Latn-RS" altLang="en-US" sz="2400"/>
              <a:t>i</a:t>
            </a:r>
            <a:r>
              <a:rPr lang="en-US" altLang="en-US" sz="2400"/>
              <a:t>=1,k=1,j=1</a:t>
            </a:r>
          </a:p>
          <a:p>
            <a:pPr lvl="1">
              <a:defRPr/>
            </a:pPr>
            <a:r>
              <a:rPr lang="en-US" altLang="en-US" sz="2100"/>
              <a:t>a(1,1,1)=a(0,1,2)+b(1,1,1)</a:t>
            </a:r>
          </a:p>
          <a:p>
            <a:pPr lvl="1">
              <a:defRPr/>
            </a:pPr>
            <a:r>
              <a:rPr lang="en-US" altLang="en-US" sz="2100"/>
              <a:t>b(1,1,2) =b(1,0,0)*3</a:t>
            </a:r>
          </a:p>
          <a:p>
            <a:pPr>
              <a:defRPr/>
            </a:pPr>
            <a:r>
              <a:rPr lang="sr-Latn-RS" altLang="en-US" sz="2400"/>
              <a:t>i</a:t>
            </a:r>
            <a:r>
              <a:rPr lang="en-US" altLang="en-US" sz="2400"/>
              <a:t>=1,k=1,j=2</a:t>
            </a:r>
          </a:p>
          <a:p>
            <a:pPr lvl="1">
              <a:defRPr/>
            </a:pPr>
            <a:r>
              <a:rPr lang="en-US" altLang="en-US" sz="2100"/>
              <a:t>a(1,2,1)=a(0,2,2)+b(1,2,1)</a:t>
            </a:r>
          </a:p>
          <a:p>
            <a:pPr lvl="1">
              <a:defRPr/>
            </a:pPr>
            <a:r>
              <a:rPr lang="en-US" altLang="en-US" sz="2100"/>
              <a:t>b(1,2,2) =b(1,1,0)*3</a:t>
            </a:r>
          </a:p>
          <a:p>
            <a:pPr lvl="1">
              <a:defRPr/>
            </a:pPr>
            <a:endParaRPr lang="en-US" altLang="en-US" sz="2100"/>
          </a:p>
          <a:p>
            <a:pPr lvl="1">
              <a:defRPr/>
            </a:pPr>
            <a:endParaRPr lang="en-US" altLang="en-US" sz="2100"/>
          </a:p>
          <a:p>
            <a:pPr>
              <a:defRPr/>
            </a:pPr>
            <a:r>
              <a:rPr lang="sr-Latn-RS" altLang="en-US" sz="2400"/>
              <a:t>i</a:t>
            </a:r>
            <a:r>
              <a:rPr lang="en-US" altLang="en-US" sz="2400"/>
              <a:t>=1,k=2,j=1</a:t>
            </a:r>
          </a:p>
          <a:p>
            <a:pPr lvl="1">
              <a:defRPr/>
            </a:pPr>
            <a:r>
              <a:rPr lang="en-US" altLang="en-US" sz="2100"/>
              <a:t>a(1,1,2)=a(0,1,3)+b(1,1,2)</a:t>
            </a:r>
          </a:p>
          <a:p>
            <a:pPr lvl="1">
              <a:defRPr/>
            </a:pPr>
            <a:r>
              <a:rPr lang="en-US" altLang="en-US" sz="2100"/>
              <a:t>b(1,2,3) =b(1,0,1)*3</a:t>
            </a:r>
          </a:p>
        </p:txBody>
      </p:sp>
      <p:sp>
        <p:nvSpPr>
          <p:cNvPr id="74758" name="Rectangle 6">
            <a:extLst>
              <a:ext uri="{FF2B5EF4-FFF2-40B4-BE49-F238E27FC236}">
                <a16:creationId xmlns:a16="http://schemas.microsoft.com/office/drawing/2014/main" id="{EFF890BE-4494-4182-9FAB-DA9DCDA7581D}"/>
              </a:ext>
            </a:extLst>
          </p:cNvPr>
          <p:cNvSpPr>
            <a:spLocks noChangeArrowheads="1"/>
          </p:cNvSpPr>
          <p:nvPr/>
        </p:nvSpPr>
        <p:spPr bwMode="auto">
          <a:xfrm>
            <a:off x="0" y="2819400"/>
            <a:ext cx="4191000" cy="1739900"/>
          </a:xfrm>
          <a:prstGeom prst="rect">
            <a:avLst/>
          </a:prstGeom>
          <a:noFill/>
          <a:ln>
            <a:noFill/>
          </a:ln>
          <a:effectLst/>
        </p:spPr>
        <p:txBody>
          <a:bodyPr anchor="b">
            <a:spAutoFit/>
          </a:bodyPr>
          <a:lstStyle/>
          <a:p>
            <a:pPr lvl="1">
              <a:defRPr/>
            </a:pPr>
            <a:r>
              <a:rPr kumimoji="1" lang="sr-Latn-CS" altLang="en-US">
                <a:solidFill>
                  <a:schemeClr val="hlink"/>
                </a:solidFill>
                <a:effectLst>
                  <a:outerShdw blurRad="38100" dist="38100" dir="2700000" algn="tl">
                    <a:srgbClr val="C0C0C0"/>
                  </a:outerShdw>
                </a:effectLst>
              </a:rPr>
              <a:t>for</a:t>
            </a:r>
            <a:r>
              <a:rPr kumimoji="1" lang="en-US" altLang="en-US">
                <a:solidFill>
                  <a:schemeClr val="hlink"/>
                </a:solidFill>
                <a:effectLst>
                  <a:outerShdw blurRad="38100" dist="38100" dir="2700000" algn="tl">
                    <a:srgbClr val="C0C0C0"/>
                  </a:outerShdw>
                </a:effectLst>
              </a:rPr>
              <a:t>  i = 1, 5</a:t>
            </a:r>
          </a:p>
          <a:p>
            <a:pPr lvl="1">
              <a:defRPr/>
            </a:pPr>
            <a:r>
              <a:rPr kumimoji="1" lang="sr-Latn-CS" altLang="en-US">
                <a:solidFill>
                  <a:schemeClr val="hlink"/>
                </a:solidFill>
                <a:effectLst>
                  <a:outerShdw blurRad="38100" dist="38100" dir="2700000" algn="tl">
                    <a:srgbClr val="C0C0C0"/>
                  </a:outerShdw>
                </a:effectLst>
              </a:rPr>
              <a:t>for</a:t>
            </a:r>
            <a:r>
              <a:rPr kumimoji="1" lang="en-US" altLang="en-US">
                <a:solidFill>
                  <a:schemeClr val="hlink"/>
                </a:solidFill>
                <a:effectLst>
                  <a:outerShdw blurRad="38100" dist="38100" dir="2700000" algn="tl">
                    <a:srgbClr val="C0C0C0"/>
                  </a:outerShdw>
                </a:effectLst>
              </a:rPr>
              <a:t>  </a:t>
            </a:r>
            <a:r>
              <a:rPr kumimoji="1" lang="sr-Latn-RS" altLang="en-US">
                <a:solidFill>
                  <a:schemeClr val="hlink"/>
                </a:solidFill>
                <a:effectLst>
                  <a:outerShdw blurRad="38100" dist="38100" dir="2700000" algn="tl">
                    <a:srgbClr val="C0C0C0"/>
                  </a:outerShdw>
                </a:effectLst>
              </a:rPr>
              <a:t>k</a:t>
            </a:r>
            <a:r>
              <a:rPr kumimoji="1" lang="en-US" altLang="en-US">
                <a:solidFill>
                  <a:schemeClr val="hlink"/>
                </a:solidFill>
                <a:effectLst>
                  <a:outerShdw blurRad="38100" dist="38100" dir="2700000" algn="tl">
                    <a:srgbClr val="C0C0C0"/>
                  </a:outerShdw>
                </a:effectLst>
              </a:rPr>
              <a:t> = 1, </a:t>
            </a:r>
            <a:r>
              <a:rPr kumimoji="1" lang="sr-Latn-RS" altLang="en-US">
                <a:solidFill>
                  <a:schemeClr val="hlink"/>
                </a:solidFill>
                <a:effectLst>
                  <a:outerShdw blurRad="38100" dist="38100" dir="2700000" algn="tl">
                    <a:srgbClr val="C0C0C0"/>
                  </a:outerShdw>
                </a:effectLst>
              </a:rPr>
              <a:t>2</a:t>
            </a:r>
            <a:r>
              <a:rPr kumimoji="1" lang="en-US" altLang="en-US">
                <a:solidFill>
                  <a:schemeClr val="hlink"/>
                </a:solidFill>
                <a:effectLst>
                  <a:outerShdw blurRad="38100" dist="38100" dir="2700000" algn="tl">
                    <a:srgbClr val="C0C0C0"/>
                  </a:outerShdw>
                </a:effectLst>
              </a:rPr>
              <a:t>0</a:t>
            </a:r>
          </a:p>
          <a:p>
            <a:pPr lvl="1">
              <a:defRPr/>
            </a:pPr>
            <a:r>
              <a:rPr kumimoji="1" lang="sr-Latn-CS" altLang="en-US">
                <a:solidFill>
                  <a:schemeClr val="hlink"/>
                </a:solidFill>
                <a:effectLst>
                  <a:outerShdw blurRad="38100" dist="38100" dir="2700000" algn="tl">
                    <a:srgbClr val="C0C0C0"/>
                  </a:outerShdw>
                </a:effectLst>
              </a:rPr>
              <a:t>fo</a:t>
            </a:r>
            <a:r>
              <a:rPr kumimoji="1" lang="en-US" altLang="en-US">
                <a:solidFill>
                  <a:schemeClr val="hlink"/>
                </a:solidFill>
                <a:effectLst>
                  <a:outerShdw blurRad="38100" dist="38100" dir="2700000" algn="tl">
                    <a:srgbClr val="C0C0C0"/>
                  </a:outerShdw>
                </a:effectLst>
              </a:rPr>
              <a:t>r  </a:t>
            </a:r>
            <a:r>
              <a:rPr kumimoji="1" lang="sr-Latn-RS" altLang="en-US">
                <a:solidFill>
                  <a:schemeClr val="hlink"/>
                </a:solidFill>
                <a:effectLst>
                  <a:outerShdw blurRad="38100" dist="38100" dir="2700000" algn="tl">
                    <a:srgbClr val="C0C0C0"/>
                  </a:outerShdw>
                </a:effectLst>
              </a:rPr>
              <a:t>j</a:t>
            </a:r>
            <a:r>
              <a:rPr kumimoji="1" lang="en-US" altLang="en-US">
                <a:solidFill>
                  <a:schemeClr val="hlink"/>
                </a:solidFill>
                <a:effectLst>
                  <a:outerShdw blurRad="38100" dist="38100" dir="2700000" algn="tl">
                    <a:srgbClr val="C0C0C0"/>
                  </a:outerShdw>
                </a:effectLst>
              </a:rPr>
              <a:t> =</a:t>
            </a:r>
            <a:r>
              <a:rPr kumimoji="1" lang="sr-Latn-RS" altLang="en-US">
                <a:solidFill>
                  <a:schemeClr val="hlink"/>
                </a:solidFill>
                <a:effectLst>
                  <a:outerShdw blurRad="38100" dist="38100" dir="2700000" algn="tl">
                    <a:srgbClr val="C0C0C0"/>
                  </a:outerShdw>
                </a:effectLst>
              </a:rPr>
              <a:t> </a:t>
            </a:r>
            <a:r>
              <a:rPr kumimoji="1" lang="en-US" altLang="en-US">
                <a:solidFill>
                  <a:schemeClr val="hlink"/>
                </a:solidFill>
                <a:effectLst>
                  <a:outerShdw blurRad="38100" dist="38100" dir="2700000" algn="tl">
                    <a:srgbClr val="C0C0C0"/>
                  </a:outerShdw>
                </a:effectLst>
              </a:rPr>
              <a:t>1, </a:t>
            </a:r>
            <a:r>
              <a:rPr kumimoji="1" lang="sr-Latn-RS" altLang="en-US">
                <a:solidFill>
                  <a:schemeClr val="hlink"/>
                </a:solidFill>
                <a:effectLst>
                  <a:outerShdw blurRad="38100" dist="38100" dir="2700000" algn="tl">
                    <a:srgbClr val="C0C0C0"/>
                  </a:outerShdw>
                </a:effectLst>
              </a:rPr>
              <a:t>1</a:t>
            </a:r>
            <a:r>
              <a:rPr kumimoji="1" lang="en-US" altLang="en-US">
                <a:solidFill>
                  <a:schemeClr val="hlink"/>
                </a:solidFill>
                <a:effectLst>
                  <a:outerShdw blurRad="38100" dist="38100" dir="2700000" algn="tl">
                    <a:srgbClr val="C0C0C0"/>
                  </a:outerShdw>
                </a:effectLst>
              </a:rPr>
              <a:t>0</a:t>
            </a:r>
            <a:endParaRPr kumimoji="1" lang="hr-HR" altLang="en-US">
              <a:solidFill>
                <a:schemeClr val="hlink"/>
              </a:solidFill>
              <a:effectLst>
                <a:outerShdw blurRad="38100" dist="38100" dir="2700000" algn="tl">
                  <a:srgbClr val="C0C0C0"/>
                </a:outerShdw>
              </a:effectLst>
            </a:endParaRPr>
          </a:p>
          <a:p>
            <a:pPr lvl="1">
              <a:defRPr/>
            </a:pPr>
            <a:r>
              <a:rPr kumimoji="1" lang="en-US" altLang="en-US">
                <a:solidFill>
                  <a:schemeClr val="hlink"/>
                </a:solidFill>
                <a:effectLst>
                  <a:outerShdw blurRad="38100" dist="38100" dir="2700000" algn="tl">
                    <a:srgbClr val="C0C0C0"/>
                  </a:outerShdw>
                </a:effectLst>
              </a:rPr>
              <a:t>A(i, j, k) = A(i-1, j, k+1)+ B(i, j, k)</a:t>
            </a:r>
          </a:p>
          <a:p>
            <a:pPr lvl="1">
              <a:defRPr/>
            </a:pPr>
            <a:r>
              <a:rPr kumimoji="1" lang="en-US" altLang="en-US">
                <a:solidFill>
                  <a:schemeClr val="hlink"/>
                </a:solidFill>
                <a:effectLst>
                  <a:outerShdw blurRad="38100" dist="38100" dir="2700000" algn="tl">
                    <a:srgbClr val="C0C0C0"/>
                  </a:outerShdw>
                </a:effectLst>
              </a:rPr>
              <a:t>	B(i, j, k+1) = B(i, j-1, k-1) * 3</a:t>
            </a:r>
          </a:p>
          <a:p>
            <a:pPr lvl="1">
              <a:defRPr/>
            </a:pPr>
            <a:r>
              <a:rPr kumimoji="1" lang="hr-HR" altLang="en-US">
                <a:solidFill>
                  <a:schemeClr val="hlink"/>
                </a:solidFill>
                <a:effectLst>
                  <a:outerShdw blurRad="38100" dist="38100" dir="2700000" algn="tl">
                    <a:srgbClr val="C0C0C0"/>
                  </a:outerShdw>
                </a:effectLst>
              </a:rPr>
              <a:t>endfor</a:t>
            </a:r>
            <a:r>
              <a:rPr kumimoji="1" lang="en-US" altLang="en-US">
                <a:solidFill>
                  <a:schemeClr val="hlink"/>
                </a:solidFill>
                <a:effectLst>
                  <a:outerShdw blurRad="38100" dist="38100" dir="2700000" algn="tl">
                    <a:srgbClr val="C0C0C0"/>
                  </a:outerShdw>
                </a:effectLst>
              </a:rPr>
              <a:t>{</a:t>
            </a:r>
            <a:r>
              <a:rPr kumimoji="1" lang="hr-HR" altLang="en-US">
                <a:solidFill>
                  <a:schemeClr val="hlink"/>
                </a:solidFill>
                <a:effectLst>
                  <a:outerShdw blurRad="38100" dist="38100" dir="2700000" algn="tl">
                    <a:srgbClr val="C0C0C0"/>
                  </a:outerShdw>
                </a:effectLst>
              </a:rPr>
              <a:t>i,j,k</a:t>
            </a:r>
            <a:r>
              <a:rPr kumimoji="1" lang="en-US" altLang="en-US">
                <a:solidFill>
                  <a:schemeClr val="hlink"/>
                </a:solidFill>
                <a:effectLst>
                  <a:outerShdw blurRad="38100" dist="38100" dir="2700000" algn="tl">
                    <a:srgbClr val="C0C0C0"/>
                  </a:outerShdw>
                </a:effectLst>
              </a:rPr>
              <a:t>}</a:t>
            </a:r>
          </a:p>
        </p:txBody>
      </p:sp>
      <p:sp>
        <p:nvSpPr>
          <p:cNvPr id="50182" name="Line 7">
            <a:extLst>
              <a:ext uri="{FF2B5EF4-FFF2-40B4-BE49-F238E27FC236}">
                <a16:creationId xmlns:a16="http://schemas.microsoft.com/office/drawing/2014/main" id="{D488B773-1E4C-4CED-A102-32A41DB434B5}"/>
              </a:ext>
            </a:extLst>
          </p:cNvPr>
          <p:cNvSpPr>
            <a:spLocks noChangeShapeType="1"/>
          </p:cNvSpPr>
          <p:nvPr/>
        </p:nvSpPr>
        <p:spPr bwMode="auto">
          <a:xfrm>
            <a:off x="5791200" y="3352800"/>
            <a:ext cx="0" cy="38100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50183" name="Line 8">
            <a:extLst>
              <a:ext uri="{FF2B5EF4-FFF2-40B4-BE49-F238E27FC236}">
                <a16:creationId xmlns:a16="http://schemas.microsoft.com/office/drawing/2014/main" id="{270EB9CE-A40A-4878-A618-34850EE5CB5D}"/>
              </a:ext>
            </a:extLst>
          </p:cNvPr>
          <p:cNvSpPr>
            <a:spLocks noChangeShapeType="1"/>
          </p:cNvSpPr>
          <p:nvPr/>
        </p:nvSpPr>
        <p:spPr bwMode="auto">
          <a:xfrm>
            <a:off x="4876800" y="3886200"/>
            <a:ext cx="3733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74761" name="Line 9">
            <a:extLst>
              <a:ext uri="{FF2B5EF4-FFF2-40B4-BE49-F238E27FC236}">
                <a16:creationId xmlns:a16="http://schemas.microsoft.com/office/drawing/2014/main" id="{47150A67-6042-44E0-A581-338BBDD83F68}"/>
              </a:ext>
            </a:extLst>
          </p:cNvPr>
          <p:cNvSpPr>
            <a:spLocks noChangeShapeType="1"/>
          </p:cNvSpPr>
          <p:nvPr/>
        </p:nvSpPr>
        <p:spPr bwMode="auto">
          <a:xfrm>
            <a:off x="6172200" y="1981200"/>
            <a:ext cx="2133600" cy="2514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761"/>
                                        </p:tgtEl>
                                        <p:attrNameLst>
                                          <p:attrName>style.visibility</p:attrName>
                                        </p:attrNameLst>
                                      </p:cBhvr>
                                      <p:to>
                                        <p:strVal val="visible"/>
                                      </p:to>
                                    </p:set>
                                    <p:animEffect transition="in" filter="blinds(horizontal)">
                                      <p:cBhvr>
                                        <p:cTn id="7" dur="500"/>
                                        <p:tgtEl>
                                          <p:spTgt spid="74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A7F1A1B-D88F-44B5-AF8A-2AFE5CA0E6D9}"/>
              </a:ext>
            </a:extLst>
          </p:cNvPr>
          <p:cNvSpPr>
            <a:spLocks noGrp="1" noChangeArrowheads="1"/>
          </p:cNvSpPr>
          <p:nvPr>
            <p:ph type="title"/>
          </p:nvPr>
        </p:nvSpPr>
        <p:spPr/>
        <p:txBody>
          <a:bodyPr/>
          <a:lstStyle/>
          <a:p>
            <a:pPr>
              <a:defRPr/>
            </a:pPr>
            <a:r>
              <a:rPr lang="hr-HR" altLang="en-US"/>
              <a:t>Primer</a:t>
            </a:r>
            <a:r>
              <a:rPr lang="en-US" altLang="en-US"/>
              <a:t>2</a:t>
            </a:r>
          </a:p>
        </p:txBody>
      </p:sp>
      <p:sp>
        <p:nvSpPr>
          <p:cNvPr id="46083" name="Rectangle 3">
            <a:extLst>
              <a:ext uri="{FF2B5EF4-FFF2-40B4-BE49-F238E27FC236}">
                <a16:creationId xmlns:a16="http://schemas.microsoft.com/office/drawing/2014/main" id="{AE190DD1-731D-4301-9572-32E769ED0569}"/>
              </a:ext>
            </a:extLst>
          </p:cNvPr>
          <p:cNvSpPr>
            <a:spLocks noGrp="1" noChangeArrowheads="1"/>
          </p:cNvSpPr>
          <p:nvPr>
            <p:ph type="body" idx="1"/>
          </p:nvPr>
        </p:nvSpPr>
        <p:spPr/>
        <p:txBody>
          <a:bodyPr/>
          <a:lstStyle/>
          <a:p>
            <a:pPr lvl="1">
              <a:defRPr/>
            </a:pPr>
            <a:r>
              <a:rPr lang="hr-HR" altLang="en-US" dirty="0"/>
              <a:t>Da</a:t>
            </a:r>
            <a:r>
              <a:rPr lang="en-US" altLang="en-US" dirty="0">
                <a:cs typeface="Times New Roman" panose="02020603050405020304" pitchFamily="18" charset="0"/>
              </a:rPr>
              <a:t> bi </a:t>
            </a:r>
            <a:r>
              <a:rPr lang="en-US" altLang="en-US" dirty="0" err="1">
                <a:cs typeface="Times New Roman" panose="02020603050405020304" pitchFamily="18" charset="0"/>
              </a:rPr>
              <a:t>neka</a:t>
            </a:r>
            <a:r>
              <a:rPr lang="en-US" altLang="en-US" dirty="0">
                <a:cs typeface="Times New Roman" panose="02020603050405020304" pitchFamily="18" charset="0"/>
              </a:rPr>
              <a:t> </a:t>
            </a:r>
            <a:r>
              <a:rPr lang="en-US" altLang="en-US" dirty="0" err="1">
                <a:cs typeface="Times New Roman" panose="02020603050405020304" pitchFamily="18" charset="0"/>
              </a:rPr>
              <a:t>transformacija</a:t>
            </a:r>
            <a:r>
              <a:rPr lang="en-US" altLang="en-US" dirty="0">
                <a:cs typeface="Times New Roman" panose="02020603050405020304" pitchFamily="18" charset="0"/>
              </a:rPr>
              <a:t> </a:t>
            </a:r>
            <a:r>
              <a:rPr lang="en-US" altLang="en-US" dirty="0" err="1">
                <a:cs typeface="Times New Roman" panose="02020603050405020304" pitchFamily="18" charset="0"/>
              </a:rPr>
              <a:t>mogla</a:t>
            </a:r>
            <a:r>
              <a:rPr lang="en-US" altLang="en-US" dirty="0">
                <a:cs typeface="Times New Roman" panose="02020603050405020304" pitchFamily="18" charset="0"/>
              </a:rPr>
              <a:t> da se </a:t>
            </a:r>
            <a:r>
              <a:rPr lang="en-US" altLang="en-US" dirty="0" err="1">
                <a:cs typeface="Times New Roman" panose="02020603050405020304" pitchFamily="18" charset="0"/>
              </a:rPr>
              <a:t>primeni</a:t>
            </a:r>
            <a:r>
              <a:rPr lang="en-US" altLang="en-US" dirty="0">
                <a:cs typeface="Times New Roman" panose="02020603050405020304" pitchFamily="18" charset="0"/>
              </a:rPr>
              <a:t> </a:t>
            </a:r>
            <a:r>
              <a:rPr lang="en-US" altLang="en-US" dirty="0" err="1">
                <a:cs typeface="Times New Roman" panose="02020603050405020304" pitchFamily="18" charset="0"/>
              </a:rPr>
              <a:t>nad</a:t>
            </a:r>
            <a:r>
              <a:rPr lang="en-US" altLang="en-US" dirty="0">
                <a:cs typeface="Times New Roman" panose="02020603050405020304" pitchFamily="18" charset="0"/>
              </a:rPr>
              <a:t> </a:t>
            </a:r>
            <a:r>
              <a:rPr lang="en-US" altLang="en-US" dirty="0" err="1">
                <a:cs typeface="Times New Roman" panose="02020603050405020304" pitchFamily="18" charset="0"/>
              </a:rPr>
              <a:t>indeksnim</a:t>
            </a:r>
            <a:r>
              <a:rPr lang="en-US" altLang="en-US" dirty="0">
                <a:cs typeface="Times New Roman" panose="02020603050405020304" pitchFamily="18" charset="0"/>
              </a:rPr>
              <a:t> </a:t>
            </a:r>
            <a:r>
              <a:rPr lang="en-US" altLang="en-US" dirty="0" err="1">
                <a:cs typeface="Times New Roman" panose="02020603050405020304" pitchFamily="18" charset="0"/>
              </a:rPr>
              <a:t>skupom</a:t>
            </a:r>
            <a:r>
              <a:rPr lang="en-US" altLang="en-US" dirty="0">
                <a:cs typeface="Times New Roman" panose="02020603050405020304" pitchFamily="18" charset="0"/>
              </a:rPr>
              <a:t> </a:t>
            </a:r>
            <a:r>
              <a:rPr lang="en-US" altLang="en-US" dirty="0" err="1">
                <a:cs typeface="Times New Roman" panose="02020603050405020304" pitchFamily="18" charset="0"/>
              </a:rPr>
              <a:t>ona</a:t>
            </a:r>
            <a:r>
              <a:rPr lang="en-US" altLang="en-US" dirty="0">
                <a:cs typeface="Times New Roman" panose="02020603050405020304" pitchFamily="18" charset="0"/>
              </a:rPr>
              <a:t> ne </a:t>
            </a:r>
            <a:r>
              <a:rPr lang="en-US" altLang="en-US" dirty="0" err="1">
                <a:cs typeface="Times New Roman" panose="02020603050405020304" pitchFamily="18" charset="0"/>
              </a:rPr>
              <a:t>sme</a:t>
            </a:r>
            <a:r>
              <a:rPr lang="en-US" altLang="en-US" dirty="0">
                <a:cs typeface="Times New Roman" panose="02020603050405020304" pitchFamily="18" charset="0"/>
              </a:rPr>
              <a:t> da </a:t>
            </a:r>
            <a:r>
              <a:rPr lang="en-US" altLang="en-US" dirty="0" err="1">
                <a:cs typeface="Times New Roman" panose="02020603050405020304" pitchFamily="18" charset="0"/>
              </a:rPr>
              <a:t>menja</a:t>
            </a:r>
            <a:r>
              <a:rPr lang="en-US" altLang="en-US" dirty="0">
                <a:cs typeface="Times New Roman" panose="02020603050405020304" pitchFamily="18" charset="0"/>
              </a:rPr>
              <a:t> </a:t>
            </a:r>
            <a:r>
              <a:rPr lang="en-US" altLang="en-US" dirty="0" err="1">
                <a:cs typeface="Times New Roman" panose="02020603050405020304" pitchFamily="18" charset="0"/>
              </a:rPr>
              <a:t>znak</a:t>
            </a:r>
            <a:r>
              <a:rPr lang="en-US" altLang="en-US" dirty="0">
                <a:cs typeface="Times New Roman" panose="02020603050405020304" pitchFamily="18" charset="0"/>
              </a:rPr>
              <a:t> </a:t>
            </a:r>
            <a:r>
              <a:rPr lang="en-US" altLang="en-US" dirty="0" err="1">
                <a:cs typeface="Times New Roman" panose="02020603050405020304" pitchFamily="18" charset="0"/>
              </a:rPr>
              <a:t>vektora</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da bi se </a:t>
            </a:r>
            <a:r>
              <a:rPr lang="en-US" altLang="en-US" dirty="0" err="1">
                <a:cs typeface="Times New Roman" panose="02020603050405020304" pitchFamily="18" charset="0"/>
              </a:rPr>
              <a:t>sa</a:t>
            </a:r>
            <a:r>
              <a:rPr lang="hr-HR" altLang="en-US" dirty="0"/>
              <a:t>č</a:t>
            </a:r>
            <a:r>
              <a:rPr lang="en-US" altLang="en-US" dirty="0" err="1">
                <a:cs typeface="Times New Roman" panose="02020603050405020304" pitchFamily="18" charset="0"/>
              </a:rPr>
              <a:t>uvale</a:t>
            </a:r>
            <a:r>
              <a:rPr lang="en-US" altLang="en-US" dirty="0">
                <a:cs typeface="Times New Roman" panose="02020603050405020304" pitchFamily="18" charset="0"/>
              </a:rPr>
              <a:t> </a:t>
            </a:r>
            <a:r>
              <a:rPr lang="en-US" altLang="en-US" dirty="0" err="1">
                <a:cs typeface="Times New Roman" panose="02020603050405020304" pitchFamily="18" charset="0"/>
              </a:rPr>
              <a:t>zavisnosti</a:t>
            </a:r>
            <a:r>
              <a:rPr lang="en-US" altLang="en-US" dirty="0">
                <a:cs typeface="Times New Roman" panose="02020603050405020304" pitchFamily="18" charset="0"/>
              </a:rPr>
              <a:t> </a:t>
            </a:r>
            <a:r>
              <a:rPr lang="en-US" altLang="en-US" dirty="0" err="1">
                <a:cs typeface="Times New Roman" panose="02020603050405020304" pitchFamily="18" charset="0"/>
              </a:rPr>
              <a:t>koje</a:t>
            </a:r>
            <a:r>
              <a:rPr lang="en-US" altLang="en-US" dirty="0">
                <a:cs typeface="Times New Roman" panose="02020603050405020304" pitchFamily="18" charset="0"/>
              </a:rPr>
              <a:t> </a:t>
            </a:r>
            <a:r>
              <a:rPr lang="en-US" altLang="en-US" dirty="0" err="1">
                <a:cs typeface="Times New Roman" panose="02020603050405020304" pitchFamily="18" charset="0"/>
              </a:rPr>
              <a:t>postoje</a:t>
            </a:r>
            <a:r>
              <a:rPr lang="en-US" altLang="en-US" dirty="0">
                <a:cs typeface="Times New Roman" panose="02020603050405020304" pitchFamily="18" charset="0"/>
              </a:rPr>
              <a:t> u </a:t>
            </a:r>
            <a:r>
              <a:rPr lang="en-US" altLang="en-US" dirty="0" err="1">
                <a:cs typeface="Times New Roman" panose="02020603050405020304" pitchFamily="18" charset="0"/>
              </a:rPr>
              <a:t>redosledu</a:t>
            </a:r>
            <a:r>
              <a:rPr lang="en-US" altLang="en-US" dirty="0">
                <a:cs typeface="Times New Roman" panose="02020603050405020304" pitchFamily="18" charset="0"/>
              </a:rPr>
              <a:t> </a:t>
            </a:r>
            <a:r>
              <a:rPr lang="en-US" altLang="en-US" dirty="0" err="1">
                <a:cs typeface="Times New Roman" panose="02020603050405020304" pitchFamily="18" charset="0"/>
              </a:rPr>
              <a:t>izra</a:t>
            </a:r>
            <a:r>
              <a:rPr lang="hr-HR" altLang="en-US" dirty="0"/>
              <a:t>č</a:t>
            </a:r>
            <a:r>
              <a:rPr lang="en-US" altLang="en-US" dirty="0" err="1">
                <a:cs typeface="Times New Roman" panose="02020603050405020304" pitchFamily="18" charset="0"/>
              </a:rPr>
              <a:t>unavanja</a:t>
            </a:r>
            <a:r>
              <a:rPr lang="en-US" altLang="en-US" dirty="0">
                <a:cs typeface="Times New Roman" panose="02020603050405020304" pitchFamily="18" charset="0"/>
              </a:rPr>
              <a:t>.</a:t>
            </a:r>
            <a:r>
              <a:rPr lang="en-US" altLang="en-US" dirty="0"/>
              <a:t> </a:t>
            </a:r>
            <a:endParaRPr lang="hr-HR" altLang="en-US" dirty="0"/>
          </a:p>
          <a:p>
            <a:pPr lvl="2" algn="just">
              <a:defRPr/>
            </a:pPr>
            <a:r>
              <a:rPr lang="en-US" altLang="en-US" dirty="0">
                <a:solidFill>
                  <a:schemeClr val="accent1"/>
                </a:solidFill>
                <a:cs typeface="Times New Roman" panose="02020603050405020304" pitchFamily="18" charset="0"/>
              </a:rPr>
              <a:t>PRIMER</a:t>
            </a:r>
            <a:r>
              <a:rPr lang="en-US" altLang="en-US" dirty="0">
                <a:latin typeface="Times Roman YU" pitchFamily="18" charset="0"/>
                <a:cs typeface="Times New Roman" panose="02020603050405020304" pitchFamily="18" charset="0"/>
              </a:rPr>
              <a:t>: Ako </a:t>
            </a:r>
            <a:r>
              <a:rPr lang="en-US" altLang="en-US" dirty="0" err="1">
                <a:latin typeface="Times Roman YU" pitchFamily="18" charset="0"/>
                <a:cs typeface="Times New Roman" panose="02020603050405020304" pitchFamily="18" charset="0"/>
              </a:rPr>
              <a:t>imamo</a:t>
            </a:r>
            <a:r>
              <a:rPr lang="en-US" altLang="en-US" dirty="0">
                <a:latin typeface="Times Roman YU" pitchFamily="18" charset="0"/>
                <a:cs typeface="Times New Roman" panose="02020603050405020304" pitchFamily="18" charset="0"/>
              </a:rPr>
              <a:t> </a:t>
            </a:r>
            <a:r>
              <a:rPr lang="en-US" altLang="en-US" dirty="0" err="1">
                <a:latin typeface="Times Roman YU" pitchFamily="18" charset="0"/>
                <a:cs typeface="Times New Roman" panose="02020603050405020304" pitchFamily="18" charset="0"/>
              </a:rPr>
              <a:t>ovakvo</a:t>
            </a:r>
            <a:r>
              <a:rPr lang="en-US" altLang="en-US" dirty="0">
                <a:latin typeface="Times Roman YU" pitchFamily="18" charset="0"/>
                <a:cs typeface="Times New Roman" panose="02020603050405020304" pitchFamily="18" charset="0"/>
              </a:rPr>
              <a:t> </a:t>
            </a:r>
            <a:r>
              <a:rPr lang="en-US" altLang="en-US" dirty="0" err="1">
                <a:latin typeface="Times Roman YU" pitchFamily="18" charset="0"/>
                <a:cs typeface="Times New Roman" panose="02020603050405020304" pitchFamily="18" charset="0"/>
              </a:rPr>
              <a:t>jedno</a:t>
            </a:r>
            <a:r>
              <a:rPr lang="en-US" altLang="en-US" dirty="0">
                <a:latin typeface="Times Roman YU" pitchFamily="18" charset="0"/>
                <a:cs typeface="Times New Roman" panose="02020603050405020304" pitchFamily="18" charset="0"/>
              </a:rPr>
              <a:t> </a:t>
            </a:r>
            <a:r>
              <a:rPr lang="en-US" altLang="en-US" dirty="0" err="1">
                <a:latin typeface="Times Roman YU" pitchFamily="18" charset="0"/>
                <a:cs typeface="Times New Roman" panose="02020603050405020304" pitchFamily="18" charset="0"/>
              </a:rPr>
              <a:t>gnezdo</a:t>
            </a:r>
            <a:r>
              <a:rPr lang="en-US" altLang="en-US" dirty="0">
                <a:latin typeface="Times Roman YU" pitchFamily="18" charset="0"/>
                <a:cs typeface="Times New Roman" panose="02020603050405020304" pitchFamily="18" charset="0"/>
              </a:rPr>
              <a:t> </a:t>
            </a:r>
            <a:r>
              <a:rPr lang="en-US" altLang="en-US" dirty="0" err="1">
                <a:latin typeface="Times Roman YU" pitchFamily="18" charset="0"/>
                <a:cs typeface="Times New Roman" panose="02020603050405020304" pitchFamily="18" charset="0"/>
              </a:rPr>
              <a:t>petlji</a:t>
            </a:r>
            <a:endParaRPr lang="en-US" altLang="en-US" dirty="0">
              <a:cs typeface="Times New Roman" panose="02020603050405020304" pitchFamily="18" charset="0"/>
            </a:endParaRPr>
          </a:p>
          <a:p>
            <a:pPr lvl="2" algn="just">
              <a:defRPr/>
            </a:pPr>
            <a:r>
              <a:rPr lang="en-US" altLang="en-US" dirty="0">
                <a:latin typeface="Times Roman YU" pitchFamily="18" charset="0"/>
                <a:cs typeface="Times New Roman" panose="02020603050405020304" pitchFamily="18" charset="0"/>
              </a:rPr>
              <a:t>		</a:t>
            </a:r>
            <a:r>
              <a:rPr lang="en-US" altLang="en-US" dirty="0">
                <a:cs typeface="Times New Roman" panose="02020603050405020304" pitchFamily="18" charset="0"/>
              </a:rPr>
              <a:t>for i = 1, 100			</a:t>
            </a:r>
          </a:p>
          <a:p>
            <a:pPr lvl="2" algn="just">
              <a:defRPr/>
            </a:pPr>
            <a:r>
              <a:rPr lang="en-US" altLang="en-US" dirty="0">
                <a:cs typeface="Times New Roman" panose="02020603050405020304" pitchFamily="18" charset="0"/>
              </a:rPr>
              <a:t>		for j = 1, 5					</a:t>
            </a:r>
          </a:p>
          <a:p>
            <a:pPr lvl="2">
              <a:defRPr/>
            </a:pPr>
            <a:r>
              <a:rPr lang="en-US" altLang="en-US" dirty="0">
                <a:cs typeface="Times New Roman" panose="02020603050405020304" pitchFamily="18" charset="0"/>
              </a:rPr>
              <a:t>		A(i, j) = A(i-1, j+1) *2</a:t>
            </a:r>
            <a:r>
              <a:rPr lang="en-US" altLang="en-US" dirty="0"/>
              <a:t> </a:t>
            </a:r>
            <a:endParaRPr lang="hr-HR" altLang="en-US" dirty="0"/>
          </a:p>
          <a:p>
            <a:pPr lvl="2">
              <a:defRPr/>
            </a:pPr>
            <a:r>
              <a:rPr lang="en-US" altLang="en-US" dirty="0"/>
              <a:t>    	</a:t>
            </a:r>
            <a:r>
              <a:rPr lang="hr-HR" altLang="en-US" dirty="0"/>
              <a:t>	</a:t>
            </a:r>
            <a:r>
              <a:rPr lang="en-US" altLang="en-US" dirty="0" err="1"/>
              <a:t>endfor</a:t>
            </a:r>
            <a:r>
              <a:rPr lang="en-US" altLang="en-US" dirty="0"/>
              <a:t>{</a:t>
            </a:r>
            <a:r>
              <a:rPr lang="en-US" altLang="en-US" dirty="0" err="1"/>
              <a:t>i,j</a:t>
            </a:r>
            <a:r>
              <a:rPr lang="en-US" altLang="en-US" dirty="0"/>
              <a:t>}</a:t>
            </a:r>
            <a:endParaRPr lang="hr-HR" altLang="en-US" dirty="0"/>
          </a:p>
          <a:p>
            <a:pPr lvl="2">
              <a:defRPr/>
            </a:pPr>
            <a:r>
              <a:rPr lang="en-US" altLang="en-US" dirty="0" err="1">
                <a:solidFill>
                  <a:schemeClr val="hlink"/>
                </a:solidFill>
                <a:cs typeface="Times New Roman" panose="02020603050405020304" pitchFamily="18" charset="0"/>
              </a:rPr>
              <a:t>vektor</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zavisnosti</a:t>
            </a:r>
            <a:r>
              <a:rPr lang="en-US" altLang="en-US" dirty="0">
                <a:solidFill>
                  <a:schemeClr val="hlink"/>
                </a:solidFill>
                <a:cs typeface="Times New Roman" panose="02020603050405020304" pitchFamily="18" charset="0"/>
              </a:rPr>
              <a:t> je </a:t>
            </a:r>
            <a:r>
              <a:rPr lang="en-US" altLang="en-US" dirty="0">
                <a:solidFill>
                  <a:schemeClr val="accent1"/>
                </a:solidFill>
                <a:cs typeface="Times New Roman" panose="02020603050405020304" pitchFamily="18" charset="0"/>
              </a:rPr>
              <a:t>d=(i, j)</a:t>
            </a:r>
            <a:r>
              <a:rPr lang="en-US" altLang="en-US" baseline="30000" dirty="0">
                <a:solidFill>
                  <a:schemeClr val="accent1"/>
                </a:solidFill>
                <a:cs typeface="Times New Roman" panose="02020603050405020304" pitchFamily="18" charset="0"/>
              </a:rPr>
              <a:t>T</a:t>
            </a:r>
            <a:r>
              <a:rPr lang="en-US" altLang="en-US" dirty="0">
                <a:solidFill>
                  <a:schemeClr val="accent1"/>
                </a:solidFill>
                <a:cs typeface="Times New Roman" panose="02020603050405020304" pitchFamily="18" charset="0"/>
              </a:rPr>
              <a:t> – (i-1, j+1)</a:t>
            </a:r>
            <a:r>
              <a:rPr lang="en-US" altLang="en-US" baseline="30000" dirty="0">
                <a:solidFill>
                  <a:schemeClr val="accent1"/>
                </a:solidFill>
                <a:cs typeface="Times New Roman" panose="02020603050405020304" pitchFamily="18" charset="0"/>
              </a:rPr>
              <a:t>T</a:t>
            </a:r>
            <a:r>
              <a:rPr lang="en-US" altLang="en-US" dirty="0">
                <a:solidFill>
                  <a:schemeClr val="accent1"/>
                </a:solidFill>
                <a:cs typeface="Times New Roman" panose="02020603050405020304" pitchFamily="18" charset="0"/>
              </a:rPr>
              <a:t> = (1, -1)</a:t>
            </a:r>
            <a:r>
              <a:rPr lang="en-US" altLang="en-US" baseline="30000" dirty="0">
                <a:solidFill>
                  <a:schemeClr val="accent1"/>
                </a:solidFill>
                <a:cs typeface="Times New Roman" panose="02020603050405020304" pitchFamily="18" charset="0"/>
              </a:rPr>
              <a:t>T</a:t>
            </a:r>
            <a:r>
              <a:rPr lang="en-US" altLang="en-US" dirty="0">
                <a:solidFill>
                  <a:schemeClr val="accent1"/>
                </a:solidFill>
                <a:cs typeface="Times New Roman" panose="02020603050405020304" pitchFamily="18" charset="0"/>
              </a:rPr>
              <a:t>&gt;0.</a:t>
            </a:r>
            <a:r>
              <a:rPr lang="en-US" altLang="en-US" dirty="0">
                <a:solidFill>
                  <a:schemeClr val="hlink"/>
                </a:solidFill>
                <a:cs typeface="Times New Roman" panose="02020603050405020304" pitchFamily="18" charset="0"/>
              </a:rPr>
              <a:t> </a:t>
            </a:r>
            <a:endParaRPr lang="hr-HR" altLang="en-US" dirty="0">
              <a:solidFill>
                <a:schemeClr val="hlink"/>
              </a:solidFill>
            </a:endParaRPr>
          </a:p>
          <a:p>
            <a:pPr lvl="2">
              <a:defRPr/>
            </a:pPr>
            <a:r>
              <a:rPr lang="en-US" altLang="en-US" dirty="0">
                <a:solidFill>
                  <a:schemeClr val="hlink"/>
                </a:solidFill>
                <a:cs typeface="Times New Roman" panose="02020603050405020304" pitchFamily="18" charset="0"/>
              </a:rPr>
              <a:t>Ako </a:t>
            </a:r>
            <a:r>
              <a:rPr lang="en-US" altLang="en-US" dirty="0" err="1">
                <a:solidFill>
                  <a:schemeClr val="hlink"/>
                </a:solidFill>
                <a:cs typeface="Times New Roman" panose="02020603050405020304" pitchFamily="18" charset="0"/>
              </a:rPr>
              <a:t>bismo</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primenili</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transformaciju</a:t>
            </a:r>
            <a:r>
              <a:rPr lang="en-US" altLang="en-US" dirty="0">
                <a:solidFill>
                  <a:schemeClr val="hlink"/>
                </a:solidFill>
                <a:cs typeface="Times New Roman" panose="02020603050405020304" pitchFamily="18" charset="0"/>
              </a:rPr>
              <a:t> </a:t>
            </a:r>
            <a:r>
              <a:rPr lang="en-US" altLang="en-US" dirty="0" err="1">
                <a:solidFill>
                  <a:schemeClr val="accent1"/>
                </a:solidFill>
                <a:cs typeface="Times New Roman" panose="02020603050405020304" pitchFamily="18" charset="0"/>
              </a:rPr>
              <a:t>permutacije</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naru</a:t>
            </a:r>
            <a:r>
              <a:rPr lang="hr-HR" altLang="en-US" dirty="0">
                <a:solidFill>
                  <a:schemeClr val="hlink"/>
                </a:solidFill>
              </a:rPr>
              <a:t>š</a:t>
            </a:r>
            <a:r>
              <a:rPr lang="en-US" altLang="en-US" dirty="0" err="1">
                <a:solidFill>
                  <a:schemeClr val="hlink"/>
                </a:solidFill>
                <a:cs typeface="Times New Roman" panose="02020603050405020304" pitchFamily="18" charset="0"/>
              </a:rPr>
              <a:t>ili</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bismo</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zavisnosti</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koje</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postoje</a:t>
            </a:r>
            <a:r>
              <a:rPr lang="en-US" altLang="en-US" dirty="0">
                <a:solidFill>
                  <a:schemeClr val="hlink"/>
                </a:solidFill>
                <a:cs typeface="Times New Roman" panose="02020603050405020304" pitchFamily="18" charset="0"/>
              </a:rPr>
              <a:t> u </a:t>
            </a:r>
            <a:r>
              <a:rPr lang="en-US" altLang="en-US" dirty="0" err="1">
                <a:solidFill>
                  <a:schemeClr val="hlink"/>
                </a:solidFill>
                <a:cs typeface="Times New Roman" panose="02020603050405020304" pitchFamily="18" charset="0"/>
              </a:rPr>
              <a:t>redosledu</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izra</a:t>
            </a:r>
            <a:r>
              <a:rPr lang="hr-HR" altLang="en-US" dirty="0">
                <a:solidFill>
                  <a:schemeClr val="hlink"/>
                </a:solidFill>
              </a:rPr>
              <a:t>č</a:t>
            </a:r>
            <a:r>
              <a:rPr lang="en-US" altLang="en-US" dirty="0" err="1">
                <a:solidFill>
                  <a:schemeClr val="hlink"/>
                </a:solidFill>
                <a:cs typeface="Times New Roman" panose="02020603050405020304" pitchFamily="18" charset="0"/>
              </a:rPr>
              <a:t>unavanja</a:t>
            </a:r>
            <a:r>
              <a:rPr lang="en-US" altLang="en-US" dirty="0">
                <a:solidFill>
                  <a:schemeClr val="hlink"/>
                </a:solidFill>
                <a:cs typeface="Times New Roman" panose="02020603050405020304" pitchFamily="18" charset="0"/>
              </a:rPr>
              <a:t> </a:t>
            </a:r>
            <a:r>
              <a:rPr lang="en-US" altLang="en-US" dirty="0" err="1">
                <a:solidFill>
                  <a:schemeClr val="hlink"/>
                </a:solidFill>
                <a:cs typeface="Times New Roman" panose="02020603050405020304" pitchFamily="18" charset="0"/>
              </a:rPr>
              <a:t>jer</a:t>
            </a:r>
            <a:r>
              <a:rPr lang="en-US" altLang="en-US" dirty="0">
                <a:solidFill>
                  <a:schemeClr val="hlink"/>
                </a:solidFill>
                <a:cs typeface="Times New Roman" panose="02020603050405020304" pitchFamily="18" charset="0"/>
              </a:rPr>
              <a:t> je</a:t>
            </a:r>
            <a:r>
              <a:rPr lang="en-US" altLang="en-US" dirty="0">
                <a:solidFill>
                  <a:schemeClr val="hlink"/>
                </a:solidFill>
              </a:rPr>
              <a:t> </a:t>
            </a:r>
            <a:endParaRPr lang="hr-HR" altLang="en-US" dirty="0">
              <a:solidFill>
                <a:schemeClr val="hlink"/>
              </a:solidFill>
            </a:endParaRPr>
          </a:p>
          <a:p>
            <a:pPr lvl="2">
              <a:defRPr/>
            </a:pPr>
            <a:endParaRPr lang="hr-HR" altLang="en-US" dirty="0">
              <a:solidFill>
                <a:schemeClr val="hlink"/>
              </a:solidFill>
            </a:endParaRPr>
          </a:p>
          <a:p>
            <a:pPr lvl="2">
              <a:defRPr/>
            </a:pPr>
            <a:endParaRPr lang="hr-HR" altLang="en-US" dirty="0">
              <a:solidFill>
                <a:schemeClr val="hlink"/>
              </a:solidFill>
            </a:endParaRPr>
          </a:p>
          <a:p>
            <a:pPr lvl="2">
              <a:defRPr/>
            </a:pPr>
            <a:endParaRPr lang="hr-HR" altLang="en-US" dirty="0">
              <a:solidFill>
                <a:schemeClr val="hlink"/>
              </a:solidFill>
            </a:endParaRPr>
          </a:p>
          <a:p>
            <a:pPr lvl="2">
              <a:defRPr/>
            </a:pPr>
            <a:r>
              <a:rPr lang="hr-HR" altLang="en-US" dirty="0">
                <a:solidFill>
                  <a:schemeClr val="hlink"/>
                </a:solidFill>
              </a:rPr>
              <a:t>a vektor d je &gt;0!</a:t>
            </a:r>
            <a:endParaRPr lang="en-US" altLang="en-US" dirty="0">
              <a:solidFill>
                <a:schemeClr val="hlink"/>
              </a:solidFill>
            </a:endParaRPr>
          </a:p>
        </p:txBody>
      </p:sp>
      <p:sp>
        <p:nvSpPr>
          <p:cNvPr id="18437" name="Rectangle 5">
            <a:extLst>
              <a:ext uri="{FF2B5EF4-FFF2-40B4-BE49-F238E27FC236}">
                <a16:creationId xmlns:a16="http://schemas.microsoft.com/office/drawing/2014/main" id="{02940B47-8050-4EE3-AE6F-77CC85256BA6}"/>
              </a:ext>
            </a:extLst>
          </p:cNvPr>
          <p:cNvSpPr>
            <a:spLocks noChangeArrowheads="1"/>
          </p:cNvSpPr>
          <p:nvPr/>
        </p:nvSpPr>
        <p:spPr bwMode="auto">
          <a:xfrm>
            <a:off x="346233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8434" name="Object 4">
            <a:extLst>
              <a:ext uri="{FF2B5EF4-FFF2-40B4-BE49-F238E27FC236}">
                <a16:creationId xmlns:a16="http://schemas.microsoft.com/office/drawing/2014/main" id="{DB6069FC-6E6E-4C5A-8E7A-A9AAF896CDF6}"/>
              </a:ext>
            </a:extLst>
          </p:cNvPr>
          <p:cNvGraphicFramePr>
            <a:graphicFrameLocks noChangeAspect="1"/>
          </p:cNvGraphicFramePr>
          <p:nvPr/>
        </p:nvGraphicFramePr>
        <p:xfrm>
          <a:off x="2743200" y="5270500"/>
          <a:ext cx="3505200" cy="722313"/>
        </p:xfrm>
        <a:graphic>
          <a:graphicData uri="http://schemas.openxmlformats.org/presentationml/2006/ole">
            <mc:AlternateContent xmlns:mc="http://schemas.openxmlformats.org/markup-compatibility/2006">
              <mc:Choice xmlns:v="urn:schemas-microsoft-com:vml" Requires="v">
                <p:oleObj r:id="rId2" imgW="2222500" imgH="457200" progId="Equation.3">
                  <p:embed/>
                </p:oleObj>
              </mc:Choice>
              <mc:Fallback>
                <p:oleObj r:id="rId2" imgW="2222500" imgH="457200" progId="Equation.3">
                  <p:embed/>
                  <p:pic>
                    <p:nvPicPr>
                      <p:cNvPr id="18434" name="Object 4">
                        <a:extLst>
                          <a:ext uri="{FF2B5EF4-FFF2-40B4-BE49-F238E27FC236}">
                            <a16:creationId xmlns:a16="http://schemas.microsoft.com/office/drawing/2014/main" id="{DB6069FC-6E6E-4C5A-8E7A-A9AAF896C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5270500"/>
                        <a:ext cx="3505200" cy="7223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649EF8D-3750-44B8-8DCC-D77A836B1A84}"/>
              </a:ext>
            </a:extLst>
          </p:cNvPr>
          <p:cNvSpPr>
            <a:spLocks noGrp="1" noChangeArrowheads="1"/>
          </p:cNvSpPr>
          <p:nvPr>
            <p:ph type="title"/>
          </p:nvPr>
        </p:nvSpPr>
        <p:spPr/>
        <p:txBody>
          <a:bodyPr/>
          <a:lstStyle/>
          <a:p>
            <a:pPr>
              <a:defRPr/>
            </a:pPr>
            <a:r>
              <a:rPr lang="hr-HR" altLang="en-US"/>
              <a:t>Primer</a:t>
            </a:r>
            <a:r>
              <a:rPr lang="en-US" altLang="en-US"/>
              <a:t>2</a:t>
            </a:r>
            <a:r>
              <a:rPr lang="hr-HR" altLang="en-US"/>
              <a:t> – nast. </a:t>
            </a:r>
            <a:endParaRPr lang="en-US" altLang="en-US"/>
          </a:p>
        </p:txBody>
      </p:sp>
      <p:sp>
        <p:nvSpPr>
          <p:cNvPr id="47107" name="Rectangle 3">
            <a:extLst>
              <a:ext uri="{FF2B5EF4-FFF2-40B4-BE49-F238E27FC236}">
                <a16:creationId xmlns:a16="http://schemas.microsoft.com/office/drawing/2014/main" id="{67E31382-BDB2-4F9B-9D4D-65D336CCBC93}"/>
              </a:ext>
            </a:extLst>
          </p:cNvPr>
          <p:cNvSpPr>
            <a:spLocks noGrp="1" noChangeArrowheads="1"/>
          </p:cNvSpPr>
          <p:nvPr>
            <p:ph type="body" sz="half" idx="1"/>
          </p:nvPr>
        </p:nvSpPr>
        <p:spPr/>
        <p:txBody>
          <a:bodyPr/>
          <a:lstStyle/>
          <a:p>
            <a:pPr algn="just">
              <a:lnSpc>
                <a:spcPct val="80000"/>
              </a:lnSpc>
              <a:spcBef>
                <a:spcPct val="0"/>
              </a:spcBef>
              <a:buFont typeface="Wingdings 2" panose="05020102010507070707" pitchFamily="18" charset="2"/>
              <a:buNone/>
              <a:defRPr/>
            </a:pPr>
            <a:r>
              <a:rPr lang="hr-HR" altLang="en-US" sz="2000" dirty="0"/>
              <a:t>		</a:t>
            </a:r>
            <a:r>
              <a:rPr lang="en-US" altLang="en-US" sz="1800" dirty="0">
                <a:cs typeface="Times New Roman" panose="02020603050405020304" pitchFamily="18" charset="0"/>
              </a:rPr>
              <a:t>for i = 1, 100</a:t>
            </a:r>
            <a:endParaRPr lang="hr-HR" altLang="en-US" sz="1800" dirty="0"/>
          </a:p>
          <a:p>
            <a:pPr algn="just">
              <a:lnSpc>
                <a:spcPct val="80000"/>
              </a:lnSpc>
              <a:spcBef>
                <a:spcPct val="0"/>
              </a:spcBef>
              <a:buFont typeface="Wingdings 2" panose="05020102010507070707" pitchFamily="18" charset="2"/>
              <a:buNone/>
              <a:defRPr/>
            </a:pPr>
            <a:r>
              <a:rPr lang="en-US" altLang="en-US" sz="1800" dirty="0">
                <a:cs typeface="Times New Roman" panose="02020603050405020304" pitchFamily="18" charset="0"/>
              </a:rPr>
              <a:t>		for j = 1, 5</a:t>
            </a:r>
            <a:endParaRPr lang="hr-HR" altLang="en-US" sz="1800" dirty="0"/>
          </a:p>
          <a:p>
            <a:pPr algn="just">
              <a:lnSpc>
                <a:spcPct val="80000"/>
              </a:lnSpc>
              <a:spcBef>
                <a:spcPct val="0"/>
              </a:spcBef>
              <a:buFont typeface="Wingdings 2" panose="05020102010507070707" pitchFamily="18" charset="2"/>
              <a:buNone/>
              <a:defRPr/>
            </a:pPr>
            <a:r>
              <a:rPr lang="en-US" altLang="en-US" sz="1800" dirty="0">
                <a:cs typeface="Times New Roman" panose="02020603050405020304" pitchFamily="18" charset="0"/>
              </a:rPr>
              <a:t>		A(i, j) = A(i-1, j+1) *2</a:t>
            </a:r>
            <a:r>
              <a:rPr lang="en-US" altLang="en-US" sz="1800" dirty="0"/>
              <a:t> </a:t>
            </a:r>
            <a:endParaRPr lang="hr-HR" altLang="en-US" sz="1800" dirty="0"/>
          </a:p>
          <a:p>
            <a:pPr>
              <a:lnSpc>
                <a:spcPct val="80000"/>
              </a:lnSpc>
              <a:spcBef>
                <a:spcPct val="0"/>
              </a:spcBef>
              <a:buFont typeface="Wingdings 2" panose="05020102010507070707" pitchFamily="18" charset="2"/>
              <a:buNone/>
              <a:defRPr/>
            </a:pPr>
            <a:r>
              <a:rPr lang="en-US" altLang="en-US" sz="1800" dirty="0"/>
              <a:t>     </a:t>
            </a:r>
            <a:r>
              <a:rPr lang="hr-HR" altLang="en-US" sz="1800" dirty="0"/>
              <a:t>	</a:t>
            </a:r>
            <a:r>
              <a:rPr lang="en-US" altLang="en-US" sz="1800" dirty="0" err="1"/>
              <a:t>endfor</a:t>
            </a:r>
            <a:r>
              <a:rPr lang="en-US" altLang="en-US" sz="1800" dirty="0"/>
              <a:t>{</a:t>
            </a:r>
            <a:r>
              <a:rPr lang="en-US" altLang="en-US" sz="1800" dirty="0" err="1"/>
              <a:t>i,j</a:t>
            </a:r>
            <a:r>
              <a:rPr lang="en-US" altLang="en-US" sz="1800" dirty="0"/>
              <a:t>}</a:t>
            </a:r>
            <a:endParaRPr lang="hr-HR" altLang="en-US" sz="1800" dirty="0"/>
          </a:p>
          <a:p>
            <a:pPr>
              <a:lnSpc>
                <a:spcPct val="80000"/>
              </a:lnSpc>
              <a:spcBef>
                <a:spcPct val="0"/>
              </a:spcBef>
              <a:spcAft>
                <a:spcPct val="30000"/>
              </a:spcAft>
              <a:buFont typeface="Wingdings 2" panose="05020102010507070707" pitchFamily="18" charset="2"/>
              <a:buNone/>
              <a:defRPr/>
            </a:pPr>
            <a:endParaRPr lang="hr-HR" altLang="en-US" sz="1600" dirty="0">
              <a:latin typeface="Times New Roman" panose="02020603050405020304" pitchFamily="18" charset="0"/>
            </a:endParaRP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i=1,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A(1,1)=A(0,2)*2</a:t>
            </a: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A(1,2)=A(0,3)*2</a:t>
            </a:r>
            <a:endParaRPr lang="hr-HR" altLang="en-US" sz="1600" dirty="0">
              <a:solidFill>
                <a:schemeClr val="hlink"/>
              </a:solidFill>
            </a:endParaRPr>
          </a:p>
          <a:p>
            <a:pPr>
              <a:lnSpc>
                <a:spcPct val="80000"/>
              </a:lnSpc>
              <a:spcBef>
                <a:spcPct val="0"/>
              </a:spcBef>
              <a:spcAft>
                <a:spcPct val="30000"/>
              </a:spcAft>
              <a:buFont typeface="Wingdings 2" panose="05020102010507070707" pitchFamily="18" charset="2"/>
              <a:buNone/>
              <a:defRPr/>
            </a:pPr>
            <a:endParaRPr lang="hr-HR" altLang="en-US" sz="1600" dirty="0">
              <a:solidFill>
                <a:schemeClr val="hlink"/>
              </a:solidFill>
            </a:endParaRP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a:t>
            </a:r>
            <a:r>
              <a:rPr lang="hr-HR" altLang="en-US" sz="1600" dirty="0">
                <a:solidFill>
                  <a:schemeClr val="hlink"/>
                </a:solidFill>
              </a:rPr>
              <a:t>2</a:t>
            </a:r>
            <a:r>
              <a:rPr lang="en-US" altLang="en-US" sz="1600" dirty="0">
                <a:solidFill>
                  <a:schemeClr val="hlink"/>
                </a:solidFill>
                <a:cs typeface="Times New Roman" panose="02020603050405020304" pitchFamily="18" charset="0"/>
              </a:rPr>
              <a:t>,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a:t>
            </a:r>
            <a:r>
              <a:rPr lang="hr-HR" altLang="en-US" sz="1600" dirty="0">
                <a:solidFill>
                  <a:schemeClr val="hlink"/>
                </a:solidFill>
              </a:rPr>
              <a:t>2</a:t>
            </a:r>
            <a:r>
              <a:rPr lang="en-US" altLang="en-US" sz="1600" dirty="0">
                <a:solidFill>
                  <a:schemeClr val="hlink"/>
                </a:solidFill>
                <a:cs typeface="Times New Roman" panose="02020603050405020304" pitchFamily="18" charset="0"/>
              </a:rPr>
              <a:t>,1)=A(</a:t>
            </a:r>
            <a:r>
              <a:rPr lang="hr-HR" altLang="en-US" sz="1600" dirty="0">
                <a:solidFill>
                  <a:schemeClr val="hlink"/>
                </a:solidFill>
              </a:rPr>
              <a:t>1</a:t>
            </a:r>
            <a:r>
              <a:rPr lang="en-US" altLang="en-US" sz="1600" dirty="0">
                <a:solidFill>
                  <a:schemeClr val="hlink"/>
                </a:solidFill>
                <a:cs typeface="Times New Roman" panose="02020603050405020304" pitchFamily="18" charset="0"/>
              </a:rPr>
              <a:t>,2)*2</a:t>
            </a: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a:t>
            </a:r>
            <a:r>
              <a:rPr lang="hr-HR" altLang="en-US" sz="1600" dirty="0">
                <a:solidFill>
                  <a:schemeClr val="hlink"/>
                </a:solidFill>
              </a:rPr>
              <a:t>2</a:t>
            </a:r>
            <a:r>
              <a:rPr lang="en-US" altLang="en-US" sz="1600" dirty="0">
                <a:solidFill>
                  <a:schemeClr val="hlink"/>
                </a:solidFill>
                <a:cs typeface="Times New Roman" panose="02020603050405020304" pitchFamily="18" charset="0"/>
              </a:rPr>
              <a:t>,2)=A(</a:t>
            </a:r>
            <a:r>
              <a:rPr lang="hr-HR" altLang="en-US" sz="1600" dirty="0">
                <a:solidFill>
                  <a:schemeClr val="hlink"/>
                </a:solidFill>
              </a:rPr>
              <a:t>1</a:t>
            </a:r>
            <a:r>
              <a:rPr lang="en-US" altLang="en-US" sz="1600" dirty="0">
                <a:solidFill>
                  <a:schemeClr val="hlink"/>
                </a:solidFill>
                <a:cs typeface="Times New Roman" panose="02020603050405020304" pitchFamily="18" charset="0"/>
              </a:rPr>
              <a:t>,3)*2</a:t>
            </a:r>
            <a:endParaRPr lang="hr-HR" altLang="en-US" sz="1600" dirty="0">
              <a:solidFill>
                <a:schemeClr val="hlink"/>
              </a:solidFill>
            </a:endParaRPr>
          </a:p>
          <a:p>
            <a:pPr>
              <a:lnSpc>
                <a:spcPct val="80000"/>
              </a:lnSpc>
              <a:spcBef>
                <a:spcPct val="0"/>
              </a:spcBef>
              <a:spcAft>
                <a:spcPct val="30000"/>
              </a:spcAft>
              <a:buFont typeface="Wingdings 2" panose="05020102010507070707" pitchFamily="18" charset="2"/>
              <a:buNone/>
              <a:defRPr/>
            </a:pPr>
            <a:endParaRPr lang="hr-HR" altLang="en-US" sz="1600" dirty="0">
              <a:solidFill>
                <a:schemeClr val="hlink"/>
              </a:solidFill>
            </a:endParaRP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a:t>
            </a:r>
            <a:r>
              <a:rPr lang="hr-HR" altLang="en-US" sz="1600" dirty="0">
                <a:solidFill>
                  <a:schemeClr val="hlink"/>
                </a:solidFill>
              </a:rPr>
              <a:t>3</a:t>
            </a:r>
            <a:r>
              <a:rPr lang="en-US" altLang="en-US" sz="1600" dirty="0">
                <a:solidFill>
                  <a:schemeClr val="hlink"/>
                </a:solidFill>
                <a:cs typeface="Times New Roman" panose="02020603050405020304" pitchFamily="18" charset="0"/>
              </a:rPr>
              <a:t>,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a:t>
            </a:r>
            <a:r>
              <a:rPr lang="hr-HR" altLang="en-US" sz="1600" dirty="0">
                <a:solidFill>
                  <a:schemeClr val="hlink"/>
                </a:solidFill>
              </a:rPr>
              <a:t>3</a:t>
            </a:r>
            <a:r>
              <a:rPr lang="en-US" altLang="en-US" sz="1600" dirty="0">
                <a:solidFill>
                  <a:schemeClr val="hlink"/>
                </a:solidFill>
                <a:cs typeface="Times New Roman" panose="02020603050405020304" pitchFamily="18" charset="0"/>
              </a:rPr>
              <a:t>,1)=A(</a:t>
            </a:r>
            <a:r>
              <a:rPr lang="hr-HR" altLang="en-US" sz="1600" dirty="0">
                <a:solidFill>
                  <a:schemeClr val="hlink"/>
                </a:solidFill>
              </a:rPr>
              <a:t>2</a:t>
            </a:r>
            <a:r>
              <a:rPr lang="en-US" altLang="en-US" sz="1600" dirty="0">
                <a:solidFill>
                  <a:schemeClr val="hlink"/>
                </a:solidFill>
                <a:cs typeface="Times New Roman" panose="02020603050405020304" pitchFamily="18" charset="0"/>
              </a:rPr>
              <a:t>,2)*2</a:t>
            </a:r>
          </a:p>
          <a:p>
            <a:pPr>
              <a:lnSpc>
                <a:spcPct val="80000"/>
              </a:lnSpc>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a:t>
            </a:r>
            <a:r>
              <a:rPr lang="hr-HR" altLang="en-US" sz="1600" dirty="0">
                <a:solidFill>
                  <a:schemeClr val="hlink"/>
                </a:solidFill>
              </a:rPr>
              <a:t>3</a:t>
            </a:r>
            <a:r>
              <a:rPr lang="en-US" altLang="en-US" sz="1600" dirty="0">
                <a:solidFill>
                  <a:schemeClr val="hlink"/>
                </a:solidFill>
                <a:cs typeface="Times New Roman" panose="02020603050405020304" pitchFamily="18" charset="0"/>
              </a:rPr>
              <a:t>,2)=A(</a:t>
            </a:r>
            <a:r>
              <a:rPr lang="hr-HR" altLang="en-US" sz="1600" dirty="0">
                <a:solidFill>
                  <a:schemeClr val="hlink"/>
                </a:solidFill>
              </a:rPr>
              <a:t>2</a:t>
            </a:r>
            <a:r>
              <a:rPr lang="en-US" altLang="en-US" sz="1600" dirty="0">
                <a:solidFill>
                  <a:schemeClr val="hlink"/>
                </a:solidFill>
                <a:cs typeface="Times New Roman" panose="02020603050405020304" pitchFamily="18" charset="0"/>
              </a:rPr>
              <a:t>,3)*2</a:t>
            </a:r>
          </a:p>
          <a:p>
            <a:pPr>
              <a:lnSpc>
                <a:spcPct val="80000"/>
              </a:lnSpc>
              <a:spcBef>
                <a:spcPct val="0"/>
              </a:spcBef>
              <a:spcAft>
                <a:spcPct val="30000"/>
              </a:spcAft>
              <a:buFont typeface="Wingdings 2" panose="05020102010507070707" pitchFamily="18" charset="2"/>
              <a:buNone/>
              <a:defRPr/>
            </a:pPr>
            <a:endParaRPr lang="en-US" altLang="en-US" sz="1600" dirty="0">
              <a:solidFill>
                <a:schemeClr val="hlink"/>
              </a:solidFill>
            </a:endParaRPr>
          </a:p>
          <a:p>
            <a:pPr>
              <a:lnSpc>
                <a:spcPct val="80000"/>
              </a:lnSpc>
              <a:spcBef>
                <a:spcPct val="0"/>
              </a:spcBef>
              <a:buFont typeface="Wingdings 2" panose="05020102010507070707" pitchFamily="18" charset="2"/>
              <a:buNone/>
              <a:defRPr/>
            </a:pPr>
            <a:endParaRPr lang="hr-HR" altLang="en-US" sz="1600" dirty="0">
              <a:solidFill>
                <a:schemeClr val="hlink"/>
              </a:solidFill>
              <a:latin typeface="Times New Roman" panose="02020603050405020304" pitchFamily="18" charset="0"/>
            </a:endParaRPr>
          </a:p>
          <a:p>
            <a:pPr>
              <a:lnSpc>
                <a:spcPct val="80000"/>
              </a:lnSpc>
              <a:spcBef>
                <a:spcPct val="0"/>
              </a:spcBef>
              <a:spcAft>
                <a:spcPct val="30000"/>
              </a:spcAft>
              <a:defRPr/>
            </a:pPr>
            <a:r>
              <a:rPr lang="en-US" altLang="en-US" sz="1800" dirty="0" err="1">
                <a:solidFill>
                  <a:schemeClr val="hlink"/>
                </a:solidFill>
                <a:cs typeface="Times New Roman" panose="02020603050405020304" pitchFamily="18" charset="0"/>
              </a:rPr>
              <a:t>Strelicama</a:t>
            </a:r>
            <a:r>
              <a:rPr lang="en-US" altLang="en-US" sz="1800" dirty="0">
                <a:solidFill>
                  <a:schemeClr val="hlink"/>
                </a:solidFill>
                <a:cs typeface="Times New Roman" panose="02020603050405020304" pitchFamily="18" charset="0"/>
              </a:rPr>
              <a:t> je </a:t>
            </a:r>
            <a:r>
              <a:rPr lang="en-US" altLang="en-US" sz="1800" dirty="0" err="1">
                <a:solidFill>
                  <a:schemeClr val="hlink"/>
                </a:solidFill>
                <a:cs typeface="Times New Roman" panose="02020603050405020304" pitchFamily="18" charset="0"/>
              </a:rPr>
              <a:t>ozna</a:t>
            </a:r>
            <a:r>
              <a:rPr lang="hr-HR" altLang="en-US" sz="1800" dirty="0">
                <a:solidFill>
                  <a:schemeClr val="hlink"/>
                </a:solidFill>
              </a:rPr>
              <a:t>č</a:t>
            </a:r>
            <a:r>
              <a:rPr lang="en-US" altLang="en-US" sz="1800" dirty="0" err="1">
                <a:solidFill>
                  <a:schemeClr val="hlink"/>
                </a:solidFill>
                <a:cs typeface="Times New Roman" panose="02020603050405020304" pitchFamily="18" charset="0"/>
              </a:rPr>
              <a:t>en</a:t>
            </a:r>
            <a:r>
              <a:rPr lang="en-US" altLang="en-US" sz="1800" dirty="0">
                <a:solidFill>
                  <a:schemeClr val="hlink"/>
                </a:solidFill>
                <a:cs typeface="Times New Roman" panose="02020603050405020304" pitchFamily="18" charset="0"/>
              </a:rPr>
              <a:t> </a:t>
            </a:r>
            <a:r>
              <a:rPr lang="en-US" altLang="en-US" sz="1800" dirty="0" err="1">
                <a:solidFill>
                  <a:schemeClr val="hlink"/>
                </a:solidFill>
                <a:cs typeface="Times New Roman" panose="02020603050405020304" pitchFamily="18" charset="0"/>
              </a:rPr>
              <a:t>redosled</a:t>
            </a:r>
            <a:r>
              <a:rPr lang="en-US" altLang="en-US" sz="1800" dirty="0">
                <a:solidFill>
                  <a:schemeClr val="hlink"/>
                </a:solidFill>
                <a:cs typeface="Times New Roman" panose="02020603050405020304" pitchFamily="18" charset="0"/>
              </a:rPr>
              <a:t> </a:t>
            </a:r>
            <a:r>
              <a:rPr lang="en-US" altLang="en-US" sz="1800" dirty="0" err="1">
                <a:solidFill>
                  <a:schemeClr val="hlink"/>
                </a:solidFill>
                <a:cs typeface="Times New Roman" panose="02020603050405020304" pitchFamily="18" charset="0"/>
              </a:rPr>
              <a:t>zra</a:t>
            </a:r>
            <a:r>
              <a:rPr lang="hr-HR" altLang="en-US" sz="1800" dirty="0">
                <a:solidFill>
                  <a:schemeClr val="hlink"/>
                </a:solidFill>
              </a:rPr>
              <a:t>č</a:t>
            </a:r>
            <a:r>
              <a:rPr lang="en-US" altLang="en-US" sz="1800" dirty="0" err="1">
                <a:solidFill>
                  <a:schemeClr val="hlink"/>
                </a:solidFill>
                <a:cs typeface="Times New Roman" panose="02020603050405020304" pitchFamily="18" charset="0"/>
              </a:rPr>
              <a:t>unavanja</a:t>
            </a:r>
            <a:r>
              <a:rPr lang="hr-HR" altLang="en-US" sz="1800" dirty="0">
                <a:solidFill>
                  <a:schemeClr val="hlink"/>
                </a:solidFill>
              </a:rPr>
              <a:t> </a:t>
            </a:r>
            <a:r>
              <a:rPr lang="en-US" altLang="en-US" sz="1800" dirty="0">
                <a:solidFill>
                  <a:schemeClr val="hlink"/>
                </a:solidFill>
                <a:cs typeface="Times New Roman" panose="02020603050405020304" pitchFamily="18" charset="0"/>
              </a:rPr>
              <a:t>koji mora </a:t>
            </a:r>
            <a:r>
              <a:rPr lang="en-US" altLang="en-US" sz="1800" dirty="0" err="1">
                <a:solidFill>
                  <a:schemeClr val="hlink"/>
                </a:solidFill>
                <a:cs typeface="Times New Roman" panose="02020603050405020304" pitchFamily="18" charset="0"/>
              </a:rPr>
              <a:t>biti</a:t>
            </a:r>
            <a:r>
              <a:rPr lang="en-US" altLang="en-US" sz="1800" dirty="0">
                <a:solidFill>
                  <a:schemeClr val="hlink"/>
                </a:solidFill>
                <a:cs typeface="Times New Roman" panose="02020603050405020304" pitchFamily="18" charset="0"/>
              </a:rPr>
              <a:t> </a:t>
            </a:r>
            <a:r>
              <a:rPr lang="en-US" altLang="en-US" sz="1800" dirty="0" err="1">
                <a:solidFill>
                  <a:schemeClr val="hlink"/>
                </a:solidFill>
                <a:cs typeface="Times New Roman" panose="02020603050405020304" pitchFamily="18" charset="0"/>
              </a:rPr>
              <a:t>ispo</a:t>
            </a:r>
            <a:r>
              <a:rPr lang="hr-HR" altLang="en-US" sz="1800" dirty="0">
                <a:solidFill>
                  <a:schemeClr val="hlink"/>
                </a:solidFill>
              </a:rPr>
              <a:t>š</a:t>
            </a:r>
            <a:r>
              <a:rPr lang="en-US" altLang="en-US" sz="1800" dirty="0" err="1">
                <a:solidFill>
                  <a:schemeClr val="hlink"/>
                </a:solidFill>
                <a:cs typeface="Times New Roman" panose="02020603050405020304" pitchFamily="18" charset="0"/>
              </a:rPr>
              <a:t>tovan</a:t>
            </a:r>
            <a:r>
              <a:rPr lang="hr-HR" altLang="en-US" sz="1800" dirty="0">
                <a:solidFill>
                  <a:schemeClr val="hlink"/>
                </a:solidFill>
                <a:latin typeface="Times New Roman" panose="02020603050405020304" pitchFamily="18" charset="0"/>
              </a:rPr>
              <a:t>:</a:t>
            </a:r>
            <a:r>
              <a:rPr lang="en-US" altLang="en-US" sz="1600" dirty="0">
                <a:solidFill>
                  <a:schemeClr val="hlink"/>
                </a:solidFill>
                <a:latin typeface="Times Roman YU" pitchFamily="18" charset="0"/>
                <a:cs typeface="Times New Roman" panose="02020603050405020304" pitchFamily="18" charset="0"/>
              </a:rPr>
              <a:t> </a:t>
            </a:r>
            <a:endParaRPr lang="hr-HR" altLang="en-US" sz="1600" dirty="0">
              <a:solidFill>
                <a:schemeClr val="hlink"/>
              </a:solidFill>
              <a:latin typeface="Times New Roman" panose="02020603050405020304" pitchFamily="18" charset="0"/>
            </a:endParaRPr>
          </a:p>
          <a:p>
            <a:pPr lvl="1">
              <a:lnSpc>
                <a:spcPct val="80000"/>
              </a:lnSpc>
              <a:spcBef>
                <a:spcPct val="25000"/>
              </a:spcBef>
              <a:spcAft>
                <a:spcPct val="20000"/>
              </a:spcAft>
              <a:defRPr/>
            </a:pPr>
            <a:r>
              <a:rPr lang="en-US" altLang="en-US" sz="1600" dirty="0">
                <a:solidFill>
                  <a:schemeClr val="accent1"/>
                </a:solidFill>
                <a:cs typeface="Times New Roman" panose="02020603050405020304" pitchFamily="18" charset="0"/>
              </a:rPr>
              <a:t>A(1, 2) </a:t>
            </a:r>
            <a:r>
              <a:rPr lang="hr-HR" altLang="en-US" sz="1600" dirty="0">
                <a:solidFill>
                  <a:schemeClr val="accent1"/>
                </a:solidFill>
              </a:rPr>
              <a:t>mora biti izračunat pre </a:t>
            </a:r>
            <a:r>
              <a:rPr lang="en-US" altLang="en-US" sz="1600" dirty="0">
                <a:solidFill>
                  <a:schemeClr val="accent1"/>
                </a:solidFill>
                <a:cs typeface="Times New Roman" panose="02020603050405020304" pitchFamily="18" charset="0"/>
              </a:rPr>
              <a:t> A(2,1) </a:t>
            </a:r>
            <a:r>
              <a:rPr lang="en-US" altLang="en-US" sz="1600" dirty="0" err="1">
                <a:solidFill>
                  <a:schemeClr val="accent1"/>
                </a:solidFill>
                <a:cs typeface="Times New Roman" panose="02020603050405020304" pitchFamily="18" charset="0"/>
              </a:rPr>
              <a:t>jer</a:t>
            </a:r>
            <a:r>
              <a:rPr lang="en-US" altLang="en-US" sz="1600" dirty="0">
                <a:solidFill>
                  <a:schemeClr val="accent1"/>
                </a:solidFill>
                <a:cs typeface="Times New Roman" panose="02020603050405020304" pitchFamily="18" charset="0"/>
              </a:rPr>
              <a:t> A(2,1) </a:t>
            </a:r>
            <a:r>
              <a:rPr lang="en-US" altLang="en-US" sz="1600" dirty="0" err="1">
                <a:solidFill>
                  <a:schemeClr val="accent1"/>
                </a:solidFill>
                <a:cs typeface="Times New Roman" panose="02020603050405020304" pitchFamily="18" charset="0"/>
              </a:rPr>
              <a:t>koristi</a:t>
            </a:r>
            <a:r>
              <a:rPr lang="en-US" altLang="en-US" sz="1600" dirty="0">
                <a:solidFill>
                  <a:schemeClr val="accent1"/>
                </a:solidFill>
                <a:cs typeface="Times New Roman" panose="02020603050405020304" pitchFamily="18" charset="0"/>
              </a:rPr>
              <a:t> </a:t>
            </a:r>
            <a:r>
              <a:rPr lang="en-US" altLang="en-US" sz="1600" dirty="0" err="1">
                <a:solidFill>
                  <a:schemeClr val="accent1"/>
                </a:solidFill>
                <a:cs typeface="Times New Roman" panose="02020603050405020304" pitchFamily="18" charset="0"/>
              </a:rPr>
              <a:t>vrednost</a:t>
            </a:r>
            <a:r>
              <a:rPr lang="en-US" altLang="en-US" sz="1600" dirty="0">
                <a:solidFill>
                  <a:schemeClr val="accent1"/>
                </a:solidFill>
                <a:cs typeface="Times New Roman" panose="02020603050405020304" pitchFamily="18" charset="0"/>
              </a:rPr>
              <a:t> A(1,2).</a:t>
            </a:r>
            <a:r>
              <a:rPr lang="en-US" altLang="en-US" sz="1600" dirty="0">
                <a:solidFill>
                  <a:schemeClr val="accent1"/>
                </a:solidFill>
                <a:latin typeface="Times Roman YU" pitchFamily="18" charset="0"/>
                <a:cs typeface="Times New Roman" panose="02020603050405020304" pitchFamily="18" charset="0"/>
              </a:rPr>
              <a:t> </a:t>
            </a:r>
            <a:endParaRPr lang="hr-HR" altLang="en-US" sz="1600" dirty="0">
              <a:solidFill>
                <a:schemeClr val="accent1"/>
              </a:solidFill>
              <a:latin typeface="Times New Roman" panose="02020603050405020304" pitchFamily="18" charset="0"/>
            </a:endParaRPr>
          </a:p>
          <a:p>
            <a:pPr lvl="1">
              <a:lnSpc>
                <a:spcPct val="80000"/>
              </a:lnSpc>
              <a:spcBef>
                <a:spcPct val="25000"/>
              </a:spcBef>
              <a:spcAft>
                <a:spcPct val="20000"/>
              </a:spcAft>
              <a:defRPr/>
            </a:pPr>
            <a:r>
              <a:rPr lang="hr-HR" altLang="en-US" sz="1600" dirty="0">
                <a:solidFill>
                  <a:schemeClr val="accent1"/>
                </a:solidFill>
              </a:rPr>
              <a:t>A(2,2) mora biti izračunat pre A(3,1)</a:t>
            </a:r>
          </a:p>
        </p:txBody>
      </p:sp>
      <p:sp>
        <p:nvSpPr>
          <p:cNvPr id="47108" name="Rectangle 4">
            <a:extLst>
              <a:ext uri="{FF2B5EF4-FFF2-40B4-BE49-F238E27FC236}">
                <a16:creationId xmlns:a16="http://schemas.microsoft.com/office/drawing/2014/main" id="{1AFF623E-7514-42AA-90C6-8F8A49A34B90}"/>
              </a:ext>
            </a:extLst>
          </p:cNvPr>
          <p:cNvSpPr>
            <a:spLocks noGrp="1" noChangeArrowheads="1"/>
          </p:cNvSpPr>
          <p:nvPr>
            <p:ph type="body" sz="half" idx="2"/>
          </p:nvPr>
        </p:nvSpPr>
        <p:spPr/>
        <p:txBody>
          <a:bodyPr/>
          <a:lstStyle/>
          <a:p>
            <a:pPr marL="457200" indent="-457200">
              <a:defRPr/>
            </a:pPr>
            <a:r>
              <a:rPr lang="en-US" altLang="en-US" sz="1800" dirty="0">
                <a:cs typeface="Times New Roman" panose="02020603050405020304" pitchFamily="18" charset="0"/>
              </a:rPr>
              <a:t>Ako </a:t>
            </a:r>
            <a:r>
              <a:rPr lang="en-US" altLang="en-US" sz="1800" dirty="0" err="1">
                <a:cs typeface="Times New Roman" panose="02020603050405020304" pitchFamily="18" charset="0"/>
              </a:rPr>
              <a:t>na</a:t>
            </a:r>
            <a:r>
              <a:rPr lang="en-US" altLang="en-US" sz="1800" dirty="0">
                <a:cs typeface="Times New Roman" panose="02020603050405020304" pitchFamily="18" charset="0"/>
              </a:rPr>
              <a:t> </a:t>
            </a:r>
            <a:r>
              <a:rPr lang="hr-HR" altLang="en-US" sz="1800" dirty="0"/>
              <a:t>prethodnu</a:t>
            </a:r>
            <a:r>
              <a:rPr lang="en-US" altLang="en-US" sz="1800" dirty="0">
                <a:cs typeface="Times New Roman" panose="02020603050405020304" pitchFamily="18" charset="0"/>
              </a:rPr>
              <a:t> </a:t>
            </a:r>
            <a:r>
              <a:rPr lang="en-US" altLang="en-US" sz="1800" dirty="0" err="1">
                <a:cs typeface="Times New Roman" panose="02020603050405020304" pitchFamily="18" charset="0"/>
              </a:rPr>
              <a:t>petlju</a:t>
            </a:r>
            <a:r>
              <a:rPr lang="en-US" altLang="en-US" sz="1800" dirty="0">
                <a:cs typeface="Times New Roman" panose="02020603050405020304" pitchFamily="18" charset="0"/>
              </a:rPr>
              <a:t> </a:t>
            </a:r>
            <a:r>
              <a:rPr lang="en-US" altLang="en-US" sz="1800" dirty="0" err="1">
                <a:cs typeface="Times New Roman" panose="02020603050405020304" pitchFamily="18" charset="0"/>
              </a:rPr>
              <a:t>primenimo</a:t>
            </a:r>
            <a:r>
              <a:rPr lang="en-US" altLang="en-US" sz="1800" dirty="0">
                <a:cs typeface="Times New Roman" panose="02020603050405020304" pitchFamily="18" charset="0"/>
              </a:rPr>
              <a:t> </a:t>
            </a:r>
            <a:r>
              <a:rPr lang="en-US" altLang="en-US" sz="1800" dirty="0" err="1">
                <a:cs typeface="Times New Roman" panose="02020603050405020304" pitchFamily="18" charset="0"/>
              </a:rPr>
              <a:t>transformaciju</a:t>
            </a:r>
            <a:r>
              <a:rPr lang="en-US" altLang="en-US" sz="1800" dirty="0">
                <a:cs typeface="Times New Roman" panose="02020603050405020304" pitchFamily="18" charset="0"/>
              </a:rPr>
              <a:t> </a:t>
            </a:r>
            <a:r>
              <a:rPr lang="en-US" altLang="en-US" sz="1800" dirty="0" err="1">
                <a:cs typeface="Times New Roman" panose="02020603050405020304" pitchFamily="18" charset="0"/>
              </a:rPr>
              <a:t>permutacije</a:t>
            </a:r>
            <a:r>
              <a:rPr lang="en-US" altLang="en-US" sz="1800" dirty="0">
                <a:cs typeface="Times New Roman" panose="02020603050405020304" pitchFamily="18" charset="0"/>
              </a:rPr>
              <a:t> </a:t>
            </a:r>
            <a:r>
              <a:rPr lang="en-US" altLang="en-US" sz="1800" dirty="0" err="1">
                <a:cs typeface="Times New Roman" panose="02020603050405020304" pitchFamily="18" charset="0"/>
              </a:rPr>
              <a:t>dobi</a:t>
            </a:r>
            <a:r>
              <a:rPr lang="hr-HR" altLang="en-US" sz="1800" dirty="0"/>
              <a:t>ć</a:t>
            </a:r>
            <a:r>
              <a:rPr lang="en-US" altLang="en-US" sz="1800" dirty="0">
                <a:cs typeface="Times New Roman" panose="02020603050405020304" pitchFamily="18" charset="0"/>
              </a:rPr>
              <a:t>emo</a:t>
            </a:r>
            <a:r>
              <a:rPr lang="en-US" altLang="en-US" sz="2400" dirty="0"/>
              <a:t> </a:t>
            </a:r>
            <a:endParaRPr lang="hr-HR" altLang="en-US" sz="2400" dirty="0"/>
          </a:p>
          <a:p>
            <a:pPr marL="457200" indent="-457200">
              <a:defRPr/>
            </a:pPr>
            <a:endParaRPr lang="hr-HR" altLang="en-US" sz="2400" dirty="0"/>
          </a:p>
          <a:p>
            <a:pPr marL="857250" lvl="1" indent="-400050" algn="just">
              <a:lnSpc>
                <a:spcPct val="85000"/>
              </a:lnSpc>
              <a:spcBef>
                <a:spcPct val="0"/>
              </a:spcBef>
              <a:buFont typeface="Wingdings" panose="05000000000000000000" pitchFamily="2" charset="2"/>
              <a:buNone/>
              <a:defRPr/>
            </a:pPr>
            <a:r>
              <a:rPr lang="hr-HR" altLang="en-US" sz="2100" dirty="0">
                <a:latin typeface="Times New Roman" panose="02020603050405020304" pitchFamily="18" charset="0"/>
              </a:rPr>
              <a:t>	</a:t>
            </a:r>
          </a:p>
          <a:p>
            <a:pPr marL="857250" lvl="1" indent="-400050" algn="just">
              <a:lnSpc>
                <a:spcPct val="85000"/>
              </a:lnSpc>
              <a:spcBef>
                <a:spcPct val="0"/>
              </a:spcBef>
              <a:buFont typeface="Wingdings" panose="05000000000000000000" pitchFamily="2" charset="2"/>
              <a:buNone/>
              <a:defRPr/>
            </a:pPr>
            <a:r>
              <a:rPr lang="hr-HR" altLang="en-US" sz="2100" dirty="0"/>
              <a:t>		</a:t>
            </a:r>
            <a:r>
              <a:rPr lang="en-US" altLang="en-US" sz="2100" dirty="0">
                <a:cs typeface="Times New Roman" panose="02020603050405020304" pitchFamily="18" charset="0"/>
              </a:rPr>
              <a:t>for u = 1, 5		</a:t>
            </a:r>
          </a:p>
          <a:p>
            <a:pPr marL="857250" lvl="1" indent="-400050" algn="just">
              <a:lnSpc>
                <a:spcPct val="85000"/>
              </a:lnSpc>
              <a:spcBef>
                <a:spcPct val="0"/>
              </a:spcBef>
              <a:buFont typeface="Wingdings" panose="05000000000000000000" pitchFamily="2" charset="2"/>
              <a:buNone/>
              <a:defRPr/>
            </a:pPr>
            <a:r>
              <a:rPr lang="hr-HR" altLang="en-US" sz="2100" dirty="0"/>
              <a:t>		</a:t>
            </a:r>
            <a:r>
              <a:rPr lang="en-US" altLang="en-US" sz="2100" dirty="0">
                <a:cs typeface="Times New Roman" panose="02020603050405020304" pitchFamily="18" charset="0"/>
              </a:rPr>
              <a:t>for v = 1, 100		</a:t>
            </a:r>
          </a:p>
          <a:p>
            <a:pPr marL="857250" lvl="1" indent="-400050">
              <a:lnSpc>
                <a:spcPct val="85000"/>
              </a:lnSpc>
              <a:spcBef>
                <a:spcPct val="0"/>
              </a:spcBef>
              <a:buFont typeface="Wingdings" panose="05000000000000000000" pitchFamily="2" charset="2"/>
              <a:buNone/>
              <a:defRPr/>
            </a:pPr>
            <a:r>
              <a:rPr lang="hr-HR" altLang="en-US" sz="2100" dirty="0"/>
              <a:t>		</a:t>
            </a:r>
            <a:r>
              <a:rPr lang="en-US" altLang="en-US" sz="2100" dirty="0">
                <a:cs typeface="Times New Roman" panose="02020603050405020304" pitchFamily="18" charset="0"/>
              </a:rPr>
              <a:t>A(v, u) = A(v-1, u+1) *2</a:t>
            </a:r>
            <a:r>
              <a:rPr lang="en-US" altLang="en-US" sz="2100" dirty="0"/>
              <a:t> </a:t>
            </a:r>
            <a:endParaRPr lang="hr-HR" altLang="en-US" sz="2100" dirty="0"/>
          </a:p>
          <a:p>
            <a:pPr marL="857250" lvl="1" indent="-400050">
              <a:lnSpc>
                <a:spcPct val="85000"/>
              </a:lnSpc>
              <a:spcBef>
                <a:spcPct val="0"/>
              </a:spcBef>
              <a:buFont typeface="Wingdings" panose="05000000000000000000" pitchFamily="2" charset="2"/>
              <a:buNone/>
              <a:defRPr/>
            </a:pPr>
            <a:r>
              <a:rPr lang="en-US" altLang="en-US" sz="2100" dirty="0"/>
              <a:t>     </a:t>
            </a:r>
            <a:r>
              <a:rPr lang="en-US" altLang="en-US" sz="2100" dirty="0" err="1"/>
              <a:t>enfor</a:t>
            </a:r>
            <a:r>
              <a:rPr lang="en-US" altLang="en-US" sz="2100" dirty="0"/>
              <a:t>{</a:t>
            </a:r>
            <a:r>
              <a:rPr lang="en-US" altLang="en-US" sz="2100" dirty="0" err="1"/>
              <a:t>u,v</a:t>
            </a:r>
            <a:r>
              <a:rPr lang="en-US" altLang="en-US" sz="2100" dirty="0"/>
              <a:t>}</a:t>
            </a:r>
            <a:r>
              <a:rPr lang="hr-HR" altLang="en-US" sz="2100" dirty="0"/>
              <a:t> </a:t>
            </a:r>
          </a:p>
          <a:p>
            <a:pPr marL="857250" lvl="1" indent="-400050">
              <a:lnSpc>
                <a:spcPct val="85000"/>
              </a:lnSpc>
              <a:spcBef>
                <a:spcPct val="0"/>
              </a:spcBef>
              <a:buFont typeface="Wingdings" panose="05000000000000000000" pitchFamily="2" charset="2"/>
              <a:buNone/>
              <a:defRPr/>
            </a:pPr>
            <a:endParaRPr lang="hr-HR" altLang="en-US" sz="2100" dirty="0"/>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za u=1, v=1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  A(1,1)=A(0,2)*2</a:t>
            </a:r>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            v=2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 A(2,1)=A(1, 2)*2</a:t>
            </a:r>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            v=3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a:t>
            </a:r>
            <a:r>
              <a:rPr lang="hr-HR" altLang="en-US" sz="1600" dirty="0"/>
              <a:t> </a:t>
            </a:r>
            <a:r>
              <a:rPr lang="en-US" altLang="en-US" sz="1600" dirty="0">
                <a:cs typeface="Times New Roman" panose="02020603050405020304" pitchFamily="18" charset="0"/>
              </a:rPr>
              <a:t>A(3,1)=A(2, 2)*2</a:t>
            </a:r>
            <a:endParaRPr lang="hr-HR" altLang="en-US" sz="1600" dirty="0"/>
          </a:p>
          <a:p>
            <a:pPr marL="457200" indent="-457200">
              <a:spcBef>
                <a:spcPct val="0"/>
              </a:spcBef>
              <a:buFont typeface="Wingdings 2" panose="05020102010507070707" pitchFamily="18" charset="2"/>
              <a:buNone/>
              <a:defRPr/>
            </a:pPr>
            <a:endParaRPr lang="hr-HR" altLang="en-US" sz="1600" dirty="0"/>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za u=</a:t>
            </a:r>
            <a:r>
              <a:rPr lang="hr-HR" altLang="en-US" sz="1600" dirty="0"/>
              <a:t>2</a:t>
            </a:r>
            <a:r>
              <a:rPr lang="en-US" altLang="en-US" sz="1600" dirty="0">
                <a:cs typeface="Times New Roman" panose="02020603050405020304" pitchFamily="18" charset="0"/>
              </a:rPr>
              <a:t>, v=1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  A(1,</a:t>
            </a:r>
            <a:r>
              <a:rPr lang="hr-HR" altLang="en-US" sz="1600" dirty="0"/>
              <a:t>2</a:t>
            </a:r>
            <a:r>
              <a:rPr lang="en-US" altLang="en-US" sz="1600" dirty="0">
                <a:cs typeface="Times New Roman" panose="02020603050405020304" pitchFamily="18" charset="0"/>
              </a:rPr>
              <a:t>)=A(0,</a:t>
            </a:r>
            <a:r>
              <a:rPr lang="hr-HR" altLang="en-US" sz="1600" dirty="0"/>
              <a:t>3</a:t>
            </a:r>
            <a:r>
              <a:rPr lang="en-US" altLang="en-US" sz="1600" dirty="0">
                <a:cs typeface="Times New Roman" panose="02020603050405020304" pitchFamily="18" charset="0"/>
              </a:rPr>
              <a:t>)*2</a:t>
            </a:r>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            v=2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 A(2,</a:t>
            </a:r>
            <a:r>
              <a:rPr lang="hr-HR" altLang="en-US" sz="1600" dirty="0"/>
              <a:t>2</a:t>
            </a:r>
            <a:r>
              <a:rPr lang="en-US" altLang="en-US" sz="1600" dirty="0">
                <a:cs typeface="Times New Roman" panose="02020603050405020304" pitchFamily="18" charset="0"/>
              </a:rPr>
              <a:t>)=A(1, </a:t>
            </a:r>
            <a:r>
              <a:rPr lang="hr-HR" altLang="en-US" sz="1600" dirty="0"/>
              <a:t>3</a:t>
            </a:r>
            <a:r>
              <a:rPr lang="en-US" altLang="en-US" sz="1600" dirty="0">
                <a:cs typeface="Times New Roman" panose="02020603050405020304" pitchFamily="18" charset="0"/>
              </a:rPr>
              <a:t>)*2</a:t>
            </a:r>
          </a:p>
          <a:p>
            <a:pPr marL="457200" indent="-457200">
              <a:spcBef>
                <a:spcPct val="0"/>
              </a:spcBef>
              <a:buFont typeface="Wingdings 2" panose="05020102010507070707" pitchFamily="18" charset="2"/>
              <a:buNone/>
              <a:defRPr/>
            </a:pPr>
            <a:r>
              <a:rPr lang="en-US" altLang="en-US" sz="1600" dirty="0">
                <a:cs typeface="Times New Roman" panose="02020603050405020304" pitchFamily="18" charset="0"/>
              </a:rPr>
              <a:t>            v=3 </a:t>
            </a:r>
            <a:r>
              <a:rPr lang="en-US" altLang="en-US" sz="1600" dirty="0" err="1">
                <a:cs typeface="Times New Roman" panose="02020603050405020304" pitchFamily="18" charset="0"/>
              </a:rPr>
              <a:t>izra</a:t>
            </a:r>
            <a:r>
              <a:rPr lang="hr-HR" altLang="en-US" sz="1600" dirty="0"/>
              <a:t>č</a:t>
            </a:r>
            <a:r>
              <a:rPr lang="en-US" altLang="en-US" sz="1600" dirty="0" err="1">
                <a:cs typeface="Times New Roman" panose="02020603050405020304" pitchFamily="18" charset="0"/>
              </a:rPr>
              <a:t>unava</a:t>
            </a:r>
            <a:r>
              <a:rPr lang="en-US" altLang="en-US" sz="1600" dirty="0">
                <a:cs typeface="Times New Roman" panose="02020603050405020304" pitchFamily="18" charset="0"/>
              </a:rPr>
              <a:t> se</a:t>
            </a:r>
            <a:r>
              <a:rPr lang="hr-HR" altLang="en-US" sz="1600" dirty="0"/>
              <a:t> </a:t>
            </a:r>
            <a:r>
              <a:rPr lang="en-US" altLang="en-US" sz="1600" dirty="0">
                <a:cs typeface="Times New Roman" panose="02020603050405020304" pitchFamily="18" charset="0"/>
              </a:rPr>
              <a:t>A(3,</a:t>
            </a:r>
            <a:r>
              <a:rPr lang="hr-HR" altLang="en-US" sz="1600" dirty="0"/>
              <a:t>2</a:t>
            </a:r>
            <a:r>
              <a:rPr lang="en-US" altLang="en-US" sz="1600" dirty="0">
                <a:cs typeface="Times New Roman" panose="02020603050405020304" pitchFamily="18" charset="0"/>
              </a:rPr>
              <a:t>)=A(2, </a:t>
            </a:r>
            <a:r>
              <a:rPr lang="hr-HR" altLang="en-US" sz="1600" dirty="0"/>
              <a:t>3</a:t>
            </a:r>
            <a:r>
              <a:rPr lang="en-US" altLang="en-US" sz="1600" dirty="0">
                <a:cs typeface="Times New Roman" panose="02020603050405020304" pitchFamily="18" charset="0"/>
              </a:rPr>
              <a:t>)*2</a:t>
            </a:r>
            <a:endParaRPr lang="hr-HR" altLang="en-US" sz="1600" dirty="0"/>
          </a:p>
          <a:p>
            <a:pPr marL="457200" indent="-457200">
              <a:spcBef>
                <a:spcPct val="0"/>
              </a:spcBef>
              <a:buFont typeface="Wingdings 2" panose="05020102010507070707" pitchFamily="18" charset="2"/>
              <a:buNone/>
              <a:defRPr/>
            </a:pPr>
            <a:endParaRPr lang="hr-HR" altLang="en-US" sz="1600" dirty="0"/>
          </a:p>
          <a:p>
            <a:pPr marL="457200" indent="-457200" algn="just">
              <a:spcBef>
                <a:spcPct val="0"/>
              </a:spcBef>
              <a:defRPr/>
            </a:pPr>
            <a:r>
              <a:rPr lang="hr-HR" altLang="en-US" sz="1600" dirty="0">
                <a:solidFill>
                  <a:schemeClr val="hlink"/>
                </a:solidFill>
              </a:rPr>
              <a:t>P</a:t>
            </a:r>
            <a:r>
              <a:rPr lang="en-US" altLang="en-US" sz="1600" dirty="0" err="1">
                <a:solidFill>
                  <a:schemeClr val="hlink"/>
                </a:solidFill>
                <a:cs typeface="Times New Roman" panose="02020603050405020304" pitchFamily="18" charset="0"/>
              </a:rPr>
              <a:t>rvo</a:t>
            </a:r>
            <a:r>
              <a:rPr lang="en-US" altLang="en-US" sz="1600" dirty="0">
                <a:solidFill>
                  <a:schemeClr val="hlink"/>
                </a:solidFill>
                <a:cs typeface="Times New Roman" panose="02020603050405020304" pitchFamily="18" charset="0"/>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element </a:t>
            </a:r>
            <a:r>
              <a:rPr lang="en-US" altLang="en-US" sz="1600" dirty="0">
                <a:cs typeface="Times New Roman" panose="02020603050405020304" pitchFamily="18" charset="0"/>
              </a:rPr>
              <a:t>A(2,1)</a:t>
            </a:r>
            <a:r>
              <a:rPr lang="en-US" altLang="en-US" sz="1600" dirty="0">
                <a:solidFill>
                  <a:schemeClr val="hlink"/>
                </a:solidFill>
                <a:cs typeface="Times New Roman" panose="02020603050405020304" pitchFamily="18" charset="0"/>
              </a:rPr>
              <a:t> pa </a:t>
            </a:r>
            <a:r>
              <a:rPr lang="en-US" altLang="en-US" sz="1600" dirty="0" err="1">
                <a:solidFill>
                  <a:schemeClr val="hlink"/>
                </a:solidFill>
                <a:cs typeface="Times New Roman" panose="02020603050405020304" pitchFamily="18" charset="0"/>
              </a:rPr>
              <a:t>nakon</a:t>
            </a:r>
            <a:r>
              <a:rPr lang="en-US" altLang="en-US" sz="1600" dirty="0">
                <a:solidFill>
                  <a:schemeClr val="hlink"/>
                </a:solidFill>
                <a:cs typeface="Times New Roman" panose="02020603050405020304" pitchFamily="18" charset="0"/>
              </a:rPr>
              <a:t> toga element </a:t>
            </a:r>
            <a:r>
              <a:rPr lang="en-US" altLang="en-US" sz="1600" dirty="0">
                <a:cs typeface="Times New Roman" panose="02020603050405020304" pitchFamily="18" charset="0"/>
              </a:rPr>
              <a:t>A(1,2),</a:t>
            </a:r>
            <a:r>
              <a:rPr lang="en-US" altLang="en-US" sz="1600" dirty="0">
                <a:solidFill>
                  <a:schemeClr val="hlink"/>
                </a:solidFill>
                <a:cs typeface="Times New Roman" panose="02020603050405020304" pitchFamily="18" charset="0"/>
              </a:rPr>
              <a:t> </a:t>
            </a:r>
            <a:r>
              <a:rPr lang="hr-HR" altLang="en-US" sz="1600" dirty="0">
                <a:solidFill>
                  <a:schemeClr val="hlink"/>
                </a:solidFill>
              </a:rPr>
              <a:t>š</a:t>
            </a:r>
            <a:r>
              <a:rPr lang="en-US" altLang="en-US" sz="1600" dirty="0">
                <a:solidFill>
                  <a:schemeClr val="hlink"/>
                </a:solidFill>
                <a:cs typeface="Times New Roman" panose="02020603050405020304" pitchFamily="18" charset="0"/>
              </a:rPr>
              <a:t>to je </a:t>
            </a:r>
            <a:r>
              <a:rPr lang="en-US" altLang="en-US" sz="1600" dirty="0" err="1">
                <a:solidFill>
                  <a:schemeClr val="hlink"/>
                </a:solidFill>
                <a:cs typeface="Times New Roman" panose="02020603050405020304" pitchFamily="18" charset="0"/>
              </a:rPr>
              <a:t>pogre</a:t>
            </a:r>
            <a:r>
              <a:rPr lang="hr-HR" altLang="en-US" sz="1600" dirty="0">
                <a:solidFill>
                  <a:schemeClr val="hlink"/>
                </a:solidFill>
              </a:rPr>
              <a:t>š</a:t>
            </a:r>
            <a:r>
              <a:rPr lang="en-US" altLang="en-US" sz="1600" dirty="0">
                <a:solidFill>
                  <a:schemeClr val="hlink"/>
                </a:solidFill>
                <a:cs typeface="Times New Roman" panose="02020603050405020304" pitchFamily="18" charset="0"/>
              </a:rPr>
              <a:t>no</a:t>
            </a:r>
            <a:r>
              <a:rPr lang="hr-HR" altLang="en-US" sz="1600" dirty="0">
                <a:solidFill>
                  <a:schemeClr val="hlink"/>
                </a:solidFill>
              </a:rPr>
              <a:t>!</a:t>
            </a:r>
            <a:endParaRPr lang="en-US" altLang="en-US" sz="1600" dirty="0"/>
          </a:p>
          <a:p>
            <a:pPr marL="457200" indent="-457200">
              <a:lnSpc>
                <a:spcPct val="85000"/>
              </a:lnSpc>
              <a:spcBef>
                <a:spcPct val="0"/>
              </a:spcBef>
              <a:buFont typeface="Wingdings 2" panose="05020102010507070707" pitchFamily="18" charset="2"/>
              <a:buNone/>
              <a:defRPr/>
            </a:pPr>
            <a:endParaRPr lang="en-US" altLang="en-US" sz="1600" dirty="0"/>
          </a:p>
        </p:txBody>
      </p:sp>
      <p:sp>
        <p:nvSpPr>
          <p:cNvPr id="19462" name="Line 11">
            <a:extLst>
              <a:ext uri="{FF2B5EF4-FFF2-40B4-BE49-F238E27FC236}">
                <a16:creationId xmlns:a16="http://schemas.microsoft.com/office/drawing/2014/main" id="{B3615419-5212-4CB4-BE5F-DB8E16423345}"/>
              </a:ext>
            </a:extLst>
          </p:cNvPr>
          <p:cNvSpPr>
            <a:spLocks noChangeShapeType="1"/>
          </p:cNvSpPr>
          <p:nvPr/>
        </p:nvSpPr>
        <p:spPr bwMode="auto">
          <a:xfrm>
            <a:off x="152400" y="3276600"/>
            <a:ext cx="4114800" cy="0"/>
          </a:xfrm>
          <a:prstGeom prst="line">
            <a:avLst/>
          </a:prstGeom>
          <a:noFill/>
          <a:ln w="19050">
            <a:solidFill>
              <a:schemeClr val="accent1"/>
            </a:solidFill>
            <a:prstDash val="lg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19463" name="Line 12">
            <a:extLst>
              <a:ext uri="{FF2B5EF4-FFF2-40B4-BE49-F238E27FC236}">
                <a16:creationId xmlns:a16="http://schemas.microsoft.com/office/drawing/2014/main" id="{19A10E34-A6A3-41F8-B401-118B95CE517C}"/>
              </a:ext>
            </a:extLst>
          </p:cNvPr>
          <p:cNvSpPr>
            <a:spLocks noChangeShapeType="1"/>
          </p:cNvSpPr>
          <p:nvPr/>
        </p:nvSpPr>
        <p:spPr bwMode="auto">
          <a:xfrm>
            <a:off x="152400" y="2667000"/>
            <a:ext cx="4114800" cy="0"/>
          </a:xfrm>
          <a:prstGeom prst="line">
            <a:avLst/>
          </a:prstGeom>
          <a:noFill/>
          <a:ln w="19050">
            <a:solidFill>
              <a:schemeClr val="accent1"/>
            </a:solidFill>
            <a:prstDash val="lgDash"/>
            <a:round/>
            <a:headEnd/>
            <a:tailEn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19464" name="Line 13">
            <a:extLst>
              <a:ext uri="{FF2B5EF4-FFF2-40B4-BE49-F238E27FC236}">
                <a16:creationId xmlns:a16="http://schemas.microsoft.com/office/drawing/2014/main" id="{A2756A73-9AA6-48BB-A34E-C6AC004BE85E}"/>
              </a:ext>
            </a:extLst>
          </p:cNvPr>
          <p:cNvSpPr>
            <a:spLocks noChangeShapeType="1"/>
          </p:cNvSpPr>
          <p:nvPr/>
        </p:nvSpPr>
        <p:spPr bwMode="auto">
          <a:xfrm>
            <a:off x="2971800" y="2514600"/>
            <a:ext cx="762000" cy="2286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9465" name="Line 14">
            <a:extLst>
              <a:ext uri="{FF2B5EF4-FFF2-40B4-BE49-F238E27FC236}">
                <a16:creationId xmlns:a16="http://schemas.microsoft.com/office/drawing/2014/main" id="{74B2EBA4-D925-4E0D-8927-3F03C4AF1C2F}"/>
              </a:ext>
            </a:extLst>
          </p:cNvPr>
          <p:cNvSpPr>
            <a:spLocks noChangeShapeType="1"/>
          </p:cNvSpPr>
          <p:nvPr/>
        </p:nvSpPr>
        <p:spPr bwMode="auto">
          <a:xfrm>
            <a:off x="2819400" y="3276600"/>
            <a:ext cx="762000" cy="3048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nchor="b">
            <a:spAutoFit/>
          </a:bodyPr>
          <a:lstStyle/>
          <a:p>
            <a:endParaRPr lang="sr-Latn-RS"/>
          </a:p>
        </p:txBody>
      </p:sp>
      <p:sp>
        <p:nvSpPr>
          <p:cNvPr id="19466" name="Rectangle 16">
            <a:extLst>
              <a:ext uri="{FF2B5EF4-FFF2-40B4-BE49-F238E27FC236}">
                <a16:creationId xmlns:a16="http://schemas.microsoft.com/office/drawing/2014/main" id="{D0FCF207-2038-4052-8773-9FAC9C38A9C4}"/>
              </a:ext>
            </a:extLst>
          </p:cNvPr>
          <p:cNvSpPr>
            <a:spLocks noChangeArrowheads="1"/>
          </p:cNvSpPr>
          <p:nvPr/>
        </p:nvSpPr>
        <p:spPr bwMode="auto">
          <a:xfrm>
            <a:off x="381000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19458" name="Object 15">
            <a:extLst>
              <a:ext uri="{FF2B5EF4-FFF2-40B4-BE49-F238E27FC236}">
                <a16:creationId xmlns:a16="http://schemas.microsoft.com/office/drawing/2014/main" id="{69246F64-FCD6-4D5A-BE2B-FA789A1518D5}"/>
              </a:ext>
            </a:extLst>
          </p:cNvPr>
          <p:cNvGraphicFramePr>
            <a:graphicFrameLocks noChangeAspect="1"/>
          </p:cNvGraphicFramePr>
          <p:nvPr/>
        </p:nvGraphicFramePr>
        <p:xfrm>
          <a:off x="6400800" y="1600200"/>
          <a:ext cx="2209800" cy="676275"/>
        </p:xfrm>
        <a:graphic>
          <a:graphicData uri="http://schemas.openxmlformats.org/presentationml/2006/ole">
            <mc:AlternateContent xmlns:mc="http://schemas.openxmlformats.org/markup-compatibility/2006">
              <mc:Choice xmlns:v="urn:schemas-microsoft-com:vml" Requires="v">
                <p:oleObj r:id="rId2" imgW="1498600" imgH="457200" progId="Equation.3">
                  <p:embed/>
                </p:oleObj>
              </mc:Choice>
              <mc:Fallback>
                <p:oleObj r:id="rId2" imgW="1498600" imgH="457200" progId="Equation.3">
                  <p:embed/>
                  <p:pic>
                    <p:nvPicPr>
                      <p:cNvPr id="19458" name="Object 15">
                        <a:extLst>
                          <a:ext uri="{FF2B5EF4-FFF2-40B4-BE49-F238E27FC236}">
                            <a16:creationId xmlns:a16="http://schemas.microsoft.com/office/drawing/2014/main" id="{69246F64-FCD6-4D5A-BE2B-FA789A151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600200"/>
                        <a:ext cx="2209800" cy="6762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7" name="Line 17">
            <a:extLst>
              <a:ext uri="{FF2B5EF4-FFF2-40B4-BE49-F238E27FC236}">
                <a16:creationId xmlns:a16="http://schemas.microsoft.com/office/drawing/2014/main" id="{1BE6C626-6526-412B-8B0A-546BCAF6686D}"/>
              </a:ext>
            </a:extLst>
          </p:cNvPr>
          <p:cNvSpPr>
            <a:spLocks noChangeShapeType="1"/>
          </p:cNvSpPr>
          <p:nvPr/>
        </p:nvSpPr>
        <p:spPr bwMode="auto">
          <a:xfrm>
            <a:off x="4876800" y="4724400"/>
            <a:ext cx="4038600" cy="0"/>
          </a:xfrm>
          <a:prstGeom prst="line">
            <a:avLst/>
          </a:prstGeom>
          <a:noFill/>
          <a:ln w="19050">
            <a:solidFill>
              <a:schemeClr val="bg2"/>
            </a:solidFill>
            <a:prstDash val="lgDash"/>
            <a:round/>
            <a:headEnd/>
            <a:tailEn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9468" name="Line 18">
            <a:extLst>
              <a:ext uri="{FF2B5EF4-FFF2-40B4-BE49-F238E27FC236}">
                <a16:creationId xmlns:a16="http://schemas.microsoft.com/office/drawing/2014/main" id="{DE92768A-835E-4BA1-92C8-E9D9C78D2233}"/>
              </a:ext>
            </a:extLst>
          </p:cNvPr>
          <p:cNvSpPr>
            <a:spLocks noChangeShapeType="1"/>
          </p:cNvSpPr>
          <p:nvPr/>
        </p:nvSpPr>
        <p:spPr bwMode="auto">
          <a:xfrm flipV="1">
            <a:off x="7543800" y="4267200"/>
            <a:ext cx="762000" cy="60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19469" name="Line 19">
            <a:extLst>
              <a:ext uri="{FF2B5EF4-FFF2-40B4-BE49-F238E27FC236}">
                <a16:creationId xmlns:a16="http://schemas.microsoft.com/office/drawing/2014/main" id="{57D35585-8F8D-4A11-AC2A-27EC9ECB5EEB}"/>
              </a:ext>
            </a:extLst>
          </p:cNvPr>
          <p:cNvSpPr>
            <a:spLocks noChangeShapeType="1"/>
          </p:cNvSpPr>
          <p:nvPr/>
        </p:nvSpPr>
        <p:spPr bwMode="auto">
          <a:xfrm flipV="1">
            <a:off x="7696200" y="4572000"/>
            <a:ext cx="762000" cy="60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24D37B7-43E6-4369-8BDF-E5CAE30140C1}"/>
              </a:ext>
            </a:extLst>
          </p:cNvPr>
          <p:cNvSpPr>
            <a:spLocks noGrp="1" noChangeArrowheads="1"/>
          </p:cNvSpPr>
          <p:nvPr>
            <p:ph type="title"/>
          </p:nvPr>
        </p:nvSpPr>
        <p:spPr/>
        <p:txBody>
          <a:bodyPr/>
          <a:lstStyle/>
          <a:p>
            <a:pPr>
              <a:defRPr/>
            </a:pPr>
            <a:r>
              <a:rPr lang="hr-HR" altLang="en-US"/>
              <a:t>Kompozicija transformacija</a:t>
            </a:r>
            <a:endParaRPr lang="en-US" altLang="en-US"/>
          </a:p>
        </p:txBody>
      </p:sp>
      <p:sp>
        <p:nvSpPr>
          <p:cNvPr id="48131" name="Rectangle 3">
            <a:extLst>
              <a:ext uri="{FF2B5EF4-FFF2-40B4-BE49-F238E27FC236}">
                <a16:creationId xmlns:a16="http://schemas.microsoft.com/office/drawing/2014/main" id="{96701FFD-6815-470F-9554-CB62BD4115DF}"/>
              </a:ext>
            </a:extLst>
          </p:cNvPr>
          <p:cNvSpPr>
            <a:spLocks noGrp="1" noChangeArrowheads="1"/>
          </p:cNvSpPr>
          <p:nvPr>
            <p:ph type="body" idx="1"/>
          </p:nvPr>
        </p:nvSpPr>
        <p:spPr/>
        <p:txBody>
          <a:bodyPr/>
          <a:lstStyle/>
          <a:p>
            <a:pPr algn="just">
              <a:defRPr/>
            </a:pPr>
            <a:r>
              <a:rPr lang="en-US" altLang="en-US">
                <a:cs typeface="Times New Roman" panose="02020603050405020304" pitchFamily="18" charset="0"/>
              </a:rPr>
              <a:t>Zbog osobina elementarnih matrica transformacija, proizvod elementarnih matrica transformacija daje takodje validnu transformaciju. </a:t>
            </a:r>
            <a:endParaRPr lang="hr-HR" altLang="en-US"/>
          </a:p>
          <a:p>
            <a:pPr lvl="1" algn="just">
              <a:defRPr/>
            </a:pPr>
            <a:r>
              <a:rPr lang="en-US" altLang="en-US">
                <a:cs typeface="Times New Roman" panose="02020603050405020304" pitchFamily="18" charset="0"/>
              </a:rPr>
              <a:t>Tako, da bi u </a:t>
            </a:r>
            <a:r>
              <a:rPr lang="hr-HR" altLang="en-US"/>
              <a:t>prethodnom</a:t>
            </a:r>
            <a:r>
              <a:rPr lang="en-US" altLang="en-US">
                <a:cs typeface="Times New Roman" panose="02020603050405020304" pitchFamily="18" charset="0"/>
              </a:rPr>
              <a:t> primeru mogli da primenimo permutaciju, a da ne naru</a:t>
            </a:r>
            <a:r>
              <a:rPr lang="hr-HR" altLang="en-US"/>
              <a:t>š</a:t>
            </a:r>
            <a:r>
              <a:rPr lang="en-US" altLang="en-US">
                <a:cs typeface="Times New Roman" panose="02020603050405020304" pitchFamily="18" charset="0"/>
              </a:rPr>
              <a:t>imo zavisnosti po podacima, mo</a:t>
            </a:r>
            <a:r>
              <a:rPr lang="hr-HR" altLang="en-US"/>
              <a:t>ž</a:t>
            </a:r>
            <a:r>
              <a:rPr lang="en-US" altLang="en-US">
                <a:cs typeface="Times New Roman" panose="02020603050405020304" pitchFamily="18" charset="0"/>
              </a:rPr>
              <a:t>emo da primenimo kompoziciju transformacija permutacije i obrtanja</a:t>
            </a:r>
            <a:r>
              <a:rPr lang="hr-HR" altLang="en-US"/>
              <a:t>:</a:t>
            </a:r>
          </a:p>
          <a:p>
            <a:pPr lvl="1" algn="just">
              <a:defRPr/>
            </a:pPr>
            <a:endParaRPr lang="hr-HR" altLang="en-US"/>
          </a:p>
          <a:p>
            <a:pPr lvl="1" algn="just">
              <a:defRPr/>
            </a:pPr>
            <a:endParaRPr lang="hr-HR" altLang="en-US"/>
          </a:p>
          <a:p>
            <a:pPr lvl="1" algn="just">
              <a:defRPr/>
            </a:pPr>
            <a:endParaRPr lang="hr-HR" altLang="en-US"/>
          </a:p>
          <a:p>
            <a:pPr lvl="1" algn="just">
              <a:defRPr/>
            </a:pPr>
            <a:r>
              <a:rPr lang="hr-HR" altLang="en-US"/>
              <a:t>N</a:t>
            </a:r>
            <a:r>
              <a:rPr lang="en-US" altLang="en-US">
                <a:cs typeface="Times New Roman" panose="02020603050405020304" pitchFamily="18" charset="0"/>
              </a:rPr>
              <a:t>ovi vektor zavisnosti bi</a:t>
            </a:r>
            <a:r>
              <a:rPr lang="hr-HR" altLang="en-US"/>
              <a:t>će</a:t>
            </a:r>
            <a:r>
              <a:rPr lang="en-US" altLang="en-US">
                <a:cs typeface="Times New Roman" panose="02020603050405020304" pitchFamily="18" charset="0"/>
              </a:rPr>
              <a:t> pozitivan, tj.</a:t>
            </a:r>
          </a:p>
          <a:p>
            <a:pPr lvl="1" algn="just">
              <a:defRPr/>
            </a:pPr>
            <a:endParaRPr lang="en-US" altLang="en-US"/>
          </a:p>
          <a:p>
            <a:pPr>
              <a:defRPr/>
            </a:pPr>
            <a:endParaRPr lang="en-US" altLang="en-US"/>
          </a:p>
        </p:txBody>
      </p:sp>
      <p:sp>
        <p:nvSpPr>
          <p:cNvPr id="20486" name="Rectangle 5">
            <a:extLst>
              <a:ext uri="{FF2B5EF4-FFF2-40B4-BE49-F238E27FC236}">
                <a16:creationId xmlns:a16="http://schemas.microsoft.com/office/drawing/2014/main" id="{A00B6E48-B697-47A4-83F5-5E8F660B547C}"/>
              </a:ext>
            </a:extLst>
          </p:cNvPr>
          <p:cNvSpPr>
            <a:spLocks noChangeArrowheads="1"/>
          </p:cNvSpPr>
          <p:nvPr/>
        </p:nvSpPr>
        <p:spPr bwMode="auto">
          <a:xfrm>
            <a:off x="300990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20482" name="Object 4">
            <a:extLst>
              <a:ext uri="{FF2B5EF4-FFF2-40B4-BE49-F238E27FC236}">
                <a16:creationId xmlns:a16="http://schemas.microsoft.com/office/drawing/2014/main" id="{010459CD-F33B-4F79-A64F-102F48F314F5}"/>
              </a:ext>
            </a:extLst>
          </p:cNvPr>
          <p:cNvGraphicFramePr>
            <a:graphicFrameLocks noChangeAspect="1"/>
          </p:cNvGraphicFramePr>
          <p:nvPr/>
        </p:nvGraphicFramePr>
        <p:xfrm>
          <a:off x="2293938" y="3811588"/>
          <a:ext cx="5707062" cy="850900"/>
        </p:xfrm>
        <a:graphic>
          <a:graphicData uri="http://schemas.openxmlformats.org/presentationml/2006/ole">
            <mc:AlternateContent xmlns:mc="http://schemas.openxmlformats.org/markup-compatibility/2006">
              <mc:Choice xmlns:v="urn:schemas-microsoft-com:vml" Requires="v">
                <p:oleObj name="Equation" r:id="rId2" imgW="2641600" imgH="393700" progId="Equation.3">
                  <p:embed/>
                </p:oleObj>
              </mc:Choice>
              <mc:Fallback>
                <p:oleObj name="Equation" r:id="rId2" imgW="2641600" imgH="393700" progId="Equation.3">
                  <p:embed/>
                  <p:pic>
                    <p:nvPicPr>
                      <p:cNvPr id="20482" name="Object 4">
                        <a:extLst>
                          <a:ext uri="{FF2B5EF4-FFF2-40B4-BE49-F238E27FC236}">
                            <a16:creationId xmlns:a16="http://schemas.microsoft.com/office/drawing/2014/main" id="{010459CD-F33B-4F79-A64F-102F48F31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938" y="3811588"/>
                        <a:ext cx="5707062" cy="8509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Rectangle 7">
            <a:extLst>
              <a:ext uri="{FF2B5EF4-FFF2-40B4-BE49-F238E27FC236}">
                <a16:creationId xmlns:a16="http://schemas.microsoft.com/office/drawing/2014/main" id="{621F621D-521E-4342-8F50-E74BC504215D}"/>
              </a:ext>
            </a:extLst>
          </p:cNvPr>
          <p:cNvSpPr>
            <a:spLocks noChangeArrowheads="1"/>
          </p:cNvSpPr>
          <p:nvPr/>
        </p:nvSpPr>
        <p:spPr bwMode="auto">
          <a:xfrm>
            <a:off x="347186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graphicFrame>
        <p:nvGraphicFramePr>
          <p:cNvPr id="20483" name="Object 6">
            <a:extLst>
              <a:ext uri="{FF2B5EF4-FFF2-40B4-BE49-F238E27FC236}">
                <a16:creationId xmlns:a16="http://schemas.microsoft.com/office/drawing/2014/main" id="{CF3B2BB0-E8CE-443B-83C8-94D951F25274}"/>
              </a:ext>
            </a:extLst>
          </p:cNvPr>
          <p:cNvGraphicFramePr>
            <a:graphicFrameLocks noChangeAspect="1"/>
          </p:cNvGraphicFramePr>
          <p:nvPr/>
        </p:nvGraphicFramePr>
        <p:xfrm>
          <a:off x="3352800" y="5611813"/>
          <a:ext cx="3657600" cy="760412"/>
        </p:xfrm>
        <a:graphic>
          <a:graphicData uri="http://schemas.openxmlformats.org/presentationml/2006/ole">
            <mc:AlternateContent xmlns:mc="http://schemas.openxmlformats.org/markup-compatibility/2006">
              <mc:Choice xmlns:v="urn:schemas-microsoft-com:vml" Requires="v">
                <p:oleObj r:id="rId4" imgW="2197100" imgH="457200" progId="Equation.3">
                  <p:embed/>
                </p:oleObj>
              </mc:Choice>
              <mc:Fallback>
                <p:oleObj r:id="rId4" imgW="2197100" imgH="457200" progId="Equation.3">
                  <p:embed/>
                  <p:pic>
                    <p:nvPicPr>
                      <p:cNvPr id="20483" name="Object 6">
                        <a:extLst>
                          <a:ext uri="{FF2B5EF4-FFF2-40B4-BE49-F238E27FC236}">
                            <a16:creationId xmlns:a16="http://schemas.microsoft.com/office/drawing/2014/main" id="{CF3B2BB0-E8CE-443B-83C8-94D951F252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5611813"/>
                        <a:ext cx="3657600" cy="76041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ECC24F8-4669-425B-B234-47614A686CC7}"/>
              </a:ext>
            </a:extLst>
          </p:cNvPr>
          <p:cNvSpPr>
            <a:spLocks noGrp="1" noChangeArrowheads="1"/>
          </p:cNvSpPr>
          <p:nvPr>
            <p:ph type="title"/>
          </p:nvPr>
        </p:nvSpPr>
        <p:spPr/>
        <p:txBody>
          <a:bodyPr/>
          <a:lstStyle/>
          <a:p>
            <a:pPr>
              <a:defRPr/>
            </a:pPr>
            <a:r>
              <a:rPr lang="en-US" altLang="en-US"/>
              <a:t>Primer (nast.)</a:t>
            </a:r>
          </a:p>
        </p:txBody>
      </p:sp>
      <p:sp>
        <p:nvSpPr>
          <p:cNvPr id="61444" name="Rectangle 4">
            <a:extLst>
              <a:ext uri="{FF2B5EF4-FFF2-40B4-BE49-F238E27FC236}">
                <a16:creationId xmlns:a16="http://schemas.microsoft.com/office/drawing/2014/main" id="{60C752FC-602A-4E47-A974-2EE50E109ED4}"/>
              </a:ext>
            </a:extLst>
          </p:cNvPr>
          <p:cNvSpPr>
            <a:spLocks noGrp="1" noChangeArrowheads="1"/>
          </p:cNvSpPr>
          <p:nvPr>
            <p:ph type="body" sz="half" idx="2"/>
          </p:nvPr>
        </p:nvSpPr>
        <p:spPr/>
        <p:txBody>
          <a:bodyPr/>
          <a:lstStyle/>
          <a:p>
            <a:pPr>
              <a:defRPr/>
            </a:pPr>
            <a:r>
              <a:rPr lang="en-US" altLang="en-US" sz="2400" dirty="0" err="1"/>
              <a:t>transformisana</a:t>
            </a:r>
            <a:r>
              <a:rPr lang="en-US" altLang="en-US" sz="2400" dirty="0"/>
              <a:t> </a:t>
            </a:r>
            <a:r>
              <a:rPr lang="en-US" altLang="en-US" sz="2400" dirty="0" err="1"/>
              <a:t>petlja</a:t>
            </a:r>
            <a:endParaRPr lang="en-US" altLang="en-US" sz="2400" dirty="0"/>
          </a:p>
          <a:p>
            <a:pPr lvl="1">
              <a:spcBef>
                <a:spcPct val="0"/>
              </a:spcBef>
              <a:buFont typeface="Wingdings" panose="05000000000000000000" pitchFamily="2" charset="2"/>
              <a:buNone/>
              <a:defRPr/>
            </a:pPr>
            <a:r>
              <a:rPr lang="en-US" altLang="en-US" sz="2100" dirty="0"/>
              <a:t>		</a:t>
            </a:r>
            <a:r>
              <a:rPr lang="en-US" altLang="en-US" sz="1800" dirty="0"/>
              <a:t>for u=-5,-1</a:t>
            </a:r>
          </a:p>
          <a:p>
            <a:pPr lvl="1">
              <a:spcBef>
                <a:spcPct val="0"/>
              </a:spcBef>
              <a:buFont typeface="Wingdings" panose="05000000000000000000" pitchFamily="2" charset="2"/>
              <a:buNone/>
              <a:defRPr/>
            </a:pPr>
            <a:r>
              <a:rPr lang="en-US" altLang="en-US" sz="1800" dirty="0"/>
              <a:t>		for v=1,100</a:t>
            </a:r>
          </a:p>
          <a:p>
            <a:pPr lvl="1">
              <a:spcBef>
                <a:spcPct val="0"/>
              </a:spcBef>
              <a:buFont typeface="Wingdings" panose="05000000000000000000" pitchFamily="2" charset="2"/>
              <a:buNone/>
              <a:defRPr/>
            </a:pPr>
            <a:r>
              <a:rPr lang="en-US" altLang="en-US" sz="1800" dirty="0"/>
              <a:t>      A(v,-u)=A(v-1,-u+1)*2</a:t>
            </a:r>
          </a:p>
          <a:p>
            <a:pPr lvl="1">
              <a:buFont typeface="Wingdings" panose="05000000000000000000" pitchFamily="2" charset="2"/>
              <a:buNone/>
              <a:defRPr/>
            </a:pPr>
            <a:r>
              <a:rPr lang="en-US" altLang="en-US" sz="1800" dirty="0"/>
              <a:t>     </a:t>
            </a:r>
            <a:r>
              <a:rPr lang="en-US" altLang="en-US" sz="1800" dirty="0" err="1"/>
              <a:t>endfor</a:t>
            </a:r>
            <a:r>
              <a:rPr lang="en-US" altLang="en-US" sz="1800" dirty="0"/>
              <a:t>{</a:t>
            </a:r>
            <a:r>
              <a:rPr lang="en-US" altLang="en-US" sz="1800" dirty="0" err="1"/>
              <a:t>u,v</a:t>
            </a:r>
            <a:r>
              <a:rPr lang="en-US" altLang="en-US" sz="1800" dirty="0"/>
              <a:t>}</a:t>
            </a:r>
          </a:p>
        </p:txBody>
      </p:sp>
      <p:sp>
        <p:nvSpPr>
          <p:cNvPr id="61445" name="Rectangle 5">
            <a:extLst>
              <a:ext uri="{FF2B5EF4-FFF2-40B4-BE49-F238E27FC236}">
                <a16:creationId xmlns:a16="http://schemas.microsoft.com/office/drawing/2014/main" id="{B2160039-D478-447B-BC2F-31BA960ECFC4}"/>
              </a:ext>
            </a:extLst>
          </p:cNvPr>
          <p:cNvSpPr>
            <a:spLocks noGrp="1" noChangeArrowheads="1"/>
          </p:cNvSpPr>
          <p:nvPr>
            <p:ph type="body" sz="half" idx="1"/>
          </p:nvPr>
        </p:nvSpPr>
        <p:spPr>
          <a:xfrm>
            <a:off x="0" y="708025"/>
            <a:ext cx="4953000" cy="6149975"/>
          </a:xfrm>
        </p:spPr>
        <p:txBody>
          <a:bodyPr/>
          <a:lstStyle/>
          <a:p>
            <a:pPr algn="just">
              <a:spcBef>
                <a:spcPct val="0"/>
              </a:spcBef>
              <a:buFont typeface="Wingdings 2" panose="05020102010507070707" pitchFamily="18" charset="2"/>
              <a:buNone/>
              <a:defRPr/>
            </a:pPr>
            <a:r>
              <a:rPr lang="hr-HR" altLang="en-US" sz="3200" dirty="0"/>
              <a:t>		</a:t>
            </a:r>
            <a:r>
              <a:rPr lang="en-US" altLang="en-US" sz="2000" dirty="0">
                <a:cs typeface="Times New Roman" panose="02020603050405020304" pitchFamily="18" charset="0"/>
              </a:rPr>
              <a:t>for i = 1, 100</a:t>
            </a:r>
            <a:endParaRPr lang="hr-HR" altLang="en-US" sz="2000" dirty="0"/>
          </a:p>
          <a:p>
            <a:pPr algn="just">
              <a:spcBef>
                <a:spcPct val="0"/>
              </a:spcBef>
              <a:buFont typeface="Wingdings 2" panose="05020102010507070707" pitchFamily="18" charset="2"/>
              <a:buNone/>
              <a:defRPr/>
            </a:pPr>
            <a:r>
              <a:rPr lang="en-US" altLang="en-US" sz="2000" dirty="0">
                <a:cs typeface="Times New Roman" panose="02020603050405020304" pitchFamily="18" charset="0"/>
              </a:rPr>
              <a:t>		for j = 1, 5</a:t>
            </a:r>
            <a:endParaRPr lang="hr-HR" altLang="en-US" sz="2000" dirty="0"/>
          </a:p>
          <a:p>
            <a:pPr algn="just">
              <a:spcBef>
                <a:spcPct val="0"/>
              </a:spcBef>
              <a:buFont typeface="Wingdings 2" panose="05020102010507070707" pitchFamily="18" charset="2"/>
              <a:buNone/>
              <a:defRPr/>
            </a:pPr>
            <a:r>
              <a:rPr lang="en-US" altLang="en-US" sz="2000" dirty="0">
                <a:cs typeface="Times New Roman" panose="02020603050405020304" pitchFamily="18" charset="0"/>
              </a:rPr>
              <a:t>		A(i, j) = A(i-1, j+1) *2</a:t>
            </a:r>
            <a:r>
              <a:rPr lang="en-US" altLang="en-US" sz="2000" dirty="0"/>
              <a:t> </a:t>
            </a:r>
            <a:endParaRPr lang="hr-HR" altLang="en-US" sz="2000" dirty="0"/>
          </a:p>
          <a:p>
            <a:pPr>
              <a:spcBef>
                <a:spcPct val="0"/>
              </a:spcBef>
              <a:buFont typeface="Wingdings 2" panose="05020102010507070707" pitchFamily="18" charset="2"/>
              <a:buNone/>
              <a:defRPr/>
            </a:pPr>
            <a:r>
              <a:rPr lang="en-US" altLang="en-US" sz="2000" dirty="0"/>
              <a:t>     </a:t>
            </a:r>
            <a:r>
              <a:rPr lang="hr-HR" altLang="en-US" sz="2000" dirty="0"/>
              <a:t>	</a:t>
            </a:r>
            <a:r>
              <a:rPr lang="en-US" altLang="en-US" sz="2000" dirty="0" err="1"/>
              <a:t>endfor</a:t>
            </a:r>
            <a:r>
              <a:rPr lang="en-US" altLang="en-US" sz="2000" dirty="0"/>
              <a:t>{</a:t>
            </a:r>
            <a:r>
              <a:rPr lang="en-US" altLang="en-US" sz="2000" dirty="0" err="1"/>
              <a:t>i,j</a:t>
            </a:r>
            <a:r>
              <a:rPr lang="en-US" altLang="en-US" sz="2000" dirty="0"/>
              <a:t>}</a:t>
            </a:r>
            <a:endParaRPr lang="hr-HR" altLang="en-US" sz="2000" dirty="0"/>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i=1,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A(1,1)=A(0,2)*2</a:t>
            </a:r>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A(1,2)=A(0,3)*2</a:t>
            </a:r>
            <a:endParaRPr lang="hr-HR" altLang="en-US" sz="1600" dirty="0">
              <a:solidFill>
                <a:schemeClr val="hlink"/>
              </a:solidFill>
            </a:endParaRPr>
          </a:p>
          <a:p>
            <a:pPr>
              <a:spcBef>
                <a:spcPct val="0"/>
              </a:spcBef>
              <a:spcAft>
                <a:spcPct val="30000"/>
              </a:spcAft>
              <a:buFont typeface="Wingdings 2" panose="05020102010507070707" pitchFamily="18" charset="2"/>
              <a:buNone/>
              <a:defRPr/>
            </a:pPr>
            <a:endParaRPr lang="hr-HR" altLang="en-US" sz="1600" dirty="0">
              <a:solidFill>
                <a:schemeClr val="hlink"/>
              </a:solidFill>
            </a:endParaRPr>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a:t>
            </a:r>
            <a:r>
              <a:rPr lang="hr-HR" altLang="en-US" sz="1600" dirty="0">
                <a:solidFill>
                  <a:schemeClr val="hlink"/>
                </a:solidFill>
              </a:rPr>
              <a:t>2</a:t>
            </a:r>
            <a:r>
              <a:rPr lang="en-US" altLang="en-US" sz="1600" dirty="0">
                <a:solidFill>
                  <a:schemeClr val="hlink"/>
                </a:solidFill>
                <a:cs typeface="Times New Roman" panose="02020603050405020304" pitchFamily="18" charset="0"/>
              </a:rPr>
              <a:t>,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a:t>
            </a:r>
            <a:r>
              <a:rPr lang="hr-HR" altLang="en-US" sz="1600" dirty="0">
                <a:solidFill>
                  <a:schemeClr val="hlink"/>
                </a:solidFill>
              </a:rPr>
              <a:t>2</a:t>
            </a:r>
            <a:r>
              <a:rPr lang="en-US" altLang="en-US" sz="1600" dirty="0">
                <a:solidFill>
                  <a:schemeClr val="hlink"/>
                </a:solidFill>
                <a:cs typeface="Times New Roman" panose="02020603050405020304" pitchFamily="18" charset="0"/>
              </a:rPr>
              <a:t>,1)=A(</a:t>
            </a:r>
            <a:r>
              <a:rPr lang="hr-HR" altLang="en-US" sz="1600" dirty="0">
                <a:solidFill>
                  <a:schemeClr val="hlink"/>
                </a:solidFill>
              </a:rPr>
              <a:t>1</a:t>
            </a:r>
            <a:r>
              <a:rPr lang="en-US" altLang="en-US" sz="1600" dirty="0">
                <a:solidFill>
                  <a:schemeClr val="hlink"/>
                </a:solidFill>
                <a:cs typeface="Times New Roman" panose="02020603050405020304" pitchFamily="18" charset="0"/>
              </a:rPr>
              <a:t>,2)*2</a:t>
            </a:r>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a:t>
            </a:r>
            <a:r>
              <a:rPr lang="hr-HR" altLang="en-US" sz="1600" dirty="0">
                <a:solidFill>
                  <a:schemeClr val="hlink"/>
                </a:solidFill>
              </a:rPr>
              <a:t>2</a:t>
            </a:r>
            <a:r>
              <a:rPr lang="en-US" altLang="en-US" sz="1600" dirty="0">
                <a:solidFill>
                  <a:schemeClr val="hlink"/>
                </a:solidFill>
                <a:cs typeface="Times New Roman" panose="02020603050405020304" pitchFamily="18" charset="0"/>
              </a:rPr>
              <a:t>,2)=A(</a:t>
            </a:r>
            <a:r>
              <a:rPr lang="hr-HR" altLang="en-US" sz="1600" dirty="0">
                <a:solidFill>
                  <a:schemeClr val="hlink"/>
                </a:solidFill>
              </a:rPr>
              <a:t>1</a:t>
            </a:r>
            <a:r>
              <a:rPr lang="en-US" altLang="en-US" sz="1600" dirty="0">
                <a:solidFill>
                  <a:schemeClr val="hlink"/>
                </a:solidFill>
                <a:cs typeface="Times New Roman" panose="02020603050405020304" pitchFamily="18" charset="0"/>
              </a:rPr>
              <a:t>,3)*2</a:t>
            </a:r>
            <a:endParaRPr lang="hr-HR" altLang="en-US" sz="1600" dirty="0">
              <a:solidFill>
                <a:schemeClr val="hlink"/>
              </a:solidFill>
            </a:endParaRPr>
          </a:p>
          <a:p>
            <a:pPr>
              <a:spcBef>
                <a:spcPct val="0"/>
              </a:spcBef>
              <a:spcAft>
                <a:spcPct val="30000"/>
              </a:spcAft>
              <a:buFont typeface="Wingdings 2" panose="05020102010507070707" pitchFamily="18" charset="2"/>
              <a:buNone/>
              <a:defRPr/>
            </a:pPr>
            <a:endParaRPr lang="hr-HR" altLang="en-US" sz="1600" dirty="0">
              <a:solidFill>
                <a:schemeClr val="hlink"/>
              </a:solidFill>
            </a:endParaRPr>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za</a:t>
            </a:r>
            <a:r>
              <a:rPr lang="hr-HR" altLang="en-US" sz="1600" dirty="0">
                <a:solidFill>
                  <a:schemeClr val="hlink"/>
                </a:solidFill>
              </a:rPr>
              <a:t> </a:t>
            </a:r>
            <a:r>
              <a:rPr lang="en-US" altLang="en-US" sz="1600" dirty="0">
                <a:solidFill>
                  <a:schemeClr val="hlink"/>
                </a:solidFill>
                <a:cs typeface="Times New Roman" panose="02020603050405020304" pitchFamily="18" charset="0"/>
              </a:rPr>
              <a:t>i=</a:t>
            </a:r>
            <a:r>
              <a:rPr lang="hr-HR" altLang="en-US" sz="1600" dirty="0">
                <a:solidFill>
                  <a:schemeClr val="hlink"/>
                </a:solidFill>
              </a:rPr>
              <a:t>3</a:t>
            </a:r>
            <a:r>
              <a:rPr lang="en-US" altLang="en-US" sz="1600" dirty="0">
                <a:solidFill>
                  <a:schemeClr val="hlink"/>
                </a:solidFill>
                <a:cs typeface="Times New Roman" panose="02020603050405020304" pitchFamily="18" charset="0"/>
              </a:rPr>
              <a:t>, j=1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en-US" altLang="en-US" sz="1600" dirty="0">
                <a:solidFill>
                  <a:schemeClr val="hlink"/>
                </a:solidFill>
                <a:cs typeface="Times New Roman" panose="02020603050405020304" pitchFamily="18" charset="0"/>
              </a:rPr>
              <a:t> se  A(</a:t>
            </a:r>
            <a:r>
              <a:rPr lang="hr-HR" altLang="en-US" sz="1600" dirty="0">
                <a:solidFill>
                  <a:schemeClr val="hlink"/>
                </a:solidFill>
              </a:rPr>
              <a:t>3</a:t>
            </a:r>
            <a:r>
              <a:rPr lang="en-US" altLang="en-US" sz="1600" dirty="0">
                <a:solidFill>
                  <a:schemeClr val="hlink"/>
                </a:solidFill>
                <a:cs typeface="Times New Roman" panose="02020603050405020304" pitchFamily="18" charset="0"/>
              </a:rPr>
              <a:t>,1)=A(</a:t>
            </a:r>
            <a:r>
              <a:rPr lang="hr-HR" altLang="en-US" sz="1600" dirty="0">
                <a:solidFill>
                  <a:schemeClr val="hlink"/>
                </a:solidFill>
              </a:rPr>
              <a:t>2</a:t>
            </a:r>
            <a:r>
              <a:rPr lang="en-US" altLang="en-US" sz="1600" dirty="0">
                <a:solidFill>
                  <a:schemeClr val="hlink"/>
                </a:solidFill>
                <a:cs typeface="Times New Roman" panose="02020603050405020304" pitchFamily="18" charset="0"/>
              </a:rPr>
              <a:t>,2)*2</a:t>
            </a:r>
          </a:p>
          <a:p>
            <a:pPr>
              <a:spcBef>
                <a:spcPct val="0"/>
              </a:spcBef>
              <a:spcAft>
                <a:spcPct val="30000"/>
              </a:spcAft>
              <a:buFont typeface="Wingdings 2" panose="05020102010507070707" pitchFamily="18" charset="2"/>
              <a:buNone/>
              <a:defRPr/>
            </a:pPr>
            <a:r>
              <a:rPr lang="en-US" altLang="en-US" sz="1600" dirty="0">
                <a:solidFill>
                  <a:schemeClr val="hlink"/>
                </a:solidFill>
                <a:cs typeface="Times New Roman" panose="02020603050405020304" pitchFamily="18" charset="0"/>
              </a:rPr>
              <a:t>            j=2</a:t>
            </a:r>
            <a:r>
              <a:rPr lang="hr-HR" altLang="en-US" sz="1600" dirty="0">
                <a:solidFill>
                  <a:schemeClr val="hlink"/>
                </a:solidFill>
              </a:rPr>
              <a:t> </a:t>
            </a:r>
            <a:r>
              <a:rPr lang="en-US" altLang="en-US" sz="1600" dirty="0" err="1">
                <a:solidFill>
                  <a:schemeClr val="hlink"/>
                </a:solidFill>
                <a:cs typeface="Times New Roman" panose="02020603050405020304" pitchFamily="18" charset="0"/>
              </a:rPr>
              <a:t>izra</a:t>
            </a:r>
            <a:r>
              <a:rPr lang="hr-HR" altLang="en-US" sz="1600" dirty="0">
                <a:solidFill>
                  <a:schemeClr val="hlink"/>
                </a:solidFill>
              </a:rPr>
              <a:t>č</a:t>
            </a:r>
            <a:r>
              <a:rPr lang="en-US" altLang="en-US" sz="1600" dirty="0" err="1">
                <a:solidFill>
                  <a:schemeClr val="hlink"/>
                </a:solidFill>
                <a:cs typeface="Times New Roman" panose="02020603050405020304" pitchFamily="18" charset="0"/>
              </a:rPr>
              <a:t>unava</a:t>
            </a:r>
            <a:r>
              <a:rPr lang="hr-HR" altLang="en-US" sz="1600" dirty="0">
                <a:solidFill>
                  <a:schemeClr val="hlink"/>
                </a:solidFill>
              </a:rPr>
              <a:t> </a:t>
            </a:r>
            <a:r>
              <a:rPr lang="en-US" altLang="en-US" sz="1600" dirty="0">
                <a:solidFill>
                  <a:schemeClr val="hlink"/>
                </a:solidFill>
                <a:cs typeface="Times New Roman" panose="02020603050405020304" pitchFamily="18" charset="0"/>
              </a:rPr>
              <a:t>s</a:t>
            </a:r>
            <a:r>
              <a:rPr lang="hr-HR" altLang="en-US" sz="1600" dirty="0">
                <a:solidFill>
                  <a:schemeClr val="hlink"/>
                </a:solidFill>
              </a:rPr>
              <a:t>e  </a:t>
            </a:r>
            <a:r>
              <a:rPr lang="en-US" altLang="en-US" sz="1600" dirty="0">
                <a:solidFill>
                  <a:schemeClr val="hlink"/>
                </a:solidFill>
                <a:cs typeface="Times New Roman" panose="02020603050405020304" pitchFamily="18" charset="0"/>
              </a:rPr>
              <a:t>A(</a:t>
            </a:r>
            <a:r>
              <a:rPr lang="hr-HR" altLang="en-US" sz="1600" dirty="0">
                <a:solidFill>
                  <a:schemeClr val="hlink"/>
                </a:solidFill>
              </a:rPr>
              <a:t>3</a:t>
            </a:r>
            <a:r>
              <a:rPr lang="en-US" altLang="en-US" sz="1600" dirty="0">
                <a:solidFill>
                  <a:schemeClr val="hlink"/>
                </a:solidFill>
                <a:cs typeface="Times New Roman" panose="02020603050405020304" pitchFamily="18" charset="0"/>
              </a:rPr>
              <a:t>,2)=A(</a:t>
            </a:r>
            <a:r>
              <a:rPr lang="hr-HR" altLang="en-US" sz="1600" dirty="0">
                <a:solidFill>
                  <a:schemeClr val="hlink"/>
                </a:solidFill>
              </a:rPr>
              <a:t>2</a:t>
            </a:r>
            <a:r>
              <a:rPr lang="en-US" altLang="en-US" sz="1600" dirty="0">
                <a:solidFill>
                  <a:schemeClr val="hlink"/>
                </a:solidFill>
                <a:cs typeface="Times New Roman" panose="02020603050405020304" pitchFamily="18" charset="0"/>
              </a:rPr>
              <a:t>,3)*2</a:t>
            </a:r>
          </a:p>
          <a:p>
            <a:pPr>
              <a:spcBef>
                <a:spcPct val="0"/>
              </a:spcBef>
              <a:spcAft>
                <a:spcPct val="30000"/>
              </a:spcAft>
              <a:buFont typeface="Wingdings 2" panose="05020102010507070707" pitchFamily="18" charset="2"/>
              <a:buNone/>
              <a:defRPr/>
            </a:pPr>
            <a:endParaRPr lang="en-US" altLang="en-US" sz="2400" dirty="0">
              <a:solidFill>
                <a:schemeClr val="hlink"/>
              </a:solidFill>
              <a:cs typeface="Times New Roman" panose="02020603050405020304" pitchFamily="18" charset="0"/>
            </a:endParaRPr>
          </a:p>
          <a:p>
            <a:pPr>
              <a:spcBef>
                <a:spcPct val="0"/>
              </a:spcBef>
              <a:spcAft>
                <a:spcPct val="30000"/>
              </a:spcAft>
              <a:buFont typeface="Wingdings 2" panose="05020102010507070707" pitchFamily="18" charset="2"/>
              <a:buNone/>
              <a:defRPr/>
            </a:pPr>
            <a:r>
              <a:rPr lang="en-US" altLang="en-US" sz="1600" dirty="0" err="1">
                <a:cs typeface="Times New Roman" panose="02020603050405020304" pitchFamily="18" charset="0"/>
              </a:rPr>
              <a:t>Kompozicija</a:t>
            </a:r>
            <a:r>
              <a:rPr lang="en-US" altLang="en-US" sz="1600" dirty="0">
                <a:cs typeface="Times New Roman" panose="02020603050405020304" pitchFamily="18" charset="0"/>
              </a:rPr>
              <a:t> </a:t>
            </a:r>
            <a:r>
              <a:rPr lang="en-US" altLang="en-US" sz="1600" dirty="0" err="1">
                <a:cs typeface="Times New Roman" panose="02020603050405020304" pitchFamily="18" charset="0"/>
              </a:rPr>
              <a:t>transformacija</a:t>
            </a:r>
            <a:r>
              <a:rPr lang="en-US" altLang="en-US" sz="1600" dirty="0">
                <a:cs typeface="Times New Roman" panose="02020603050405020304" pitchFamily="18" charset="0"/>
              </a:rPr>
              <a:t> </a:t>
            </a:r>
            <a:r>
              <a:rPr lang="en-US" altLang="en-US" sz="1600" dirty="0" err="1">
                <a:cs typeface="Times New Roman" panose="02020603050405020304" pitchFamily="18" charset="0"/>
              </a:rPr>
              <a:t>permutacija+obrtanje</a:t>
            </a:r>
            <a:endParaRPr lang="hr-HR" altLang="en-US" sz="1600" dirty="0">
              <a:solidFill>
                <a:schemeClr val="hlink"/>
              </a:solidFill>
              <a:latin typeface="Times New Roman" panose="02020603050405020304" pitchFamily="18" charset="0"/>
            </a:endParaRPr>
          </a:p>
        </p:txBody>
      </p:sp>
      <p:sp>
        <p:nvSpPr>
          <p:cNvPr id="21510" name="Line 6">
            <a:extLst>
              <a:ext uri="{FF2B5EF4-FFF2-40B4-BE49-F238E27FC236}">
                <a16:creationId xmlns:a16="http://schemas.microsoft.com/office/drawing/2014/main" id="{B728EA41-609B-4857-B4F8-7B9B15A5EF65}"/>
              </a:ext>
            </a:extLst>
          </p:cNvPr>
          <p:cNvSpPr>
            <a:spLocks noChangeShapeType="1"/>
          </p:cNvSpPr>
          <p:nvPr/>
        </p:nvSpPr>
        <p:spPr bwMode="auto">
          <a:xfrm>
            <a:off x="2895600" y="2895600"/>
            <a:ext cx="762000" cy="2286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21511" name="Line 7">
            <a:extLst>
              <a:ext uri="{FF2B5EF4-FFF2-40B4-BE49-F238E27FC236}">
                <a16:creationId xmlns:a16="http://schemas.microsoft.com/office/drawing/2014/main" id="{D662353D-B299-469A-BE61-7B7937BDA2FF}"/>
              </a:ext>
            </a:extLst>
          </p:cNvPr>
          <p:cNvSpPr>
            <a:spLocks noChangeShapeType="1"/>
          </p:cNvSpPr>
          <p:nvPr/>
        </p:nvSpPr>
        <p:spPr bwMode="auto">
          <a:xfrm>
            <a:off x="2819400" y="3810000"/>
            <a:ext cx="762000" cy="2286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graphicFrame>
        <p:nvGraphicFramePr>
          <p:cNvPr id="21506" name="Object 8">
            <a:extLst>
              <a:ext uri="{FF2B5EF4-FFF2-40B4-BE49-F238E27FC236}">
                <a16:creationId xmlns:a16="http://schemas.microsoft.com/office/drawing/2014/main" id="{707D757C-6EAC-49EF-A3FD-9441A18A8484}"/>
              </a:ext>
            </a:extLst>
          </p:cNvPr>
          <p:cNvGraphicFramePr>
            <a:graphicFrameLocks noChangeAspect="1"/>
          </p:cNvGraphicFramePr>
          <p:nvPr/>
        </p:nvGraphicFramePr>
        <p:xfrm>
          <a:off x="914400" y="5791200"/>
          <a:ext cx="2514600" cy="708025"/>
        </p:xfrm>
        <a:graphic>
          <a:graphicData uri="http://schemas.openxmlformats.org/presentationml/2006/ole">
            <mc:AlternateContent xmlns:mc="http://schemas.openxmlformats.org/markup-compatibility/2006">
              <mc:Choice xmlns:v="urn:schemas-microsoft-com:vml" Requires="v">
                <p:oleObj name="Equation" r:id="rId2" imgW="1396394" imgH="393529" progId="Equation.3">
                  <p:embed/>
                </p:oleObj>
              </mc:Choice>
              <mc:Fallback>
                <p:oleObj name="Equation" r:id="rId2" imgW="1396394" imgH="393529" progId="Equation.3">
                  <p:embed/>
                  <p:pic>
                    <p:nvPicPr>
                      <p:cNvPr id="21506" name="Object 8">
                        <a:extLst>
                          <a:ext uri="{FF2B5EF4-FFF2-40B4-BE49-F238E27FC236}">
                            <a16:creationId xmlns:a16="http://schemas.microsoft.com/office/drawing/2014/main" id="{707D757C-6EAC-49EF-A3FD-9441A18A8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5791200"/>
                        <a:ext cx="25146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9" name="Rectangle 9">
            <a:extLst>
              <a:ext uri="{FF2B5EF4-FFF2-40B4-BE49-F238E27FC236}">
                <a16:creationId xmlns:a16="http://schemas.microsoft.com/office/drawing/2014/main" id="{9846CE5A-8016-4539-AFA7-E2A1E39664F3}"/>
              </a:ext>
            </a:extLst>
          </p:cNvPr>
          <p:cNvSpPr>
            <a:spLocks noChangeArrowheads="1"/>
          </p:cNvSpPr>
          <p:nvPr/>
        </p:nvSpPr>
        <p:spPr bwMode="auto">
          <a:xfrm>
            <a:off x="4572000" y="2873375"/>
            <a:ext cx="4572000" cy="3451225"/>
          </a:xfrm>
          <a:prstGeom prst="rect">
            <a:avLst/>
          </a:prstGeom>
          <a:noFill/>
          <a:ln>
            <a:noFill/>
          </a:ln>
          <a:effectLst/>
        </p:spPr>
        <p:txBody>
          <a:bodyPr anchor="b">
            <a:spAutoFit/>
          </a:bodyPr>
          <a:lstStyle/>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za</a:t>
            </a:r>
            <a:r>
              <a:rPr kumimoji="1" lang="hr-HR" altLang="en-US" sz="1600">
                <a:solidFill>
                  <a:schemeClr val="hlink"/>
                </a:solidFill>
                <a:effectLst>
                  <a:outerShdw blurRad="38100" dist="38100" dir="2700000" algn="tl">
                    <a:srgbClr val="C0C0C0"/>
                  </a:outerShdw>
                </a:effectLst>
                <a:latin typeface="Tahoma" panose="020B0604030504040204" pitchFamily="34" charset="0"/>
              </a:rPr>
              <a:t> u</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kumimoji="1" lang="hr-HR" altLang="en-US" sz="1600">
                <a:solidFill>
                  <a:schemeClr val="hlink"/>
                </a:solidFill>
                <a:effectLst>
                  <a:outerShdw blurRad="38100" dist="38100" dir="2700000" algn="tl">
                    <a:srgbClr val="C0C0C0"/>
                  </a:outerShdw>
                </a:effectLst>
                <a:latin typeface="Tahoma" panose="020B0604030504040204" pitchFamily="34" charset="0"/>
              </a:rPr>
              <a:t>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=1 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 se  A(1,</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)=A(0,</a:t>
            </a:r>
            <a:r>
              <a:rPr kumimoji="1" lang="hr-HR" altLang="en-US" sz="1600">
                <a:solidFill>
                  <a:schemeClr val="hlink"/>
                </a:solidFill>
                <a:effectLst>
                  <a:outerShdw blurRad="38100" dist="38100" dir="2700000" algn="tl">
                    <a:srgbClr val="C0C0C0"/>
                  </a:outerShdw>
                </a:effectLst>
                <a:latin typeface="Tahoma" panose="020B0604030504040204" pitchFamily="34" charset="0"/>
              </a:rPr>
              <a:t>3</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t>
            </a: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kumimoji="1" lang="hr-HR" altLang="en-US" sz="1600">
                <a:solidFill>
                  <a:schemeClr val="hlink"/>
                </a:solidFill>
                <a:effectLst>
                  <a:outerShdw blurRad="38100" dist="38100" dir="2700000" algn="tl">
                    <a:srgbClr val="C0C0C0"/>
                  </a:outerShdw>
                </a:effectLst>
                <a:latin typeface="Tahoma" panose="020B0604030504040204" pitchFamily="34" charset="0"/>
              </a:rPr>
              <a:t>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t>
            </a:r>
            <a:r>
              <a:rPr kumimoji="1" lang="hr-HR" altLang="en-US" sz="1600">
                <a:solidFill>
                  <a:schemeClr val="hlink"/>
                </a:solidFill>
                <a:effectLst>
                  <a:outerShdw blurRad="38100" dist="38100" dir="2700000" algn="tl">
                    <a:srgbClr val="C0C0C0"/>
                  </a:outerShdw>
                </a:effectLst>
                <a:latin typeface="Tahoma" panose="020B0604030504040204" pitchFamily="34" charset="0"/>
              </a:rPr>
              <a:t>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a:t>
            </a:r>
            <a:r>
              <a:rPr kumimoji="1" lang="hr-HR" altLang="en-US" sz="1600">
                <a:solidFill>
                  <a:schemeClr val="hlink"/>
                </a:solidFill>
                <a:effectLst>
                  <a:outerShdw blurRad="38100" dist="38100" dir="2700000" algn="tl">
                    <a:srgbClr val="C0C0C0"/>
                  </a:outerShdw>
                </a:effectLst>
                <a:latin typeface="Tahoma" panose="020B0604030504040204" pitchFamily="34" charset="0"/>
              </a:rPr>
              <a:t>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s</a:t>
            </a:r>
            <a:r>
              <a:rPr kumimoji="1" lang="hr-HR" altLang="en-US" sz="1600">
                <a:solidFill>
                  <a:schemeClr val="hlink"/>
                </a:solidFill>
                <a:effectLst>
                  <a:outerShdw blurRad="38100" dist="38100" dir="2700000" algn="tl">
                    <a:srgbClr val="C0C0C0"/>
                  </a:outerShdw>
                </a:effectLst>
                <a:latin typeface="Tahoma" panose="020B0604030504040204" pitchFamily="34" charset="0"/>
              </a:rPr>
              <a:t>e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a:t>
            </a:r>
            <a:r>
              <a:rPr kumimoji="1" lang="hr-HR" altLang="en-US" sz="1600">
                <a:solidFill>
                  <a:schemeClr val="hlink"/>
                </a:solidFill>
                <a:effectLst>
                  <a:outerShdw blurRad="38100" dist="38100" dir="2700000" algn="tl">
                    <a:srgbClr val="C0C0C0"/>
                  </a:outerShdw>
                </a:effectLst>
                <a:latin typeface="Tahoma" panose="020B0604030504040204" pitchFamily="34" charset="0"/>
              </a:rPr>
              <a:t>1</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,3)*2</a:t>
            </a: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kumimoji="1" lang="hr-HR" altLang="en-US" sz="1600">
                <a:solidFill>
                  <a:schemeClr val="hlink"/>
                </a:solidFill>
                <a:effectLst>
                  <a:outerShdw blurRad="38100" dist="38100" dir="2700000" algn="tl">
                    <a:srgbClr val="C0C0C0"/>
                  </a:outerShdw>
                </a:effectLst>
                <a:latin typeface="Tahoma" panose="020B0604030504040204" pitchFamily="34" charset="0"/>
              </a:rPr>
              <a:t>           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3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a:t>
            </a:r>
            <a:r>
              <a:rPr kumimoji="1" lang="hr-HR" altLang="en-US" sz="1600">
                <a:solidFill>
                  <a:schemeClr val="hlink"/>
                </a:solidFill>
                <a:effectLst>
                  <a:outerShdw blurRad="38100" dist="38100" dir="2700000" algn="tl">
                    <a:srgbClr val="C0C0C0"/>
                  </a:outerShdw>
                </a:effectLst>
                <a:latin typeface="Tahoma" panose="020B0604030504040204" pitchFamily="34" charset="0"/>
              </a:rPr>
              <a:t>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s</a:t>
            </a:r>
            <a:r>
              <a:rPr kumimoji="1" lang="hr-HR" altLang="en-US" sz="1600">
                <a:solidFill>
                  <a:schemeClr val="hlink"/>
                </a:solidFill>
                <a:effectLst>
                  <a:outerShdw blurRad="38100" dist="38100" dir="2700000" algn="tl">
                    <a:srgbClr val="C0C0C0"/>
                  </a:outerShdw>
                </a:effectLst>
                <a:latin typeface="Tahoma" panose="020B0604030504040204" pitchFamily="34" charset="0"/>
              </a:rPr>
              <a:t>e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a:t>
            </a:r>
            <a:r>
              <a:rPr kumimoji="1" lang="hr-HR" altLang="en-US" sz="1600">
                <a:solidFill>
                  <a:schemeClr val="hlink"/>
                </a:solidFill>
                <a:effectLst>
                  <a:outerShdw blurRad="38100" dist="38100" dir="2700000" algn="tl">
                    <a:srgbClr val="C0C0C0"/>
                  </a:outerShdw>
                </a:effectLst>
                <a:latin typeface="Tahoma" panose="020B0604030504040204" pitchFamily="34" charset="0"/>
              </a:rPr>
              <a:t>3</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,3)*2</a:t>
            </a: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za</a:t>
            </a:r>
            <a:r>
              <a:rPr kumimoji="1" lang="hr-HR" altLang="en-US" sz="1600">
                <a:solidFill>
                  <a:schemeClr val="hlink"/>
                </a:solidFill>
                <a:effectLst>
                  <a:outerShdw blurRad="38100" dist="38100" dir="2700000" algn="tl">
                    <a:srgbClr val="C0C0C0"/>
                  </a:outerShdw>
                </a:effectLst>
                <a:latin typeface="Tahoma" panose="020B0604030504040204" pitchFamily="34" charset="0"/>
              </a:rPr>
              <a:t> u</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-1</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kumimoji="1" lang="hr-HR" altLang="en-US" sz="1600">
                <a:solidFill>
                  <a:schemeClr val="hlink"/>
                </a:solidFill>
                <a:effectLst>
                  <a:outerShdw blurRad="38100" dist="38100" dir="2700000" algn="tl">
                    <a:srgbClr val="C0C0C0"/>
                  </a:outerShdw>
                </a:effectLst>
                <a:latin typeface="Tahoma" panose="020B0604030504040204" pitchFamily="34" charset="0"/>
              </a:rPr>
              <a:t>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=1 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 se  A(</a:t>
            </a:r>
            <a:r>
              <a:rPr kumimoji="1" lang="hr-HR" altLang="en-US" sz="1600">
                <a:solidFill>
                  <a:schemeClr val="hlink"/>
                </a:solidFill>
                <a:effectLst>
                  <a:outerShdw blurRad="38100" dist="38100" dir="2700000" algn="tl">
                    <a:srgbClr val="C0C0C0"/>
                  </a:outerShdw>
                </a:effectLst>
                <a:latin typeface="Tahoma" panose="020B0604030504040204" pitchFamily="34" charset="0"/>
              </a:rPr>
              <a:t>1</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,1)=A(</a:t>
            </a:r>
            <a:r>
              <a:rPr kumimoji="1" lang="hr-HR" altLang="en-US" sz="1600">
                <a:solidFill>
                  <a:schemeClr val="hlink"/>
                </a:solidFill>
                <a:effectLst>
                  <a:outerShdw blurRad="38100" dist="38100" dir="2700000" algn="tl">
                    <a:srgbClr val="C0C0C0"/>
                  </a:outerShdw>
                </a:effectLst>
                <a:latin typeface="Tahoma" panose="020B0604030504040204" pitchFamily="34" charset="0"/>
              </a:rPr>
              <a:t>0</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,2)*2</a:t>
            </a: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a:t>
            </a:r>
            <a:r>
              <a:rPr kumimoji="1" lang="hr-HR" altLang="en-US" sz="1600">
                <a:solidFill>
                  <a:schemeClr val="hlink"/>
                </a:solidFill>
                <a:effectLst>
                  <a:outerShdw blurRad="38100" dist="38100" dir="2700000" algn="tl">
                    <a:srgbClr val="C0C0C0"/>
                  </a:outerShdw>
                </a:effectLst>
                <a:latin typeface="Tahoma" panose="020B0604030504040204" pitchFamily="34" charset="0"/>
              </a:rPr>
              <a:t>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t>
            </a:r>
            <a:r>
              <a:rPr kumimoji="1" lang="hr-HR" altLang="en-US" sz="1600">
                <a:solidFill>
                  <a:schemeClr val="hlink"/>
                </a:solidFill>
                <a:effectLst>
                  <a:outerShdw blurRad="38100" dist="38100" dir="2700000" algn="tl">
                    <a:srgbClr val="C0C0C0"/>
                  </a:outerShdw>
                </a:effectLst>
                <a:latin typeface="Tahoma" panose="020B0604030504040204" pitchFamily="34" charset="0"/>
              </a:rPr>
              <a:t>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a:t>
            </a:r>
            <a:r>
              <a:rPr kumimoji="1" lang="hr-HR" altLang="en-US" sz="1600">
                <a:solidFill>
                  <a:schemeClr val="hlink"/>
                </a:solidFill>
                <a:effectLst>
                  <a:outerShdw blurRad="38100" dist="38100" dir="2700000" algn="tl">
                    <a:srgbClr val="C0C0C0"/>
                  </a:outerShdw>
                </a:effectLst>
                <a:latin typeface="Tahoma" panose="020B0604030504040204" pitchFamily="34" charset="0"/>
              </a:rPr>
              <a:t>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s</a:t>
            </a:r>
            <a:r>
              <a:rPr kumimoji="1" lang="hr-HR" altLang="en-US" sz="1600">
                <a:solidFill>
                  <a:schemeClr val="hlink"/>
                </a:solidFill>
                <a:effectLst>
                  <a:outerShdw blurRad="38100" dist="38100" dir="2700000" algn="tl">
                    <a:srgbClr val="C0C0C0"/>
                  </a:outerShdw>
                </a:effectLst>
                <a:latin typeface="Tahoma" panose="020B0604030504040204" pitchFamily="34" charset="0"/>
              </a:rPr>
              <a:t>e  </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1</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a:t>
            </a:r>
            <a:r>
              <a:rPr kumimoji="1" lang="hr-HR" altLang="en-US" sz="1600">
                <a:solidFill>
                  <a:schemeClr val="hlink"/>
                </a:solidFill>
                <a:effectLst>
                  <a:outerShdw blurRad="38100" dist="38100" dir="2700000" algn="tl">
                    <a:srgbClr val="C0C0C0"/>
                  </a:outerShdw>
                </a:effectLst>
                <a:latin typeface="Tahoma" panose="020B0604030504040204" pitchFamily="34" charset="0"/>
              </a:rPr>
              <a:t>1</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a:t>
            </a: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hr-HR" altLang="en-US" sz="1600">
                <a:solidFill>
                  <a:schemeClr val="hlink"/>
                </a:solidFill>
                <a:effectLst>
                  <a:outerShdw blurRad="38100" dist="38100" dir="2700000" algn="tl">
                    <a:srgbClr val="C0C0C0"/>
                  </a:outerShdw>
                </a:effectLst>
                <a:latin typeface="Tahoma" panose="020B0604030504040204" pitchFamily="34" charset="0"/>
              </a:rPr>
              <a:t>            v</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a:t>
            </a:r>
            <a:r>
              <a:rPr kumimoji="1" lang="hr-HR" altLang="en-US" sz="1600">
                <a:solidFill>
                  <a:schemeClr val="hlink"/>
                </a:solidFill>
                <a:effectLst>
                  <a:outerShdw blurRad="38100" dist="38100" dir="2700000" algn="tl">
                    <a:srgbClr val="C0C0C0"/>
                  </a:outerShdw>
                </a:effectLst>
                <a:latin typeface="Tahoma" panose="020B0604030504040204" pitchFamily="34" charset="0"/>
              </a:rPr>
              <a:t>3</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 izra</a:t>
            </a:r>
            <a:r>
              <a:rPr kumimoji="1" lang="hr-HR" altLang="en-US" sz="1600">
                <a:solidFill>
                  <a:schemeClr val="hlink"/>
                </a:solidFill>
                <a:effectLst>
                  <a:outerShdw blurRad="38100" dist="38100" dir="2700000" algn="tl">
                    <a:srgbClr val="C0C0C0"/>
                  </a:outerShdw>
                </a:effectLst>
                <a:latin typeface="Tahoma" panose="020B0604030504040204" pitchFamily="34" charset="0"/>
              </a:rPr>
              <a:t>č</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unava se  A(</a:t>
            </a:r>
            <a:r>
              <a:rPr kumimoji="1" lang="hr-HR" altLang="en-US" sz="1600">
                <a:solidFill>
                  <a:schemeClr val="hlink"/>
                </a:solidFill>
                <a:effectLst>
                  <a:outerShdw blurRad="38100" dist="38100" dir="2700000" algn="tl">
                    <a:srgbClr val="C0C0C0"/>
                  </a:outerShdw>
                </a:effectLst>
                <a:latin typeface="Tahoma" panose="020B0604030504040204" pitchFamily="34" charset="0"/>
              </a:rPr>
              <a:t>3</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,1)=A(</a:t>
            </a:r>
            <a:r>
              <a:rPr kumimoji="1" lang="hr-HR" altLang="en-US" sz="1600">
                <a:solidFill>
                  <a:schemeClr val="hlink"/>
                </a:solidFill>
                <a:effectLst>
                  <a:outerShdw blurRad="38100" dist="38100" dir="2700000" algn="tl">
                    <a:srgbClr val="C0C0C0"/>
                  </a:outerShdw>
                </a:effectLst>
                <a:latin typeface="Tahoma" panose="020B0604030504040204" pitchFamily="34" charset="0"/>
              </a:rPr>
              <a:t>2</a:t>
            </a:r>
            <a:r>
              <a:rPr kumimoji="1" lang="en-US" altLang="en-US" sz="1600">
                <a:solidFill>
                  <a:schemeClr val="hlink"/>
                </a:solidFill>
                <a:effectLst>
                  <a:outerShdw blurRad="38100" dist="38100" dir="2700000" algn="tl">
                    <a:srgbClr val="C0C0C0"/>
                  </a:outerShdw>
                </a:effectLst>
                <a:latin typeface="Tahoma" panose="020B0604030504040204" pitchFamily="34" charset="0"/>
                <a:cs typeface="Times New Roman" panose="02020603050405020304" pitchFamily="18" charset="0"/>
              </a:rPr>
              <a:t>,2)*2</a:t>
            </a: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endParaRPr kumimoji="1" lang="hr-HR" altLang="en-US" sz="1600">
              <a:solidFill>
                <a:schemeClr val="hlink"/>
              </a:solidFill>
              <a:effectLst>
                <a:outerShdw blurRad="38100" dist="38100" dir="2700000" algn="tl">
                  <a:srgbClr val="C0C0C0"/>
                </a:outerShdw>
              </a:effectLst>
              <a:latin typeface="Tahoma" panose="020B0604030504040204" pitchFamily="34" charset="0"/>
            </a:endParaRPr>
          </a:p>
          <a:p>
            <a:pPr>
              <a:lnSpc>
                <a:spcPct val="80000"/>
              </a:lnSpc>
              <a:spcBef>
                <a:spcPct val="50000"/>
              </a:spcBef>
              <a:spcAft>
                <a:spcPct val="30000"/>
              </a:spcAft>
              <a:buClr>
                <a:schemeClr val="accent1"/>
              </a:buClr>
              <a:buSzPct val="85000"/>
              <a:buFont typeface="Wingdings 2" panose="05020102010507070707" pitchFamily="18" charset="2"/>
              <a:buNone/>
              <a:defRPr/>
            </a:pPr>
            <a:r>
              <a:rPr kumimoji="1" lang="hr-HR" altLang="en-US">
                <a:solidFill>
                  <a:schemeClr val="accent1"/>
                </a:solidFill>
                <a:effectLst>
                  <a:outerShdw blurRad="38100" dist="38100" dir="2700000" algn="tl">
                    <a:srgbClr val="C0C0C0"/>
                  </a:outerShdw>
                </a:effectLst>
                <a:latin typeface="Tahoma" panose="020B0604030504040204" pitchFamily="34" charset="0"/>
              </a:rPr>
              <a:t>Redosled izračunavanja je ispoštovan!</a:t>
            </a:r>
            <a:endParaRPr kumimoji="1" lang="en-US" altLang="en-US">
              <a:solidFill>
                <a:schemeClr val="accent1"/>
              </a:solidFill>
              <a:effectLst>
                <a:outerShdw blurRad="38100" dist="38100" dir="2700000" algn="tl">
                  <a:srgbClr val="C0C0C0"/>
                </a:outerShdw>
              </a:effectLst>
              <a:latin typeface="Tahoma" panose="020B0604030504040204" pitchFamily="34" charset="0"/>
            </a:endParaRPr>
          </a:p>
        </p:txBody>
      </p:sp>
      <p:sp>
        <p:nvSpPr>
          <p:cNvPr id="61450" name="Line 10">
            <a:extLst>
              <a:ext uri="{FF2B5EF4-FFF2-40B4-BE49-F238E27FC236}">
                <a16:creationId xmlns:a16="http://schemas.microsoft.com/office/drawing/2014/main" id="{217C640E-5AF6-49E3-A1CD-4FA89E26EDCE}"/>
              </a:ext>
            </a:extLst>
          </p:cNvPr>
          <p:cNvSpPr>
            <a:spLocks noChangeShapeType="1"/>
          </p:cNvSpPr>
          <p:nvPr/>
        </p:nvSpPr>
        <p:spPr bwMode="auto">
          <a:xfrm>
            <a:off x="7467600" y="3124200"/>
            <a:ext cx="685800" cy="16764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
        <p:nvSpPr>
          <p:cNvPr id="61451" name="Line 11">
            <a:extLst>
              <a:ext uri="{FF2B5EF4-FFF2-40B4-BE49-F238E27FC236}">
                <a16:creationId xmlns:a16="http://schemas.microsoft.com/office/drawing/2014/main" id="{668296E5-E6C2-455A-90DD-E16A7028BE48}"/>
              </a:ext>
            </a:extLst>
          </p:cNvPr>
          <p:cNvSpPr>
            <a:spLocks noChangeShapeType="1"/>
          </p:cNvSpPr>
          <p:nvPr/>
        </p:nvSpPr>
        <p:spPr bwMode="auto">
          <a:xfrm>
            <a:off x="7315200" y="3505200"/>
            <a:ext cx="685800" cy="16764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b">
            <a:spAutoFit/>
          </a:bodyPr>
          <a:lstStyle/>
          <a:p>
            <a:endParaRPr lang="sr-Latn-RS"/>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50"/>
                                        </p:tgtEl>
                                        <p:attrNameLst>
                                          <p:attrName>style.visibility</p:attrName>
                                        </p:attrNameLst>
                                      </p:cBhvr>
                                      <p:to>
                                        <p:strVal val="visible"/>
                                      </p:to>
                                    </p:set>
                                    <p:animEffect transition="in" filter="blinds(horizontal)">
                                      <p:cBhvr>
                                        <p:cTn id="7" dur="500"/>
                                        <p:tgtEl>
                                          <p:spTgt spid="61450"/>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1451"/>
                                        </p:tgtEl>
                                        <p:attrNameLst>
                                          <p:attrName>style.visibility</p:attrName>
                                        </p:attrNameLst>
                                      </p:cBhvr>
                                      <p:to>
                                        <p:strVal val="visible"/>
                                      </p:to>
                                    </p:set>
                                    <p:animEffect transition="in" filter="blinds(horizontal)">
                                      <p:cBhvr>
                                        <p:cTn id="11" dur="500"/>
                                        <p:tgtEl>
                                          <p:spTgt spid="61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3CE261-5FE4-438C-844A-8976F1C3877F}"/>
              </a:ext>
            </a:extLst>
          </p:cNvPr>
          <p:cNvSpPr>
            <a:spLocks noGrp="1"/>
          </p:cNvSpPr>
          <p:nvPr>
            <p:ph type="title"/>
          </p:nvPr>
        </p:nvSpPr>
        <p:spPr/>
        <p:txBody>
          <a:bodyPr/>
          <a:lstStyle/>
          <a:p>
            <a:pPr>
              <a:defRPr/>
            </a:pPr>
            <a:r>
              <a:rPr lang="en-US" dirty="0"/>
              <a:t>Primer</a:t>
            </a:r>
          </a:p>
        </p:txBody>
      </p:sp>
      <p:sp>
        <p:nvSpPr>
          <p:cNvPr id="6" name="Content Placeholder 5">
            <a:extLst>
              <a:ext uri="{FF2B5EF4-FFF2-40B4-BE49-F238E27FC236}">
                <a16:creationId xmlns:a16="http://schemas.microsoft.com/office/drawing/2014/main" id="{AEDCA6CF-C5F9-47A3-BC13-F125AC1B994B}"/>
              </a:ext>
            </a:extLst>
          </p:cNvPr>
          <p:cNvSpPr>
            <a:spLocks noGrp="1"/>
          </p:cNvSpPr>
          <p:nvPr>
            <p:ph idx="1"/>
          </p:nvPr>
        </p:nvSpPr>
        <p:spPr>
          <a:xfrm>
            <a:off x="0" y="708025"/>
            <a:ext cx="9144000" cy="1958975"/>
          </a:xfrm>
        </p:spPr>
        <p:txBody>
          <a:bodyPr/>
          <a:lstStyle/>
          <a:p>
            <a:pPr>
              <a:defRPr/>
            </a:pPr>
            <a:r>
              <a:rPr lang="en-US" dirty="0" err="1"/>
              <a:t>Da</a:t>
            </a:r>
            <a:r>
              <a:rPr lang="en-US" dirty="0"/>
              <a:t> </a:t>
            </a:r>
            <a:r>
              <a:rPr lang="en-US" dirty="0" err="1"/>
              <a:t>li</a:t>
            </a:r>
            <a:r>
              <a:rPr lang="en-US" dirty="0"/>
              <a:t> se </a:t>
            </a:r>
            <a:r>
              <a:rPr lang="en-US" dirty="0" err="1"/>
              <a:t>slede</a:t>
            </a:r>
            <a:r>
              <a:rPr lang="sr-Latn-RS" dirty="0"/>
              <a:t>ća petlja može vektorizovati?</a:t>
            </a:r>
          </a:p>
          <a:p>
            <a:pPr lvl="2">
              <a:buFont typeface="Wingdings" panose="05000000000000000000" pitchFamily="2" charset="2"/>
              <a:buNone/>
              <a:defRPr/>
            </a:pPr>
            <a:r>
              <a:rPr lang="en-US" dirty="0">
                <a:solidFill>
                  <a:srgbClr val="0A0A0A"/>
                </a:solidFill>
                <a:latin typeface="Consolas"/>
              </a:rPr>
              <a:t>for </a:t>
            </a:r>
            <a:r>
              <a:rPr lang="en-US" dirty="0" err="1">
                <a:solidFill>
                  <a:srgbClr val="0A0A0A"/>
                </a:solidFill>
                <a:latin typeface="Consolas"/>
              </a:rPr>
              <a:t>i</a:t>
            </a:r>
            <a:r>
              <a:rPr lang="en-US" dirty="0">
                <a:solidFill>
                  <a:srgbClr val="0A0A0A"/>
                </a:solidFill>
                <a:latin typeface="Consolas"/>
              </a:rPr>
              <a:t> = 1:N </a:t>
            </a:r>
          </a:p>
          <a:p>
            <a:pPr lvl="2">
              <a:buFont typeface="Wingdings" panose="05000000000000000000" pitchFamily="2" charset="2"/>
              <a:buNone/>
              <a:defRPr/>
            </a:pPr>
            <a:r>
              <a:rPr lang="en-US" dirty="0">
                <a:solidFill>
                  <a:srgbClr val="0A0A0A"/>
                </a:solidFill>
                <a:latin typeface="Consolas"/>
              </a:rPr>
              <a:t>for j = 1:M </a:t>
            </a:r>
          </a:p>
          <a:p>
            <a:pPr lvl="2">
              <a:buFont typeface="Wingdings" panose="05000000000000000000" pitchFamily="2" charset="2"/>
              <a:buNone/>
              <a:defRPr/>
            </a:pPr>
            <a:r>
              <a:rPr lang="en-US" dirty="0">
                <a:solidFill>
                  <a:srgbClr val="0A0A0A"/>
                </a:solidFill>
                <a:latin typeface="Consolas"/>
              </a:rPr>
              <a:t>A(</a:t>
            </a:r>
            <a:r>
              <a:rPr lang="en-US" dirty="0" err="1">
                <a:solidFill>
                  <a:srgbClr val="0A0A0A"/>
                </a:solidFill>
                <a:latin typeface="Consolas"/>
              </a:rPr>
              <a:t>i,j</a:t>
            </a:r>
            <a:r>
              <a:rPr lang="en-US" dirty="0">
                <a:solidFill>
                  <a:srgbClr val="0A0A0A"/>
                </a:solidFill>
                <a:latin typeface="Consolas"/>
              </a:rPr>
              <a:t>) = A(i‐1,j) + A(i,j‐1);</a:t>
            </a:r>
          </a:p>
          <a:p>
            <a:pPr lvl="2">
              <a:buFont typeface="Wingdings" panose="05000000000000000000" pitchFamily="2" charset="2"/>
              <a:buNone/>
              <a:defRPr/>
            </a:pPr>
            <a:endParaRPr lang="en-US" dirty="0">
              <a:solidFill>
                <a:srgbClr val="0A0A0A"/>
              </a:solidFill>
              <a:latin typeface="Consolas"/>
            </a:endParaRPr>
          </a:p>
          <a:p>
            <a:pPr lvl="2">
              <a:buFont typeface="Wingdings" panose="05000000000000000000" pitchFamily="2" charset="2"/>
              <a:buNone/>
              <a:defRPr/>
            </a:pPr>
            <a:endParaRPr lang="en-US" dirty="0"/>
          </a:p>
        </p:txBody>
      </p:sp>
      <p:pic>
        <p:nvPicPr>
          <p:cNvPr id="51204" name="Picture 3">
            <a:extLst>
              <a:ext uri="{FF2B5EF4-FFF2-40B4-BE49-F238E27FC236}">
                <a16:creationId xmlns:a16="http://schemas.microsoft.com/office/drawing/2014/main" id="{7033BE34-7585-484B-B76D-EED15105F2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048000"/>
            <a:ext cx="4727575"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TextBox 8">
            <a:extLst>
              <a:ext uri="{FF2B5EF4-FFF2-40B4-BE49-F238E27FC236}">
                <a16:creationId xmlns:a16="http://schemas.microsoft.com/office/drawing/2014/main" id="{EB93D63A-BCB9-4C4D-8D32-2B3CAA6AA245}"/>
              </a:ext>
            </a:extLst>
          </p:cNvPr>
          <p:cNvSpPr txBox="1">
            <a:spLocks noChangeArrowheads="1"/>
          </p:cNvSpPr>
          <p:nvPr/>
        </p:nvSpPr>
        <p:spPr bwMode="auto">
          <a:xfrm>
            <a:off x="6248400" y="3657600"/>
            <a:ext cx="1504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sr-Latn-RS"/>
              <a:t>Krivljenje?</a:t>
            </a:r>
          </a:p>
          <a:p>
            <a:r>
              <a:rPr lang="en-US" altLang="sr-Latn-RS"/>
              <a:t>permutacija?</a:t>
            </a:r>
          </a:p>
        </p:txBody>
      </p:sp>
      <p:sp>
        <p:nvSpPr>
          <p:cNvPr id="51206" name="Oval 9">
            <a:extLst>
              <a:ext uri="{FF2B5EF4-FFF2-40B4-BE49-F238E27FC236}">
                <a16:creationId xmlns:a16="http://schemas.microsoft.com/office/drawing/2014/main" id="{BDFB8CB7-CA37-4922-9B06-4200C9A16A00}"/>
              </a:ext>
            </a:extLst>
          </p:cNvPr>
          <p:cNvSpPr>
            <a:spLocks noChangeArrowheads="1"/>
          </p:cNvSpPr>
          <p:nvPr/>
        </p:nvSpPr>
        <p:spPr bwMode="auto">
          <a:xfrm rot="2434238">
            <a:off x="784225" y="4816475"/>
            <a:ext cx="3487738" cy="5191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51207" name="Oval 10">
            <a:extLst>
              <a:ext uri="{FF2B5EF4-FFF2-40B4-BE49-F238E27FC236}">
                <a16:creationId xmlns:a16="http://schemas.microsoft.com/office/drawing/2014/main" id="{2F64828A-E571-445C-9D7E-4A08DA22C24A}"/>
              </a:ext>
            </a:extLst>
          </p:cNvPr>
          <p:cNvSpPr>
            <a:spLocks noChangeArrowheads="1"/>
          </p:cNvSpPr>
          <p:nvPr/>
        </p:nvSpPr>
        <p:spPr bwMode="auto">
          <a:xfrm rot="2434238">
            <a:off x="1716088" y="3971925"/>
            <a:ext cx="3487737" cy="5191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51208" name="Oval 11">
            <a:extLst>
              <a:ext uri="{FF2B5EF4-FFF2-40B4-BE49-F238E27FC236}">
                <a16:creationId xmlns:a16="http://schemas.microsoft.com/office/drawing/2014/main" id="{B1BAE8B9-E75A-44ED-97D5-CC7CF2291659}"/>
              </a:ext>
            </a:extLst>
          </p:cNvPr>
          <p:cNvSpPr>
            <a:spLocks noChangeArrowheads="1"/>
          </p:cNvSpPr>
          <p:nvPr/>
        </p:nvSpPr>
        <p:spPr bwMode="auto">
          <a:xfrm rot="2434238">
            <a:off x="879475" y="5135563"/>
            <a:ext cx="2381250" cy="51911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51209" name="Oval 12">
            <a:extLst>
              <a:ext uri="{FF2B5EF4-FFF2-40B4-BE49-F238E27FC236}">
                <a16:creationId xmlns:a16="http://schemas.microsoft.com/office/drawing/2014/main" id="{18E82F05-F38B-4314-9112-12606026185C}"/>
              </a:ext>
            </a:extLst>
          </p:cNvPr>
          <p:cNvSpPr>
            <a:spLocks noChangeArrowheads="1"/>
          </p:cNvSpPr>
          <p:nvPr/>
        </p:nvSpPr>
        <p:spPr bwMode="auto">
          <a:xfrm rot="2434238">
            <a:off x="2841625" y="3606800"/>
            <a:ext cx="2381250" cy="5191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51210" name="Oval 13">
            <a:extLst>
              <a:ext uri="{FF2B5EF4-FFF2-40B4-BE49-F238E27FC236}">
                <a16:creationId xmlns:a16="http://schemas.microsoft.com/office/drawing/2014/main" id="{A4F44778-420F-479D-BB90-153EBF62493F}"/>
              </a:ext>
            </a:extLst>
          </p:cNvPr>
          <p:cNvSpPr>
            <a:spLocks noChangeArrowheads="1"/>
          </p:cNvSpPr>
          <p:nvPr/>
        </p:nvSpPr>
        <p:spPr bwMode="auto">
          <a:xfrm rot="2434238">
            <a:off x="1187450" y="5588000"/>
            <a:ext cx="858838" cy="5191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
        <p:nvSpPr>
          <p:cNvPr id="51211" name="Oval 14">
            <a:extLst>
              <a:ext uri="{FF2B5EF4-FFF2-40B4-BE49-F238E27FC236}">
                <a16:creationId xmlns:a16="http://schemas.microsoft.com/office/drawing/2014/main" id="{00B06952-678D-4671-BF01-A128FBBC50C0}"/>
              </a:ext>
            </a:extLst>
          </p:cNvPr>
          <p:cNvSpPr>
            <a:spLocks noChangeArrowheads="1"/>
          </p:cNvSpPr>
          <p:nvPr/>
        </p:nvSpPr>
        <p:spPr bwMode="auto">
          <a:xfrm rot="2434238">
            <a:off x="4103688" y="3189288"/>
            <a:ext cx="860425" cy="51911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sr-Latn-RS" altLang="sr-Latn-RS"/>
          </a:p>
        </p:txBody>
      </p:sp>
    </p:spTree>
  </p:cSld>
  <p:clrMapOvr>
    <a:masterClrMapping/>
  </p:clrMapOvr>
  <p:transition>
    <p:pull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marL="457200" indent="-457200" algn="l">
              <a:buFont typeface="Arial" panose="020B0604020202020204" pitchFamily="34" charset="0"/>
              <a:buChar char="•"/>
            </a:pPr>
            <a:r>
              <a:rPr lang="hr-HR" altLang="en-US" dirty="0"/>
              <a:t>Smeštanje podataka i odredjivanje broja memorijskih banaka</a:t>
            </a:r>
            <a:endParaRPr lang="en-US" altLang="en-US" dirty="0"/>
          </a:p>
          <a:p>
            <a:endParaRPr lang="en-US" altLang="ko-KR" dirty="0">
              <a:latin typeface="Tahoma" panose="020B0604030504040204" pitchFamily="34" charset="0"/>
              <a:ea typeface="굴림" pitchFamily="34" charset="-127"/>
            </a:endParaRPr>
          </a:p>
          <a:p>
            <a:endParaRPr lang="en-US" dirty="0"/>
          </a:p>
        </p:txBody>
      </p:sp>
      <p:sp>
        <p:nvSpPr>
          <p:cNvPr id="5" name="Title 4">
            <a:extLst>
              <a:ext uri="{FF2B5EF4-FFF2-40B4-BE49-F238E27FC236}">
                <a16:creationId xmlns:a16="http://schemas.microsoft.com/office/drawing/2014/main" id="{5ECB6CEB-5AE0-8F7A-F6CA-A11C2B1EA2F6}"/>
              </a:ext>
            </a:extLst>
          </p:cNvPr>
          <p:cNvSpPr>
            <a:spLocks noGrp="1"/>
          </p:cNvSpPr>
          <p:nvPr>
            <p:ph type="ctrTitle"/>
          </p:nvPr>
        </p:nvSpPr>
        <p:spPr/>
        <p:txBody>
          <a:bodyPr/>
          <a:lstStyle/>
          <a:p>
            <a:endParaRPr lang="sr-Latn-RS"/>
          </a:p>
        </p:txBody>
      </p:sp>
    </p:spTree>
    <p:extLst>
      <p:ext uri="{BB962C8B-B14F-4D97-AF65-F5344CB8AC3E}">
        <p14:creationId xmlns:p14="http://schemas.microsoft.com/office/powerpoint/2010/main" val="2336303954"/>
      </p:ext>
    </p:extLst>
  </p:cSld>
  <p:clrMapOvr>
    <a:masterClrMapping/>
  </p:clrMapOvr>
  <p:transition>
    <p:pull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defRPr/>
            </a:pPr>
            <a:r>
              <a:rPr lang="hr-HR" altLang="en-US"/>
              <a:t>Smeštanje podataka</a:t>
            </a:r>
            <a:endParaRPr lang="en-US" altLang="en-US"/>
          </a:p>
        </p:txBody>
      </p:sp>
      <p:sp>
        <p:nvSpPr>
          <p:cNvPr id="5123" name="Rectangle 3"/>
          <p:cNvSpPr>
            <a:spLocks noGrp="1" noChangeArrowheads="1"/>
          </p:cNvSpPr>
          <p:nvPr>
            <p:ph type="body" idx="1"/>
          </p:nvPr>
        </p:nvSpPr>
        <p:spPr/>
        <p:txBody>
          <a:bodyPr/>
          <a:lstStyle/>
          <a:p>
            <a:pPr>
              <a:defRPr/>
            </a:pPr>
            <a:r>
              <a:rPr lang="hr-HR" altLang="en-US"/>
              <a:t>Jedan od ključnih faktora koji utiče na vreme izvršenja programa na paralelnom procesoru je latentnost memorijskog sistema</a:t>
            </a:r>
          </a:p>
          <a:p>
            <a:pPr lvl="1">
              <a:defRPr/>
            </a:pPr>
            <a:r>
              <a:rPr lang="hr-HR" altLang="en-US"/>
              <a:t>vreme od trenutka izdavanja zahteva za pribavljanjem podatka do trenutaka kada on postane dostupan</a:t>
            </a:r>
          </a:p>
          <a:p>
            <a:pPr lvl="2">
              <a:defRPr/>
            </a:pPr>
            <a:r>
              <a:rPr lang="hr-HR" altLang="en-US"/>
              <a:t>da bi se problem rešio koristi se paralelne memorijske banke</a:t>
            </a:r>
          </a:p>
          <a:p>
            <a:pPr lvl="2">
              <a:defRPr/>
            </a:pPr>
            <a:r>
              <a:rPr lang="hr-HR" altLang="en-US"/>
              <a:t>način smeštanja podataka igra važnu ulogu, jer može smanjiti vreme pristupa elementima polja</a:t>
            </a:r>
            <a:endParaRPr lang="en-US" altLang="en-US"/>
          </a:p>
          <a:p>
            <a:pPr>
              <a:defRPr/>
            </a:pPr>
            <a:r>
              <a:rPr lang="en-US" altLang="en-US">
                <a:cs typeface="Times New Roman" pitchFamily="18" charset="0"/>
              </a:rPr>
              <a:t>Po</a:t>
            </a:r>
            <a:r>
              <a:rPr lang="hr-HR" altLang="en-US"/>
              <a:t>š</a:t>
            </a:r>
            <a:r>
              <a:rPr lang="en-US" altLang="en-US">
                <a:cs typeface="Times New Roman" pitchFamily="18" charset="0"/>
              </a:rPr>
              <a:t>to je osnovna struktura podataka koja se koristi kod vektorskih ra</a:t>
            </a:r>
            <a:r>
              <a:rPr lang="hr-HR" altLang="en-US"/>
              <a:t>č</a:t>
            </a:r>
            <a:r>
              <a:rPr lang="en-US" altLang="en-US">
                <a:cs typeface="Times New Roman" pitchFamily="18" charset="0"/>
              </a:rPr>
              <a:t>unara polje, na</a:t>
            </a:r>
            <a:r>
              <a:rPr lang="hr-HR" altLang="en-US"/>
              <a:t>č</a:t>
            </a:r>
            <a:r>
              <a:rPr lang="en-US" altLang="en-US">
                <a:cs typeface="Times New Roman" pitchFamily="18" charset="0"/>
              </a:rPr>
              <a:t>in sme</a:t>
            </a:r>
            <a:r>
              <a:rPr lang="hr-HR" altLang="en-US"/>
              <a:t>š</a:t>
            </a:r>
            <a:r>
              <a:rPr lang="en-US" altLang="en-US">
                <a:cs typeface="Times New Roman" pitchFamily="18" charset="0"/>
              </a:rPr>
              <a:t>tanja elemenata polja u memorijske module mo</a:t>
            </a:r>
            <a:r>
              <a:rPr lang="hr-HR" altLang="en-US"/>
              <a:t>ž</a:t>
            </a:r>
            <a:r>
              <a:rPr lang="en-US" altLang="en-US">
                <a:cs typeface="Times New Roman" pitchFamily="18" charset="0"/>
              </a:rPr>
              <a:t>e bitno uticati na efikasnost vektorskog izra</a:t>
            </a:r>
            <a:r>
              <a:rPr lang="hr-HR" altLang="en-US"/>
              <a:t>č</a:t>
            </a:r>
            <a:r>
              <a:rPr lang="en-US" altLang="en-US">
                <a:cs typeface="Times New Roman" pitchFamily="18" charset="0"/>
              </a:rPr>
              <a:t>unavanja tako </a:t>
            </a:r>
            <a:r>
              <a:rPr lang="hr-HR" altLang="en-US"/>
              <a:t>š</a:t>
            </a:r>
            <a:r>
              <a:rPr lang="en-US" altLang="en-US">
                <a:cs typeface="Times New Roman" pitchFamily="18" charset="0"/>
              </a:rPr>
              <a:t>to </a:t>
            </a:r>
            <a:r>
              <a:rPr lang="hr-HR" altLang="en-US"/>
              <a:t>ć</a:t>
            </a:r>
            <a:r>
              <a:rPr lang="en-US" altLang="en-US">
                <a:cs typeface="Times New Roman" pitchFamily="18" charset="0"/>
              </a:rPr>
              <a:t>e smanjiti vreme pristupa elementima polja</a:t>
            </a:r>
          </a:p>
        </p:txBody>
      </p:sp>
    </p:spTree>
    <p:extLst>
      <p:ext uri="{BB962C8B-B14F-4D97-AF65-F5344CB8AC3E}">
        <p14:creationId xmlns:p14="http://schemas.microsoft.com/office/powerpoint/2010/main" val="1714928123"/>
      </p:ext>
    </p:extLst>
  </p:cSld>
  <p:clrMapOvr>
    <a:masterClrMapping/>
  </p:clrMapOvr>
  <p:transition>
    <p:pull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hr-HR" altLang="en-US"/>
              <a:t>Smeštanje podataka – primer </a:t>
            </a:r>
            <a:endParaRPr lang="en-US" altLang="en-US"/>
          </a:p>
        </p:txBody>
      </p:sp>
      <p:sp>
        <p:nvSpPr>
          <p:cNvPr id="6147" name="Rectangle 3"/>
          <p:cNvSpPr>
            <a:spLocks noChangeArrowheads="1"/>
          </p:cNvSpPr>
          <p:nvPr/>
        </p:nvSpPr>
        <p:spPr bwMode="auto">
          <a:xfrm>
            <a:off x="457200" y="762000"/>
            <a:ext cx="8458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marL="457200" fontAlgn="base">
              <a:spcBef>
                <a:spcPct val="0"/>
              </a:spcBef>
              <a:spcAft>
                <a:spcPct val="0"/>
              </a:spcAft>
              <a:defRPr sz="2400">
                <a:solidFill>
                  <a:schemeClr val="tx1"/>
                </a:solidFill>
                <a:latin typeface="Times New Roman" pitchFamily="18" charset="0"/>
              </a:defRPr>
            </a:lvl6pPr>
            <a:lvl7pPr marL="914400" fontAlgn="base">
              <a:spcBef>
                <a:spcPct val="0"/>
              </a:spcBef>
              <a:spcAft>
                <a:spcPct val="0"/>
              </a:spcAft>
              <a:defRPr sz="2400">
                <a:solidFill>
                  <a:schemeClr val="tx1"/>
                </a:solidFill>
                <a:latin typeface="Times New Roman" pitchFamily="18" charset="0"/>
              </a:defRPr>
            </a:lvl7pPr>
            <a:lvl8pPr marL="1371600" fontAlgn="base">
              <a:spcBef>
                <a:spcPct val="0"/>
              </a:spcBef>
              <a:spcAft>
                <a:spcPct val="0"/>
              </a:spcAft>
              <a:defRPr sz="2400">
                <a:solidFill>
                  <a:schemeClr val="tx1"/>
                </a:solidFill>
                <a:latin typeface="Times New Roman" pitchFamily="18" charset="0"/>
              </a:defRPr>
            </a:lvl8pPr>
            <a:lvl9pPr marL="1828800" fontAlgn="base">
              <a:spcBef>
                <a:spcPct val="0"/>
              </a:spcBef>
              <a:spcAft>
                <a:spcPct val="0"/>
              </a:spcAft>
              <a:defRPr sz="2400">
                <a:solidFill>
                  <a:schemeClr val="tx1"/>
                </a:solidFill>
                <a:latin typeface="Times New Roman" pitchFamily="18" charset="0"/>
              </a:defRPr>
            </a:lvl9pPr>
          </a:lstStyle>
          <a:p>
            <a:pPr>
              <a:defRPr/>
            </a:pPr>
            <a:r>
              <a:rPr kumimoji="1" lang="en-US" altLang="en-US" sz="2000" dirty="0" err="1">
                <a:effectLst>
                  <a:outerShdw blurRad="38100" dist="38100" dir="2700000" algn="tl">
                    <a:srgbClr val="C0C0C0"/>
                  </a:outerShdw>
                </a:effectLst>
                <a:latin typeface="Tahoma" pitchFamily="34" charset="0"/>
              </a:rPr>
              <a:t>Razmotrimo</a:t>
            </a:r>
            <a:r>
              <a:rPr kumimoji="1" lang="en-US" altLang="en-US" sz="2000" dirty="0">
                <a:effectLst>
                  <a:outerShdw blurRad="38100" dist="38100" dir="2700000" algn="tl">
                    <a:srgbClr val="C0C0C0"/>
                  </a:outerShdw>
                </a:effectLst>
                <a:latin typeface="Tahoma" pitchFamily="34" charset="0"/>
              </a:rPr>
              <a:t> </a:t>
            </a:r>
            <a:r>
              <a:rPr kumimoji="1" lang="en-US" altLang="en-US" sz="2000" dirty="0" err="1">
                <a:effectLst>
                  <a:outerShdw blurRad="38100" dist="38100" dir="2700000" algn="tl">
                    <a:srgbClr val="C0C0C0"/>
                  </a:outerShdw>
                </a:effectLst>
                <a:latin typeface="Tahoma" pitchFamily="34" charset="0"/>
              </a:rPr>
              <a:t>mogu</a:t>
            </a:r>
            <a:r>
              <a:rPr kumimoji="1" lang="sr-Latn-CS" altLang="en-US" sz="2000" dirty="0">
                <a:effectLst>
                  <a:outerShdw blurRad="38100" dist="38100" dir="2700000" algn="tl">
                    <a:srgbClr val="C0C0C0"/>
                  </a:outerShdw>
                </a:effectLst>
                <a:latin typeface="Tahoma" pitchFamily="34" charset="0"/>
              </a:rPr>
              <a:t>će načine smeš</a:t>
            </a:r>
            <a:r>
              <a:rPr kumimoji="1" lang="en-US" altLang="en-US" sz="2000" dirty="0">
                <a:effectLst>
                  <a:outerShdw blurRad="38100" dist="38100" dir="2700000" algn="tl">
                    <a:srgbClr val="C0C0C0"/>
                  </a:outerShdw>
                </a:effectLst>
                <a:latin typeface="Tahoma" pitchFamily="34" charset="0"/>
              </a:rPr>
              <a:t>t</a:t>
            </a:r>
            <a:r>
              <a:rPr kumimoji="1" lang="sr-Latn-CS" altLang="en-US" sz="2000" dirty="0">
                <a:effectLst>
                  <a:outerShdw blurRad="38100" dist="38100" dir="2700000" algn="tl">
                    <a:srgbClr val="C0C0C0"/>
                  </a:outerShdw>
                </a:effectLst>
                <a:latin typeface="Tahoma" pitchFamily="34" charset="0"/>
              </a:rPr>
              <a:t>anja elemenata matrice A dimenzija 4x4 u mem. </a:t>
            </a:r>
            <a:r>
              <a:rPr kumimoji="1" lang="en-US" altLang="en-US" sz="2000" dirty="0">
                <a:effectLst>
                  <a:outerShdw blurRad="38100" dist="38100" dir="2700000" algn="tl">
                    <a:srgbClr val="C0C0C0"/>
                  </a:outerShdw>
                </a:effectLst>
                <a:latin typeface="Tahoma" pitchFamily="34" charset="0"/>
              </a:rPr>
              <a:t>b</a:t>
            </a:r>
            <a:r>
              <a:rPr kumimoji="1" lang="sr-Latn-CS" altLang="en-US" sz="2000" dirty="0">
                <a:effectLst>
                  <a:outerShdw blurRad="38100" dist="38100" dir="2700000" algn="tl">
                    <a:srgbClr val="C0C0C0"/>
                  </a:outerShdw>
                </a:effectLst>
                <a:latin typeface="Tahoma" pitchFamily="34" charset="0"/>
              </a:rPr>
              <a:t>anke,</a:t>
            </a:r>
            <a:endParaRPr kumimoji="1" lang="en-US" altLang="en-US" sz="2800" dirty="0">
              <a:effectLst>
                <a:outerShdw blurRad="38100" dist="38100" dir="2700000" algn="tl">
                  <a:srgbClr val="C0C0C0"/>
                </a:outerShdw>
              </a:effectLst>
              <a:latin typeface="Tahoma" pitchFamily="34" charset="0"/>
            </a:endParaRPr>
          </a:p>
        </p:txBody>
      </p:sp>
      <p:sp>
        <p:nvSpPr>
          <p:cNvPr id="6148" name="Rectangle 4"/>
          <p:cNvSpPr>
            <a:spLocks noChangeArrowheads="1"/>
          </p:cNvSpPr>
          <p:nvPr/>
        </p:nvSpPr>
        <p:spPr bwMode="auto">
          <a:xfrm>
            <a:off x="457200" y="1600200"/>
            <a:ext cx="8229600" cy="571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lgn="ctr">
              <a:spcBef>
                <a:spcPct val="20000"/>
              </a:spcBef>
              <a:buClr>
                <a:schemeClr val="accent1"/>
              </a:buClr>
              <a:buSzPct val="85000"/>
              <a:buFont typeface="Wingdings 2" pitchFamily="18" charset="2"/>
              <a:buNone/>
              <a:defRPr/>
            </a:pP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200">
                <a:solidFill>
                  <a:srgbClr val="FF0000"/>
                </a:solidFill>
                <a:effectLst>
                  <a:outerShdw blurRad="38100" dist="38100" dir="2700000" algn="tl">
                    <a:srgbClr val="C0C0C0"/>
                  </a:outerShdw>
                </a:effectLst>
                <a:latin typeface="Tahoma" pitchFamily="34" charset="0"/>
              </a:rPr>
              <a:t>11 </a:t>
            </a:r>
            <a:r>
              <a:rPr kumimoji="1" lang="en-US" altLang="en-US" sz="2800">
                <a:solidFill>
                  <a:srgbClr val="FF0000"/>
                </a:solidFill>
                <a:effectLst>
                  <a:outerShdw blurRad="38100" dist="38100" dir="2700000" algn="tl">
                    <a:srgbClr val="C0C0C0"/>
                  </a:outerShdw>
                </a:effectLst>
                <a:latin typeface="Tahoma" pitchFamily="34" charset="0"/>
              </a:rPr>
              <a:t>  a</a:t>
            </a:r>
            <a:r>
              <a:rPr kumimoji="1" lang="en-US" altLang="en-US" sz="1000">
                <a:solidFill>
                  <a:srgbClr val="FF0000"/>
                </a:solidFill>
                <a:effectLst>
                  <a:outerShdw blurRad="38100" dist="38100" dir="2700000" algn="tl">
                    <a:srgbClr val="C0C0C0"/>
                  </a:outerShdw>
                </a:effectLst>
                <a:latin typeface="Tahoma" pitchFamily="34" charset="0"/>
              </a:rPr>
              <a:t>12 </a:t>
            </a:r>
            <a:r>
              <a:rPr kumimoji="1" lang="en-US" altLang="en-US" sz="2800">
                <a:solidFill>
                  <a:srgbClr val="FF0000"/>
                </a:solidFill>
                <a:effectLst>
                  <a:outerShdw blurRad="38100" dist="38100" dir="2700000" algn="tl">
                    <a:srgbClr val="C0C0C0"/>
                  </a:outerShdw>
                </a:effectLst>
                <a:latin typeface="Tahoma" pitchFamily="34" charset="0"/>
              </a:rPr>
              <a:t>  a</a:t>
            </a:r>
            <a:r>
              <a:rPr kumimoji="1" lang="en-US" altLang="en-US" sz="1000">
                <a:solidFill>
                  <a:srgbClr val="FF0000"/>
                </a:solidFill>
                <a:effectLst>
                  <a:outerShdw blurRad="38100" dist="38100" dir="2700000" algn="tl">
                    <a:srgbClr val="C0C0C0"/>
                  </a:outerShdw>
                </a:effectLst>
                <a:latin typeface="Tahoma" pitchFamily="34" charset="0"/>
              </a:rPr>
              <a:t>13 </a:t>
            </a:r>
            <a:r>
              <a:rPr kumimoji="1" lang="en-US" altLang="en-US" sz="2800">
                <a:solidFill>
                  <a:srgbClr val="FF0000"/>
                </a:solidFill>
                <a:effectLst>
                  <a:outerShdw blurRad="38100" dist="38100" dir="2700000" algn="tl">
                    <a:srgbClr val="C0C0C0"/>
                  </a:outerShdw>
                </a:effectLst>
                <a:latin typeface="Tahoma" pitchFamily="34" charset="0"/>
              </a:rPr>
              <a:t>  a</a:t>
            </a:r>
            <a:r>
              <a:rPr kumimoji="1" lang="en-US" altLang="en-US" sz="1000">
                <a:solidFill>
                  <a:srgbClr val="FF0000"/>
                </a:solidFill>
                <a:effectLst>
                  <a:outerShdw blurRad="38100" dist="38100" dir="2700000" algn="tl">
                    <a:srgbClr val="C0C0C0"/>
                  </a:outerShdw>
                </a:effectLst>
                <a:latin typeface="Tahoma" pitchFamily="34" charset="0"/>
              </a:rPr>
              <a:t>14</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21</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2</a:t>
            </a:r>
            <a:r>
              <a:rPr kumimoji="1" lang="en-US" altLang="en-US" sz="1000">
                <a:solidFill>
                  <a:schemeClr val="accent1"/>
                </a:solidFill>
                <a:effectLst>
                  <a:outerShdw blurRad="38100" dist="38100" dir="2700000" algn="tl">
                    <a:srgbClr val="C0C0C0"/>
                  </a:outerShdw>
                </a:effectLst>
                <a:latin typeface="Tahoma" pitchFamily="34" charset="0"/>
              </a:rPr>
              <a:t>2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23</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24</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31</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32</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33</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34</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41</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42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43</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44</a:t>
            </a:r>
          </a:p>
        </p:txBody>
      </p:sp>
      <p:sp>
        <p:nvSpPr>
          <p:cNvPr id="5125" name="Line 16"/>
          <p:cNvSpPr>
            <a:spLocks noChangeShapeType="1"/>
          </p:cNvSpPr>
          <p:nvPr/>
        </p:nvSpPr>
        <p:spPr bwMode="auto">
          <a:xfrm>
            <a:off x="3505200" y="3962400"/>
            <a:ext cx="1588" cy="13477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6" name="Line 17"/>
          <p:cNvSpPr>
            <a:spLocks noChangeShapeType="1"/>
          </p:cNvSpPr>
          <p:nvPr/>
        </p:nvSpPr>
        <p:spPr bwMode="auto">
          <a:xfrm>
            <a:off x="4191000" y="3962400"/>
            <a:ext cx="1588" cy="13477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7" name="Line 18"/>
          <p:cNvSpPr>
            <a:spLocks noChangeShapeType="1"/>
          </p:cNvSpPr>
          <p:nvPr/>
        </p:nvSpPr>
        <p:spPr bwMode="auto">
          <a:xfrm>
            <a:off x="4876800" y="3962400"/>
            <a:ext cx="1588" cy="13477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8" name="Line 19"/>
          <p:cNvSpPr>
            <a:spLocks noChangeShapeType="1"/>
          </p:cNvSpPr>
          <p:nvPr/>
        </p:nvSpPr>
        <p:spPr bwMode="auto">
          <a:xfrm>
            <a:off x="5562600" y="3962400"/>
            <a:ext cx="1588" cy="13477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9" name="Rectangle 20"/>
          <p:cNvSpPr>
            <a:spLocks noChangeArrowheads="1"/>
          </p:cNvSpPr>
          <p:nvPr/>
        </p:nvSpPr>
        <p:spPr bwMode="auto">
          <a:xfrm>
            <a:off x="3200400" y="5154613"/>
            <a:ext cx="3051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pPr>
            <a:r>
              <a:rPr lang="hr-HR" altLang="en-US" sz="2800"/>
              <a:t>M</a:t>
            </a:r>
            <a:r>
              <a:rPr lang="en-US" altLang="en-US" sz="2800"/>
              <a:t>1   </a:t>
            </a:r>
            <a:r>
              <a:rPr lang="hr-HR" altLang="en-US" sz="2800"/>
              <a:t>M</a:t>
            </a:r>
            <a:r>
              <a:rPr lang="en-US" altLang="en-US" sz="2800"/>
              <a:t>2   </a:t>
            </a:r>
            <a:r>
              <a:rPr lang="hr-HR" altLang="en-US" sz="2800"/>
              <a:t>M</a:t>
            </a:r>
            <a:r>
              <a:rPr lang="en-US" altLang="en-US" sz="2800"/>
              <a:t>3   </a:t>
            </a:r>
            <a:r>
              <a:rPr lang="hr-HR" altLang="en-US" sz="2800"/>
              <a:t>M</a:t>
            </a:r>
            <a:r>
              <a:rPr lang="en-US" altLang="en-US" sz="2800"/>
              <a:t>4</a:t>
            </a:r>
          </a:p>
        </p:txBody>
      </p:sp>
      <p:sp>
        <p:nvSpPr>
          <p:cNvPr id="5130" name="Text Box 21"/>
          <p:cNvSpPr txBox="1">
            <a:spLocks noChangeArrowheads="1"/>
          </p:cNvSpPr>
          <p:nvPr/>
        </p:nvSpPr>
        <p:spPr bwMode="auto">
          <a:xfrm>
            <a:off x="457200" y="2514600"/>
            <a:ext cx="2168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2400"/>
              <a:t>Seri</a:t>
            </a:r>
            <a:r>
              <a:rPr lang="hr-HR" altLang="en-US" sz="2400"/>
              <a:t>jski pristup</a:t>
            </a:r>
            <a:endParaRPr lang="en-US" altLang="en-US" sz="2400"/>
          </a:p>
          <a:p>
            <a:pPr eaLnBrk="1" hangingPunct="1"/>
            <a:r>
              <a:rPr lang="hr-HR" altLang="en-US" sz="2400"/>
              <a:t>kolonama</a:t>
            </a:r>
            <a:endParaRPr lang="en-US" altLang="en-US" sz="2400"/>
          </a:p>
        </p:txBody>
      </p:sp>
      <p:sp>
        <p:nvSpPr>
          <p:cNvPr id="5131" name="Line 22"/>
          <p:cNvSpPr>
            <a:spLocks noChangeShapeType="1"/>
          </p:cNvSpPr>
          <p:nvPr/>
        </p:nvSpPr>
        <p:spPr bwMode="auto">
          <a:xfrm flipV="1">
            <a:off x="2514600" y="2057400"/>
            <a:ext cx="762000" cy="10588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2" name="Line 23"/>
          <p:cNvSpPr>
            <a:spLocks noChangeShapeType="1"/>
          </p:cNvSpPr>
          <p:nvPr/>
        </p:nvSpPr>
        <p:spPr bwMode="auto">
          <a:xfrm flipV="1">
            <a:off x="2514600" y="2590800"/>
            <a:ext cx="685800" cy="38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3" name="Line 24"/>
          <p:cNvSpPr>
            <a:spLocks noChangeShapeType="1"/>
          </p:cNvSpPr>
          <p:nvPr/>
        </p:nvSpPr>
        <p:spPr bwMode="auto">
          <a:xfrm>
            <a:off x="2514600" y="2895600"/>
            <a:ext cx="685800" cy="1920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4" name="Line 25"/>
          <p:cNvSpPr>
            <a:spLocks noChangeShapeType="1"/>
          </p:cNvSpPr>
          <p:nvPr/>
        </p:nvSpPr>
        <p:spPr bwMode="auto">
          <a:xfrm>
            <a:off x="2514600" y="2895600"/>
            <a:ext cx="685800" cy="962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35" name="Rectangle 26"/>
          <p:cNvSpPr>
            <a:spLocks noChangeArrowheads="1"/>
          </p:cNvSpPr>
          <p:nvPr/>
        </p:nvSpPr>
        <p:spPr bwMode="auto">
          <a:xfrm>
            <a:off x="3352800" y="1600200"/>
            <a:ext cx="533400" cy="228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5136" name="Rectangle 27"/>
          <p:cNvSpPr>
            <a:spLocks noChangeArrowheads="1"/>
          </p:cNvSpPr>
          <p:nvPr/>
        </p:nvSpPr>
        <p:spPr bwMode="auto">
          <a:xfrm>
            <a:off x="3962400" y="1600200"/>
            <a:ext cx="533400" cy="228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5137" name="Rectangle 28"/>
          <p:cNvSpPr>
            <a:spLocks noChangeArrowheads="1"/>
          </p:cNvSpPr>
          <p:nvPr/>
        </p:nvSpPr>
        <p:spPr bwMode="auto">
          <a:xfrm>
            <a:off x="4572000" y="1600200"/>
            <a:ext cx="533400" cy="228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5138" name="Rectangle 29"/>
          <p:cNvSpPr>
            <a:spLocks noChangeArrowheads="1"/>
          </p:cNvSpPr>
          <p:nvPr/>
        </p:nvSpPr>
        <p:spPr bwMode="auto">
          <a:xfrm>
            <a:off x="5181600" y="1600200"/>
            <a:ext cx="533400" cy="2286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74" name="Text Box 30"/>
          <p:cNvSpPr txBox="1">
            <a:spLocks noChangeArrowheads="1"/>
          </p:cNvSpPr>
          <p:nvPr/>
        </p:nvSpPr>
        <p:spPr bwMode="auto">
          <a:xfrm>
            <a:off x="6324600" y="1676400"/>
            <a:ext cx="2133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defRPr/>
            </a:pPr>
            <a:r>
              <a:rPr kumimoji="1" lang="sr-Latn-CS" altLang="en-US">
                <a:effectLst>
                  <a:outerShdw blurRad="38100" dist="38100" dir="2700000" algn="tl">
                    <a:srgbClr val="C0C0C0"/>
                  </a:outerShdw>
                </a:effectLst>
                <a:latin typeface="Tahoma" pitchFamily="34" charset="0"/>
              </a:rPr>
              <a:t>Moguć je p</a:t>
            </a:r>
            <a:r>
              <a:rPr kumimoji="1" lang="en-US" altLang="en-US">
                <a:effectLst>
                  <a:outerShdw blurRad="38100" dist="38100" dir="2700000" algn="tl">
                    <a:srgbClr val="C0C0C0"/>
                  </a:outerShdw>
                </a:effectLst>
                <a:latin typeface="Tahoma" pitchFamily="34" charset="0"/>
              </a:rPr>
              <a:t>aral</a:t>
            </a:r>
            <a:r>
              <a:rPr kumimoji="1" lang="hr-HR" altLang="en-US">
                <a:effectLst>
                  <a:outerShdw blurRad="38100" dist="38100" dir="2700000" algn="tl">
                    <a:srgbClr val="C0C0C0"/>
                  </a:outerShdw>
                </a:effectLst>
                <a:latin typeface="Tahoma" pitchFamily="34" charset="0"/>
              </a:rPr>
              <a:t>elni pristup elementima vrsta i dijagonala</a:t>
            </a:r>
            <a:endParaRPr kumimoji="1" lang="en-US" altLang="en-US">
              <a:effectLst>
                <a:outerShdw blurRad="38100" dist="38100" dir="2700000" algn="tl">
                  <a:srgbClr val="C0C0C0"/>
                </a:outerShdw>
              </a:effectLst>
              <a:latin typeface="Tahoma" pitchFamily="34" charset="0"/>
            </a:endParaRPr>
          </a:p>
          <a:p>
            <a:pPr>
              <a:defRPr/>
            </a:pPr>
            <a:endParaRPr lang="en-US" altLang="en-US">
              <a:latin typeface="Tahoma" pitchFamily="34" charset="0"/>
            </a:endParaRPr>
          </a:p>
        </p:txBody>
      </p:sp>
    </p:spTree>
    <p:extLst>
      <p:ext uri="{BB962C8B-B14F-4D97-AF65-F5344CB8AC3E}">
        <p14:creationId xmlns:p14="http://schemas.microsoft.com/office/powerpoint/2010/main" val="4118693185"/>
      </p:ext>
    </p:extLst>
  </p:cSld>
  <p:clrMapOvr>
    <a:masterClrMapping/>
  </p:clrMapOvr>
  <p:transition>
    <p:pull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0"/>
            <a:ext cx="9144000" cy="579438"/>
          </a:xfrm>
        </p:spPr>
        <p:txBody>
          <a:bodyPr/>
          <a:lstStyle/>
          <a:p>
            <a:pPr>
              <a:defRPr/>
            </a:pPr>
            <a:r>
              <a:rPr lang="sr-Latn-CS" altLang="en-US" sz="3200">
                <a:solidFill>
                  <a:schemeClr val="bg1"/>
                </a:solidFill>
              </a:rPr>
              <a:t>Primer - nastavak</a:t>
            </a:r>
            <a:endParaRPr lang="en-US" altLang="en-US" sz="3200">
              <a:solidFill>
                <a:schemeClr val="bg1"/>
              </a:solidFill>
            </a:endParaRPr>
          </a:p>
        </p:txBody>
      </p:sp>
      <p:sp>
        <p:nvSpPr>
          <p:cNvPr id="7171" name="Rectangle 3"/>
          <p:cNvSpPr>
            <a:spLocks noChangeArrowheads="1"/>
          </p:cNvSpPr>
          <p:nvPr/>
        </p:nvSpPr>
        <p:spPr bwMode="auto">
          <a:xfrm>
            <a:off x="457200" y="838200"/>
            <a:ext cx="82296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marL="457200" fontAlgn="base">
              <a:spcBef>
                <a:spcPct val="0"/>
              </a:spcBef>
              <a:spcAft>
                <a:spcPct val="0"/>
              </a:spcAft>
              <a:defRPr sz="2400">
                <a:solidFill>
                  <a:schemeClr val="tx1"/>
                </a:solidFill>
                <a:latin typeface="Times New Roman" pitchFamily="18" charset="0"/>
              </a:defRPr>
            </a:lvl6pPr>
            <a:lvl7pPr marL="914400" fontAlgn="base">
              <a:spcBef>
                <a:spcPct val="0"/>
              </a:spcBef>
              <a:spcAft>
                <a:spcPct val="0"/>
              </a:spcAft>
              <a:defRPr sz="2400">
                <a:solidFill>
                  <a:schemeClr val="tx1"/>
                </a:solidFill>
                <a:latin typeface="Times New Roman" pitchFamily="18" charset="0"/>
              </a:defRPr>
            </a:lvl7pPr>
            <a:lvl8pPr marL="1371600" fontAlgn="base">
              <a:spcBef>
                <a:spcPct val="0"/>
              </a:spcBef>
              <a:spcAft>
                <a:spcPct val="0"/>
              </a:spcAft>
              <a:defRPr sz="2400">
                <a:solidFill>
                  <a:schemeClr val="tx1"/>
                </a:solidFill>
                <a:latin typeface="Times New Roman" pitchFamily="18" charset="0"/>
              </a:defRPr>
            </a:lvl8pPr>
            <a:lvl9pPr marL="1828800" fontAlgn="base">
              <a:spcBef>
                <a:spcPct val="0"/>
              </a:spcBef>
              <a:spcAft>
                <a:spcPct val="0"/>
              </a:spcAft>
              <a:defRPr sz="2400">
                <a:solidFill>
                  <a:schemeClr val="tx1"/>
                </a:solidFill>
                <a:latin typeface="Times New Roman" pitchFamily="18" charset="0"/>
              </a:defRPr>
            </a:lvl9pPr>
          </a:lstStyle>
          <a:p>
            <a:pPr>
              <a:defRPr/>
            </a:pPr>
            <a:endParaRPr kumimoji="1" lang="en-US" altLang="en-US" sz="3200">
              <a:effectLst>
                <a:outerShdw blurRad="38100" dist="38100" dir="2700000" algn="tl">
                  <a:srgbClr val="C0C0C0"/>
                </a:outerShdw>
              </a:effectLst>
              <a:latin typeface="Tahoma" pitchFamily="34" charset="0"/>
            </a:endParaRPr>
          </a:p>
        </p:txBody>
      </p:sp>
      <p:sp>
        <p:nvSpPr>
          <p:cNvPr id="7172" name="Rectangle 4"/>
          <p:cNvSpPr>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lgn="ctr">
              <a:spcBef>
                <a:spcPct val="20000"/>
              </a:spcBef>
              <a:buClr>
                <a:schemeClr val="accent1"/>
              </a:buClr>
              <a:buSzPct val="85000"/>
              <a:buFont typeface="Wingdings 2" pitchFamily="18" charset="2"/>
              <a:buNone/>
              <a:defRPr/>
            </a:pPr>
            <a:endParaRPr kumimoji="1" lang="en-US" altLang="en-US" sz="1000">
              <a:solidFill>
                <a:srgbClr val="FF0000"/>
              </a:solidFill>
              <a:effectLst>
                <a:outerShdw blurRad="38100" dist="38100" dir="2700000" algn="tl">
                  <a:srgbClr val="C0C0C0"/>
                </a:outerShdw>
              </a:effectLst>
              <a:latin typeface="Tahoma" pitchFamily="34" charset="0"/>
            </a:endParaRPr>
          </a:p>
        </p:txBody>
      </p:sp>
      <p:sp>
        <p:nvSpPr>
          <p:cNvPr id="7193" name="Rectangle 25"/>
          <p:cNvSpPr>
            <a:spLocks noChangeArrowheads="1"/>
          </p:cNvSpPr>
          <p:nvPr/>
        </p:nvSpPr>
        <p:spPr bwMode="auto">
          <a:xfrm>
            <a:off x="457200" y="225583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lgn="ctr">
              <a:spcBef>
                <a:spcPct val="20000"/>
              </a:spcBef>
              <a:buClr>
                <a:schemeClr val="accent1"/>
              </a:buClr>
              <a:buSzPct val="85000"/>
              <a:buFont typeface="Wingdings 2" pitchFamily="18" charset="2"/>
              <a:buNone/>
              <a:defRPr/>
            </a:pP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200">
                <a:solidFill>
                  <a:srgbClr val="FF0000"/>
                </a:solidFill>
                <a:effectLst>
                  <a:outerShdw blurRad="38100" dist="38100" dir="2700000" algn="tl">
                    <a:srgbClr val="C0C0C0"/>
                  </a:outerShdw>
                </a:effectLst>
                <a:latin typeface="Tahoma" pitchFamily="34" charset="0"/>
              </a:rPr>
              <a:t>11</a:t>
            </a:r>
            <a:r>
              <a:rPr kumimoji="1" lang="en-US" altLang="en-US" sz="12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21</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31</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41</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12</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22</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32</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42</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13</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23</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33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43</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14</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24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34</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rgbClr val="FF0000"/>
                </a:solidFill>
                <a:effectLst>
                  <a:outerShdw blurRad="38100" dist="38100" dir="2700000" algn="tl">
                    <a:srgbClr val="C0C0C0"/>
                  </a:outerShdw>
                </a:effectLst>
                <a:latin typeface="Tahoma" pitchFamily="34" charset="0"/>
              </a:rPr>
              <a:t>a</a:t>
            </a:r>
            <a:r>
              <a:rPr kumimoji="1" lang="en-US" altLang="en-US" sz="1000">
                <a:solidFill>
                  <a:srgbClr val="FF0000"/>
                </a:solidFill>
                <a:effectLst>
                  <a:outerShdw blurRad="38100" dist="38100" dir="2700000" algn="tl">
                    <a:srgbClr val="C0C0C0"/>
                  </a:outerShdw>
                </a:effectLst>
                <a:latin typeface="Tahoma" pitchFamily="34" charset="0"/>
              </a:rPr>
              <a:t>44</a:t>
            </a:r>
          </a:p>
        </p:txBody>
      </p:sp>
      <p:sp>
        <p:nvSpPr>
          <p:cNvPr id="6150" name="Line 37"/>
          <p:cNvSpPr>
            <a:spLocks noChangeShapeType="1"/>
          </p:cNvSpPr>
          <p:nvPr/>
        </p:nvSpPr>
        <p:spPr bwMode="auto">
          <a:xfrm>
            <a:off x="3505200" y="469423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1" name="Line 38"/>
          <p:cNvSpPr>
            <a:spLocks noChangeShapeType="1"/>
          </p:cNvSpPr>
          <p:nvPr/>
        </p:nvSpPr>
        <p:spPr bwMode="auto">
          <a:xfrm>
            <a:off x="4191000" y="469423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2" name="Line 39"/>
          <p:cNvSpPr>
            <a:spLocks noChangeShapeType="1"/>
          </p:cNvSpPr>
          <p:nvPr/>
        </p:nvSpPr>
        <p:spPr bwMode="auto">
          <a:xfrm>
            <a:off x="4876800" y="469423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3" name="Line 40"/>
          <p:cNvSpPr>
            <a:spLocks noChangeShapeType="1"/>
          </p:cNvSpPr>
          <p:nvPr/>
        </p:nvSpPr>
        <p:spPr bwMode="auto">
          <a:xfrm>
            <a:off x="5562600" y="4694238"/>
            <a:ext cx="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4" name="Rectangle 41"/>
          <p:cNvSpPr>
            <a:spLocks noChangeArrowheads="1"/>
          </p:cNvSpPr>
          <p:nvPr/>
        </p:nvSpPr>
        <p:spPr bwMode="auto">
          <a:xfrm>
            <a:off x="3048000" y="5810250"/>
            <a:ext cx="3051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pPr>
            <a:r>
              <a:rPr lang="hr-HR" altLang="en-US" sz="2800"/>
              <a:t>M</a:t>
            </a:r>
            <a:r>
              <a:rPr lang="en-US" altLang="en-US" sz="2800"/>
              <a:t>1   </a:t>
            </a:r>
            <a:r>
              <a:rPr lang="hr-HR" altLang="en-US" sz="2800"/>
              <a:t>M</a:t>
            </a:r>
            <a:r>
              <a:rPr lang="en-US" altLang="en-US" sz="2800"/>
              <a:t>2   </a:t>
            </a:r>
            <a:r>
              <a:rPr lang="hr-HR" altLang="en-US" sz="2800"/>
              <a:t>M</a:t>
            </a:r>
            <a:r>
              <a:rPr lang="en-US" altLang="en-US" sz="2800"/>
              <a:t>3   </a:t>
            </a:r>
            <a:r>
              <a:rPr lang="hr-HR" altLang="en-US" sz="2800"/>
              <a:t>M</a:t>
            </a:r>
            <a:r>
              <a:rPr lang="en-US" altLang="en-US" sz="2800"/>
              <a:t>4</a:t>
            </a:r>
          </a:p>
        </p:txBody>
      </p:sp>
      <p:sp>
        <p:nvSpPr>
          <p:cNvPr id="6155" name="Text Box 42"/>
          <p:cNvSpPr txBox="1">
            <a:spLocks noChangeArrowheads="1"/>
          </p:cNvSpPr>
          <p:nvPr/>
        </p:nvSpPr>
        <p:spPr bwMode="auto">
          <a:xfrm>
            <a:off x="457200" y="3170238"/>
            <a:ext cx="2168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2400"/>
              <a:t>Seri</a:t>
            </a:r>
            <a:r>
              <a:rPr lang="hr-HR" altLang="en-US" sz="2400"/>
              <a:t>jski pristup</a:t>
            </a:r>
            <a:endParaRPr lang="en-US" altLang="en-US" sz="2400"/>
          </a:p>
          <a:p>
            <a:pPr eaLnBrk="1" hangingPunct="1"/>
            <a:r>
              <a:rPr lang="hr-HR" altLang="en-US" sz="2400"/>
              <a:t>vrstama</a:t>
            </a:r>
            <a:endParaRPr lang="en-US" altLang="en-US" sz="2400"/>
          </a:p>
        </p:txBody>
      </p:sp>
      <p:sp>
        <p:nvSpPr>
          <p:cNvPr id="6156" name="Line 43"/>
          <p:cNvSpPr>
            <a:spLocks noChangeShapeType="1"/>
          </p:cNvSpPr>
          <p:nvPr/>
        </p:nvSpPr>
        <p:spPr bwMode="auto">
          <a:xfrm flipV="1">
            <a:off x="2438400" y="2713038"/>
            <a:ext cx="8382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7" name="Line 44"/>
          <p:cNvSpPr>
            <a:spLocks noChangeShapeType="1"/>
          </p:cNvSpPr>
          <p:nvPr/>
        </p:nvSpPr>
        <p:spPr bwMode="auto">
          <a:xfrm>
            <a:off x="2438400" y="3475038"/>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Line 45"/>
          <p:cNvSpPr>
            <a:spLocks noChangeShapeType="1"/>
          </p:cNvSpPr>
          <p:nvPr/>
        </p:nvSpPr>
        <p:spPr bwMode="auto">
          <a:xfrm>
            <a:off x="2438400" y="3475038"/>
            <a:ext cx="7620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9" name="Line 46"/>
          <p:cNvSpPr>
            <a:spLocks noChangeShapeType="1"/>
          </p:cNvSpPr>
          <p:nvPr/>
        </p:nvSpPr>
        <p:spPr bwMode="auto">
          <a:xfrm flipV="1">
            <a:off x="2438400" y="3246438"/>
            <a:ext cx="7620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60" name="Rectangle 47"/>
          <p:cNvSpPr>
            <a:spLocks noChangeArrowheads="1"/>
          </p:cNvSpPr>
          <p:nvPr/>
        </p:nvSpPr>
        <p:spPr bwMode="auto">
          <a:xfrm>
            <a:off x="3352800" y="2286000"/>
            <a:ext cx="5334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61" name="Rectangle 48"/>
          <p:cNvSpPr>
            <a:spLocks noChangeArrowheads="1"/>
          </p:cNvSpPr>
          <p:nvPr/>
        </p:nvSpPr>
        <p:spPr bwMode="auto">
          <a:xfrm>
            <a:off x="3962400" y="2286000"/>
            <a:ext cx="5334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62" name="Rectangle 49"/>
          <p:cNvSpPr>
            <a:spLocks noChangeArrowheads="1"/>
          </p:cNvSpPr>
          <p:nvPr/>
        </p:nvSpPr>
        <p:spPr bwMode="auto">
          <a:xfrm>
            <a:off x="4572000" y="2286000"/>
            <a:ext cx="5334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63" name="Rectangle 50"/>
          <p:cNvSpPr>
            <a:spLocks noChangeArrowheads="1"/>
          </p:cNvSpPr>
          <p:nvPr/>
        </p:nvSpPr>
        <p:spPr bwMode="auto">
          <a:xfrm>
            <a:off x="5181600" y="2286000"/>
            <a:ext cx="533400" cy="2057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19" name="Text Box 51"/>
          <p:cNvSpPr txBox="1">
            <a:spLocks noChangeArrowheads="1"/>
          </p:cNvSpPr>
          <p:nvPr/>
        </p:nvSpPr>
        <p:spPr bwMode="auto">
          <a:xfrm>
            <a:off x="6629400" y="2286000"/>
            <a:ext cx="21494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defRPr/>
            </a:pPr>
            <a:r>
              <a:rPr kumimoji="1" lang="en-US" altLang="en-US">
                <a:effectLst>
                  <a:outerShdw blurRad="38100" dist="38100" dir="2700000" algn="tl">
                    <a:srgbClr val="C0C0C0"/>
                  </a:outerShdw>
                </a:effectLst>
                <a:latin typeface="Arial" charset="0"/>
              </a:rPr>
              <a:t>Paralel</a:t>
            </a:r>
            <a:r>
              <a:rPr kumimoji="1" lang="hr-HR" altLang="en-US">
                <a:effectLst>
                  <a:outerShdw blurRad="38100" dist="38100" dir="2700000" algn="tl">
                    <a:srgbClr val="C0C0C0"/>
                  </a:outerShdw>
                </a:effectLst>
                <a:latin typeface="Arial" charset="0"/>
              </a:rPr>
              <a:t>ni pristup po kolonama i dijagonalama</a:t>
            </a:r>
            <a:endParaRPr kumimoji="1" lang="en-US" altLang="en-US">
              <a:effectLst>
                <a:outerShdw blurRad="38100" dist="38100" dir="2700000" algn="tl">
                  <a:srgbClr val="C0C0C0"/>
                </a:outerShdw>
              </a:effectLst>
              <a:latin typeface="Arial" charset="0"/>
            </a:endParaRPr>
          </a:p>
        </p:txBody>
      </p:sp>
    </p:spTree>
    <p:extLst>
      <p:ext uri="{BB962C8B-B14F-4D97-AF65-F5344CB8AC3E}">
        <p14:creationId xmlns:p14="http://schemas.microsoft.com/office/powerpoint/2010/main" val="2670916982"/>
      </p:ext>
    </p:extLst>
  </p:cSld>
  <p:clrMapOvr>
    <a:masterClrMapping/>
  </p:clrMapOvr>
  <p:transition>
    <p:pull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0" y="0"/>
            <a:ext cx="9144000" cy="579438"/>
          </a:xfrm>
        </p:spPr>
        <p:txBody>
          <a:bodyPr/>
          <a:lstStyle/>
          <a:p>
            <a:pPr>
              <a:defRPr/>
            </a:pPr>
            <a:r>
              <a:rPr lang="sr-Latn-CS" altLang="en-US" sz="3200">
                <a:solidFill>
                  <a:schemeClr val="bg1"/>
                </a:solidFill>
              </a:rPr>
              <a:t>Primer - nastavak</a:t>
            </a:r>
            <a:endParaRPr lang="en-US" altLang="en-US" sz="3200">
              <a:solidFill>
                <a:schemeClr val="bg1"/>
              </a:solidFill>
            </a:endParaRPr>
          </a:p>
        </p:txBody>
      </p:sp>
      <p:sp>
        <p:nvSpPr>
          <p:cNvPr id="1028" name="Rectangle 4"/>
          <p:cNvSpPr>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200">
                <a:solidFill>
                  <a:schemeClr val="accent1"/>
                </a:solidFill>
                <a:effectLst>
                  <a:outerShdw blurRad="38100" dist="38100" dir="2700000" algn="tl">
                    <a:srgbClr val="C0C0C0"/>
                  </a:outerShdw>
                </a:effectLst>
                <a:latin typeface="Tahoma" pitchFamily="34" charset="0"/>
              </a:rPr>
              <a:t>11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12 </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hr-HR"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13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14</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24</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21 </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hr-HR"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22</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23</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33</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34</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hr-HR"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31 </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32</a:t>
            </a:r>
          </a:p>
          <a:p>
            <a:pPr algn="ct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42</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43</a:t>
            </a:r>
            <a:r>
              <a:rPr kumimoji="1" lang="en-US" altLang="en-US" sz="2800">
                <a:solidFill>
                  <a:schemeClr val="accent1"/>
                </a:solidFill>
                <a:effectLst>
                  <a:outerShdw blurRad="38100" dist="38100" dir="2700000" algn="tl">
                    <a:srgbClr val="C0C0C0"/>
                  </a:outerShdw>
                </a:effectLst>
                <a:latin typeface="Tahoma" pitchFamily="34" charset="0"/>
              </a:rPr>
              <a:t>  </a:t>
            </a:r>
            <a:r>
              <a:rPr kumimoji="1" lang="hr-HR" altLang="en-US" sz="28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44</a:t>
            </a: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41</a:t>
            </a:r>
          </a:p>
        </p:txBody>
      </p:sp>
      <p:sp>
        <p:nvSpPr>
          <p:cNvPr id="7172" name="Line 16"/>
          <p:cNvSpPr>
            <a:spLocks noChangeShapeType="1"/>
          </p:cNvSpPr>
          <p:nvPr/>
        </p:nvSpPr>
        <p:spPr bwMode="auto">
          <a:xfrm>
            <a:off x="35052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3" name="Line 17"/>
          <p:cNvSpPr>
            <a:spLocks noChangeShapeType="1"/>
          </p:cNvSpPr>
          <p:nvPr/>
        </p:nvSpPr>
        <p:spPr bwMode="auto">
          <a:xfrm>
            <a:off x="42672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4" name="Line 18"/>
          <p:cNvSpPr>
            <a:spLocks noChangeShapeType="1"/>
          </p:cNvSpPr>
          <p:nvPr/>
        </p:nvSpPr>
        <p:spPr bwMode="auto">
          <a:xfrm>
            <a:off x="48768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5" name="Line 19"/>
          <p:cNvSpPr>
            <a:spLocks noChangeShapeType="1"/>
          </p:cNvSpPr>
          <p:nvPr/>
        </p:nvSpPr>
        <p:spPr bwMode="auto">
          <a:xfrm>
            <a:off x="57150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6" name="Rectangle 20"/>
          <p:cNvSpPr>
            <a:spLocks noChangeArrowheads="1"/>
          </p:cNvSpPr>
          <p:nvPr/>
        </p:nvSpPr>
        <p:spPr bwMode="auto">
          <a:xfrm>
            <a:off x="3276600" y="5029200"/>
            <a:ext cx="4572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1</a:t>
            </a:r>
          </a:p>
        </p:txBody>
      </p:sp>
      <p:sp>
        <p:nvSpPr>
          <p:cNvPr id="7177" name="Rectangle 21"/>
          <p:cNvSpPr>
            <a:spLocks noChangeArrowheads="1"/>
          </p:cNvSpPr>
          <p:nvPr/>
        </p:nvSpPr>
        <p:spPr bwMode="auto">
          <a:xfrm>
            <a:off x="4038600" y="5029200"/>
            <a:ext cx="4572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2</a:t>
            </a:r>
          </a:p>
        </p:txBody>
      </p:sp>
      <p:sp>
        <p:nvSpPr>
          <p:cNvPr id="7178" name="Rectangle 22"/>
          <p:cNvSpPr>
            <a:spLocks noChangeArrowheads="1"/>
          </p:cNvSpPr>
          <p:nvPr/>
        </p:nvSpPr>
        <p:spPr bwMode="auto">
          <a:xfrm>
            <a:off x="4724400" y="5029200"/>
            <a:ext cx="4572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3</a:t>
            </a:r>
          </a:p>
        </p:txBody>
      </p:sp>
      <p:sp>
        <p:nvSpPr>
          <p:cNvPr id="7179" name="Rectangle 23"/>
          <p:cNvSpPr>
            <a:spLocks noChangeArrowheads="1"/>
          </p:cNvSpPr>
          <p:nvPr/>
        </p:nvSpPr>
        <p:spPr bwMode="auto">
          <a:xfrm>
            <a:off x="5486400" y="5029200"/>
            <a:ext cx="4572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4</a:t>
            </a:r>
          </a:p>
        </p:txBody>
      </p:sp>
      <p:sp>
        <p:nvSpPr>
          <p:cNvPr id="1048" name="Oval 24"/>
          <p:cNvSpPr>
            <a:spLocks noChangeArrowheads="1"/>
          </p:cNvSpPr>
          <p:nvPr/>
        </p:nvSpPr>
        <p:spPr bwMode="auto">
          <a:xfrm>
            <a:off x="4648200" y="3200400"/>
            <a:ext cx="457200" cy="457200"/>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1049" name="Oval 25"/>
          <p:cNvSpPr>
            <a:spLocks noChangeArrowheads="1"/>
          </p:cNvSpPr>
          <p:nvPr/>
        </p:nvSpPr>
        <p:spPr bwMode="auto">
          <a:xfrm>
            <a:off x="3352800" y="2667000"/>
            <a:ext cx="457200" cy="457200"/>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1050" name="Oval 26"/>
          <p:cNvSpPr>
            <a:spLocks noChangeArrowheads="1"/>
          </p:cNvSpPr>
          <p:nvPr/>
        </p:nvSpPr>
        <p:spPr bwMode="auto">
          <a:xfrm>
            <a:off x="4648200" y="2209800"/>
            <a:ext cx="457200" cy="457200"/>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1051" name="Oval 27"/>
          <p:cNvSpPr>
            <a:spLocks noChangeArrowheads="1"/>
          </p:cNvSpPr>
          <p:nvPr/>
        </p:nvSpPr>
        <p:spPr bwMode="auto">
          <a:xfrm>
            <a:off x="3429000" y="1676400"/>
            <a:ext cx="457200" cy="457200"/>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184" name="Rectangle 28"/>
          <p:cNvSpPr>
            <a:spLocks noChangeArrowheads="1"/>
          </p:cNvSpPr>
          <p:nvPr/>
        </p:nvSpPr>
        <p:spPr bwMode="auto">
          <a:xfrm>
            <a:off x="3276600" y="1600200"/>
            <a:ext cx="6096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185" name="Rectangle 29"/>
          <p:cNvSpPr>
            <a:spLocks noChangeArrowheads="1"/>
          </p:cNvSpPr>
          <p:nvPr/>
        </p:nvSpPr>
        <p:spPr bwMode="auto">
          <a:xfrm>
            <a:off x="4038600" y="1600200"/>
            <a:ext cx="4572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endParaRPr lang="en-US" altLang="en-US"/>
          </a:p>
        </p:txBody>
      </p:sp>
      <p:sp>
        <p:nvSpPr>
          <p:cNvPr id="7186" name="Rectangle 30"/>
          <p:cNvSpPr>
            <a:spLocks noChangeArrowheads="1"/>
          </p:cNvSpPr>
          <p:nvPr/>
        </p:nvSpPr>
        <p:spPr bwMode="auto">
          <a:xfrm>
            <a:off x="4572000" y="1600200"/>
            <a:ext cx="6096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187" name="Rectangle 31"/>
          <p:cNvSpPr>
            <a:spLocks noChangeArrowheads="1"/>
          </p:cNvSpPr>
          <p:nvPr/>
        </p:nvSpPr>
        <p:spPr bwMode="auto">
          <a:xfrm>
            <a:off x="5257800" y="1600200"/>
            <a:ext cx="6096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1056" name="Text Box 32"/>
          <p:cNvSpPr txBox="1">
            <a:spLocks noChangeArrowheads="1"/>
          </p:cNvSpPr>
          <p:nvPr/>
        </p:nvSpPr>
        <p:spPr bwMode="auto">
          <a:xfrm>
            <a:off x="669925" y="5797550"/>
            <a:ext cx="5522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defRPr/>
            </a:pPr>
            <a:r>
              <a:rPr lang="hr-HR" altLang="en-US" sz="2000">
                <a:solidFill>
                  <a:schemeClr val="hlink"/>
                </a:solidFill>
                <a:effectLst>
                  <a:outerShdw blurRad="38100" dist="38100" dir="2700000" algn="tl">
                    <a:srgbClr val="C0C0C0"/>
                  </a:outerShdw>
                </a:effectLst>
                <a:latin typeface="Tahoma" pitchFamily="34" charset="0"/>
              </a:rPr>
              <a:t>Konflikti kod pristupa dijagonalnim elementima</a:t>
            </a:r>
            <a:r>
              <a:rPr lang="hr-HR" altLang="en-US" sz="2000">
                <a:latin typeface="Tahoma" pitchFamily="34" charset="0"/>
              </a:rPr>
              <a:t>!</a:t>
            </a:r>
            <a:endParaRPr lang="en-US" altLang="en-US" sz="2000">
              <a:latin typeface="Tahoma" pitchFamily="34" charset="0"/>
            </a:endParaRPr>
          </a:p>
        </p:txBody>
      </p:sp>
      <p:sp>
        <p:nvSpPr>
          <p:cNvPr id="1057" name="Text Box 33"/>
          <p:cNvSpPr txBox="1">
            <a:spLocks noChangeArrowheads="1"/>
          </p:cNvSpPr>
          <p:nvPr/>
        </p:nvSpPr>
        <p:spPr bwMode="auto">
          <a:xfrm>
            <a:off x="381000" y="1295400"/>
            <a:ext cx="23780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defRPr/>
            </a:pPr>
            <a:r>
              <a:rPr kumimoji="1" lang="en-US" altLang="en-US">
                <a:effectLst>
                  <a:outerShdw blurRad="38100" dist="38100" dir="2700000" algn="tl">
                    <a:srgbClr val="C0C0C0"/>
                  </a:outerShdw>
                </a:effectLst>
                <a:latin typeface="Tahoma" pitchFamily="34" charset="0"/>
              </a:rPr>
              <a:t>Paral</a:t>
            </a:r>
            <a:r>
              <a:rPr kumimoji="1" lang="hr-HR" altLang="en-US">
                <a:effectLst>
                  <a:outerShdw blurRad="38100" dist="38100" dir="2700000" algn="tl">
                    <a:srgbClr val="C0C0C0"/>
                  </a:outerShdw>
                </a:effectLst>
                <a:latin typeface="Tahoma" pitchFamily="34" charset="0"/>
              </a:rPr>
              <a:t>e</a:t>
            </a:r>
            <a:r>
              <a:rPr kumimoji="1" lang="en-US" altLang="en-US">
                <a:effectLst>
                  <a:outerShdw blurRad="38100" dist="38100" dir="2700000" algn="tl">
                    <a:srgbClr val="C0C0C0"/>
                  </a:outerShdw>
                </a:effectLst>
                <a:latin typeface="Tahoma" pitchFamily="34" charset="0"/>
              </a:rPr>
              <a:t>l</a:t>
            </a:r>
            <a:r>
              <a:rPr kumimoji="1" lang="hr-HR" altLang="en-US">
                <a:effectLst>
                  <a:outerShdw blurRad="38100" dist="38100" dir="2700000" algn="tl">
                    <a:srgbClr val="C0C0C0"/>
                  </a:outerShdw>
                </a:effectLst>
                <a:latin typeface="Tahoma" pitchFamily="34" charset="0"/>
              </a:rPr>
              <a:t>ni pristup elementima kolona i vrsta</a:t>
            </a:r>
            <a:endParaRPr kumimoji="1" lang="en-US" altLang="en-US">
              <a:effectLst>
                <a:outerShdw blurRad="38100" dist="38100" dir="2700000" algn="tl">
                  <a:srgbClr val="C0C0C0"/>
                </a:outerShdw>
              </a:effectLst>
              <a:latin typeface="Tahoma" pitchFamily="34" charset="0"/>
            </a:endParaRPr>
          </a:p>
        </p:txBody>
      </p:sp>
      <p:sp>
        <p:nvSpPr>
          <p:cNvPr id="7190" name="Text Box 34"/>
          <p:cNvSpPr txBox="1">
            <a:spLocks noChangeArrowheads="1"/>
          </p:cNvSpPr>
          <p:nvPr/>
        </p:nvSpPr>
        <p:spPr bwMode="auto">
          <a:xfrm>
            <a:off x="517525" y="1103313"/>
            <a:ext cx="27590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Tree>
    <p:extLst>
      <p:ext uri="{BB962C8B-B14F-4D97-AF65-F5344CB8AC3E}">
        <p14:creationId xmlns:p14="http://schemas.microsoft.com/office/powerpoint/2010/main" val="132031845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box(in)">
                                      <p:cBhvr>
                                        <p:cTn id="7" dur="500"/>
                                        <p:tgtEl>
                                          <p:spTgt spid="1051"/>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050"/>
                                        </p:tgtEl>
                                        <p:attrNameLst>
                                          <p:attrName>style.visibility</p:attrName>
                                        </p:attrNameLst>
                                      </p:cBhvr>
                                      <p:to>
                                        <p:strVal val="visible"/>
                                      </p:to>
                                    </p:set>
                                    <p:animEffect transition="in" filter="box(in)">
                                      <p:cBhvr>
                                        <p:cTn id="11" dur="500"/>
                                        <p:tgtEl>
                                          <p:spTgt spid="1050"/>
                                        </p:tgtEl>
                                      </p:cBhvr>
                                    </p:animEffect>
                                  </p:childTnLst>
                                </p:cTn>
                              </p:par>
                            </p:childTnLst>
                          </p:cTn>
                        </p:par>
                        <p:par>
                          <p:cTn id="12" fill="hold" nodeType="afterGroup">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1049"/>
                                        </p:tgtEl>
                                        <p:attrNameLst>
                                          <p:attrName>style.visibility</p:attrName>
                                        </p:attrNameLst>
                                      </p:cBhvr>
                                      <p:to>
                                        <p:strVal val="visible"/>
                                      </p:to>
                                    </p:set>
                                    <p:animEffect transition="in" filter="box(in)">
                                      <p:cBhvr>
                                        <p:cTn id="15" dur="500"/>
                                        <p:tgtEl>
                                          <p:spTgt spid="1049"/>
                                        </p:tgtEl>
                                      </p:cBhvr>
                                    </p:animEffect>
                                  </p:childTnLst>
                                </p:cTn>
                              </p:par>
                            </p:childTnLst>
                          </p:cTn>
                        </p:par>
                        <p:par>
                          <p:cTn id="16" fill="hold" nodeType="afterGroup">
                            <p:stCondLst>
                              <p:cond delay="1500"/>
                            </p:stCondLst>
                            <p:childTnLst>
                              <p:par>
                                <p:cTn id="17" presetID="4" presetClass="entr" presetSubtype="16" fill="hold" grpId="0" nodeType="afterEffect">
                                  <p:stCondLst>
                                    <p:cond delay="0"/>
                                  </p:stCondLst>
                                  <p:childTnLst>
                                    <p:set>
                                      <p:cBhvr>
                                        <p:cTn id="18" dur="1" fill="hold">
                                          <p:stCondLst>
                                            <p:cond delay="0"/>
                                          </p:stCondLst>
                                        </p:cTn>
                                        <p:tgtEl>
                                          <p:spTgt spid="1048"/>
                                        </p:tgtEl>
                                        <p:attrNameLst>
                                          <p:attrName>style.visibility</p:attrName>
                                        </p:attrNameLst>
                                      </p:cBhvr>
                                      <p:to>
                                        <p:strVal val="visible"/>
                                      </p:to>
                                    </p:set>
                                    <p:animEffect transition="in" filter="box(in)">
                                      <p:cBhvr>
                                        <p:cTn id="19" dur="500"/>
                                        <p:tgtEl>
                                          <p:spTgt spid="1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 grpId="0" animBg="1"/>
      <p:bldP spid="1049" grpId="0" animBg="1"/>
      <p:bldP spid="1050" grpId="0" animBg="1"/>
      <p:bldP spid="105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579438"/>
          </a:xfrm>
        </p:spPr>
        <p:txBody>
          <a:bodyPr/>
          <a:lstStyle/>
          <a:p>
            <a:pPr>
              <a:defRPr/>
            </a:pPr>
            <a:r>
              <a:rPr lang="sr-Latn-CS" altLang="en-US" sz="3200">
                <a:solidFill>
                  <a:schemeClr val="bg1"/>
                </a:solidFill>
              </a:rPr>
              <a:t>Primer - nastavak</a:t>
            </a:r>
            <a:endParaRPr lang="en-US" altLang="en-US" sz="3200">
              <a:solidFill>
                <a:schemeClr val="bg1"/>
              </a:solidFill>
            </a:endParaRPr>
          </a:p>
        </p:txBody>
      </p:sp>
      <p:sp>
        <p:nvSpPr>
          <p:cNvPr id="8196" name="Rectangle 4"/>
          <p:cNvSpPr>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11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12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13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14</a:t>
            </a:r>
            <a:r>
              <a:rPr kumimoji="1" lang="hr-HR" altLang="en-US" sz="1000">
                <a:solidFill>
                  <a:schemeClr val="accent1"/>
                </a:solidFill>
                <a:effectLst>
                  <a:outerShdw blurRad="38100" dist="38100" dir="2700000" algn="tl">
                    <a:srgbClr val="C0C0C0"/>
                  </a:outerShdw>
                </a:effectLst>
                <a:latin typeface="Tahoma" pitchFamily="34" charset="0"/>
              </a:rPr>
              <a:t> 	</a:t>
            </a:r>
            <a:r>
              <a:rPr kumimoji="1" lang="hr-HR" altLang="en-US" sz="1400">
                <a:solidFill>
                  <a:schemeClr val="accent1"/>
                </a:solidFill>
                <a:effectLst>
                  <a:outerShdw blurRad="38100" dist="38100" dir="2700000" algn="tl">
                    <a:srgbClr val="C0C0C0"/>
                  </a:outerShdw>
                </a:effectLst>
                <a:latin typeface="Tahoma" pitchFamily="34" charset="0"/>
              </a:rPr>
              <a:t>---</a:t>
            </a:r>
            <a:endParaRPr kumimoji="1" lang="en-US" altLang="en-US" sz="1000">
              <a:solidFill>
                <a:schemeClr val="accent1"/>
              </a:solidFill>
              <a:effectLst>
                <a:outerShdw blurRad="38100" dist="38100" dir="2700000" algn="tl">
                  <a:srgbClr val="C0C0C0"/>
                </a:outerShdw>
              </a:effectLst>
              <a:latin typeface="Tahoma" pitchFamily="34" charset="0"/>
            </a:endParaRPr>
          </a:p>
          <a:p>
            <a:pPr>
              <a:spcBef>
                <a:spcPct val="20000"/>
              </a:spcBef>
              <a:buClr>
                <a:schemeClr val="accent1"/>
              </a:buClr>
              <a:buSzPct val="85000"/>
              <a:buFont typeface="Wingdings 2" pitchFamily="18" charset="2"/>
              <a:buNone/>
              <a:defRPr/>
            </a:pPr>
            <a:r>
              <a:rPr kumimoji="1" lang="en-US" altLang="en-US" sz="1000">
                <a:solidFill>
                  <a:schemeClr val="accent1"/>
                </a:solidFill>
                <a:effectLst>
                  <a:outerShdw blurRad="38100" dist="38100" dir="2700000" algn="tl">
                    <a:srgbClr val="C0C0C0"/>
                  </a:outerShdw>
                </a:effectLst>
                <a:latin typeface="Tahoma" pitchFamily="34" charset="0"/>
              </a:rPr>
              <a:t>			</a:t>
            </a:r>
            <a:r>
              <a:rPr kumimoji="1" lang="hr-HR" altLang="en-US" sz="1400">
                <a:solidFill>
                  <a:schemeClr val="accent1"/>
                </a:solidFill>
                <a:effectLst>
                  <a:outerShdw blurRad="38100" dist="38100" dir="2700000" algn="tl">
                    <a:srgbClr val="C0C0C0"/>
                  </a:outerShdw>
                </a:effectLst>
                <a:latin typeface="Tahoma" pitchFamily="34" charset="0"/>
              </a:rPr>
              <a:t>---</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900">
                <a:solidFill>
                  <a:schemeClr val="accent1"/>
                </a:solidFill>
                <a:effectLst>
                  <a:outerShdw blurRad="38100" dist="38100" dir="2700000" algn="tl">
                    <a:srgbClr val="C0C0C0"/>
                  </a:outerShdw>
                </a:effectLst>
                <a:latin typeface="Tahoma" pitchFamily="34" charset="0"/>
              </a:rPr>
              <a:t>21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22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23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24</a:t>
            </a:r>
          </a:p>
          <a:p>
            <a:pP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34	 </a:t>
            </a:r>
            <a:r>
              <a:rPr kumimoji="1" lang="hr-HR" altLang="en-US" sz="1400">
                <a:solidFill>
                  <a:schemeClr val="accent1"/>
                </a:solidFill>
                <a:effectLst>
                  <a:outerShdw blurRad="38100" dist="38100" dir="2700000" algn="tl">
                    <a:srgbClr val="C0C0C0"/>
                  </a:outerShdw>
                </a:effectLst>
                <a:latin typeface="Tahoma" pitchFamily="34" charset="0"/>
              </a:rPr>
              <a:t>---</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31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32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33</a:t>
            </a:r>
          </a:p>
          <a:p>
            <a:pPr>
              <a:spcBef>
                <a:spcPct val="20000"/>
              </a:spcBef>
              <a:buClr>
                <a:schemeClr val="accent1"/>
              </a:buClr>
              <a:buSzPct val="85000"/>
              <a:buFont typeface="Wingdings 2" pitchFamily="18" charset="2"/>
              <a:buNone/>
              <a:defRPr/>
            </a:pPr>
            <a:r>
              <a:rPr kumimoji="1" lang="en-US" altLang="en-US" sz="2800">
                <a:solidFill>
                  <a:schemeClr val="accent1"/>
                </a:solidFill>
                <a:effectLst>
                  <a:outerShdw blurRad="38100" dist="38100" dir="2700000" algn="tl">
                    <a:srgbClr val="C0C0C0"/>
                  </a:outerShdw>
                </a:effectLst>
                <a:latin typeface="Tahoma" pitchFamily="34" charset="0"/>
              </a:rPr>
              <a:t>			a</a:t>
            </a:r>
            <a:r>
              <a:rPr kumimoji="1" lang="en-US" altLang="en-US" sz="1000">
                <a:solidFill>
                  <a:schemeClr val="accent1"/>
                </a:solidFill>
                <a:effectLst>
                  <a:outerShdw blurRad="38100" dist="38100" dir="2700000" algn="tl">
                    <a:srgbClr val="C0C0C0"/>
                  </a:outerShdw>
                </a:effectLst>
                <a:latin typeface="Tahoma" pitchFamily="34" charset="0"/>
              </a:rPr>
              <a:t>43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44	 </a:t>
            </a:r>
            <a:r>
              <a:rPr kumimoji="1" lang="hr-HR" altLang="en-US" sz="1400">
                <a:solidFill>
                  <a:schemeClr val="accent1"/>
                </a:solidFill>
                <a:effectLst>
                  <a:outerShdw blurRad="38100" dist="38100" dir="2700000" algn="tl">
                    <a:srgbClr val="C0C0C0"/>
                  </a:outerShdw>
                </a:effectLst>
                <a:latin typeface="Tahoma" pitchFamily="34" charset="0"/>
              </a:rPr>
              <a:t>---</a:t>
            </a:r>
            <a:r>
              <a:rPr kumimoji="1" lang="en-US" altLang="en-US" sz="1000">
                <a:solidFill>
                  <a:schemeClr val="accent1"/>
                </a:solidFill>
                <a:effectLst>
                  <a:outerShdw blurRad="38100" dist="38100" dir="2700000" algn="tl">
                    <a:srgbClr val="C0C0C0"/>
                  </a:outerShdw>
                </a:effectLst>
                <a:latin typeface="Tahoma" pitchFamily="34" charset="0"/>
              </a:rPr>
              <a:t>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41	</a:t>
            </a:r>
            <a:r>
              <a:rPr kumimoji="1" lang="en-US" altLang="en-US" sz="2800">
                <a:solidFill>
                  <a:schemeClr val="accent1"/>
                </a:solidFill>
                <a:effectLst>
                  <a:outerShdw blurRad="38100" dist="38100" dir="2700000" algn="tl">
                    <a:srgbClr val="C0C0C0"/>
                  </a:outerShdw>
                </a:effectLst>
                <a:latin typeface="Tahoma" pitchFamily="34" charset="0"/>
              </a:rPr>
              <a:t>a</a:t>
            </a:r>
            <a:r>
              <a:rPr kumimoji="1" lang="en-US" altLang="en-US" sz="1000">
                <a:solidFill>
                  <a:schemeClr val="accent1"/>
                </a:solidFill>
                <a:effectLst>
                  <a:outerShdw blurRad="38100" dist="38100" dir="2700000" algn="tl">
                    <a:srgbClr val="C0C0C0"/>
                  </a:outerShdw>
                </a:effectLst>
                <a:latin typeface="Tahoma" pitchFamily="34" charset="0"/>
              </a:rPr>
              <a:t>42		</a:t>
            </a:r>
          </a:p>
          <a:p>
            <a:pPr>
              <a:spcBef>
                <a:spcPct val="20000"/>
              </a:spcBef>
              <a:buClr>
                <a:schemeClr val="accent1"/>
              </a:buClr>
              <a:buSzPct val="85000"/>
              <a:buFont typeface="Wingdings 2" pitchFamily="18" charset="2"/>
              <a:buChar char="ã"/>
              <a:defRPr/>
            </a:pPr>
            <a:endParaRPr kumimoji="1" lang="en-US" altLang="en-US" sz="2800">
              <a:solidFill>
                <a:schemeClr val="accent1"/>
              </a:solidFill>
              <a:effectLst>
                <a:outerShdw blurRad="38100" dist="38100" dir="2700000" algn="tl">
                  <a:srgbClr val="C0C0C0"/>
                </a:outerShdw>
              </a:effectLst>
              <a:latin typeface="Tahoma" pitchFamily="34" charset="0"/>
            </a:endParaRPr>
          </a:p>
        </p:txBody>
      </p:sp>
      <p:grpSp>
        <p:nvGrpSpPr>
          <p:cNvPr id="2" name="Group 37"/>
          <p:cNvGrpSpPr>
            <a:grpSpLocks/>
          </p:cNvGrpSpPr>
          <p:nvPr/>
        </p:nvGrpSpPr>
        <p:grpSpPr bwMode="auto">
          <a:xfrm>
            <a:off x="2270125" y="1143000"/>
            <a:ext cx="4191000" cy="4191000"/>
            <a:chOff x="1440" y="720"/>
            <a:chExt cx="2640" cy="2640"/>
          </a:xfrm>
        </p:grpSpPr>
        <p:sp>
          <p:nvSpPr>
            <p:cNvPr id="8199" name="Line 13"/>
            <p:cNvSpPr>
              <a:spLocks noChangeShapeType="1"/>
            </p:cNvSpPr>
            <p:nvPr/>
          </p:nvSpPr>
          <p:spPr bwMode="auto">
            <a:xfrm flipV="1">
              <a:off x="1584" y="2544"/>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14"/>
            <p:cNvSpPr>
              <a:spLocks noChangeShapeType="1"/>
            </p:cNvSpPr>
            <p:nvPr/>
          </p:nvSpPr>
          <p:spPr bwMode="auto">
            <a:xfrm flipV="1">
              <a:off x="2160" y="2544"/>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15"/>
            <p:cNvSpPr>
              <a:spLocks noChangeShapeType="1"/>
            </p:cNvSpPr>
            <p:nvPr/>
          </p:nvSpPr>
          <p:spPr bwMode="auto">
            <a:xfrm flipV="1">
              <a:off x="3312" y="2544"/>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Rectangle 16"/>
            <p:cNvSpPr>
              <a:spLocks noChangeArrowheads="1"/>
            </p:cNvSpPr>
            <p:nvPr/>
          </p:nvSpPr>
          <p:spPr bwMode="auto">
            <a:xfrm>
              <a:off x="1440" y="3072"/>
              <a:ext cx="336" cy="28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1</a:t>
              </a:r>
            </a:p>
          </p:txBody>
        </p:sp>
        <p:sp>
          <p:nvSpPr>
            <p:cNvPr id="8203" name="Rectangle 17"/>
            <p:cNvSpPr>
              <a:spLocks noChangeArrowheads="1"/>
            </p:cNvSpPr>
            <p:nvPr/>
          </p:nvSpPr>
          <p:spPr bwMode="auto">
            <a:xfrm>
              <a:off x="2016" y="3072"/>
              <a:ext cx="384" cy="28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2</a:t>
              </a:r>
            </a:p>
          </p:txBody>
        </p:sp>
        <p:sp>
          <p:nvSpPr>
            <p:cNvPr id="8204" name="Rectangle 18"/>
            <p:cNvSpPr>
              <a:spLocks noChangeArrowheads="1"/>
            </p:cNvSpPr>
            <p:nvPr/>
          </p:nvSpPr>
          <p:spPr bwMode="auto">
            <a:xfrm>
              <a:off x="2544" y="3072"/>
              <a:ext cx="384" cy="28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3</a:t>
              </a:r>
            </a:p>
          </p:txBody>
        </p:sp>
        <p:sp>
          <p:nvSpPr>
            <p:cNvPr id="8205" name="Line 19"/>
            <p:cNvSpPr>
              <a:spLocks noChangeShapeType="1"/>
            </p:cNvSpPr>
            <p:nvPr/>
          </p:nvSpPr>
          <p:spPr bwMode="auto">
            <a:xfrm flipV="1">
              <a:off x="2736" y="2544"/>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Rectangle 20"/>
            <p:cNvSpPr>
              <a:spLocks noChangeArrowheads="1"/>
            </p:cNvSpPr>
            <p:nvPr/>
          </p:nvSpPr>
          <p:spPr bwMode="auto">
            <a:xfrm>
              <a:off x="3168" y="3072"/>
              <a:ext cx="384" cy="28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a:t>
              </a:r>
              <a:r>
                <a:rPr lang="en-US" altLang="en-US"/>
                <a:t>4</a:t>
              </a:r>
            </a:p>
          </p:txBody>
        </p:sp>
        <p:sp>
          <p:nvSpPr>
            <p:cNvPr id="8207" name="Line 22"/>
            <p:cNvSpPr>
              <a:spLocks noChangeShapeType="1"/>
            </p:cNvSpPr>
            <p:nvPr/>
          </p:nvSpPr>
          <p:spPr bwMode="auto">
            <a:xfrm flipV="1">
              <a:off x="3840" y="2544"/>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Rectangle 27"/>
            <p:cNvSpPr>
              <a:spLocks noChangeArrowheads="1"/>
            </p:cNvSpPr>
            <p:nvPr/>
          </p:nvSpPr>
          <p:spPr bwMode="auto">
            <a:xfrm>
              <a:off x="1776" y="720"/>
              <a:ext cx="18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000" b="1"/>
                <a:t>(5</a:t>
              </a:r>
              <a:r>
                <a:rPr lang="hr-HR" altLang="en-US" sz="2000" b="1"/>
                <a:t> memorijskih banaka</a:t>
              </a:r>
              <a:r>
                <a:rPr lang="en-US" altLang="en-US" sz="2000" b="1"/>
                <a:t>)</a:t>
              </a:r>
            </a:p>
          </p:txBody>
        </p:sp>
        <p:sp>
          <p:nvSpPr>
            <p:cNvPr id="8209" name="Rectangle 28"/>
            <p:cNvSpPr>
              <a:spLocks noChangeArrowheads="1"/>
            </p:cNvSpPr>
            <p:nvPr/>
          </p:nvSpPr>
          <p:spPr bwMode="auto">
            <a:xfrm>
              <a:off x="1440" y="1056"/>
              <a:ext cx="336"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8210" name="Rectangle 29"/>
            <p:cNvSpPr>
              <a:spLocks noChangeArrowheads="1"/>
            </p:cNvSpPr>
            <p:nvPr/>
          </p:nvSpPr>
          <p:spPr bwMode="auto">
            <a:xfrm>
              <a:off x="1968" y="1056"/>
              <a:ext cx="336"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8211" name="Rectangle 30"/>
            <p:cNvSpPr>
              <a:spLocks noChangeArrowheads="1"/>
            </p:cNvSpPr>
            <p:nvPr/>
          </p:nvSpPr>
          <p:spPr bwMode="auto">
            <a:xfrm>
              <a:off x="2544" y="1056"/>
              <a:ext cx="336"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8212" name="Rectangle 31"/>
            <p:cNvSpPr>
              <a:spLocks noChangeArrowheads="1"/>
            </p:cNvSpPr>
            <p:nvPr/>
          </p:nvSpPr>
          <p:spPr bwMode="auto">
            <a:xfrm>
              <a:off x="3120" y="1056"/>
              <a:ext cx="336"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8213" name="Rectangle 32"/>
            <p:cNvSpPr>
              <a:spLocks noChangeArrowheads="1"/>
            </p:cNvSpPr>
            <p:nvPr/>
          </p:nvSpPr>
          <p:spPr bwMode="auto">
            <a:xfrm>
              <a:off x="3696" y="1056"/>
              <a:ext cx="336" cy="13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8214" name="Rectangle 33"/>
            <p:cNvSpPr>
              <a:spLocks noChangeArrowheads="1"/>
            </p:cNvSpPr>
            <p:nvPr/>
          </p:nvSpPr>
          <p:spPr bwMode="auto">
            <a:xfrm>
              <a:off x="3696" y="3072"/>
              <a:ext cx="384" cy="28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hr-HR" altLang="en-US"/>
                <a:t>M5</a:t>
              </a:r>
              <a:endParaRPr lang="en-US" altLang="en-US"/>
            </a:p>
          </p:txBody>
        </p:sp>
      </p:grpSp>
      <p:sp>
        <p:nvSpPr>
          <p:cNvPr id="8226" name="Text Box 34"/>
          <p:cNvSpPr txBox="1">
            <a:spLocks noChangeArrowheads="1"/>
          </p:cNvSpPr>
          <p:nvPr/>
        </p:nvSpPr>
        <p:spPr bwMode="auto">
          <a:xfrm>
            <a:off x="365125" y="5486400"/>
            <a:ext cx="75596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buFontTx/>
              <a:buChar char="•"/>
              <a:defRPr/>
            </a:pPr>
            <a:r>
              <a:rPr lang="hr-HR" altLang="en-US">
                <a:latin typeface="Arial" charset="0"/>
              </a:rPr>
              <a:t> </a:t>
            </a:r>
            <a:r>
              <a:rPr lang="hr-HR" altLang="en-US">
                <a:solidFill>
                  <a:schemeClr val="hlink"/>
                </a:solidFill>
                <a:effectLst>
                  <a:outerShdw blurRad="38100" dist="38100" dir="2700000" algn="tl">
                    <a:srgbClr val="C0C0C0"/>
                  </a:outerShdw>
                </a:effectLst>
                <a:latin typeface="Tahoma" pitchFamily="34" charset="0"/>
              </a:rPr>
              <a:t>Teorijski, da bi se obezbedio pristup proizvoljnoj strukturi dvodimenzionalnog polja, potrebno je da broj memorijskih banaka bude veći od dimenzije matrice</a:t>
            </a:r>
            <a:endParaRPr lang="en-US" altLang="en-US">
              <a:solidFill>
                <a:schemeClr val="hlink"/>
              </a:solidFill>
              <a:effectLst>
                <a:outerShdw blurRad="38100" dist="38100" dir="2700000" algn="tl">
                  <a:srgbClr val="C0C0C0"/>
                </a:outerShdw>
              </a:effectLst>
              <a:latin typeface="Tahoma" pitchFamily="34" charset="0"/>
            </a:endParaRPr>
          </a:p>
        </p:txBody>
      </p:sp>
      <p:sp>
        <p:nvSpPr>
          <p:cNvPr id="8228" name="Text Box 36"/>
          <p:cNvSpPr txBox="1">
            <a:spLocks noChangeArrowheads="1"/>
          </p:cNvSpPr>
          <p:nvPr/>
        </p:nvSpPr>
        <p:spPr bwMode="auto">
          <a:xfrm>
            <a:off x="3048000" y="685800"/>
            <a:ext cx="5562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defRPr/>
            </a:pPr>
            <a:r>
              <a:rPr kumimoji="1" lang="en-US" altLang="en-US">
                <a:effectLst>
                  <a:outerShdw blurRad="38100" dist="38100" dir="2700000" algn="tl">
                    <a:srgbClr val="C0C0C0"/>
                  </a:outerShdw>
                </a:effectLst>
                <a:latin typeface="Tahoma" pitchFamily="34" charset="0"/>
              </a:rPr>
              <a:t>Paral</a:t>
            </a:r>
            <a:r>
              <a:rPr kumimoji="1" lang="hr-HR" altLang="en-US">
                <a:effectLst>
                  <a:outerShdw blurRad="38100" dist="38100" dir="2700000" algn="tl">
                    <a:srgbClr val="C0C0C0"/>
                  </a:outerShdw>
                </a:effectLst>
                <a:latin typeface="Tahoma" pitchFamily="34" charset="0"/>
              </a:rPr>
              <a:t>e</a:t>
            </a:r>
            <a:r>
              <a:rPr kumimoji="1" lang="en-US" altLang="en-US">
                <a:effectLst>
                  <a:outerShdw blurRad="38100" dist="38100" dir="2700000" algn="tl">
                    <a:srgbClr val="C0C0C0"/>
                  </a:outerShdw>
                </a:effectLst>
                <a:latin typeface="Tahoma" pitchFamily="34" charset="0"/>
              </a:rPr>
              <a:t>l</a:t>
            </a:r>
            <a:r>
              <a:rPr kumimoji="1" lang="hr-HR" altLang="en-US">
                <a:effectLst>
                  <a:outerShdw blurRad="38100" dist="38100" dir="2700000" algn="tl">
                    <a:srgbClr val="C0C0C0"/>
                  </a:outerShdw>
                </a:effectLst>
                <a:latin typeface="Tahoma" pitchFamily="34" charset="0"/>
              </a:rPr>
              <a:t>ni pristup</a:t>
            </a:r>
            <a:r>
              <a:rPr kumimoji="1" lang="en-US" altLang="en-US">
                <a:effectLst>
                  <a:outerShdw blurRad="38100" dist="38100" dir="2700000" algn="tl">
                    <a:srgbClr val="C0C0C0"/>
                  </a:outerShdw>
                </a:effectLst>
                <a:latin typeface="Tahoma" pitchFamily="34" charset="0"/>
              </a:rPr>
              <a:t> </a:t>
            </a:r>
            <a:r>
              <a:rPr kumimoji="1" lang="hr-HR" altLang="en-US">
                <a:effectLst>
                  <a:outerShdw blurRad="38100" dist="38100" dir="2700000" algn="tl">
                    <a:srgbClr val="C0C0C0"/>
                  </a:outerShdw>
                </a:effectLst>
                <a:latin typeface="Tahoma" pitchFamily="34" charset="0"/>
              </a:rPr>
              <a:t>k</a:t>
            </a:r>
            <a:r>
              <a:rPr kumimoji="1" lang="en-US" altLang="en-US">
                <a:effectLst>
                  <a:outerShdw blurRad="38100" dist="38100" dir="2700000" algn="tl">
                    <a:srgbClr val="C0C0C0"/>
                  </a:outerShdw>
                </a:effectLst>
                <a:latin typeface="Tahoma" pitchFamily="34" charset="0"/>
              </a:rPr>
              <a:t>ol</a:t>
            </a:r>
            <a:r>
              <a:rPr kumimoji="1" lang="hr-HR" altLang="en-US">
                <a:effectLst>
                  <a:outerShdw blurRad="38100" dist="38100" dir="2700000" algn="tl">
                    <a:srgbClr val="C0C0C0"/>
                  </a:outerShdw>
                </a:effectLst>
                <a:latin typeface="Tahoma" pitchFamily="34" charset="0"/>
              </a:rPr>
              <a:t>onama</a:t>
            </a:r>
            <a:r>
              <a:rPr kumimoji="1" lang="en-US" altLang="en-US">
                <a:effectLst>
                  <a:outerShdw blurRad="38100" dist="38100" dir="2700000" algn="tl">
                    <a:srgbClr val="C0C0C0"/>
                  </a:outerShdw>
                </a:effectLst>
                <a:latin typeface="Tahoma" pitchFamily="34" charset="0"/>
              </a:rPr>
              <a:t>/</a:t>
            </a:r>
            <a:r>
              <a:rPr kumimoji="1" lang="hr-HR" altLang="en-US">
                <a:effectLst>
                  <a:outerShdw blurRad="38100" dist="38100" dir="2700000" algn="tl">
                    <a:srgbClr val="C0C0C0"/>
                  </a:outerShdw>
                </a:effectLst>
                <a:latin typeface="Tahoma" pitchFamily="34" charset="0"/>
              </a:rPr>
              <a:t>vrstama</a:t>
            </a:r>
            <a:r>
              <a:rPr kumimoji="1" lang="en-US" altLang="en-US">
                <a:effectLst>
                  <a:outerShdw blurRad="38100" dist="38100" dir="2700000" algn="tl">
                    <a:srgbClr val="C0C0C0"/>
                  </a:outerShdw>
                </a:effectLst>
                <a:latin typeface="Tahoma" pitchFamily="34" charset="0"/>
              </a:rPr>
              <a:t>/</a:t>
            </a:r>
            <a:r>
              <a:rPr kumimoji="1" lang="hr-HR" altLang="en-US">
                <a:effectLst>
                  <a:outerShdw blurRad="38100" dist="38100" dir="2700000" algn="tl">
                    <a:srgbClr val="C0C0C0"/>
                  </a:outerShdw>
                </a:effectLst>
                <a:latin typeface="Tahoma" pitchFamily="34" charset="0"/>
              </a:rPr>
              <a:t>dijagonalama</a:t>
            </a:r>
            <a:endParaRPr kumimoji="1" lang="en-US" altLang="en-US">
              <a:effectLst>
                <a:outerShdw blurRad="38100" dist="38100" dir="2700000" algn="tl">
                  <a:srgbClr val="C0C0C0"/>
                </a:outerShdw>
              </a:effectLst>
              <a:latin typeface="Tahoma" pitchFamily="34" charset="0"/>
            </a:endParaRPr>
          </a:p>
        </p:txBody>
      </p:sp>
    </p:spTree>
    <p:extLst>
      <p:ext uri="{BB962C8B-B14F-4D97-AF65-F5344CB8AC3E}">
        <p14:creationId xmlns:p14="http://schemas.microsoft.com/office/powerpoint/2010/main" val="2009516161"/>
      </p:ext>
    </p:extLst>
  </p:cSld>
  <p:clrMapOvr>
    <a:masterClrMapping/>
  </p:clrMapOvr>
  <p:transition>
    <p:pull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0"/>
            <a:ext cx="9144000" cy="579438"/>
          </a:xfrm>
        </p:spPr>
        <p:txBody>
          <a:bodyPr/>
          <a:lstStyle/>
          <a:p>
            <a:pPr>
              <a:defRPr/>
            </a:pPr>
            <a:r>
              <a:rPr lang="hr-HR" altLang="en-US" sz="3200"/>
              <a:t>Odredjivanje broja memorijskih banaka</a:t>
            </a:r>
            <a:endParaRPr lang="en-US" altLang="en-US" sz="3200"/>
          </a:p>
        </p:txBody>
      </p:sp>
      <p:sp>
        <p:nvSpPr>
          <p:cNvPr id="9219" name="Rectangle 3"/>
          <p:cNvSpPr>
            <a:spLocks noGrp="1" noChangeArrowheads="1"/>
          </p:cNvSpPr>
          <p:nvPr>
            <p:ph type="body" idx="1"/>
          </p:nvPr>
        </p:nvSpPr>
        <p:spPr/>
        <p:txBody>
          <a:bodyPr/>
          <a:lstStyle/>
          <a:p>
            <a:pPr lvl="1">
              <a:spcBef>
                <a:spcPct val="0"/>
              </a:spcBef>
              <a:spcAft>
                <a:spcPct val="35000"/>
              </a:spcAft>
              <a:defRPr/>
            </a:pPr>
            <a:r>
              <a:rPr lang="hr-HR" altLang="en-US" sz="2100">
                <a:solidFill>
                  <a:schemeClr val="accent1"/>
                </a:solidFill>
              </a:rPr>
              <a:t>Primer: množenje matrica</a:t>
            </a:r>
          </a:p>
          <a:p>
            <a:pPr lvl="1">
              <a:buFont typeface="Wingdings" pitchFamily="2" charset="2"/>
              <a:buNone/>
              <a:defRPr/>
            </a:pPr>
            <a:r>
              <a:rPr lang="hr-HR" altLang="en-US" sz="2100">
                <a:solidFill>
                  <a:schemeClr val="accent1"/>
                </a:solidFill>
                <a:latin typeface="Times New Roman" pitchFamily="18" charset="0"/>
              </a:rPr>
              <a:t>			</a:t>
            </a:r>
            <a:r>
              <a:rPr lang="en-US" altLang="en-US" sz="2100">
                <a:solidFill>
                  <a:schemeClr val="accent1"/>
                </a:solidFill>
                <a:cs typeface="Times New Roman" pitchFamily="18" charset="0"/>
              </a:rPr>
              <a:t>for i =1, 100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t>
            </a:r>
            <a:r>
              <a:rPr lang="hr-HR" altLang="en-US" sz="2100">
                <a:solidFill>
                  <a:schemeClr val="accent1"/>
                </a:solidFill>
              </a:rPr>
              <a:t>	</a:t>
            </a:r>
            <a:r>
              <a:rPr lang="en-US" altLang="en-US" sz="2100">
                <a:solidFill>
                  <a:schemeClr val="accent1"/>
                </a:solidFill>
                <a:cs typeface="Times New Roman" pitchFamily="18" charset="0"/>
              </a:rPr>
              <a:t>for j =1, 100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A(i,j) = 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t>
            </a:r>
            <a:r>
              <a:rPr lang="hr-HR" altLang="en-US" sz="2100">
                <a:solidFill>
                  <a:schemeClr val="accent1"/>
                </a:solidFill>
              </a:rPr>
              <a:t>	</a:t>
            </a:r>
            <a:r>
              <a:rPr lang="en-US" altLang="en-US" sz="2100">
                <a:solidFill>
                  <a:schemeClr val="accent1"/>
                </a:solidFill>
                <a:cs typeface="Times New Roman" pitchFamily="18" charset="0"/>
              </a:rPr>
              <a:t>do 10 k =1, 100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A(i,j) = A(i,j) +B(i,k) * C(k,j)</a:t>
            </a:r>
            <a:endParaRPr lang="hr-HR" altLang="en-US" sz="2100">
              <a:solidFill>
                <a:schemeClr val="accent1"/>
              </a:solidFill>
            </a:endParaRPr>
          </a:p>
          <a:p>
            <a:pPr lvl="1">
              <a:lnSpc>
                <a:spcPct val="85000"/>
              </a:lnSpc>
              <a:spcBef>
                <a:spcPct val="0"/>
              </a:spcBef>
              <a:buFont typeface="Wingdings" pitchFamily="2" charset="2"/>
              <a:buNone/>
              <a:defRPr/>
            </a:pPr>
            <a:r>
              <a:rPr lang="hr-HR" altLang="en-US" sz="2100">
                <a:solidFill>
                  <a:schemeClr val="accent1"/>
                </a:solidFill>
              </a:rPr>
              <a:t>			</a:t>
            </a:r>
            <a:r>
              <a:rPr lang="en-US" altLang="en-US" sz="2100">
                <a:solidFill>
                  <a:schemeClr val="accent1"/>
                </a:solidFill>
              </a:rPr>
              <a:t>endfor{i,j}</a:t>
            </a:r>
            <a:endParaRPr lang="hr-HR" altLang="en-US" sz="2100">
              <a:solidFill>
                <a:schemeClr val="accent1"/>
              </a:solidFill>
            </a:endParaRPr>
          </a:p>
          <a:p>
            <a:pPr lvl="1">
              <a:lnSpc>
                <a:spcPct val="85000"/>
              </a:lnSpc>
              <a:spcBef>
                <a:spcPct val="30000"/>
              </a:spcBef>
              <a:defRPr/>
            </a:pPr>
            <a:r>
              <a:rPr lang="en-US" altLang="en-US" sz="2100">
                <a:cs typeface="Times New Roman" pitchFamily="18" charset="0"/>
              </a:rPr>
              <a:t>Petlju po indeksnoj promenljivoj k je mogu</a:t>
            </a:r>
            <a:r>
              <a:rPr lang="hr-HR" altLang="en-US" sz="2100"/>
              <a:t>ć</a:t>
            </a:r>
            <a:r>
              <a:rPr lang="en-US" altLang="en-US" sz="2100">
                <a:cs typeface="Times New Roman" pitchFamily="18" charset="0"/>
              </a:rPr>
              <a:t>e vektorizovati tako </a:t>
            </a:r>
            <a:r>
              <a:rPr lang="hr-HR" altLang="en-US" sz="2100"/>
              <a:t>š</a:t>
            </a:r>
            <a:r>
              <a:rPr lang="en-US" altLang="en-US" sz="2100">
                <a:cs typeface="Times New Roman" pitchFamily="18" charset="0"/>
              </a:rPr>
              <a:t>to bi se obavilo mno</a:t>
            </a:r>
            <a:r>
              <a:rPr lang="hr-HR" altLang="en-US" sz="2100"/>
              <a:t>ž</a:t>
            </a:r>
            <a:r>
              <a:rPr lang="en-US" altLang="en-US" sz="2100">
                <a:cs typeface="Times New Roman" pitchFamily="18" charset="0"/>
              </a:rPr>
              <a:t>enje vrsta matrice B kolonama matrice C</a:t>
            </a:r>
            <a:r>
              <a:rPr lang="en-US" altLang="en-US" sz="2100">
                <a:solidFill>
                  <a:schemeClr val="accent1"/>
                </a:solidFill>
                <a:latin typeface="Times Roman YU" pitchFamily="18" charset="0"/>
                <a:cs typeface="Times New Roman" pitchFamily="18" charset="0"/>
              </a:rPr>
              <a:t>. </a:t>
            </a:r>
          </a:p>
          <a:p>
            <a:pPr lvl="1">
              <a:buFont typeface="Wingdings" pitchFamily="2" charset="2"/>
              <a:buNone/>
              <a:defRPr/>
            </a:pPr>
            <a:r>
              <a:rPr lang="en-US" altLang="en-US" sz="2100">
                <a:solidFill>
                  <a:schemeClr val="accent1"/>
                </a:solidFill>
                <a:cs typeface="Times New Roman" pitchFamily="18" charset="0"/>
              </a:rPr>
              <a:t>			for i =1, 100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t>
            </a:r>
            <a:r>
              <a:rPr lang="hr-HR" altLang="en-US" sz="2100">
                <a:solidFill>
                  <a:schemeClr val="accent1"/>
                </a:solidFill>
              </a:rPr>
              <a:t>	</a:t>
            </a:r>
            <a:r>
              <a:rPr lang="en-US" altLang="en-US" sz="2100">
                <a:solidFill>
                  <a:schemeClr val="accent1"/>
                </a:solidFill>
                <a:cs typeface="Times New Roman" pitchFamily="18" charset="0"/>
              </a:rPr>
              <a:t>for j =1, 100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A(i,j) = 0.0</a:t>
            </a:r>
          </a:p>
          <a:p>
            <a:pPr lvl="1">
              <a:lnSpc>
                <a:spcPct val="85000"/>
              </a:lnSpc>
              <a:spcBef>
                <a:spcPct val="0"/>
              </a:spcBef>
              <a:buFont typeface="Wingdings" pitchFamily="2" charset="2"/>
              <a:buNone/>
              <a:defRPr/>
            </a:pPr>
            <a:r>
              <a:rPr lang="en-US" altLang="en-US" sz="2100">
                <a:solidFill>
                  <a:schemeClr val="accent1"/>
                </a:solidFill>
                <a:cs typeface="Times New Roman" pitchFamily="18" charset="0"/>
              </a:rPr>
              <a:t>		       </a:t>
            </a:r>
            <a:r>
              <a:rPr lang="hr-HR" altLang="en-US" sz="2100">
                <a:solidFill>
                  <a:schemeClr val="accent1"/>
                </a:solidFill>
              </a:rPr>
              <a:t>	</a:t>
            </a:r>
            <a:r>
              <a:rPr lang="en-US" altLang="en-US" sz="2100">
                <a:solidFill>
                  <a:schemeClr val="accent1"/>
                </a:solidFill>
                <a:cs typeface="Times New Roman" pitchFamily="18" charset="0"/>
              </a:rPr>
              <a:t>A(i,j) = A(i,j) +B(i,1:100) * C(1:100,j)</a:t>
            </a:r>
            <a:endParaRPr lang="hr-HR" altLang="en-US" sz="2100">
              <a:solidFill>
                <a:schemeClr val="accent1"/>
              </a:solidFill>
            </a:endParaRPr>
          </a:p>
          <a:p>
            <a:pPr lvl="1">
              <a:lnSpc>
                <a:spcPct val="85000"/>
              </a:lnSpc>
              <a:spcBef>
                <a:spcPct val="0"/>
              </a:spcBef>
              <a:buFont typeface="Wingdings" pitchFamily="2" charset="2"/>
              <a:buNone/>
              <a:defRPr/>
            </a:pPr>
            <a:r>
              <a:rPr lang="hr-HR" altLang="en-US" sz="2100">
                <a:solidFill>
                  <a:schemeClr val="accent1"/>
                </a:solidFill>
              </a:rPr>
              <a:t>			</a:t>
            </a:r>
            <a:r>
              <a:rPr lang="en-US" altLang="en-US" sz="2100">
                <a:solidFill>
                  <a:schemeClr val="accent1"/>
                </a:solidFill>
              </a:rPr>
              <a:t>endfor{i,j}</a:t>
            </a:r>
            <a:endParaRPr lang="hr-HR" altLang="en-US" sz="2100">
              <a:solidFill>
                <a:schemeClr val="accent1"/>
              </a:solidFill>
            </a:endParaRPr>
          </a:p>
          <a:p>
            <a:pPr lvl="1">
              <a:lnSpc>
                <a:spcPct val="85000"/>
              </a:lnSpc>
              <a:spcBef>
                <a:spcPct val="30000"/>
              </a:spcBef>
              <a:defRPr/>
            </a:pPr>
            <a:endParaRPr lang="en-US" altLang="en-US" sz="2100">
              <a:solidFill>
                <a:schemeClr val="accent1"/>
              </a:solidFill>
            </a:endParaRPr>
          </a:p>
          <a:p>
            <a:pPr lvl="1">
              <a:defRPr/>
            </a:pPr>
            <a:r>
              <a:rPr lang="en-US" altLang="en-US" sz="2100">
                <a:cs typeface="Times New Roman" pitchFamily="18" charset="0"/>
              </a:rPr>
              <a:t>Da bi ustanovili efikasnost vektorizacije moramo razmotriti kako su susedni elementi u matricama B i C adresirani.</a:t>
            </a:r>
            <a:r>
              <a:rPr lang="en-US" altLang="en-US" sz="2100"/>
              <a:t> </a:t>
            </a:r>
          </a:p>
        </p:txBody>
      </p:sp>
    </p:spTree>
    <p:extLst>
      <p:ext uri="{BB962C8B-B14F-4D97-AF65-F5344CB8AC3E}">
        <p14:creationId xmlns:p14="http://schemas.microsoft.com/office/powerpoint/2010/main" val="3959283808"/>
      </p:ext>
    </p:extLst>
  </p:cSld>
  <p:clrMapOvr>
    <a:masterClrMapping/>
  </p:clrMapOvr>
  <p:transition>
    <p:pull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579438"/>
          </a:xfrm>
        </p:spPr>
        <p:txBody>
          <a:bodyPr/>
          <a:lstStyle/>
          <a:p>
            <a:pPr>
              <a:defRPr/>
            </a:pPr>
            <a:r>
              <a:rPr lang="hr-HR" altLang="en-US" sz="3200"/>
              <a:t>Odredjivanje broja memorijskih banaka  (nast.)</a:t>
            </a:r>
            <a:endParaRPr lang="en-US" altLang="en-US" sz="3200"/>
          </a:p>
        </p:txBody>
      </p:sp>
      <p:sp>
        <p:nvSpPr>
          <p:cNvPr id="10243" name="Rectangle 3"/>
          <p:cNvSpPr>
            <a:spLocks noGrp="1" noChangeArrowheads="1"/>
          </p:cNvSpPr>
          <p:nvPr>
            <p:ph type="body" idx="1"/>
          </p:nvPr>
        </p:nvSpPr>
        <p:spPr/>
        <p:txBody>
          <a:bodyPr/>
          <a:lstStyle/>
          <a:p>
            <a:pPr>
              <a:defRPr/>
            </a:pPr>
            <a:r>
              <a:rPr lang="hr-HR" altLang="en-US"/>
              <a:t>K</a:t>
            </a:r>
            <a:r>
              <a:rPr lang="en-US" altLang="en-US">
                <a:cs typeface="Times New Roman" pitchFamily="18" charset="0"/>
              </a:rPr>
              <a:t>ada se vr</a:t>
            </a:r>
            <a:r>
              <a:rPr lang="hr-HR" altLang="en-US"/>
              <a:t>š</a:t>
            </a:r>
            <a:r>
              <a:rPr lang="en-US" altLang="en-US">
                <a:cs typeface="Times New Roman" pitchFamily="18" charset="0"/>
              </a:rPr>
              <a:t>i sme</a:t>
            </a:r>
            <a:r>
              <a:rPr lang="hr-HR" altLang="en-US"/>
              <a:t>š</a:t>
            </a:r>
            <a:r>
              <a:rPr lang="en-US" altLang="en-US">
                <a:cs typeface="Times New Roman" pitchFamily="18" charset="0"/>
              </a:rPr>
              <a:t>tanje elemenata dvodimenzionalnog polja u memeoriju vr</a:t>
            </a:r>
            <a:r>
              <a:rPr lang="hr-HR" altLang="en-US"/>
              <a:t>š</a:t>
            </a:r>
            <a:r>
              <a:rPr lang="en-US" altLang="en-US">
                <a:cs typeface="Times New Roman" pitchFamily="18" charset="0"/>
              </a:rPr>
              <a:t>i </a:t>
            </a:r>
            <a:r>
              <a:rPr lang="hr-HR" altLang="en-US"/>
              <a:t>se </a:t>
            </a:r>
            <a:r>
              <a:rPr lang="en-US" altLang="en-US">
                <a:cs typeface="Times New Roman" pitchFamily="18" charset="0"/>
              </a:rPr>
              <a:t>linearizacija</a:t>
            </a:r>
            <a:r>
              <a:rPr lang="hr-HR" altLang="en-US"/>
              <a:t> </a:t>
            </a:r>
            <a:r>
              <a:rPr lang="en-US" altLang="en-US">
                <a:cs typeface="Times New Roman" pitchFamily="18" charset="0"/>
              </a:rPr>
              <a:t>. </a:t>
            </a:r>
            <a:endParaRPr lang="hr-HR" altLang="en-US"/>
          </a:p>
          <a:p>
            <a:pPr lvl="1" algn="just">
              <a:defRPr/>
            </a:pPr>
            <a:r>
              <a:rPr lang="hr-HR" altLang="en-US"/>
              <a:t>Ako se u sukcesivne mem. lokacije smeštaju elementi kolona, </a:t>
            </a:r>
            <a:r>
              <a:rPr lang="en-US" altLang="en-US">
                <a:cs typeface="Times New Roman" pitchFamily="18" charset="0"/>
              </a:rPr>
              <a:t>zna</a:t>
            </a:r>
            <a:r>
              <a:rPr lang="hr-HR" altLang="en-US"/>
              <a:t>č</a:t>
            </a:r>
            <a:r>
              <a:rPr lang="en-US" altLang="en-US">
                <a:cs typeface="Times New Roman" pitchFamily="18" charset="0"/>
              </a:rPr>
              <a:t>i da u primeru mno</a:t>
            </a:r>
            <a:r>
              <a:rPr lang="hr-HR" altLang="en-US"/>
              <a:t>ž</a:t>
            </a:r>
            <a:r>
              <a:rPr lang="en-US" altLang="en-US">
                <a:cs typeface="Times New Roman" pitchFamily="18" charset="0"/>
              </a:rPr>
              <a:t>enja matrica elementi matrice B kojima treba pristupiti u jednoj iteraciji nisu na sukcesvnim memorijskim adresama ve</a:t>
            </a:r>
            <a:r>
              <a:rPr lang="hr-HR" altLang="en-US"/>
              <a:t>ć</a:t>
            </a:r>
            <a:r>
              <a:rPr lang="en-US" altLang="en-US">
                <a:cs typeface="Times New Roman" pitchFamily="18" charset="0"/>
              </a:rPr>
              <a:t> su udaljeni medjusobno za </a:t>
            </a:r>
          </a:p>
          <a:p>
            <a:pPr algn="ctr">
              <a:buFont typeface="Wingdings 2" pitchFamily="18" charset="2"/>
              <a:buNone/>
              <a:defRPr/>
            </a:pPr>
            <a:r>
              <a:rPr lang="en-US" altLang="en-US" i="1">
                <a:latin typeface="Times Roman YU" pitchFamily="18" charset="0"/>
                <a:cs typeface="Times New Roman" pitchFamily="18" charset="0"/>
              </a:rPr>
              <a:t>broj_vrsta x du</a:t>
            </a:r>
            <a:r>
              <a:rPr lang="hr-HR" altLang="en-US" i="1">
                <a:latin typeface="Times New Roman" pitchFamily="18" charset="0"/>
              </a:rPr>
              <a:t>ž</a:t>
            </a:r>
            <a:r>
              <a:rPr lang="en-US" altLang="en-US" i="1">
                <a:latin typeface="Times Roman YU" pitchFamily="18" charset="0"/>
                <a:cs typeface="Times New Roman" pitchFamily="18" charset="0"/>
              </a:rPr>
              <a:t>ina_re</a:t>
            </a:r>
            <a:r>
              <a:rPr lang="hr-HR" altLang="en-US" i="1">
                <a:latin typeface="Times New Roman" pitchFamily="18" charset="0"/>
              </a:rPr>
              <a:t>č</a:t>
            </a:r>
            <a:r>
              <a:rPr lang="en-US" altLang="en-US" i="1">
                <a:latin typeface="Times Roman YU" pitchFamily="18" charset="0"/>
                <a:cs typeface="Times New Roman" pitchFamily="18" charset="0"/>
              </a:rPr>
              <a:t>i_u_bajtovima</a:t>
            </a:r>
            <a:endParaRPr lang="hr-HR" altLang="en-US" i="1">
              <a:latin typeface="Times New Roman" pitchFamily="18" charset="0"/>
            </a:endParaRPr>
          </a:p>
          <a:p>
            <a:pPr lvl="1" algn="just">
              <a:defRPr/>
            </a:pPr>
            <a:r>
              <a:rPr lang="en-US" altLang="en-US">
                <a:cs typeface="Times New Roman" pitchFamily="18" charset="0"/>
              </a:rPr>
              <a:t>Razmak izmedju susednih elemenata kojima treba pristupiti sukcesivno zove se vektorski korak ili pomeraj (vector stride).</a:t>
            </a:r>
          </a:p>
          <a:p>
            <a:pPr lvl="1">
              <a:defRPr/>
            </a:pPr>
            <a:r>
              <a:rPr lang="en-US" altLang="en-US">
                <a:cs typeface="Times New Roman" pitchFamily="18" charset="0"/>
              </a:rPr>
              <a:t>U primeru mno</a:t>
            </a:r>
            <a:r>
              <a:rPr lang="hr-HR" altLang="en-US"/>
              <a:t>ž</a:t>
            </a:r>
            <a:r>
              <a:rPr lang="en-US" altLang="en-US">
                <a:cs typeface="Times New Roman" pitchFamily="18" charset="0"/>
              </a:rPr>
              <a:t>enja matrica, vektorski korak za matricu C je 1, dok je za B jednak 100. </a:t>
            </a:r>
            <a:endParaRPr lang="hr-HR" altLang="en-US"/>
          </a:p>
          <a:p>
            <a:pPr lvl="1">
              <a:defRPr/>
            </a:pPr>
            <a:r>
              <a:rPr lang="en-US" altLang="en-US">
                <a:cs typeface="Times New Roman" pitchFamily="18" charset="0"/>
              </a:rPr>
              <a:t>Kada se vektor pribavi u vektorski registar on se pona</a:t>
            </a:r>
            <a:r>
              <a:rPr lang="hr-HR" altLang="en-US"/>
              <a:t>š</a:t>
            </a:r>
            <a:r>
              <a:rPr lang="en-US" altLang="en-US">
                <a:cs typeface="Times New Roman" pitchFamily="18" charset="0"/>
              </a:rPr>
              <a:t>a kao da ima logi</a:t>
            </a:r>
            <a:r>
              <a:rPr lang="hr-HR" altLang="en-US"/>
              <a:t>č</a:t>
            </a:r>
            <a:r>
              <a:rPr lang="en-US" altLang="en-US">
                <a:cs typeface="Times New Roman" pitchFamily="18" charset="0"/>
              </a:rPr>
              <a:t>ki susedne elemente</a:t>
            </a:r>
            <a:r>
              <a:rPr lang="en-US" altLang="en-US">
                <a:latin typeface="Times Roman YU" pitchFamily="18" charset="0"/>
                <a:cs typeface="Times New Roman" pitchFamily="18" charset="0"/>
              </a:rPr>
              <a:t>.</a:t>
            </a:r>
            <a:r>
              <a:rPr lang="en-US" altLang="en-US"/>
              <a:t> </a:t>
            </a:r>
          </a:p>
          <a:p>
            <a:pPr>
              <a:defRPr/>
            </a:pPr>
            <a:endParaRPr lang="en-US" altLang="en-US"/>
          </a:p>
        </p:txBody>
      </p:sp>
    </p:spTree>
    <p:extLst>
      <p:ext uri="{BB962C8B-B14F-4D97-AF65-F5344CB8AC3E}">
        <p14:creationId xmlns:p14="http://schemas.microsoft.com/office/powerpoint/2010/main" val="3072946215"/>
      </p:ext>
    </p:extLst>
  </p:cSld>
  <p:clrMapOvr>
    <a:masterClrMapping/>
  </p:clrMapOvr>
  <p:transition>
    <p:pull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0"/>
            <a:ext cx="9144000" cy="579438"/>
          </a:xfrm>
        </p:spPr>
        <p:txBody>
          <a:bodyPr/>
          <a:lstStyle/>
          <a:p>
            <a:pPr>
              <a:defRPr/>
            </a:pPr>
            <a:r>
              <a:rPr lang="hr-HR" altLang="en-US" sz="3200"/>
              <a:t>Odredjivanje broja memorijskih banaka (nast.)</a:t>
            </a:r>
            <a:endParaRPr lang="en-US" altLang="en-US" sz="3200"/>
          </a:p>
        </p:txBody>
      </p:sp>
      <p:sp>
        <p:nvSpPr>
          <p:cNvPr id="11267" name="Rectangle 3"/>
          <p:cNvSpPr>
            <a:spLocks noGrp="1" noChangeArrowheads="1"/>
          </p:cNvSpPr>
          <p:nvPr>
            <p:ph type="body" idx="1"/>
          </p:nvPr>
        </p:nvSpPr>
        <p:spPr/>
        <p:txBody>
          <a:bodyPr/>
          <a:lstStyle/>
          <a:p>
            <a:pPr algn="just">
              <a:defRPr/>
            </a:pPr>
            <a:r>
              <a:rPr lang="en-US" altLang="en-US" dirty="0" err="1">
                <a:cs typeface="Times New Roman" pitchFamily="18" charset="0"/>
              </a:rPr>
              <a:t>Vektorski</a:t>
            </a:r>
            <a:r>
              <a:rPr lang="en-US" altLang="en-US" dirty="0">
                <a:cs typeface="Times New Roman" pitchFamily="18" charset="0"/>
              </a:rPr>
              <a:t> </a:t>
            </a:r>
            <a:r>
              <a:rPr lang="en-US" altLang="en-US" dirty="0" err="1">
                <a:cs typeface="Times New Roman" pitchFamily="18" charset="0"/>
              </a:rPr>
              <a:t>procesor</a:t>
            </a:r>
            <a:r>
              <a:rPr lang="en-US" altLang="en-US" dirty="0">
                <a:cs typeface="Times New Roman" pitchFamily="18" charset="0"/>
              </a:rPr>
              <a:t> </a:t>
            </a:r>
            <a:r>
              <a:rPr lang="en-US" altLang="en-US" dirty="0" err="1">
                <a:cs typeface="Times New Roman" pitchFamily="18" charset="0"/>
              </a:rPr>
              <a:t>mo</a:t>
            </a:r>
            <a:r>
              <a:rPr lang="hr-HR" altLang="en-US" dirty="0"/>
              <a:t>ž</a:t>
            </a:r>
            <a:r>
              <a:rPr lang="en-US" altLang="en-US" dirty="0">
                <a:cs typeface="Times New Roman" pitchFamily="18" charset="0"/>
              </a:rPr>
              <a:t>e da </a:t>
            </a:r>
            <a:r>
              <a:rPr lang="en-US" altLang="en-US" dirty="0" err="1">
                <a:cs typeface="Times New Roman" pitchFamily="18" charset="0"/>
              </a:rPr>
              <a:t>upravlja</a:t>
            </a:r>
            <a:r>
              <a:rPr lang="en-US" altLang="en-US" dirty="0">
                <a:cs typeface="Times New Roman" pitchFamily="18" charset="0"/>
              </a:rPr>
              <a:t> </a:t>
            </a:r>
            <a:r>
              <a:rPr lang="en-US" altLang="en-US" dirty="0" err="1">
                <a:cs typeface="Times New Roman" pitchFamily="18" charset="0"/>
              </a:rPr>
              <a:t>vektorskim</a:t>
            </a:r>
            <a:r>
              <a:rPr lang="en-US" altLang="en-US" dirty="0">
                <a:cs typeface="Times New Roman" pitchFamily="18" charset="0"/>
              </a:rPr>
              <a:t> </a:t>
            </a:r>
            <a:r>
              <a:rPr lang="en-US" altLang="en-US" dirty="0" err="1">
                <a:cs typeface="Times New Roman" pitchFamily="18" charset="0"/>
              </a:rPr>
              <a:t>korakom</a:t>
            </a:r>
            <a:r>
              <a:rPr lang="en-US" altLang="en-US" dirty="0">
                <a:cs typeface="Times New Roman" pitchFamily="18" charset="0"/>
              </a:rPr>
              <a:t> &gt; 1 </a:t>
            </a:r>
            <a:r>
              <a:rPr lang="en-US" altLang="en-US" dirty="0" err="1">
                <a:cs typeface="Times New Roman" pitchFamily="18" charset="0"/>
              </a:rPr>
              <a:t>pomo</a:t>
            </a:r>
            <a:r>
              <a:rPr lang="hr-HR" altLang="en-US" dirty="0"/>
              <a:t>ć</a:t>
            </a:r>
            <a:r>
              <a:rPr lang="en-US" altLang="en-US" dirty="0">
                <a:cs typeface="Times New Roman" pitchFamily="18" charset="0"/>
              </a:rPr>
              <a:t>u </a:t>
            </a:r>
            <a:r>
              <a:rPr lang="en-US" altLang="en-US" dirty="0" err="1">
                <a:cs typeface="Times New Roman" pitchFamily="18" charset="0"/>
              </a:rPr>
              <a:t>vektorskih</a:t>
            </a:r>
            <a:r>
              <a:rPr lang="en-US" altLang="en-US" dirty="0">
                <a:cs typeface="Times New Roman" pitchFamily="18" charset="0"/>
              </a:rPr>
              <a:t> LOAD/ STORE </a:t>
            </a:r>
            <a:r>
              <a:rPr lang="en-US" altLang="en-US" dirty="0" err="1">
                <a:cs typeface="Times New Roman" pitchFamily="18" charset="0"/>
              </a:rPr>
              <a:t>operacija</a:t>
            </a:r>
            <a:r>
              <a:rPr lang="en-US" altLang="en-US" dirty="0">
                <a:cs typeface="Times New Roman" pitchFamily="18" charset="0"/>
              </a:rPr>
              <a:t>. </a:t>
            </a:r>
            <a:endParaRPr lang="hr-HR" altLang="en-US" dirty="0"/>
          </a:p>
          <a:p>
            <a:pPr lvl="1" algn="just">
              <a:defRPr/>
            </a:pPr>
            <a:r>
              <a:rPr lang="en-US" altLang="en-US" dirty="0">
                <a:cs typeface="Times New Roman" pitchFamily="18" charset="0"/>
              </a:rPr>
              <a:t>Ova </a:t>
            </a:r>
            <a:r>
              <a:rPr lang="en-US" altLang="en-US" dirty="0" err="1">
                <a:cs typeface="Times New Roman" pitchFamily="18" charset="0"/>
              </a:rPr>
              <a:t>sposobnost</a:t>
            </a:r>
            <a:r>
              <a:rPr lang="en-US" altLang="en-US" dirty="0">
                <a:cs typeface="Times New Roman" pitchFamily="18" charset="0"/>
              </a:rPr>
              <a:t> da </a:t>
            </a:r>
            <a:r>
              <a:rPr lang="en-US" altLang="en-US" dirty="0" err="1">
                <a:cs typeface="Times New Roman" pitchFamily="18" charset="0"/>
              </a:rPr>
              <a:t>pristupa</a:t>
            </a:r>
            <a:r>
              <a:rPr lang="en-US" altLang="en-US" dirty="0">
                <a:cs typeface="Times New Roman" pitchFamily="18" charset="0"/>
              </a:rPr>
              <a:t> </a:t>
            </a:r>
            <a:r>
              <a:rPr lang="en-US" altLang="en-US" dirty="0" err="1">
                <a:cs typeface="Times New Roman" pitchFamily="18" charset="0"/>
              </a:rPr>
              <a:t>nesekvencijalnim</a:t>
            </a:r>
            <a:r>
              <a:rPr lang="en-US" altLang="en-US" dirty="0">
                <a:cs typeface="Times New Roman" pitchFamily="18" charset="0"/>
              </a:rPr>
              <a:t> </a:t>
            </a:r>
            <a:r>
              <a:rPr lang="en-US" altLang="en-US" dirty="0" err="1">
                <a:cs typeface="Times New Roman" pitchFamily="18" charset="0"/>
              </a:rPr>
              <a:t>memorijskim</a:t>
            </a:r>
            <a:r>
              <a:rPr lang="en-US" altLang="en-US" dirty="0">
                <a:cs typeface="Times New Roman" pitchFamily="18" charset="0"/>
              </a:rPr>
              <a:t> </a:t>
            </a:r>
            <a:r>
              <a:rPr lang="en-US" altLang="en-US" dirty="0" err="1">
                <a:cs typeface="Times New Roman" pitchFamily="18" charset="0"/>
              </a:rPr>
              <a:t>lokacijama</a:t>
            </a:r>
            <a:r>
              <a:rPr lang="en-US" altLang="en-US" dirty="0">
                <a:cs typeface="Times New Roman" pitchFamily="18" charset="0"/>
              </a:rPr>
              <a:t> i da </a:t>
            </a:r>
            <a:r>
              <a:rPr lang="en-US" altLang="en-US" dirty="0" err="1">
                <a:cs typeface="Times New Roman" pitchFamily="18" charset="0"/>
              </a:rPr>
              <a:t>ih</a:t>
            </a:r>
            <a:r>
              <a:rPr lang="en-US" altLang="en-US" dirty="0">
                <a:cs typeface="Times New Roman" pitchFamily="18" charset="0"/>
              </a:rPr>
              <a:t> </a:t>
            </a:r>
            <a:r>
              <a:rPr lang="en-US" altLang="en-US" dirty="0" err="1">
                <a:cs typeface="Times New Roman" pitchFamily="18" charset="0"/>
              </a:rPr>
              <a:t>prevodi</a:t>
            </a:r>
            <a:r>
              <a:rPr lang="en-US" altLang="en-US" dirty="0">
                <a:cs typeface="Times New Roman" pitchFamily="18" charset="0"/>
              </a:rPr>
              <a:t> u </a:t>
            </a:r>
            <a:r>
              <a:rPr lang="en-US" altLang="en-US" dirty="0" err="1">
                <a:cs typeface="Times New Roman" pitchFamily="18" charset="0"/>
              </a:rPr>
              <a:t>strukturu</a:t>
            </a:r>
            <a:r>
              <a:rPr lang="en-US" altLang="en-US" dirty="0">
                <a:cs typeface="Times New Roman" pitchFamily="18" charset="0"/>
              </a:rPr>
              <a:t> </a:t>
            </a:r>
            <a:r>
              <a:rPr lang="en-US" altLang="en-US" dirty="0" err="1">
                <a:cs typeface="Times New Roman" pitchFamily="18" charset="0"/>
              </a:rPr>
              <a:t>sa</a:t>
            </a:r>
            <a:r>
              <a:rPr lang="en-US" altLang="en-US" dirty="0">
                <a:cs typeface="Times New Roman" pitchFamily="18" charset="0"/>
              </a:rPr>
              <a:t> </a:t>
            </a:r>
            <a:r>
              <a:rPr lang="en-US" altLang="en-US" dirty="0" err="1">
                <a:cs typeface="Times New Roman" pitchFamily="18" charset="0"/>
              </a:rPr>
              <a:t>logi</a:t>
            </a:r>
            <a:r>
              <a:rPr lang="hr-HR" altLang="en-US" dirty="0"/>
              <a:t>č</a:t>
            </a:r>
            <a:r>
              <a:rPr lang="en-US" altLang="en-US" dirty="0">
                <a:cs typeface="Times New Roman" pitchFamily="18" charset="0"/>
              </a:rPr>
              <a:t>ki </a:t>
            </a:r>
            <a:r>
              <a:rPr lang="en-US" altLang="en-US" dirty="0" err="1">
                <a:cs typeface="Times New Roman" pitchFamily="18" charset="0"/>
              </a:rPr>
              <a:t>susednih</a:t>
            </a:r>
            <a:r>
              <a:rPr lang="en-US" altLang="en-US" dirty="0">
                <a:cs typeface="Times New Roman" pitchFamily="18" charset="0"/>
              </a:rPr>
              <a:t> </a:t>
            </a:r>
            <a:r>
              <a:rPr lang="en-US" altLang="en-US" dirty="0" err="1">
                <a:cs typeface="Times New Roman" pitchFamily="18" charset="0"/>
              </a:rPr>
              <a:t>elemenata</a:t>
            </a:r>
            <a:r>
              <a:rPr lang="en-US" altLang="en-US" dirty="0">
                <a:cs typeface="Times New Roman" pitchFamily="18" charset="0"/>
              </a:rPr>
              <a:t> je </a:t>
            </a:r>
            <a:r>
              <a:rPr lang="en-US" altLang="en-US" dirty="0" err="1">
                <a:cs typeface="Times New Roman" pitchFamily="18" charset="0"/>
              </a:rPr>
              <a:t>jedna</a:t>
            </a:r>
            <a:r>
              <a:rPr lang="en-US" altLang="en-US" dirty="0">
                <a:cs typeface="Times New Roman" pitchFamily="18" charset="0"/>
              </a:rPr>
              <a:t> od </a:t>
            </a:r>
            <a:r>
              <a:rPr lang="en-US" altLang="en-US" dirty="0" err="1">
                <a:cs typeface="Times New Roman" pitchFamily="18" charset="0"/>
              </a:rPr>
              <a:t>zna</a:t>
            </a:r>
            <a:r>
              <a:rPr lang="hr-HR" altLang="en-US" dirty="0"/>
              <a:t>č</a:t>
            </a:r>
            <a:r>
              <a:rPr lang="en-US" altLang="en-US" dirty="0" err="1">
                <a:cs typeface="Times New Roman" pitchFamily="18" charset="0"/>
              </a:rPr>
              <a:t>ajnih</a:t>
            </a:r>
            <a:r>
              <a:rPr lang="en-US" altLang="en-US" dirty="0">
                <a:cs typeface="Times New Roman" pitchFamily="18" charset="0"/>
              </a:rPr>
              <a:t> </a:t>
            </a:r>
            <a:r>
              <a:rPr lang="en-US" altLang="en-US" dirty="0" err="1">
                <a:cs typeface="Times New Roman" pitchFamily="18" charset="0"/>
              </a:rPr>
              <a:t>prednosti</a:t>
            </a:r>
            <a:r>
              <a:rPr lang="en-US" altLang="en-US" dirty="0">
                <a:cs typeface="Times New Roman" pitchFamily="18" charset="0"/>
              </a:rPr>
              <a:t> </a:t>
            </a:r>
            <a:r>
              <a:rPr lang="en-US" altLang="en-US" dirty="0" err="1">
                <a:cs typeface="Times New Roman" pitchFamily="18" charset="0"/>
              </a:rPr>
              <a:t>vektorskih</a:t>
            </a:r>
            <a:r>
              <a:rPr lang="en-US" altLang="en-US" dirty="0">
                <a:cs typeface="Times New Roman" pitchFamily="18" charset="0"/>
              </a:rPr>
              <a:t> </a:t>
            </a:r>
            <a:r>
              <a:rPr lang="en-US" altLang="en-US" dirty="0" err="1">
                <a:cs typeface="Times New Roman" pitchFamily="18" charset="0"/>
              </a:rPr>
              <a:t>procesora</a:t>
            </a:r>
            <a:r>
              <a:rPr lang="en-US" altLang="en-US" dirty="0">
                <a:cs typeface="Times New Roman" pitchFamily="18" charset="0"/>
              </a:rPr>
              <a:t> </a:t>
            </a:r>
            <a:r>
              <a:rPr lang="en-US" altLang="en-US" dirty="0" err="1">
                <a:cs typeface="Times New Roman" pitchFamily="18" charset="0"/>
              </a:rPr>
              <a:t>nad</a:t>
            </a:r>
            <a:r>
              <a:rPr lang="en-US" altLang="en-US" dirty="0">
                <a:cs typeface="Times New Roman" pitchFamily="18" charset="0"/>
              </a:rPr>
              <a:t> </a:t>
            </a:r>
            <a:r>
              <a:rPr lang="en-US" altLang="en-US" dirty="0" err="1">
                <a:cs typeface="Times New Roman" pitchFamily="18" charset="0"/>
              </a:rPr>
              <a:t>ke</a:t>
            </a:r>
            <a:r>
              <a:rPr lang="hr-HR" altLang="en-US" dirty="0"/>
              <a:t>š</a:t>
            </a:r>
            <a:r>
              <a:rPr lang="en-US" altLang="en-US" dirty="0">
                <a:cs typeface="Times New Roman" pitchFamily="18" charset="0"/>
              </a:rPr>
              <a:t> </a:t>
            </a:r>
            <a:r>
              <a:rPr lang="en-US" altLang="en-US" dirty="0" err="1">
                <a:cs typeface="Times New Roman" pitchFamily="18" charset="0"/>
              </a:rPr>
              <a:t>baziranim</a:t>
            </a:r>
            <a:r>
              <a:rPr lang="en-US" altLang="en-US" dirty="0">
                <a:cs typeface="Times New Roman" pitchFamily="18" charset="0"/>
              </a:rPr>
              <a:t> </a:t>
            </a:r>
            <a:r>
              <a:rPr lang="en-US" altLang="en-US" dirty="0" err="1">
                <a:cs typeface="Times New Roman" pitchFamily="18" charset="0"/>
              </a:rPr>
              <a:t>procesorima</a:t>
            </a:r>
            <a:r>
              <a:rPr lang="en-US" altLang="en-US" dirty="0">
                <a:cs typeface="Times New Roman" pitchFamily="18" charset="0"/>
              </a:rPr>
              <a:t>.</a:t>
            </a:r>
            <a:endParaRPr lang="hr-HR" altLang="en-US" dirty="0"/>
          </a:p>
          <a:p>
            <a:pPr lvl="2" algn="just">
              <a:defRPr/>
            </a:pPr>
            <a:r>
              <a:rPr lang="en-US" altLang="en-US" dirty="0" err="1">
                <a:cs typeface="Times New Roman" pitchFamily="18" charset="0"/>
              </a:rPr>
              <a:t>Vektorski</a:t>
            </a:r>
            <a:r>
              <a:rPr lang="en-US" altLang="en-US" dirty="0">
                <a:cs typeface="Times New Roman" pitchFamily="18" charset="0"/>
              </a:rPr>
              <a:t> </a:t>
            </a:r>
            <a:r>
              <a:rPr lang="en-US" altLang="en-US" dirty="0" err="1">
                <a:cs typeface="Times New Roman" pitchFamily="18" charset="0"/>
              </a:rPr>
              <a:t>korak</a:t>
            </a:r>
            <a:r>
              <a:rPr lang="en-US" altLang="en-US" dirty="0">
                <a:cs typeface="Times New Roman" pitchFamily="18" charset="0"/>
              </a:rPr>
              <a:t> </a:t>
            </a:r>
            <a:r>
              <a:rPr lang="en-US" altLang="en-US" dirty="0" err="1">
                <a:cs typeface="Times New Roman" pitchFamily="18" charset="0"/>
              </a:rPr>
              <a:t>kao</a:t>
            </a:r>
            <a:r>
              <a:rPr lang="en-US" altLang="en-US" dirty="0">
                <a:cs typeface="Times New Roman" pitchFamily="18" charset="0"/>
              </a:rPr>
              <a:t> i </a:t>
            </a:r>
            <a:r>
              <a:rPr lang="en-US" altLang="en-US" dirty="0" err="1">
                <a:cs typeface="Times New Roman" pitchFamily="18" charset="0"/>
              </a:rPr>
              <a:t>startna</a:t>
            </a:r>
            <a:r>
              <a:rPr lang="en-US" altLang="en-US" dirty="0">
                <a:cs typeface="Times New Roman" pitchFamily="18" charset="0"/>
              </a:rPr>
              <a:t> </a:t>
            </a:r>
            <a:r>
              <a:rPr lang="en-US" altLang="en-US" dirty="0" err="1">
                <a:cs typeface="Times New Roman" pitchFamily="18" charset="0"/>
              </a:rPr>
              <a:t>adresa</a:t>
            </a:r>
            <a:r>
              <a:rPr lang="en-US" altLang="en-US" dirty="0">
                <a:cs typeface="Times New Roman" pitchFamily="18" charset="0"/>
              </a:rPr>
              <a:t> </a:t>
            </a:r>
            <a:r>
              <a:rPr lang="en-US" altLang="en-US" dirty="0" err="1">
                <a:cs typeface="Times New Roman" pitchFamily="18" charset="0"/>
              </a:rPr>
              <a:t>vektora</a:t>
            </a:r>
            <a:r>
              <a:rPr lang="en-US" altLang="en-US" dirty="0">
                <a:cs typeface="Times New Roman" pitchFamily="18" charset="0"/>
              </a:rPr>
              <a:t> </a:t>
            </a:r>
            <a:r>
              <a:rPr lang="en-US" altLang="en-US" dirty="0" err="1">
                <a:cs typeface="Times New Roman" pitchFamily="18" charset="0"/>
              </a:rPr>
              <a:t>mogu</a:t>
            </a:r>
            <a:r>
              <a:rPr lang="en-US" altLang="en-US" dirty="0">
                <a:cs typeface="Times New Roman" pitchFamily="18" charset="0"/>
              </a:rPr>
              <a:t> se </a:t>
            </a:r>
            <a:r>
              <a:rPr lang="en-US" altLang="en-US" dirty="0" err="1">
                <a:cs typeface="Times New Roman" pitchFamily="18" charset="0"/>
              </a:rPr>
              <a:t>zapamtiti</a:t>
            </a:r>
            <a:r>
              <a:rPr lang="en-US" altLang="en-US" dirty="0">
                <a:cs typeface="Times New Roman" pitchFamily="18" charset="0"/>
              </a:rPr>
              <a:t> u </a:t>
            </a:r>
            <a:r>
              <a:rPr lang="en-US" altLang="en-US" dirty="0" err="1">
                <a:cs typeface="Times New Roman" pitchFamily="18" charset="0"/>
              </a:rPr>
              <a:t>neki</a:t>
            </a:r>
            <a:r>
              <a:rPr lang="en-US" altLang="en-US" dirty="0">
                <a:cs typeface="Times New Roman" pitchFamily="18" charset="0"/>
              </a:rPr>
              <a:t> od </a:t>
            </a:r>
            <a:r>
              <a:rPr lang="en-US" altLang="en-US" dirty="0" err="1">
                <a:cs typeface="Times New Roman" pitchFamily="18" charset="0"/>
              </a:rPr>
              <a:t>registara</a:t>
            </a:r>
            <a:r>
              <a:rPr lang="en-US" altLang="en-US" dirty="0">
                <a:cs typeface="Times New Roman" pitchFamily="18" charset="0"/>
              </a:rPr>
              <a:t> op</a:t>
            </a:r>
            <a:r>
              <a:rPr lang="hr-HR" altLang="en-US" dirty="0"/>
              <a:t>š</a:t>
            </a:r>
            <a:r>
              <a:rPr lang="en-US" altLang="en-US" dirty="0" err="1">
                <a:cs typeface="Times New Roman" pitchFamily="18" charset="0"/>
              </a:rPr>
              <a:t>te</a:t>
            </a:r>
            <a:r>
              <a:rPr lang="en-US" altLang="en-US" dirty="0">
                <a:cs typeface="Times New Roman" pitchFamily="18" charset="0"/>
              </a:rPr>
              <a:t> </a:t>
            </a:r>
            <a:r>
              <a:rPr lang="en-US" altLang="en-US" dirty="0" err="1">
                <a:cs typeface="Times New Roman" pitchFamily="18" charset="0"/>
              </a:rPr>
              <a:t>namene</a:t>
            </a:r>
            <a:r>
              <a:rPr lang="en-US" altLang="en-US" dirty="0">
                <a:cs typeface="Times New Roman" pitchFamily="18" charset="0"/>
              </a:rPr>
              <a:t>. </a:t>
            </a:r>
            <a:endParaRPr lang="hr-HR" altLang="en-US" dirty="0"/>
          </a:p>
          <a:p>
            <a:pPr lvl="2" algn="just">
              <a:defRPr/>
            </a:pPr>
            <a:r>
              <a:rPr lang="en-US" altLang="en-US" dirty="0" err="1">
                <a:cs typeface="Times New Roman" pitchFamily="18" charset="0"/>
              </a:rPr>
              <a:t>Zatim</a:t>
            </a:r>
            <a:r>
              <a:rPr lang="en-US" altLang="en-US" dirty="0">
                <a:cs typeface="Times New Roman" pitchFamily="18" charset="0"/>
              </a:rPr>
              <a:t> se </a:t>
            </a:r>
            <a:r>
              <a:rPr lang="en-US" altLang="en-US" dirty="0" err="1">
                <a:cs typeface="Times New Roman" pitchFamily="18" charset="0"/>
              </a:rPr>
              <a:t>instrukcija</a:t>
            </a:r>
            <a:r>
              <a:rPr lang="en-US" altLang="en-US" dirty="0">
                <a:cs typeface="Times New Roman" pitchFamily="18" charset="0"/>
              </a:rPr>
              <a:t> </a:t>
            </a:r>
            <a:r>
              <a:rPr lang="en-US" altLang="en-US" dirty="0" err="1">
                <a:cs typeface="Times New Roman" pitchFamily="18" charset="0"/>
              </a:rPr>
              <a:t>tipa</a:t>
            </a:r>
            <a:r>
              <a:rPr lang="en-US" altLang="en-US" dirty="0">
                <a:cs typeface="Times New Roman" pitchFamily="18" charset="0"/>
              </a:rPr>
              <a:t> LVWS (</a:t>
            </a:r>
            <a:r>
              <a:rPr lang="en-US" altLang="en-US" dirty="0" err="1">
                <a:cs typeface="Times New Roman" pitchFamily="18" charset="0"/>
              </a:rPr>
              <a:t>load_vector_with_stride</a:t>
            </a:r>
            <a:r>
              <a:rPr lang="en-US" altLang="en-US" dirty="0">
                <a:cs typeface="Times New Roman" pitchFamily="18" charset="0"/>
              </a:rPr>
              <a:t>  -- </a:t>
            </a:r>
            <a:r>
              <a:rPr lang="en-US" altLang="en-US" dirty="0" err="1">
                <a:cs typeface="Times New Roman" pitchFamily="18" charset="0"/>
              </a:rPr>
              <a:t>napuni</a:t>
            </a:r>
            <a:r>
              <a:rPr lang="en-US" altLang="en-US" dirty="0">
                <a:cs typeface="Times New Roman" pitchFamily="18" charset="0"/>
              </a:rPr>
              <a:t> </a:t>
            </a:r>
            <a:r>
              <a:rPr lang="en-US" altLang="en-US" dirty="0" err="1">
                <a:cs typeface="Times New Roman" pitchFamily="18" charset="0"/>
              </a:rPr>
              <a:t>vektor</a:t>
            </a:r>
            <a:r>
              <a:rPr lang="en-US" altLang="en-US" dirty="0">
                <a:cs typeface="Times New Roman" pitchFamily="18" charset="0"/>
              </a:rPr>
              <a:t> </a:t>
            </a:r>
            <a:r>
              <a:rPr lang="en-US" altLang="en-US" dirty="0" err="1">
                <a:cs typeface="Times New Roman" pitchFamily="18" charset="0"/>
              </a:rPr>
              <a:t>sa</a:t>
            </a:r>
            <a:r>
              <a:rPr lang="en-US" altLang="en-US" dirty="0">
                <a:cs typeface="Times New Roman" pitchFamily="18" charset="0"/>
              </a:rPr>
              <a:t> </a:t>
            </a:r>
            <a:r>
              <a:rPr lang="en-US" altLang="en-US" dirty="0" err="1">
                <a:cs typeface="Times New Roman" pitchFamily="18" charset="0"/>
              </a:rPr>
              <a:t>korakom</a:t>
            </a:r>
            <a:r>
              <a:rPr lang="en-US" altLang="en-US" dirty="0">
                <a:cs typeface="Times New Roman" pitchFamily="18" charset="0"/>
              </a:rPr>
              <a:t>) </a:t>
            </a:r>
            <a:r>
              <a:rPr lang="en-US" altLang="en-US" dirty="0" err="1">
                <a:cs typeface="Times New Roman" pitchFamily="18" charset="0"/>
              </a:rPr>
              <a:t>mo</a:t>
            </a:r>
            <a:r>
              <a:rPr lang="hr-HR" altLang="en-US" dirty="0"/>
              <a:t>ž</a:t>
            </a:r>
            <a:r>
              <a:rPr lang="en-US" altLang="en-US" dirty="0">
                <a:cs typeface="Times New Roman" pitchFamily="18" charset="0"/>
              </a:rPr>
              <a:t>e </a:t>
            </a:r>
            <a:r>
              <a:rPr lang="en-US" altLang="en-US" dirty="0" err="1">
                <a:cs typeface="Times New Roman" pitchFamily="18" charset="0"/>
              </a:rPr>
              <a:t>upotrebiti</a:t>
            </a:r>
            <a:r>
              <a:rPr lang="en-US" altLang="en-US" dirty="0">
                <a:cs typeface="Times New Roman" pitchFamily="18" charset="0"/>
              </a:rPr>
              <a:t> da se </a:t>
            </a:r>
            <a:r>
              <a:rPr lang="en-US" altLang="en-US" dirty="0" err="1">
                <a:cs typeface="Times New Roman" pitchFamily="18" charset="0"/>
              </a:rPr>
              <a:t>pribavi</a:t>
            </a:r>
            <a:r>
              <a:rPr lang="en-US" altLang="en-US" dirty="0">
                <a:cs typeface="Times New Roman" pitchFamily="18" charset="0"/>
              </a:rPr>
              <a:t> </a:t>
            </a:r>
            <a:r>
              <a:rPr lang="en-US" altLang="en-US" dirty="0" err="1">
                <a:cs typeface="Times New Roman" pitchFamily="18" charset="0"/>
              </a:rPr>
              <a:t>vektor</a:t>
            </a:r>
            <a:r>
              <a:rPr lang="en-US" altLang="en-US" dirty="0">
                <a:cs typeface="Times New Roman" pitchFamily="18" charset="0"/>
              </a:rPr>
              <a:t> u </a:t>
            </a:r>
            <a:r>
              <a:rPr lang="en-US" altLang="en-US" dirty="0" err="1">
                <a:cs typeface="Times New Roman" pitchFamily="18" charset="0"/>
              </a:rPr>
              <a:t>vektorski</a:t>
            </a:r>
            <a:r>
              <a:rPr lang="en-US" altLang="en-US" dirty="0">
                <a:cs typeface="Times New Roman" pitchFamily="18" charset="0"/>
              </a:rPr>
              <a:t> </a:t>
            </a:r>
            <a:r>
              <a:rPr lang="en-US" altLang="en-US" dirty="0" err="1">
                <a:cs typeface="Times New Roman" pitchFamily="18" charset="0"/>
              </a:rPr>
              <a:t>registar</a:t>
            </a:r>
            <a:r>
              <a:rPr lang="en-US" altLang="en-US" dirty="0">
                <a:cs typeface="Times New Roman" pitchFamily="18" charset="0"/>
              </a:rPr>
              <a:t> (</a:t>
            </a:r>
            <a:r>
              <a:rPr lang="en-US" altLang="en-US" dirty="0" err="1">
                <a:cs typeface="Times New Roman" pitchFamily="18" charset="0"/>
              </a:rPr>
              <a:t>sli</a:t>
            </a:r>
            <a:r>
              <a:rPr lang="hr-HR" altLang="en-US" dirty="0"/>
              <a:t>č</a:t>
            </a:r>
            <a:r>
              <a:rPr lang="en-US" altLang="en-US" dirty="0">
                <a:cs typeface="Times New Roman" pitchFamily="18" charset="0"/>
              </a:rPr>
              <a:t>no i za STORE </a:t>
            </a:r>
            <a:r>
              <a:rPr lang="en-US" altLang="en-US" dirty="0" err="1">
                <a:cs typeface="Times New Roman" pitchFamily="18" charset="0"/>
              </a:rPr>
              <a:t>naredbu</a:t>
            </a:r>
            <a:r>
              <a:rPr lang="en-US" altLang="en-US" dirty="0">
                <a:cs typeface="Times New Roman" pitchFamily="18" charset="0"/>
              </a:rPr>
              <a:t> SVWS). </a:t>
            </a:r>
            <a:endParaRPr lang="hr-HR" altLang="en-US" dirty="0"/>
          </a:p>
          <a:p>
            <a:pPr lvl="2" algn="just">
              <a:defRPr/>
            </a:pPr>
            <a:r>
              <a:rPr lang="en-US" altLang="en-US" dirty="0" err="1">
                <a:cs typeface="Times New Roman" pitchFamily="18" charset="0"/>
              </a:rPr>
              <a:t>Kod</a:t>
            </a:r>
            <a:r>
              <a:rPr lang="en-US" altLang="en-US" dirty="0">
                <a:cs typeface="Times New Roman" pitchFamily="18" charset="0"/>
              </a:rPr>
              <a:t> </a:t>
            </a:r>
            <a:r>
              <a:rPr lang="en-US" altLang="en-US" dirty="0" err="1">
                <a:cs typeface="Times New Roman" pitchFamily="18" charset="0"/>
              </a:rPr>
              <a:t>nekih</a:t>
            </a:r>
            <a:r>
              <a:rPr lang="en-US" altLang="en-US" dirty="0">
                <a:cs typeface="Times New Roman" pitchFamily="18" charset="0"/>
              </a:rPr>
              <a:t> </a:t>
            </a:r>
            <a:r>
              <a:rPr lang="en-US" altLang="en-US" dirty="0" err="1">
                <a:cs typeface="Times New Roman" pitchFamily="18" charset="0"/>
              </a:rPr>
              <a:t>vektorskih</a:t>
            </a:r>
            <a:r>
              <a:rPr lang="en-US" altLang="en-US" dirty="0">
                <a:cs typeface="Times New Roman" pitchFamily="18" charset="0"/>
              </a:rPr>
              <a:t> </a:t>
            </a:r>
            <a:r>
              <a:rPr lang="en-US" altLang="en-US" dirty="0" err="1">
                <a:cs typeface="Times New Roman" pitchFamily="18" charset="0"/>
              </a:rPr>
              <a:t>procesora</a:t>
            </a:r>
            <a:r>
              <a:rPr lang="en-US" altLang="en-US" dirty="0">
                <a:cs typeface="Times New Roman" pitchFamily="18" charset="0"/>
              </a:rPr>
              <a:t> LOAD i STORE </a:t>
            </a:r>
            <a:r>
              <a:rPr lang="en-US" altLang="en-US" dirty="0" err="1">
                <a:cs typeface="Times New Roman" pitchFamily="18" charset="0"/>
              </a:rPr>
              <a:t>uvek</a:t>
            </a:r>
            <a:r>
              <a:rPr lang="en-US" altLang="en-US" dirty="0">
                <a:cs typeface="Times New Roman" pitchFamily="18" charset="0"/>
              </a:rPr>
              <a:t> </a:t>
            </a:r>
            <a:r>
              <a:rPr lang="en-US" altLang="en-US" dirty="0" err="1">
                <a:cs typeface="Times New Roman" pitchFamily="18" charset="0"/>
              </a:rPr>
              <a:t>imaju</a:t>
            </a:r>
            <a:r>
              <a:rPr lang="en-US" altLang="en-US" dirty="0">
                <a:cs typeface="Times New Roman" pitchFamily="18" charset="0"/>
              </a:rPr>
              <a:t> </a:t>
            </a:r>
            <a:r>
              <a:rPr lang="en-US" altLang="en-US" dirty="0" err="1">
                <a:cs typeface="Times New Roman" pitchFamily="18" charset="0"/>
              </a:rPr>
              <a:t>vrednost</a:t>
            </a:r>
            <a:r>
              <a:rPr lang="en-US" altLang="en-US" dirty="0">
                <a:cs typeface="Times New Roman" pitchFamily="18" charset="0"/>
              </a:rPr>
              <a:t> </a:t>
            </a:r>
            <a:r>
              <a:rPr lang="en-US" altLang="en-US" dirty="0" err="1">
                <a:cs typeface="Times New Roman" pitchFamily="18" charset="0"/>
              </a:rPr>
              <a:t>koraka</a:t>
            </a:r>
            <a:r>
              <a:rPr lang="en-US" altLang="en-US" dirty="0">
                <a:cs typeface="Times New Roman" pitchFamily="18" charset="0"/>
              </a:rPr>
              <a:t> </a:t>
            </a:r>
            <a:r>
              <a:rPr lang="en-US" altLang="en-US" dirty="0" err="1">
                <a:cs typeface="Times New Roman" pitchFamily="18" charset="0"/>
              </a:rPr>
              <a:t>zapam</a:t>
            </a:r>
            <a:r>
              <a:rPr lang="hr-HR" altLang="en-US" dirty="0"/>
              <a:t>ć</a:t>
            </a:r>
            <a:r>
              <a:rPr lang="en-US" altLang="en-US" dirty="0" err="1">
                <a:cs typeface="Times New Roman" pitchFamily="18" charset="0"/>
              </a:rPr>
              <a:t>enu</a:t>
            </a:r>
            <a:r>
              <a:rPr lang="en-US" altLang="en-US" dirty="0">
                <a:cs typeface="Times New Roman" pitchFamily="18" charset="0"/>
              </a:rPr>
              <a:t> u </a:t>
            </a:r>
            <a:r>
              <a:rPr lang="en-US" altLang="en-US" dirty="0" err="1">
                <a:cs typeface="Times New Roman" pitchFamily="18" charset="0"/>
              </a:rPr>
              <a:t>registru</a:t>
            </a:r>
            <a:r>
              <a:rPr lang="en-US" altLang="en-US" dirty="0">
                <a:cs typeface="Times New Roman" pitchFamily="18" charset="0"/>
              </a:rPr>
              <a:t>, pa </a:t>
            </a:r>
            <a:r>
              <a:rPr lang="en-US" altLang="en-US" dirty="0" err="1">
                <a:cs typeface="Times New Roman" pitchFamily="18" charset="0"/>
              </a:rPr>
              <a:t>nema</a:t>
            </a:r>
            <a:r>
              <a:rPr lang="en-US" altLang="en-US" dirty="0">
                <a:cs typeface="Times New Roman" pitchFamily="18" charset="0"/>
              </a:rPr>
              <a:t> </a:t>
            </a:r>
            <a:r>
              <a:rPr lang="en-US" altLang="en-US" dirty="0" err="1">
                <a:cs typeface="Times New Roman" pitchFamily="18" charset="0"/>
              </a:rPr>
              <a:t>posebnih</a:t>
            </a:r>
            <a:r>
              <a:rPr lang="en-US" altLang="en-US" dirty="0">
                <a:cs typeface="Times New Roman" pitchFamily="18" charset="0"/>
              </a:rPr>
              <a:t> LOAD i STORE </a:t>
            </a:r>
            <a:r>
              <a:rPr lang="en-US" altLang="en-US" dirty="0" err="1">
                <a:cs typeface="Times New Roman" pitchFamily="18" charset="0"/>
              </a:rPr>
              <a:t>instrukcija</a:t>
            </a:r>
            <a:r>
              <a:rPr lang="en-US" altLang="en-US" dirty="0">
                <a:cs typeface="Times New Roman" pitchFamily="18" charset="0"/>
              </a:rPr>
              <a:t> </a:t>
            </a:r>
            <a:endParaRPr lang="en-US" altLang="en-US" dirty="0"/>
          </a:p>
          <a:p>
            <a:pPr>
              <a:defRPr/>
            </a:pPr>
            <a:endParaRPr lang="en-US" altLang="en-US" dirty="0"/>
          </a:p>
        </p:txBody>
      </p:sp>
    </p:spTree>
    <p:extLst>
      <p:ext uri="{BB962C8B-B14F-4D97-AF65-F5344CB8AC3E}">
        <p14:creationId xmlns:p14="http://schemas.microsoft.com/office/powerpoint/2010/main" val="1513481396"/>
      </p:ext>
    </p:extLst>
  </p:cSld>
  <p:clrMapOvr>
    <a:masterClrMapping/>
  </p:clrMapOvr>
  <p:transition>
    <p:pull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0"/>
            <a:ext cx="9144000" cy="579438"/>
          </a:xfrm>
        </p:spPr>
        <p:txBody>
          <a:bodyPr/>
          <a:lstStyle/>
          <a:p>
            <a:pPr>
              <a:defRPr/>
            </a:pPr>
            <a:r>
              <a:rPr lang="hr-HR" altLang="en-US" sz="3200"/>
              <a:t>Odredjivanje broja memorijskih banaka (nast.)</a:t>
            </a:r>
            <a:endParaRPr lang="en-US" altLang="en-US" sz="3200"/>
          </a:p>
        </p:txBody>
      </p:sp>
      <p:sp>
        <p:nvSpPr>
          <p:cNvPr id="12291" name="Rectangle 3"/>
          <p:cNvSpPr>
            <a:spLocks noGrp="1" noChangeArrowheads="1"/>
          </p:cNvSpPr>
          <p:nvPr>
            <p:ph type="body" idx="1"/>
          </p:nvPr>
        </p:nvSpPr>
        <p:spPr/>
        <p:txBody>
          <a:bodyPr/>
          <a:lstStyle/>
          <a:p>
            <a:pPr>
              <a:defRPr/>
            </a:pPr>
            <a:r>
              <a:rPr lang="en-US" altLang="en-US"/>
              <a:t>Komplikacije u memorijskom sistemu mogu da nastupe kad treba podr</a:t>
            </a:r>
            <a:r>
              <a:rPr lang="sr-Latn-CS" altLang="en-US"/>
              <a:t>ž</a:t>
            </a:r>
            <a:r>
              <a:rPr lang="en-US" altLang="en-US"/>
              <a:t>ati korake &gt; 1. </a:t>
            </a:r>
            <a:endParaRPr lang="sr-Latn-CS" altLang="en-US"/>
          </a:p>
          <a:p>
            <a:pPr lvl="1">
              <a:defRPr/>
            </a:pPr>
            <a:r>
              <a:rPr lang="en-US" altLang="en-US"/>
              <a:t>U op</a:t>
            </a:r>
            <a:r>
              <a:rPr lang="sr-Latn-CS" altLang="en-US"/>
              <a:t>š</a:t>
            </a:r>
            <a:r>
              <a:rPr lang="en-US" altLang="en-US"/>
              <a:t>tem slu</a:t>
            </a:r>
            <a:r>
              <a:rPr lang="sr-Latn-CS" altLang="en-US"/>
              <a:t>č</a:t>
            </a:r>
            <a:r>
              <a:rPr lang="en-US" altLang="en-US"/>
              <a:t>aju da bi se moga</a:t>
            </a:r>
            <a:r>
              <a:rPr lang="sr-Latn-CS" altLang="en-US"/>
              <a:t>o</a:t>
            </a:r>
            <a:r>
              <a:rPr lang="en-US" altLang="en-US"/>
              <a:t> pribaviti jedan element vektora po klok ciklusu, broj memorijskih banaka mora biti ve</a:t>
            </a:r>
            <a:r>
              <a:rPr lang="sr-Latn-CS" altLang="en-US"/>
              <a:t>ć</a:t>
            </a:r>
            <a:r>
              <a:rPr lang="en-US" altLang="en-US"/>
              <a:t>i od latentnosti memorijskog sistema (vreme pristupa memeoriji). </a:t>
            </a:r>
            <a:endParaRPr lang="sr-Latn-CS" altLang="en-US"/>
          </a:p>
          <a:p>
            <a:pPr lvl="1">
              <a:defRPr/>
            </a:pPr>
            <a:r>
              <a:rPr lang="sr-Latn-CS" altLang="en-US"/>
              <a:t>K</a:t>
            </a:r>
            <a:r>
              <a:rPr lang="en-US" altLang="en-US"/>
              <a:t>ada postoji korak &gt; 1 mo</a:t>
            </a:r>
            <a:r>
              <a:rPr lang="sr-Latn-CS" altLang="en-US"/>
              <a:t>ž</a:t>
            </a:r>
            <a:r>
              <a:rPr lang="en-US" altLang="en-US"/>
              <a:t>e se desiti da se zahteva pristup istoj memorijskoj ban</a:t>
            </a:r>
            <a:r>
              <a:rPr lang="sr-Latn-CS" altLang="en-US"/>
              <a:t>c</a:t>
            </a:r>
            <a:r>
              <a:rPr lang="en-US" altLang="en-US"/>
              <a:t>i ve</a:t>
            </a:r>
            <a:r>
              <a:rPr lang="sr-Latn-CS" altLang="en-US"/>
              <a:t>ć</a:t>
            </a:r>
            <a:r>
              <a:rPr lang="en-US" altLang="en-US"/>
              <a:t>om brzinom od brzine memorijskog ciklusa. </a:t>
            </a:r>
            <a:endParaRPr lang="sr-Latn-CS" altLang="en-US"/>
          </a:p>
          <a:p>
            <a:pPr lvl="2">
              <a:defRPr/>
            </a:pPr>
            <a:r>
              <a:rPr lang="en-US" altLang="en-US"/>
              <a:t>U takvim slu</a:t>
            </a:r>
            <a:r>
              <a:rPr lang="sr-Latn-CS" altLang="en-US"/>
              <a:t>č</a:t>
            </a:r>
            <a:r>
              <a:rPr lang="en-US" altLang="en-US"/>
              <a:t>ajevima jedan zahtev mora biti zaka</a:t>
            </a:r>
            <a:r>
              <a:rPr lang="sr-Latn-CS" altLang="en-US"/>
              <a:t>š</a:t>
            </a:r>
            <a:r>
              <a:rPr lang="en-US" altLang="en-US"/>
              <a:t>njen zbog postojanja konflikta. </a:t>
            </a:r>
            <a:endParaRPr lang="sr-Latn-CS" altLang="en-US"/>
          </a:p>
        </p:txBody>
      </p:sp>
      <p:sp>
        <p:nvSpPr>
          <p:cNvPr id="12292" name="Rectangle 5"/>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Tree>
    <p:extLst>
      <p:ext uri="{BB962C8B-B14F-4D97-AF65-F5344CB8AC3E}">
        <p14:creationId xmlns:p14="http://schemas.microsoft.com/office/powerpoint/2010/main" val="2931376240"/>
      </p:ext>
    </p:extLst>
  </p:cSld>
  <p:clrMapOvr>
    <a:masterClrMapping/>
  </p:clrMapOvr>
  <p:transition>
    <p:pull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7" name="Rectangle 39"/>
          <p:cNvSpPr>
            <a:spLocks noGrp="1" noChangeArrowheads="1"/>
          </p:cNvSpPr>
          <p:nvPr>
            <p:ph type="title"/>
          </p:nvPr>
        </p:nvSpPr>
        <p:spPr/>
        <p:txBody>
          <a:bodyPr/>
          <a:lstStyle/>
          <a:p>
            <a:pPr>
              <a:defRPr/>
            </a:pPr>
            <a:endParaRPr lang="en-US" altLang="en-US"/>
          </a:p>
        </p:txBody>
      </p:sp>
      <p:graphicFrame>
        <p:nvGraphicFramePr>
          <p:cNvPr id="17456" name="Group 48"/>
          <p:cNvGraphicFramePr>
            <a:graphicFrameLocks noGrp="1"/>
          </p:cNvGraphicFramePr>
          <p:nvPr>
            <p:ph idx="1"/>
          </p:nvPr>
        </p:nvGraphicFramePr>
        <p:xfrm>
          <a:off x="1752600" y="1066800"/>
          <a:ext cx="3657600" cy="2187576"/>
        </p:xfrm>
        <a:graphic>
          <a:graphicData uri="http://schemas.openxmlformats.org/drawingml/2006/table">
            <a:tbl>
              <a:tblPr/>
              <a:tblGrid>
                <a:gridCol w="685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547688">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A1</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A2</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A3</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A4</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A5</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A6</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A7</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A8</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A9</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rPr>
                        <a:t>A10</a:t>
                      </a: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7688">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rPr>
                        <a:t>M1</a:t>
                      </a:r>
                      <a:endParaRPr kumimoji="1" lang="en-U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rPr>
                        <a:t>M2</a:t>
                      </a:r>
                      <a:endParaRPr kumimoji="1" lang="en-U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rPr>
                        <a:t>M3</a:t>
                      </a:r>
                      <a:endParaRPr kumimoji="1" lang="en-U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rPr>
                        <a:t>M4</a:t>
                      </a:r>
                      <a:endParaRPr kumimoji="1" lang="en-U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rPr>
                        <a:t>M5</a:t>
                      </a:r>
                      <a:endParaRPr kumimoji="1" lang="en-US" altLang="en-US" sz="2400" b="0" i="0" u="none" strike="noStrike" cap="none" normalizeH="0" baseline="0">
                        <a:ln>
                          <a:noFill/>
                        </a:ln>
                        <a:solidFill>
                          <a:schemeClr val="bg2"/>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347" name="Line 60"/>
          <p:cNvSpPr>
            <a:spLocks noChangeShapeType="1"/>
          </p:cNvSpPr>
          <p:nvPr/>
        </p:nvSpPr>
        <p:spPr bwMode="auto">
          <a:xfrm>
            <a:off x="1828800" y="38862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48" name="Line 61"/>
          <p:cNvSpPr>
            <a:spLocks noChangeShapeType="1"/>
          </p:cNvSpPr>
          <p:nvPr/>
        </p:nvSpPr>
        <p:spPr bwMode="auto">
          <a:xfrm>
            <a:off x="2286000" y="43434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49" name="Line 62"/>
          <p:cNvSpPr>
            <a:spLocks noChangeShapeType="1"/>
          </p:cNvSpPr>
          <p:nvPr/>
        </p:nvSpPr>
        <p:spPr bwMode="auto">
          <a:xfrm>
            <a:off x="2743200" y="4800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0" name="Line 63"/>
          <p:cNvSpPr>
            <a:spLocks noChangeShapeType="1"/>
          </p:cNvSpPr>
          <p:nvPr/>
        </p:nvSpPr>
        <p:spPr bwMode="auto">
          <a:xfrm>
            <a:off x="3657600" y="57150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1" name="Line 64"/>
          <p:cNvSpPr>
            <a:spLocks noChangeShapeType="1"/>
          </p:cNvSpPr>
          <p:nvPr/>
        </p:nvSpPr>
        <p:spPr bwMode="auto">
          <a:xfrm>
            <a:off x="3200400" y="52578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2" name="Line 65"/>
          <p:cNvSpPr>
            <a:spLocks noChangeShapeType="1"/>
          </p:cNvSpPr>
          <p:nvPr/>
        </p:nvSpPr>
        <p:spPr bwMode="auto">
          <a:xfrm>
            <a:off x="18288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3" name="Line 66"/>
          <p:cNvSpPr>
            <a:spLocks noChangeShapeType="1"/>
          </p:cNvSpPr>
          <p:nvPr/>
        </p:nvSpPr>
        <p:spPr bwMode="auto">
          <a:xfrm>
            <a:off x="22860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4" name="Line 67"/>
          <p:cNvSpPr>
            <a:spLocks noChangeShapeType="1"/>
          </p:cNvSpPr>
          <p:nvPr/>
        </p:nvSpPr>
        <p:spPr bwMode="auto">
          <a:xfrm>
            <a:off x="27432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5" name="Line 68"/>
          <p:cNvSpPr>
            <a:spLocks noChangeShapeType="1"/>
          </p:cNvSpPr>
          <p:nvPr/>
        </p:nvSpPr>
        <p:spPr bwMode="auto">
          <a:xfrm>
            <a:off x="32004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6" name="Line 69"/>
          <p:cNvSpPr>
            <a:spLocks noChangeShapeType="1"/>
          </p:cNvSpPr>
          <p:nvPr/>
        </p:nvSpPr>
        <p:spPr bwMode="auto">
          <a:xfrm>
            <a:off x="36576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7" name="Line 70"/>
          <p:cNvSpPr>
            <a:spLocks noChangeShapeType="1"/>
          </p:cNvSpPr>
          <p:nvPr/>
        </p:nvSpPr>
        <p:spPr bwMode="auto">
          <a:xfrm>
            <a:off x="41148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8" name="Line 71"/>
          <p:cNvSpPr>
            <a:spLocks noChangeShapeType="1"/>
          </p:cNvSpPr>
          <p:nvPr/>
        </p:nvSpPr>
        <p:spPr bwMode="auto">
          <a:xfrm>
            <a:off x="45720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59" name="Line 72"/>
          <p:cNvSpPr>
            <a:spLocks noChangeShapeType="1"/>
          </p:cNvSpPr>
          <p:nvPr/>
        </p:nvSpPr>
        <p:spPr bwMode="auto">
          <a:xfrm>
            <a:off x="50292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60" name="Line 73"/>
          <p:cNvSpPr>
            <a:spLocks noChangeShapeType="1"/>
          </p:cNvSpPr>
          <p:nvPr/>
        </p:nvSpPr>
        <p:spPr bwMode="auto">
          <a:xfrm>
            <a:off x="5486400" y="3505200"/>
            <a:ext cx="0" cy="2819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3361" name="Text Box 74"/>
          <p:cNvSpPr txBox="1">
            <a:spLocks noChangeArrowheads="1"/>
          </p:cNvSpPr>
          <p:nvPr/>
        </p:nvSpPr>
        <p:spPr bwMode="auto">
          <a:xfrm>
            <a:off x="1066800" y="3505200"/>
            <a:ext cx="565150" cy="242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nSpc>
                <a:spcPct val="170000"/>
              </a:lnSpc>
            </a:pPr>
            <a:r>
              <a:rPr lang="sr-Latn-CS" altLang="en-US"/>
              <a:t>M1 </a:t>
            </a:r>
          </a:p>
          <a:p>
            <a:pPr>
              <a:lnSpc>
                <a:spcPct val="170000"/>
              </a:lnSpc>
            </a:pPr>
            <a:r>
              <a:rPr lang="sr-Latn-CS" altLang="en-US"/>
              <a:t>M2</a:t>
            </a:r>
          </a:p>
          <a:p>
            <a:pPr>
              <a:lnSpc>
                <a:spcPct val="170000"/>
              </a:lnSpc>
            </a:pPr>
            <a:r>
              <a:rPr lang="sr-Latn-CS" altLang="en-US"/>
              <a:t>M3</a:t>
            </a:r>
          </a:p>
          <a:p>
            <a:pPr>
              <a:lnSpc>
                <a:spcPct val="170000"/>
              </a:lnSpc>
            </a:pPr>
            <a:r>
              <a:rPr lang="sr-Latn-CS" altLang="en-US"/>
              <a:t>M4</a:t>
            </a:r>
          </a:p>
          <a:p>
            <a:pPr>
              <a:lnSpc>
                <a:spcPct val="170000"/>
              </a:lnSpc>
            </a:pPr>
            <a:r>
              <a:rPr lang="sr-Latn-CS" altLang="en-US"/>
              <a:t>M5</a:t>
            </a:r>
            <a:endParaRPr lang="en-US" altLang="en-US"/>
          </a:p>
        </p:txBody>
      </p:sp>
      <p:sp>
        <p:nvSpPr>
          <p:cNvPr id="13362" name="Text Box 75"/>
          <p:cNvSpPr txBox="1">
            <a:spLocks noChangeArrowheads="1"/>
          </p:cNvSpPr>
          <p:nvPr/>
        </p:nvSpPr>
        <p:spPr bwMode="auto">
          <a:xfrm>
            <a:off x="1422400" y="6284913"/>
            <a:ext cx="419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sr-Latn-CS" altLang="en-US"/>
              <a:t>t = 0     1     2     3     4     5      6     7    8</a:t>
            </a:r>
            <a:endParaRPr lang="en-US" altLang="en-US"/>
          </a:p>
        </p:txBody>
      </p:sp>
      <p:sp>
        <p:nvSpPr>
          <p:cNvPr id="13363" name="Line 76"/>
          <p:cNvSpPr>
            <a:spLocks noChangeShapeType="1"/>
          </p:cNvSpPr>
          <p:nvPr/>
        </p:nvSpPr>
        <p:spPr bwMode="auto">
          <a:xfrm>
            <a:off x="4114800" y="38862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endParaRPr lang="en-US"/>
          </a:p>
        </p:txBody>
      </p:sp>
      <p:sp>
        <p:nvSpPr>
          <p:cNvPr id="17485" name="Text Box 77"/>
          <p:cNvSpPr txBox="1">
            <a:spLocks noChangeArrowheads="1"/>
          </p:cNvSpPr>
          <p:nvPr/>
        </p:nvSpPr>
        <p:spPr bwMode="auto">
          <a:xfrm>
            <a:off x="6308725" y="1327150"/>
            <a:ext cx="16113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defRPr/>
            </a:pPr>
            <a:r>
              <a:rPr lang="sr-Latn-CS" altLang="en-US">
                <a:effectLst>
                  <a:outerShdw blurRad="38100" dist="38100" dir="2700000" algn="tl">
                    <a:srgbClr val="C0C0C0"/>
                  </a:outerShdw>
                </a:effectLst>
                <a:latin typeface="Tahoma" pitchFamily="34" charset="0"/>
              </a:rPr>
              <a:t>Latentnost =4</a:t>
            </a:r>
            <a:endParaRPr lang="en-US" altLang="en-US">
              <a:effectLst>
                <a:outerShdw blurRad="38100" dist="38100" dir="2700000" algn="tl">
                  <a:srgbClr val="C0C0C0"/>
                </a:outerShdw>
              </a:effectLst>
              <a:latin typeface="Tahoma" pitchFamily="34" charset="0"/>
            </a:endParaRPr>
          </a:p>
        </p:txBody>
      </p:sp>
    </p:spTree>
    <p:extLst>
      <p:ext uri="{BB962C8B-B14F-4D97-AF65-F5344CB8AC3E}">
        <p14:creationId xmlns:p14="http://schemas.microsoft.com/office/powerpoint/2010/main" val="2586668597"/>
      </p:ext>
    </p:extLst>
  </p:cSld>
  <p:clrMapOvr>
    <a:masterClrMapping/>
  </p:clrMapOvr>
  <p:transition>
    <p:pull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5"/>
          <p:cNvSpPr>
            <a:spLocks noGrp="1" noChangeArrowheads="1"/>
          </p:cNvSpPr>
          <p:nvPr>
            <p:ph type="title"/>
          </p:nvPr>
        </p:nvSpPr>
        <p:spPr>
          <a:xfrm>
            <a:off x="0" y="0"/>
            <a:ext cx="9144000" cy="579438"/>
          </a:xfrm>
        </p:spPr>
        <p:txBody>
          <a:bodyPr/>
          <a:lstStyle/>
          <a:p>
            <a:pPr>
              <a:defRPr/>
            </a:pPr>
            <a:r>
              <a:rPr lang="hr-HR" altLang="en-US" sz="3200"/>
              <a:t>Odredjivanje broja memorijskih banaka (nast.)</a:t>
            </a:r>
            <a:endParaRPr lang="en-US" altLang="en-US" sz="3200"/>
          </a:p>
        </p:txBody>
      </p:sp>
      <p:sp>
        <p:nvSpPr>
          <p:cNvPr id="13315" name="Rectangle 3"/>
          <p:cNvSpPr>
            <a:spLocks noGrp="1" noChangeArrowheads="1"/>
          </p:cNvSpPr>
          <p:nvPr>
            <p:ph type="body" sz="half" idx="1"/>
          </p:nvPr>
        </p:nvSpPr>
        <p:spPr>
          <a:xfrm>
            <a:off x="0" y="708025"/>
            <a:ext cx="9144000" cy="6149975"/>
          </a:xfrm>
        </p:spPr>
        <p:txBody>
          <a:bodyPr/>
          <a:lstStyle/>
          <a:p>
            <a:pPr>
              <a:defRPr/>
            </a:pPr>
            <a:r>
              <a:rPr lang="en-US" altLang="en-US" sz="2400"/>
              <a:t>Konflikt kod pristupa memorijskoj banci nastupa ako va</a:t>
            </a:r>
            <a:r>
              <a:rPr lang="sr-Latn-CS" altLang="en-US" sz="2400"/>
              <a:t>ž</a:t>
            </a:r>
            <a:r>
              <a:rPr lang="en-US" altLang="en-US" sz="2400"/>
              <a:t>i slede</a:t>
            </a:r>
            <a:r>
              <a:rPr lang="sr-Latn-CS" altLang="en-US" sz="2400"/>
              <a:t>ć</a:t>
            </a:r>
            <a:r>
              <a:rPr lang="en-US" altLang="en-US" sz="2400"/>
              <a:t>i uslov</a:t>
            </a:r>
            <a:endParaRPr lang="sr-Latn-CS" altLang="en-US" sz="2400"/>
          </a:p>
          <a:p>
            <a:pPr>
              <a:defRPr/>
            </a:pPr>
            <a:endParaRPr lang="sr-Latn-CS" altLang="en-US" sz="2400"/>
          </a:p>
          <a:p>
            <a:pPr>
              <a:defRPr/>
            </a:pPr>
            <a:endParaRPr lang="sr-Latn-CS" altLang="en-US" sz="2400"/>
          </a:p>
          <a:p>
            <a:pPr lvl="1">
              <a:defRPr/>
            </a:pPr>
            <a:endParaRPr lang="sr-Latn-CS" altLang="en-US" sz="2100"/>
          </a:p>
          <a:p>
            <a:pPr lvl="1">
              <a:defRPr/>
            </a:pPr>
            <a:r>
              <a:rPr lang="en-US" altLang="en-US" sz="2100"/>
              <a:t>NZS je najmanji zajedni</a:t>
            </a:r>
            <a:r>
              <a:rPr lang="sr-Latn-CS" altLang="en-US" sz="2100"/>
              <a:t>č</a:t>
            </a:r>
            <a:r>
              <a:rPr lang="en-US" altLang="en-US" sz="2100"/>
              <a:t>ki sadr</a:t>
            </a:r>
            <a:r>
              <a:rPr lang="sr-Latn-CS" altLang="en-US" sz="2100"/>
              <a:t>ž</a:t>
            </a:r>
            <a:r>
              <a:rPr lang="en-US" altLang="en-US" sz="2100"/>
              <a:t>alac. </a:t>
            </a:r>
          </a:p>
          <a:p>
            <a:pPr>
              <a:defRPr/>
            </a:pPr>
            <a:r>
              <a:rPr lang="en-US" altLang="en-US" sz="2400" b="1"/>
              <a:t>PRIMER</a:t>
            </a:r>
            <a:r>
              <a:rPr lang="en-US" altLang="en-US" sz="2400"/>
              <a:t>. Pretpostavimo da imamo </a:t>
            </a:r>
            <a:r>
              <a:rPr lang="en-US" altLang="en-US" sz="2400">
                <a:solidFill>
                  <a:schemeClr val="tx1"/>
                </a:solidFill>
              </a:rPr>
              <a:t>16</a:t>
            </a:r>
            <a:r>
              <a:rPr lang="en-US" altLang="en-US" sz="2400"/>
              <a:t> memorijskih banaka sa latentno</a:t>
            </a:r>
            <a:r>
              <a:rPr lang="sr-Latn-CS" altLang="en-US" sz="2400"/>
              <a:t>šć</a:t>
            </a:r>
            <a:r>
              <a:rPr lang="en-US" altLang="en-US" sz="2400"/>
              <a:t>u od </a:t>
            </a:r>
            <a:r>
              <a:rPr lang="en-US" altLang="en-US" sz="2400">
                <a:solidFill>
                  <a:schemeClr val="tx1"/>
                </a:solidFill>
              </a:rPr>
              <a:t>12</a:t>
            </a:r>
            <a:r>
              <a:rPr lang="en-US" altLang="en-US" sz="2400"/>
              <a:t> clk ciklusa. Kol</a:t>
            </a:r>
            <a:r>
              <a:rPr lang="sr-Latn-CS" altLang="en-US" sz="2400"/>
              <a:t>i</a:t>
            </a:r>
            <a:r>
              <a:rPr lang="en-US" altLang="en-US" sz="2400"/>
              <a:t>ko vremena </a:t>
            </a:r>
            <a:r>
              <a:rPr lang="sr-Latn-CS" altLang="en-US" sz="2400"/>
              <a:t>ć</a:t>
            </a:r>
            <a:r>
              <a:rPr lang="en-US" altLang="en-US" sz="2400"/>
              <a:t>e biti potrebno da se napuni 64-elementni vektor ako se elementi koji se pribavljaju nalaze </a:t>
            </a:r>
            <a:r>
              <a:rPr lang="sr-Latn-CS" altLang="en-US" sz="2400"/>
              <a:t>na </a:t>
            </a:r>
            <a:r>
              <a:rPr lang="en-US" altLang="en-US" sz="2400"/>
              <a:t>medjusobnom rast</a:t>
            </a:r>
            <a:r>
              <a:rPr lang="sr-Latn-CS" altLang="en-US" sz="2400"/>
              <a:t>o</a:t>
            </a:r>
            <a:r>
              <a:rPr lang="en-US" altLang="en-US" sz="2400"/>
              <a:t>janju</a:t>
            </a:r>
          </a:p>
          <a:p>
            <a:pPr lvl="1">
              <a:defRPr/>
            </a:pPr>
            <a:r>
              <a:rPr lang="en-US" altLang="en-US" sz="2100"/>
              <a:t>1 (tj. vektorski korak je 1)</a:t>
            </a:r>
          </a:p>
          <a:p>
            <a:pPr lvl="1">
              <a:defRPr/>
            </a:pPr>
            <a:r>
              <a:rPr lang="en-US" altLang="en-US" sz="2100"/>
              <a:t>32 (tj. vektorski korak je 32)</a:t>
            </a:r>
          </a:p>
        </p:txBody>
      </p:sp>
      <p:graphicFrame>
        <p:nvGraphicFramePr>
          <p:cNvPr id="2" name="Object 4">
            <a:extLst>
              <a:ext uri="{FF2B5EF4-FFF2-40B4-BE49-F238E27FC236}">
                <a16:creationId xmlns:a16="http://schemas.microsoft.com/office/drawing/2014/main" id="{3B0FC590-623F-2BD5-FD59-1D7FF87EAD58}"/>
              </a:ext>
            </a:extLst>
          </p:cNvPr>
          <p:cNvGraphicFramePr>
            <a:graphicFrameLocks noChangeAspect="1"/>
          </p:cNvGraphicFramePr>
          <p:nvPr>
            <p:extLst>
              <p:ext uri="{D42A27DB-BD31-4B8C-83A1-F6EECF244321}">
                <p14:modId xmlns:p14="http://schemas.microsoft.com/office/powerpoint/2010/main" val="469252922"/>
              </p:ext>
            </p:extLst>
          </p:nvPr>
        </p:nvGraphicFramePr>
        <p:xfrm>
          <a:off x="304800" y="1905000"/>
          <a:ext cx="8534400" cy="644525"/>
        </p:xfrm>
        <a:graphic>
          <a:graphicData uri="http://schemas.openxmlformats.org/presentationml/2006/ole">
            <mc:AlternateContent xmlns:mc="http://schemas.openxmlformats.org/markup-compatibility/2006">
              <mc:Choice xmlns:v="urn:schemas-microsoft-com:vml" Requires="v">
                <p:oleObj name="Equation" r:id="rId2" imgW="5549900" imgH="419100" progId="Equation.3">
                  <p:embed/>
                </p:oleObj>
              </mc:Choice>
              <mc:Fallback>
                <p:oleObj name="Equation" r:id="rId2" imgW="5549900" imgH="419100" progId="Equation.3">
                  <p:embed/>
                  <p:pic>
                    <p:nvPicPr>
                      <p:cNvPr id="143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05000"/>
                        <a:ext cx="8534400" cy="6445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15501597"/>
      </p:ext>
    </p:extLst>
  </p:cSld>
  <p:clrMapOvr>
    <a:masterClrMapping/>
  </p:clrMapOvr>
  <p:transition>
    <p:pull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p:txBody>
          <a:bodyPr/>
          <a:lstStyle/>
          <a:p>
            <a:pPr>
              <a:defRPr/>
            </a:pPr>
            <a:r>
              <a:rPr lang="en-US" altLang="en-US" b="1"/>
              <a:t>RE</a:t>
            </a:r>
            <a:r>
              <a:rPr lang="sr-Latn-CS" altLang="en-US" b="1"/>
              <a:t>Š</a:t>
            </a:r>
            <a:r>
              <a:rPr lang="en-US" altLang="en-US" b="1"/>
              <a:t>ENJE: </a:t>
            </a:r>
            <a:r>
              <a:rPr lang="en-US" altLang="en-US"/>
              <a:t> </a:t>
            </a:r>
            <a:endParaRPr lang="sr-Latn-CS" altLang="en-US"/>
          </a:p>
          <a:p>
            <a:pPr lvl="1">
              <a:defRPr/>
            </a:pPr>
            <a:r>
              <a:rPr lang="en-US" altLang="en-US"/>
              <a:t>a) Po</a:t>
            </a:r>
            <a:r>
              <a:rPr lang="sr-Latn-CS" altLang="en-US"/>
              <a:t>š</a:t>
            </a:r>
            <a:r>
              <a:rPr lang="en-US" altLang="en-US"/>
              <a:t>to je broj memorijskih banaka</a:t>
            </a:r>
            <a:r>
              <a:rPr lang="sr-Latn-CS" altLang="en-US"/>
              <a:t> (16)</a:t>
            </a:r>
            <a:r>
              <a:rPr lang="en-US" altLang="en-US"/>
              <a:t> ve</a:t>
            </a:r>
            <a:r>
              <a:rPr lang="sr-Latn-CS" altLang="en-US"/>
              <a:t>ć</a:t>
            </a:r>
            <a:r>
              <a:rPr lang="en-US" altLang="en-US"/>
              <a:t>i od latentnosti memorijskog sistema</a:t>
            </a:r>
            <a:r>
              <a:rPr lang="sr-Latn-CS" altLang="en-US"/>
              <a:t> (12)</a:t>
            </a:r>
            <a:r>
              <a:rPr lang="en-US" altLang="en-US"/>
              <a:t> za korak 1 ima</a:t>
            </a:r>
            <a:r>
              <a:rPr lang="sr-Latn-CS" altLang="en-US"/>
              <a:t>ć</a:t>
            </a:r>
            <a:r>
              <a:rPr lang="en-US" altLang="en-US"/>
              <a:t>emo da je vreme potrebno da se pribave 64 elementa</a:t>
            </a:r>
          </a:p>
          <a:p>
            <a:pPr>
              <a:defRPr/>
            </a:pPr>
            <a:r>
              <a:rPr lang="en-US" altLang="en-US"/>
              <a:t>12 + 63 = 75 clk ciklusa ili 1.2 clk/element</a:t>
            </a:r>
            <a:endParaRPr lang="sr-Latn-CS" altLang="en-US"/>
          </a:p>
          <a:p>
            <a:pPr lvl="1">
              <a:defRPr/>
            </a:pPr>
            <a:endParaRPr lang="sr-Latn-CS" altLang="en-US"/>
          </a:p>
          <a:p>
            <a:pPr lvl="1">
              <a:defRPr/>
            </a:pPr>
            <a:r>
              <a:rPr lang="sr-Latn-CS" altLang="en-US"/>
              <a:t>b) </a:t>
            </a:r>
          </a:p>
          <a:p>
            <a:pPr lvl="1">
              <a:defRPr/>
            </a:pPr>
            <a:r>
              <a:rPr lang="en-US" altLang="en-US"/>
              <a:t>Najgori mogu</a:t>
            </a:r>
            <a:r>
              <a:rPr lang="sr-Latn-CS" altLang="en-US"/>
              <a:t>ć</a:t>
            </a:r>
            <a:r>
              <a:rPr lang="en-US" altLang="en-US"/>
              <a:t>i vektorski korak je umno</a:t>
            </a:r>
            <a:r>
              <a:rPr lang="sr-Latn-CS" altLang="en-US"/>
              <a:t>ž</a:t>
            </a:r>
            <a:r>
              <a:rPr lang="en-US" altLang="en-US"/>
              <a:t>ak od broja memeorijskih banaka, kao u ovom primeru. </a:t>
            </a:r>
            <a:endParaRPr lang="sr-Latn-CS" altLang="en-US"/>
          </a:p>
          <a:p>
            <a:pPr lvl="2">
              <a:defRPr/>
            </a:pPr>
            <a:r>
              <a:rPr lang="en-US" altLang="en-US"/>
              <a:t>U ovakvim sitacijama svi elementi kojima treba pristupiti se nalaze u istoj memorijskoj ban</a:t>
            </a:r>
            <a:r>
              <a:rPr lang="sr-Latn-CS" altLang="en-US"/>
              <a:t>c</a:t>
            </a:r>
            <a:r>
              <a:rPr lang="en-US" altLang="en-US"/>
              <a:t>i pa je latentnost memorijskog sistema vidljiva za svaki elelent koji treba pribaviti umesto samo jednom kod prvog pristupa kada je korak 1. </a:t>
            </a:r>
            <a:endParaRPr lang="sr-Latn-CS" altLang="en-US"/>
          </a:p>
          <a:p>
            <a:pPr lvl="2">
              <a:defRPr/>
            </a:pPr>
            <a:r>
              <a:rPr lang="en-US" altLang="en-US"/>
              <a:t>U na</a:t>
            </a:r>
            <a:r>
              <a:rPr lang="sr-Latn-CS" altLang="en-US"/>
              <a:t>š</a:t>
            </a:r>
            <a:r>
              <a:rPr lang="en-US" altLang="en-US"/>
              <a:t>em primeru to dovodi do latentnosti od 12 clk ciklusa po elementu, tj. za ceo vektor</a:t>
            </a:r>
            <a:r>
              <a:rPr lang="sr-Latn-CS" altLang="en-US"/>
              <a:t>:    </a:t>
            </a:r>
            <a:r>
              <a:rPr lang="en-US" altLang="en-US" b="1">
                <a:solidFill>
                  <a:schemeClr val="accent1"/>
                </a:solidFill>
              </a:rPr>
              <a:t>12 x 64 = 768 clk</a:t>
            </a:r>
          </a:p>
        </p:txBody>
      </p:sp>
      <p:sp>
        <p:nvSpPr>
          <p:cNvPr id="15364" name="Rectangle 4"/>
          <p:cNvSpPr>
            <a:spLocks noGrp="1" noChangeArrowheads="1"/>
          </p:cNvSpPr>
          <p:nvPr>
            <p:ph type="title"/>
          </p:nvPr>
        </p:nvSpPr>
        <p:spPr>
          <a:xfrm>
            <a:off x="0" y="0"/>
            <a:ext cx="9144000" cy="519113"/>
          </a:xfrm>
        </p:spPr>
        <p:txBody>
          <a:bodyPr/>
          <a:lstStyle/>
          <a:p>
            <a:pPr>
              <a:defRPr/>
            </a:pPr>
            <a:r>
              <a:rPr lang="hr-HR" altLang="en-US" sz="2800"/>
              <a:t>Odredjivanje broja memorijskih banaka -primer</a:t>
            </a:r>
            <a:endParaRPr lang="en-US" altLang="en-US" sz="2800"/>
          </a:p>
        </p:txBody>
      </p:sp>
      <p:sp>
        <p:nvSpPr>
          <p:cNvPr id="2" name="Rectangle 6"/>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aphicFrame>
        <p:nvGraphicFramePr>
          <p:cNvPr id="15365" name="Object 5"/>
          <p:cNvGraphicFramePr>
            <a:graphicFrameLocks noChangeAspect="1"/>
          </p:cNvGraphicFramePr>
          <p:nvPr/>
        </p:nvGraphicFramePr>
        <p:xfrm>
          <a:off x="1905000" y="3048000"/>
          <a:ext cx="3419475" cy="801688"/>
        </p:xfrm>
        <a:graphic>
          <a:graphicData uri="http://schemas.openxmlformats.org/presentationml/2006/ole">
            <mc:AlternateContent xmlns:mc="http://schemas.openxmlformats.org/markup-compatibility/2006">
              <mc:Choice xmlns:v="urn:schemas-microsoft-com:vml" Requires="v">
                <p:oleObj name="Equation" r:id="rId2" imgW="1663700" imgH="393700" progId="Equation.3">
                  <p:embed/>
                </p:oleObj>
              </mc:Choice>
              <mc:Fallback>
                <p:oleObj name="Equation" r:id="rId2" imgW="1663700" imgH="393700" progId="Equation.3">
                  <p:embed/>
                  <p:pic>
                    <p:nvPicPr>
                      <p:cNvPr id="1536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048000"/>
                        <a:ext cx="3419475" cy="8016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50302834"/>
      </p:ext>
    </p:extLst>
  </p:cSld>
  <p:clrMapOvr>
    <a:masterClrMapping/>
  </p:clrMapOvr>
  <p:transition>
    <p:pull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endParaRPr lang="en-US" altLang="en-US"/>
          </a:p>
        </p:txBody>
      </p:sp>
      <p:sp>
        <p:nvSpPr>
          <p:cNvPr id="16387" name="Rectangle 3"/>
          <p:cNvSpPr>
            <a:spLocks noGrp="1" noChangeArrowheads="1"/>
          </p:cNvSpPr>
          <p:nvPr>
            <p:ph type="body" idx="1"/>
          </p:nvPr>
        </p:nvSpPr>
        <p:spPr/>
        <p:txBody>
          <a:bodyPr/>
          <a:lstStyle/>
          <a:p>
            <a:pPr>
              <a:defRPr/>
            </a:pPr>
            <a:r>
              <a:rPr lang="en-US" altLang="en-US"/>
              <a:t>Konflikt kod pristupa memoriji ne</a:t>
            </a:r>
            <a:r>
              <a:rPr lang="sr-Latn-CS" altLang="en-US"/>
              <a:t>ć</a:t>
            </a:r>
            <a:r>
              <a:rPr lang="en-US" altLang="en-US"/>
              <a:t>e nastupiti ako su vektorski korak i broj memeorijskih banaka uzajamno prosti brojevi i ako postoji dovoljno memorijskih banaka da ne nastupi konflikt kada je vektorski korak 1 (odnosno ako je broj banaka ve</a:t>
            </a:r>
            <a:r>
              <a:rPr lang="sr-Latn-CS" altLang="en-US"/>
              <a:t>ć</a:t>
            </a:r>
            <a:r>
              <a:rPr lang="en-US" altLang="en-US"/>
              <a:t>i od latentnosti memeorijskog sistema).</a:t>
            </a:r>
          </a:p>
        </p:txBody>
      </p:sp>
    </p:spTree>
    <p:extLst>
      <p:ext uri="{BB962C8B-B14F-4D97-AF65-F5344CB8AC3E}">
        <p14:creationId xmlns:p14="http://schemas.microsoft.com/office/powerpoint/2010/main" val="1446692951"/>
      </p:ext>
    </p:extLst>
  </p:cSld>
  <p:clrMapOvr>
    <a:masterClrMapping/>
  </p:clrMapOvr>
  <p:transition>
    <p:pull dir="d"/>
  </p:transition>
</p:sld>
</file>

<file path=ppt/theme/theme1.xml><?xml version="1.0" encoding="utf-8"?>
<a:theme xmlns:a="http://schemas.openxmlformats.org/drawingml/2006/main" name="grananje-dinam">
  <a:themeElements>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grananje-dinam">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grananje-dinam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grananje-dinam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grananje-dinam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ananje-dinam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grananje-dinam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grananje-dinam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grananje-dinam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grananje-dinam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grananje-dinam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grananje-dinam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grananje-dinam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grananje-dinam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D:\users\ema\paral-slajd\prezentacije\grananje-dinam.ppt</Template>
  <TotalTime>1705</TotalTime>
  <Words>11799</Words>
  <Application>Microsoft Office PowerPoint</Application>
  <PresentationFormat>On-screen Show (4:3)</PresentationFormat>
  <Paragraphs>1105</Paragraphs>
  <Slides>91</Slides>
  <Notes>19</Notes>
  <HiddenSlides>4</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2</vt:i4>
      </vt:variant>
      <vt:variant>
        <vt:lpstr>Slide Titles</vt:lpstr>
      </vt:variant>
      <vt:variant>
        <vt:i4>91</vt:i4>
      </vt:variant>
    </vt:vector>
  </HeadingPairs>
  <TitlesOfParts>
    <vt:vector size="108" baseType="lpstr">
      <vt:lpstr>Arial</vt:lpstr>
      <vt:lpstr>Arial Narrow</vt:lpstr>
      <vt:lpstr>Arial,Bold</vt:lpstr>
      <vt:lpstr>Calibri</vt:lpstr>
      <vt:lpstr>Cambria Math</vt:lpstr>
      <vt:lpstr>Consolas</vt:lpstr>
      <vt:lpstr>Courier</vt:lpstr>
      <vt:lpstr>Georgia</vt:lpstr>
      <vt:lpstr>Symbol</vt:lpstr>
      <vt:lpstr>Tahoma</vt:lpstr>
      <vt:lpstr>Times New Roman</vt:lpstr>
      <vt:lpstr>Times Roman YU</vt:lpstr>
      <vt:lpstr>Wingdings</vt:lpstr>
      <vt:lpstr>Wingdings 2</vt:lpstr>
      <vt:lpstr>grananje-dinam</vt:lpstr>
      <vt:lpstr>Equation.3</vt:lpstr>
      <vt:lpstr>Equation</vt:lpstr>
      <vt:lpstr>Pralelni računarski sistemi</vt:lpstr>
      <vt:lpstr>Vektorski procesori</vt:lpstr>
      <vt:lpstr>Vektorski procesori (nast.)</vt:lpstr>
      <vt:lpstr>Osobine vektorskih istrukcija</vt:lpstr>
      <vt:lpstr>Osobine vektorskih istrukcija (nast.)</vt:lpstr>
      <vt:lpstr>VP</vt:lpstr>
      <vt:lpstr>Osnovne komponente vektorskog računara</vt:lpstr>
      <vt:lpstr>Adresiranje i pristup memoriji</vt:lpstr>
      <vt:lpstr>Pristup memoriji</vt:lpstr>
      <vt:lpstr>Memorija vek. računara</vt:lpstr>
      <vt:lpstr>Skalarni podsistem</vt:lpstr>
      <vt:lpstr>PowerPoint Presentation</vt:lpstr>
      <vt:lpstr>Cray-1</vt:lpstr>
      <vt:lpstr>PowerPoint Presentation</vt:lpstr>
      <vt:lpstr>Cray-1 set instrukcija</vt:lpstr>
      <vt:lpstr>Primer </vt:lpstr>
      <vt:lpstr>Vektorski procesori</vt:lpstr>
      <vt:lpstr>Vektorizacija petlji</vt:lpstr>
      <vt:lpstr>Primer</vt:lpstr>
      <vt:lpstr>Zašto do ovih zavisnost dolazi?</vt:lpstr>
      <vt:lpstr>Analiza zavisnosti</vt:lpstr>
      <vt:lpstr>Analiza zavisnosti</vt:lpstr>
      <vt:lpstr>Analiza zavisnosti</vt:lpstr>
      <vt:lpstr>Analiza zavisnosti</vt:lpstr>
      <vt:lpstr>Kako kompajler detektuje loop carry zavisnosti generalno?</vt:lpstr>
      <vt:lpstr>PowerPoint Presentation</vt:lpstr>
      <vt:lpstr>Primer2: ugnježđene petlje</vt:lpstr>
      <vt:lpstr>NZD (GCD) test za jednostruke petlje</vt:lpstr>
      <vt:lpstr>NZD test</vt:lpstr>
      <vt:lpstr>Primer1</vt:lpstr>
      <vt:lpstr>Primer2</vt:lpstr>
      <vt:lpstr>Primer2 – nast.</vt:lpstr>
      <vt:lpstr>GCD Test</vt:lpstr>
      <vt:lpstr>Primer</vt:lpstr>
      <vt:lpstr>Ograničenja NZD testa</vt:lpstr>
      <vt:lpstr>Eliminisanje loop carry zavisnosti</vt:lpstr>
      <vt:lpstr>PowerPoint Presentation</vt:lpstr>
      <vt:lpstr>Eliminacija zavisnosti</vt:lpstr>
      <vt:lpstr>Analiza zavisnosti kod ugnježđenih petlji i višedimenzionalnih polja</vt:lpstr>
      <vt:lpstr>PowerPoint Presentation</vt:lpstr>
      <vt:lpstr>Opšti problem</vt:lpstr>
      <vt:lpstr>Definicije pojmova</vt:lpstr>
      <vt:lpstr>Koliko ima indeksa u sabscript paru?</vt:lpstr>
      <vt:lpstr>Separabilni i povezani subscripti</vt:lpstr>
      <vt:lpstr>Analiza zavisnsoti</vt:lpstr>
      <vt:lpstr>PowerPoint Presentation</vt:lpstr>
      <vt:lpstr>Vektori zavisnosti i vektori pravca zavisnosti</vt:lpstr>
      <vt:lpstr>PRIMER</vt:lpstr>
      <vt:lpstr>vektorizacija ugnježdjenih petlji (nast.)</vt:lpstr>
      <vt:lpstr>Pravilo</vt:lpstr>
      <vt:lpstr>Vektorizacija ugnj. petlji (nast.)</vt:lpstr>
      <vt:lpstr>Primer2</vt:lpstr>
      <vt:lpstr>Primer 3</vt:lpstr>
      <vt:lpstr>Vektorizacija ugnj. petlji (nast.)</vt:lpstr>
      <vt:lpstr>Vektorizacija ugnj. petlji (nast.)</vt:lpstr>
      <vt:lpstr>Vektorizacija ugnj. petlji (nast.)</vt:lpstr>
      <vt:lpstr>Elementarne transformacije nad indeksnim skupovima</vt:lpstr>
      <vt:lpstr>Transformacija permutacije - primer</vt:lpstr>
      <vt:lpstr>Transformacija permutacije</vt:lpstr>
      <vt:lpstr>Transformacija permutacije</vt:lpstr>
      <vt:lpstr>Da li je legalno izvšiti permutaciju?</vt:lpstr>
      <vt:lpstr>Transformacija obrtanje</vt:lpstr>
      <vt:lpstr>Obrtanje – primer (nast.)</vt:lpstr>
      <vt:lpstr>Obrtanje – primer </vt:lpstr>
      <vt:lpstr>3.  Transformacija krivljenja (skewing)</vt:lpstr>
      <vt:lpstr>Krivljenje</vt:lpstr>
      <vt:lpstr>Krivljenje – primer </vt:lpstr>
      <vt:lpstr>PowerPoint Presentation</vt:lpstr>
      <vt:lpstr>Krivljenje – primer (nast.)</vt:lpstr>
      <vt:lpstr>Primer-1</vt:lpstr>
      <vt:lpstr>Primer-1</vt:lpstr>
      <vt:lpstr>Primer-1–nast.</vt:lpstr>
      <vt:lpstr>Primer2</vt:lpstr>
      <vt:lpstr>Primer2 – nast. </vt:lpstr>
      <vt:lpstr>Kompozicija transformacija</vt:lpstr>
      <vt:lpstr>Primer (nast.)</vt:lpstr>
      <vt:lpstr>Primer</vt:lpstr>
      <vt:lpstr>PowerPoint Presentation</vt:lpstr>
      <vt:lpstr>Smeštanje podataka</vt:lpstr>
      <vt:lpstr>Smeštanje podataka – primer </vt:lpstr>
      <vt:lpstr>Primer - nastavak</vt:lpstr>
      <vt:lpstr>Primer - nastavak</vt:lpstr>
      <vt:lpstr>Primer - nastavak</vt:lpstr>
      <vt:lpstr>Odredjivanje broja memorijskih banaka</vt:lpstr>
      <vt:lpstr>Odredjivanje broja memorijskih banaka  (nast.)</vt:lpstr>
      <vt:lpstr>Odredjivanje broja memorijskih banaka (nast.)</vt:lpstr>
      <vt:lpstr>Odredjivanje broja memorijskih banaka (nast.)</vt:lpstr>
      <vt:lpstr>PowerPoint Presentation</vt:lpstr>
      <vt:lpstr>Odredjivanje broja memorijskih banaka (nast.)</vt:lpstr>
      <vt:lpstr>Odredjivanje broja memorijskih banaka -primer</vt:lpstr>
      <vt:lpstr>PowerPoint Presentation</vt:lpstr>
    </vt:vector>
  </TitlesOfParts>
  <Company>elef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Pralelni računarski sistemi</dc:title>
  <dc:creator>Emina Milovanovic</dc:creator>
  <cp:lastModifiedBy>Emina Milovanovic</cp:lastModifiedBy>
  <cp:revision>113</cp:revision>
  <dcterms:created xsi:type="dcterms:W3CDTF">2005-02-24T15:19:29Z</dcterms:created>
  <dcterms:modified xsi:type="dcterms:W3CDTF">2026-04-06T13:31:49Z</dcterms:modified>
</cp:coreProperties>
</file>