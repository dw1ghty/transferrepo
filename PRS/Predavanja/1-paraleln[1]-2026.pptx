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1" r:id="rId2"/>
  </p:sldMasterIdLst>
  <p:notesMasterIdLst>
    <p:notesMasterId r:id="rId55"/>
  </p:notesMasterIdLst>
  <p:handoutMasterIdLst>
    <p:handoutMasterId r:id="rId56"/>
  </p:handoutMasterIdLst>
  <p:sldIdLst>
    <p:sldId id="285" r:id="rId3"/>
    <p:sldId id="307" r:id="rId4"/>
    <p:sldId id="310" r:id="rId5"/>
    <p:sldId id="321" r:id="rId6"/>
    <p:sldId id="325" r:id="rId7"/>
    <p:sldId id="308" r:id="rId8"/>
    <p:sldId id="309" r:id="rId9"/>
    <p:sldId id="286" r:id="rId10"/>
    <p:sldId id="287" r:id="rId11"/>
    <p:sldId id="288" r:id="rId12"/>
    <p:sldId id="257" r:id="rId13"/>
    <p:sldId id="258" r:id="rId14"/>
    <p:sldId id="259" r:id="rId15"/>
    <p:sldId id="260" r:id="rId16"/>
    <p:sldId id="320" r:id="rId17"/>
    <p:sldId id="261" r:id="rId18"/>
    <p:sldId id="262" r:id="rId19"/>
    <p:sldId id="263" r:id="rId20"/>
    <p:sldId id="268" r:id="rId21"/>
    <p:sldId id="265" r:id="rId22"/>
    <p:sldId id="311" r:id="rId23"/>
    <p:sldId id="312" r:id="rId24"/>
    <p:sldId id="314" r:id="rId25"/>
    <p:sldId id="315" r:id="rId26"/>
    <p:sldId id="271" r:id="rId27"/>
    <p:sldId id="272" r:id="rId28"/>
    <p:sldId id="273" r:id="rId29"/>
    <p:sldId id="274" r:id="rId30"/>
    <p:sldId id="317" r:id="rId31"/>
    <p:sldId id="305" r:id="rId32"/>
    <p:sldId id="289" r:id="rId33"/>
    <p:sldId id="290" r:id="rId34"/>
    <p:sldId id="316" r:id="rId35"/>
    <p:sldId id="291" r:id="rId36"/>
    <p:sldId id="323" r:id="rId37"/>
    <p:sldId id="324" r:id="rId38"/>
    <p:sldId id="328" r:id="rId39"/>
    <p:sldId id="329" r:id="rId40"/>
    <p:sldId id="292" r:id="rId41"/>
    <p:sldId id="293" r:id="rId42"/>
    <p:sldId id="326" r:id="rId43"/>
    <p:sldId id="294" r:id="rId44"/>
    <p:sldId id="295" r:id="rId45"/>
    <p:sldId id="296" r:id="rId46"/>
    <p:sldId id="297" r:id="rId47"/>
    <p:sldId id="298" r:id="rId48"/>
    <p:sldId id="299" r:id="rId49"/>
    <p:sldId id="300" r:id="rId50"/>
    <p:sldId id="301" r:id="rId51"/>
    <p:sldId id="302" r:id="rId52"/>
    <p:sldId id="303" r:id="rId53"/>
    <p:sldId id="304" r:id="rId54"/>
  </p:sldIdLst>
  <p:sldSz cx="9144000" cy="6858000" type="screen4x3"/>
  <p:notesSz cx="9144000" cy="6858000"/>
  <p:defaultTextStyle>
    <a:defPPr>
      <a:defRPr lang="en-US"/>
    </a:defPPr>
    <a:lvl1pPr algn="l" rtl="0" eaLnBrk="0" fontAlgn="base" hangingPunct="0">
      <a:spcBef>
        <a:spcPct val="0"/>
      </a:spcBef>
      <a:spcAft>
        <a:spcPct val="0"/>
      </a:spcAft>
      <a:defRPr kern="1200">
        <a:solidFill>
          <a:schemeClr val="tx1"/>
        </a:solidFill>
        <a:effectLst>
          <a:outerShdw blurRad="38100" dist="38100" dir="2700000" algn="tl">
            <a:srgbClr val="000000">
              <a:alpha val="43137"/>
            </a:srgbClr>
          </a:outerShdw>
        </a:effectLst>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effectLst>
          <a:outerShdw blurRad="38100" dist="38100" dir="2700000" algn="tl">
            <a:srgbClr val="000000">
              <a:alpha val="43137"/>
            </a:srgbClr>
          </a:outerShdw>
        </a:effectLst>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effectLst>
          <a:outerShdw blurRad="38100" dist="38100" dir="2700000" algn="tl">
            <a:srgbClr val="000000">
              <a:alpha val="43137"/>
            </a:srgbClr>
          </a:outerShdw>
        </a:effectLst>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effectLst>
          <a:outerShdw blurRad="38100" dist="38100" dir="2700000" algn="tl">
            <a:srgbClr val="000000">
              <a:alpha val="43137"/>
            </a:srgbClr>
          </a:outerShdw>
        </a:effectLst>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effectLst>
          <a:outerShdw blurRad="38100" dist="38100" dir="2700000" algn="tl">
            <a:srgbClr val="000000">
              <a:alpha val="43137"/>
            </a:srgbClr>
          </a:outerShdw>
        </a:effectLst>
        <a:latin typeface="Arial" panose="020B0604020202020204" pitchFamily="34" charset="0"/>
        <a:ea typeface="+mn-ea"/>
        <a:cs typeface="+mn-cs"/>
      </a:defRPr>
    </a:lvl5pPr>
    <a:lvl6pPr marL="2286000" algn="l" defTabSz="914400" rtl="0" eaLnBrk="1" latinLnBrk="0" hangingPunct="1">
      <a:defRPr kern="1200">
        <a:solidFill>
          <a:schemeClr val="tx1"/>
        </a:solidFill>
        <a:effectLst>
          <a:outerShdw blurRad="38100" dist="38100" dir="2700000" algn="tl">
            <a:srgbClr val="000000">
              <a:alpha val="43137"/>
            </a:srgbClr>
          </a:outerShdw>
        </a:effectLst>
        <a:latin typeface="Arial" panose="020B0604020202020204" pitchFamily="34" charset="0"/>
        <a:ea typeface="+mn-ea"/>
        <a:cs typeface="+mn-cs"/>
      </a:defRPr>
    </a:lvl6pPr>
    <a:lvl7pPr marL="2743200" algn="l" defTabSz="914400" rtl="0" eaLnBrk="1" latinLnBrk="0" hangingPunct="1">
      <a:defRPr kern="1200">
        <a:solidFill>
          <a:schemeClr val="tx1"/>
        </a:solidFill>
        <a:effectLst>
          <a:outerShdw blurRad="38100" dist="38100" dir="2700000" algn="tl">
            <a:srgbClr val="000000">
              <a:alpha val="43137"/>
            </a:srgbClr>
          </a:outerShdw>
        </a:effectLst>
        <a:latin typeface="Arial" panose="020B0604020202020204" pitchFamily="34" charset="0"/>
        <a:ea typeface="+mn-ea"/>
        <a:cs typeface="+mn-cs"/>
      </a:defRPr>
    </a:lvl7pPr>
    <a:lvl8pPr marL="3200400" algn="l" defTabSz="914400" rtl="0" eaLnBrk="1" latinLnBrk="0" hangingPunct="1">
      <a:defRPr kern="1200">
        <a:solidFill>
          <a:schemeClr val="tx1"/>
        </a:solidFill>
        <a:effectLst>
          <a:outerShdw blurRad="38100" dist="38100" dir="2700000" algn="tl">
            <a:srgbClr val="000000">
              <a:alpha val="43137"/>
            </a:srgbClr>
          </a:outerShdw>
        </a:effectLst>
        <a:latin typeface="Arial" panose="020B0604020202020204" pitchFamily="34" charset="0"/>
        <a:ea typeface="+mn-ea"/>
        <a:cs typeface="+mn-cs"/>
      </a:defRPr>
    </a:lvl8pPr>
    <a:lvl9pPr marL="3657600" algn="l" defTabSz="914400" rtl="0" eaLnBrk="1" latinLnBrk="0" hangingPunct="1">
      <a:defRPr kern="1200">
        <a:solidFill>
          <a:schemeClr val="tx1"/>
        </a:solidFill>
        <a:effectLst>
          <a:outerShdw blurRad="38100" dist="38100" dir="2700000" algn="tl">
            <a:srgbClr val="000000">
              <a:alpha val="43137"/>
            </a:srgbClr>
          </a:outerShdw>
        </a:effectLst>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4" autoAdjust="0"/>
    <p:restoredTop sz="91026" autoAdjust="0"/>
  </p:normalViewPr>
  <p:slideViewPr>
    <p:cSldViewPr>
      <p:cViewPr varScale="1">
        <p:scale>
          <a:sx n="49" d="100"/>
          <a:sy n="49" d="100"/>
        </p:scale>
        <p:origin x="1780" y="26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AC1F9937-D427-94F5-FDD6-115B34A3D469}"/>
              </a:ext>
            </a:extLst>
          </p:cNvPr>
          <p:cNvSpPr>
            <a:spLocks noGrp="1" noChangeArrowheads="1"/>
          </p:cNvSpPr>
          <p:nvPr>
            <p:ph type="hdr" sz="quarter"/>
          </p:nvPr>
        </p:nvSpPr>
        <p:spPr bwMode="auto">
          <a:xfrm>
            <a:off x="0" y="0"/>
            <a:ext cx="3962400" cy="381000"/>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effectLst>
                  <a:outerShdw blurRad="38100" dist="38100" dir="2700000" algn="tl">
                    <a:srgbClr val="C0C0C0"/>
                  </a:outerShdw>
                </a:effectLst>
              </a:defRPr>
            </a:lvl1pPr>
          </a:lstStyle>
          <a:p>
            <a:pPr>
              <a:defRPr/>
            </a:pPr>
            <a:endParaRPr lang="en-US" altLang="en-US"/>
          </a:p>
        </p:txBody>
      </p:sp>
      <p:sp>
        <p:nvSpPr>
          <p:cNvPr id="48131" name="Rectangle 3">
            <a:extLst>
              <a:ext uri="{FF2B5EF4-FFF2-40B4-BE49-F238E27FC236}">
                <a16:creationId xmlns:a16="http://schemas.microsoft.com/office/drawing/2014/main" id="{0EA65062-939B-85FC-3F8C-2DE8CE6E0C1F}"/>
              </a:ext>
            </a:extLst>
          </p:cNvPr>
          <p:cNvSpPr>
            <a:spLocks noGrp="1" noChangeArrowheads="1"/>
          </p:cNvSpPr>
          <p:nvPr>
            <p:ph type="dt" sz="quarter" idx="1"/>
          </p:nvPr>
        </p:nvSpPr>
        <p:spPr bwMode="auto">
          <a:xfrm>
            <a:off x="5181600" y="0"/>
            <a:ext cx="3962400" cy="3810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effectLst>
                  <a:outerShdw blurRad="38100" dist="38100" dir="2700000" algn="tl">
                    <a:srgbClr val="C0C0C0"/>
                  </a:outerShdw>
                </a:effectLst>
              </a:defRPr>
            </a:lvl1pPr>
          </a:lstStyle>
          <a:p>
            <a:pPr>
              <a:defRPr/>
            </a:pPr>
            <a:endParaRPr lang="en-US" altLang="en-US"/>
          </a:p>
        </p:txBody>
      </p:sp>
      <p:sp>
        <p:nvSpPr>
          <p:cNvPr id="48132" name="Rectangle 4">
            <a:extLst>
              <a:ext uri="{FF2B5EF4-FFF2-40B4-BE49-F238E27FC236}">
                <a16:creationId xmlns:a16="http://schemas.microsoft.com/office/drawing/2014/main" id="{3822B24B-012C-1B56-1852-23A92C35B29E}"/>
              </a:ext>
            </a:extLst>
          </p:cNvPr>
          <p:cNvSpPr>
            <a:spLocks noGrp="1" noChangeArrowheads="1"/>
          </p:cNvSpPr>
          <p:nvPr>
            <p:ph type="ftr" sz="quarter" idx="2"/>
          </p:nvPr>
        </p:nvSpPr>
        <p:spPr bwMode="auto">
          <a:xfrm>
            <a:off x="0" y="6477000"/>
            <a:ext cx="3962400" cy="381000"/>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effectLst>
                  <a:outerShdw blurRad="38100" dist="38100" dir="2700000" algn="tl">
                    <a:srgbClr val="C0C0C0"/>
                  </a:outerShdw>
                </a:effectLst>
              </a:defRPr>
            </a:lvl1pPr>
          </a:lstStyle>
          <a:p>
            <a:pPr>
              <a:defRPr/>
            </a:pPr>
            <a:endParaRPr lang="en-US" altLang="en-US"/>
          </a:p>
        </p:txBody>
      </p:sp>
      <p:sp>
        <p:nvSpPr>
          <p:cNvPr id="48133" name="Rectangle 5">
            <a:extLst>
              <a:ext uri="{FF2B5EF4-FFF2-40B4-BE49-F238E27FC236}">
                <a16:creationId xmlns:a16="http://schemas.microsoft.com/office/drawing/2014/main" id="{D3CFEFDF-F97F-1A04-CF1E-05D1F9FEEA18}"/>
              </a:ext>
            </a:extLst>
          </p:cNvPr>
          <p:cNvSpPr>
            <a:spLocks noGrp="1" noChangeArrowheads="1"/>
          </p:cNvSpPr>
          <p:nvPr>
            <p:ph type="sldNum" sz="quarter" idx="3"/>
          </p:nvPr>
        </p:nvSpPr>
        <p:spPr bwMode="auto">
          <a:xfrm>
            <a:off x="5181600" y="6477000"/>
            <a:ext cx="3962400" cy="3810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effectLst>
                  <a:outerShdw blurRad="38100" dist="38100" dir="2700000" algn="tl">
                    <a:srgbClr val="C0C0C0"/>
                  </a:outerShdw>
                </a:effectLst>
              </a:defRPr>
            </a:lvl1pPr>
          </a:lstStyle>
          <a:p>
            <a:fld id="{D00A2805-9C06-44DA-9F79-DC471FD80015}"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CDBEC663-64F6-9808-4E4C-C35D006F48C8}"/>
              </a:ext>
            </a:extLst>
          </p:cNvPr>
          <p:cNvSpPr>
            <a:spLocks noGrp="1" noChangeArrowheads="1"/>
          </p:cNvSpPr>
          <p:nvPr>
            <p:ph type="hdr" sz="quarter"/>
          </p:nvPr>
        </p:nvSpPr>
        <p:spPr bwMode="auto">
          <a:xfrm>
            <a:off x="0" y="0"/>
            <a:ext cx="3962400" cy="3429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effectLst/>
                <a:latin typeface="Times New Roman" pitchFamily="18" charset="0"/>
              </a:defRPr>
            </a:lvl1pPr>
          </a:lstStyle>
          <a:p>
            <a:pPr>
              <a:defRPr/>
            </a:pPr>
            <a:endParaRPr lang="en-US" altLang="en-US"/>
          </a:p>
        </p:txBody>
      </p:sp>
      <p:sp>
        <p:nvSpPr>
          <p:cNvPr id="95235" name="Rectangle 3">
            <a:extLst>
              <a:ext uri="{FF2B5EF4-FFF2-40B4-BE49-F238E27FC236}">
                <a16:creationId xmlns:a16="http://schemas.microsoft.com/office/drawing/2014/main" id="{8A335ABD-A614-6A92-D971-AB6FB3ADA12A}"/>
              </a:ext>
            </a:extLst>
          </p:cNvPr>
          <p:cNvSpPr>
            <a:spLocks noGrp="1" noChangeArrowheads="1"/>
          </p:cNvSpPr>
          <p:nvPr>
            <p:ph type="dt" idx="1"/>
          </p:nvPr>
        </p:nvSpPr>
        <p:spPr bwMode="auto">
          <a:xfrm>
            <a:off x="5180013" y="0"/>
            <a:ext cx="3962400" cy="3429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effectLst/>
                <a:latin typeface="Times New Roman" pitchFamily="18" charset="0"/>
              </a:defRPr>
            </a:lvl1pPr>
          </a:lstStyle>
          <a:p>
            <a:pPr>
              <a:defRPr/>
            </a:pPr>
            <a:endParaRPr lang="en-US" altLang="en-US"/>
          </a:p>
        </p:txBody>
      </p:sp>
      <p:sp>
        <p:nvSpPr>
          <p:cNvPr id="62468" name="Rectangle 4">
            <a:extLst>
              <a:ext uri="{FF2B5EF4-FFF2-40B4-BE49-F238E27FC236}">
                <a16:creationId xmlns:a16="http://schemas.microsoft.com/office/drawing/2014/main" id="{3EE990D2-3163-C416-8103-EE6CD5CA76A1}"/>
              </a:ext>
            </a:extLst>
          </p:cNvPr>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7" name="Rectangle 5">
            <a:extLst>
              <a:ext uri="{FF2B5EF4-FFF2-40B4-BE49-F238E27FC236}">
                <a16:creationId xmlns:a16="http://schemas.microsoft.com/office/drawing/2014/main" id="{5DDFC9E7-E861-8D47-2F18-0E44A68A4495}"/>
              </a:ext>
            </a:extLst>
          </p:cNvPr>
          <p:cNvSpPr>
            <a:spLocks noGrp="1" noChangeArrowheads="1"/>
          </p:cNvSpPr>
          <p:nvPr>
            <p:ph type="body" sz="quarter" idx="3"/>
          </p:nvPr>
        </p:nvSpPr>
        <p:spPr bwMode="auto">
          <a:xfrm>
            <a:off x="914400" y="3257550"/>
            <a:ext cx="7315200" cy="30861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95238" name="Rectangle 6">
            <a:extLst>
              <a:ext uri="{FF2B5EF4-FFF2-40B4-BE49-F238E27FC236}">
                <a16:creationId xmlns:a16="http://schemas.microsoft.com/office/drawing/2014/main" id="{AB128A4E-2970-1FE4-AFB9-6176B35619DA}"/>
              </a:ext>
            </a:extLst>
          </p:cNvPr>
          <p:cNvSpPr>
            <a:spLocks noGrp="1" noChangeArrowheads="1"/>
          </p:cNvSpPr>
          <p:nvPr>
            <p:ph type="ftr" sz="quarter" idx="4"/>
          </p:nvPr>
        </p:nvSpPr>
        <p:spPr bwMode="auto">
          <a:xfrm>
            <a:off x="0" y="6513513"/>
            <a:ext cx="3962400" cy="3429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effectLst/>
                <a:latin typeface="Times New Roman" pitchFamily="18" charset="0"/>
              </a:defRPr>
            </a:lvl1pPr>
          </a:lstStyle>
          <a:p>
            <a:pPr>
              <a:defRPr/>
            </a:pPr>
            <a:endParaRPr lang="en-US" altLang="en-US"/>
          </a:p>
        </p:txBody>
      </p:sp>
      <p:sp>
        <p:nvSpPr>
          <p:cNvPr id="95239" name="Rectangle 7">
            <a:extLst>
              <a:ext uri="{FF2B5EF4-FFF2-40B4-BE49-F238E27FC236}">
                <a16:creationId xmlns:a16="http://schemas.microsoft.com/office/drawing/2014/main" id="{AAC0BE44-9C3B-66EC-6C8F-7182D6F09556}"/>
              </a:ext>
            </a:extLst>
          </p:cNvPr>
          <p:cNvSpPr>
            <a:spLocks noGrp="1" noChangeArrowheads="1"/>
          </p:cNvSpPr>
          <p:nvPr>
            <p:ph type="sldNum" sz="quarter" idx="5"/>
          </p:nvPr>
        </p:nvSpPr>
        <p:spPr bwMode="auto">
          <a:xfrm>
            <a:off x="5180013" y="6513513"/>
            <a:ext cx="3962400" cy="3429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effectLst/>
                <a:latin typeface="Times New Roman" panose="02020603050405020304" pitchFamily="18" charset="0"/>
              </a:defRPr>
            </a:lvl1pPr>
          </a:lstStyle>
          <a:p>
            <a:fld id="{8A04E8E9-E37E-46A6-969A-F44E626C6E2C}"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04E8E9-E37E-46A6-969A-F44E626C6E2C}" type="slidenum">
              <a:rPr lang="en-US" altLang="en-US" smtClean="0"/>
              <a:pPr/>
              <a:t>2</a:t>
            </a:fld>
            <a:endParaRPr lang="en-US" altLang="en-US"/>
          </a:p>
        </p:txBody>
      </p:sp>
    </p:spTree>
    <p:extLst>
      <p:ext uri="{BB962C8B-B14F-4D97-AF65-F5344CB8AC3E}">
        <p14:creationId xmlns:p14="http://schemas.microsoft.com/office/powerpoint/2010/main" val="175160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E08043D5-8BDD-9C04-C40B-A2021F381E5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F50A080-7851-443F-9EFD-093B73B249F7}"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63491" name="Rectangle 2">
            <a:extLst>
              <a:ext uri="{FF2B5EF4-FFF2-40B4-BE49-F238E27FC236}">
                <a16:creationId xmlns:a16="http://schemas.microsoft.com/office/drawing/2014/main" id="{5ED6C91A-B7B0-39D2-029B-244A2485B1CC}"/>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6F7BECE2-ED2F-9FAD-8796-49BB8D11A32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1" dirty="0"/>
              <a:t>Moore-</a:t>
            </a:r>
            <a:r>
              <a:rPr lang="en-US" altLang="en-US" b="1" dirty="0" err="1"/>
              <a:t>ov</a:t>
            </a:r>
            <a:r>
              <a:rPr lang="en-US" altLang="en-US" b="1" dirty="0"/>
              <a:t> </a:t>
            </a:r>
            <a:r>
              <a:rPr lang="en-US" altLang="en-US" b="1" dirty="0" err="1"/>
              <a:t>zakon</a:t>
            </a:r>
            <a:r>
              <a:rPr lang="en-US" altLang="en-US" b="1" dirty="0"/>
              <a:t> </a:t>
            </a:r>
            <a:r>
              <a:rPr lang="sr-Latn-BA" altLang="en-US" dirty="0"/>
              <a:t>(bolje reći zapažanje nego zakon, jer to nije fizički zakon)</a:t>
            </a:r>
            <a:endParaRPr lang="en-US" altLang="en-US" dirty="0"/>
          </a:p>
          <a:p>
            <a:pPr eaLnBrk="1" hangingPunct="1"/>
            <a:endParaRPr lang="en-US" alt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sr-Latn-RS" sz="1800" dirty="0">
                <a:effectLst/>
                <a:latin typeface="Times New Roman" panose="02020603050405020304" pitchFamily="18" charset="0"/>
                <a:ea typeface="Calibri" panose="020F0502020204030204" pitchFamily="34" charset="0"/>
                <a:cs typeface="Times New Roman" panose="02020603050405020304" pitchFamily="18" charset="0"/>
              </a:rPr>
              <a:t>Svedoci smo da je računarska tehnologija načinila neverovatan napredak u poslednji 70-tak godina. Taj napredak je naročito intenzivan postao sa pojavom prvog monolitnog čipa, početkom 60-ih godina prošlog veka. Istraživanja u ovoj oblasti su započela 50-ih godina i rezultirala pojavom prvog čipa početkom 1960-ih.</a:t>
            </a:r>
          </a:p>
          <a:p>
            <a:pPr eaLnBrk="1" hangingPunct="1"/>
            <a:endParaRPr lang="en-US" altLang="en-US" dirty="0"/>
          </a:p>
          <a:p>
            <a:pPr eaLnBrk="1" hangingPunct="1"/>
            <a:r>
              <a:rPr lang="en-US" altLang="en-US" dirty="0"/>
              <a:t>Jack Kilby je </a:t>
            </a:r>
            <a:r>
              <a:rPr lang="en-US" altLang="en-US" dirty="0" err="1"/>
              <a:t>jedan</a:t>
            </a:r>
            <a:r>
              <a:rPr lang="en-US" altLang="en-US" dirty="0"/>
              <a:t> od </a:t>
            </a:r>
            <a:r>
              <a:rPr lang="en-US" altLang="en-US" dirty="0" err="1"/>
              <a:t>naučnika</a:t>
            </a:r>
            <a:r>
              <a:rPr lang="en-US" altLang="en-US" dirty="0"/>
              <a:t> koji je </a:t>
            </a:r>
            <a:r>
              <a:rPr lang="en-US" altLang="en-US" dirty="0" err="1"/>
              <a:t>učestvovao</a:t>
            </a:r>
            <a:r>
              <a:rPr lang="en-US" altLang="en-US" dirty="0"/>
              <a:t> u </a:t>
            </a:r>
            <a:r>
              <a:rPr lang="en-US" altLang="en-US" dirty="0" err="1"/>
              <a:t>minijaturizaciji</a:t>
            </a:r>
            <a:r>
              <a:rPr lang="en-US" altLang="en-US" dirty="0"/>
              <a:t> </a:t>
            </a:r>
            <a:r>
              <a:rPr lang="en-US" altLang="en-US" dirty="0" err="1"/>
              <a:t>elektronskih</a:t>
            </a:r>
            <a:r>
              <a:rPr lang="en-US" altLang="en-US" dirty="0"/>
              <a:t> </a:t>
            </a:r>
            <a:r>
              <a:rPr lang="en-US" altLang="en-US" dirty="0" err="1"/>
              <a:t>komponenti</a:t>
            </a:r>
            <a:r>
              <a:rPr lang="en-US" altLang="en-US" dirty="0"/>
              <a:t> i </a:t>
            </a:r>
            <a:r>
              <a:rPr lang="en-US" altLang="en-US" dirty="0" err="1"/>
              <a:t>kreiranju</a:t>
            </a:r>
            <a:r>
              <a:rPr lang="en-US" altLang="en-US" dirty="0"/>
              <a:t> </a:t>
            </a:r>
            <a:r>
              <a:rPr lang="en-US" altLang="en-US" dirty="0" err="1"/>
              <a:t>prvog</a:t>
            </a:r>
            <a:r>
              <a:rPr lang="en-US" altLang="en-US" dirty="0"/>
              <a:t> </a:t>
            </a:r>
            <a:r>
              <a:rPr lang="en-US" altLang="en-US" dirty="0" err="1"/>
              <a:t>čipa</a:t>
            </a:r>
            <a:r>
              <a:rPr lang="en-US" altLang="en-US" dirty="0"/>
              <a:t> i za taj rad  2000 god. </a:t>
            </a:r>
            <a:r>
              <a:rPr lang="en-US" altLang="en-US" dirty="0" err="1"/>
              <a:t>dobio</a:t>
            </a:r>
            <a:r>
              <a:rPr lang="en-US" altLang="en-US" dirty="0"/>
              <a:t> </a:t>
            </a:r>
            <a:r>
              <a:rPr lang="en-US" altLang="en-US" dirty="0" err="1"/>
              <a:t>Nobelovu</a:t>
            </a:r>
            <a:r>
              <a:rPr lang="en-US" altLang="en-US" dirty="0"/>
              <a:t> </a:t>
            </a:r>
            <a:r>
              <a:rPr lang="en-US" altLang="en-US" dirty="0" err="1"/>
              <a:t>nagrafu</a:t>
            </a:r>
            <a:r>
              <a:rPr lang="en-US" altLang="en-US" dirty="0"/>
              <a:t> za </a:t>
            </a:r>
            <a:r>
              <a:rPr lang="en-US" altLang="en-US" dirty="0" err="1"/>
              <a:t>fiziku</a:t>
            </a:r>
            <a:r>
              <a:rPr lang="en-US" altLang="en-US" dirty="0"/>
              <a:t>..</a:t>
            </a:r>
          </a:p>
          <a:p>
            <a:pPr eaLnBrk="1" hangingPunct="1"/>
            <a:endParaRPr lang="en-US" altLang="en-US" dirty="0"/>
          </a:p>
          <a:p>
            <a:pPr marL="0" marR="0">
              <a:lnSpc>
                <a:spcPct val="107000"/>
              </a:lnSpc>
              <a:spcBef>
                <a:spcPts val="0"/>
              </a:spcBef>
              <a:spcAft>
                <a:spcPts val="800"/>
              </a:spcAft>
            </a:pPr>
            <a:r>
              <a:rPr lang="sr-Latn-RS" sz="1800" dirty="0">
                <a:effectLst/>
                <a:latin typeface="Times New Roman" panose="02020603050405020304" pitchFamily="18" charset="0"/>
                <a:ea typeface="Calibri" panose="020F0502020204030204" pitchFamily="34" charset="0"/>
                <a:cs typeface="Times New Roman" panose="02020603050405020304" pitchFamily="18" charset="0"/>
              </a:rPr>
              <a:t>Gordon Moore, jedan od suosnivača Intela, je u svom radu iz 1965. god. Izneo svoje predviđanje o tome kako će se menjati gustina pakovanja na čipu, tj. broj tranzistora na čipu. </a:t>
            </a:r>
          </a:p>
          <a:p>
            <a:pPr marL="0" marR="0">
              <a:lnSpc>
                <a:spcPct val="107000"/>
              </a:lnSpc>
              <a:spcBef>
                <a:spcPts val="0"/>
              </a:spcBef>
              <a:spcAft>
                <a:spcPts val="800"/>
              </a:spcAft>
            </a:pPr>
            <a:endParaRPr lang="sr-Latn-R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sr-Latn-RS" sz="1800" dirty="0">
                <a:effectLst/>
                <a:latin typeface="Times New Roman" panose="02020603050405020304" pitchFamily="18" charset="0"/>
                <a:ea typeface="Calibri" panose="020F0502020204030204" pitchFamily="34" charset="0"/>
                <a:cs typeface="Times New Roman" panose="02020603050405020304" pitchFamily="18" charset="0"/>
              </a:rPr>
              <a:t>Njegovo predviđanje je bilo da će se na svake dve godine duplirati broj tranzistora. </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err="1">
                <a:effectLst/>
                <a:latin typeface="Times New Roman" panose="02020603050405020304" pitchFamily="18" charset="0"/>
                <a:ea typeface="Calibri" panose="020F0502020204030204" pitchFamily="34" charset="0"/>
                <a:cs typeface="Times New Roman" panose="02020603050405020304" pitchFamily="18" charset="0"/>
              </a:rPr>
              <a:t>Ovaj</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dirty="0" err="1">
                <a:effectLst/>
                <a:latin typeface="Times New Roman" panose="02020603050405020304" pitchFamily="18" charset="0"/>
                <a:ea typeface="Calibri" panose="020F0502020204030204" pitchFamily="34" charset="0"/>
                <a:cs typeface="Times New Roman" panose="02020603050405020304" pitchFamily="18" charset="0"/>
              </a:rPr>
              <a:t>slajd</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dirty="0" err="1">
                <a:effectLst/>
                <a:latin typeface="Times New Roman" panose="02020603050405020304" pitchFamily="18" charset="0"/>
                <a:ea typeface="Calibri" panose="020F0502020204030204" pitchFamily="34" charset="0"/>
                <a:cs typeface="Times New Roman" panose="02020603050405020304" pitchFamily="18" charset="0"/>
              </a:rPr>
              <a:t>prikazuje</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dirty="0" err="1">
                <a:effectLst/>
                <a:latin typeface="Times New Roman" panose="02020603050405020304" pitchFamily="18" charset="0"/>
                <a:ea typeface="Calibri" panose="020F0502020204030204" pitchFamily="34" charset="0"/>
                <a:cs typeface="Times New Roman" panose="02020603050405020304" pitchFamily="18" charset="0"/>
              </a:rPr>
              <a:t>kako</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se </a:t>
            </a:r>
            <a:r>
              <a:rPr lang="en-US" sz="1200" dirty="0" err="1">
                <a:effectLst/>
                <a:latin typeface="Times New Roman" panose="02020603050405020304" pitchFamily="18" charset="0"/>
                <a:ea typeface="Calibri" panose="020F0502020204030204" pitchFamily="34" charset="0"/>
                <a:cs typeface="Times New Roman" panose="02020603050405020304" pitchFamily="18" charset="0"/>
              </a:rPr>
              <a:t>menjao</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dirty="0" err="1">
                <a:effectLst/>
                <a:latin typeface="Times New Roman" panose="02020603050405020304" pitchFamily="18" charset="0"/>
                <a:ea typeface="Calibri" panose="020F0502020204030204" pitchFamily="34" charset="0"/>
                <a:cs typeface="Times New Roman" panose="02020603050405020304" pitchFamily="18" charset="0"/>
              </a:rPr>
              <a:t>broj</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dirty="0" err="1">
                <a:effectLst/>
                <a:latin typeface="Times New Roman" panose="02020603050405020304" pitchFamily="18" charset="0"/>
                <a:ea typeface="Calibri" panose="020F0502020204030204" pitchFamily="34" charset="0"/>
                <a:cs typeface="Times New Roman" panose="02020603050405020304" pitchFamily="18" charset="0"/>
              </a:rPr>
              <a:t>tranzistora</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dirty="0" err="1">
                <a:effectLst/>
                <a:latin typeface="Times New Roman" panose="02020603050405020304" pitchFamily="18" charset="0"/>
                <a:ea typeface="Calibri" panose="020F0502020204030204" pitchFamily="34" charset="0"/>
                <a:cs typeface="Times New Roman" panose="02020603050405020304" pitchFamily="18" charset="0"/>
              </a:rPr>
              <a:t>na</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r>
              <a:rPr lang="sr-Latn-RS" sz="1200" dirty="0">
                <a:effectLst/>
                <a:latin typeface="Times New Roman" panose="02020603050405020304" pitchFamily="18" charset="0"/>
                <a:ea typeface="Calibri" panose="020F0502020204030204" pitchFamily="34" charset="0"/>
                <a:cs typeface="Times New Roman" panose="02020603050405020304" pitchFamily="18" charset="0"/>
              </a:rPr>
              <a:t>čipu.</a:t>
            </a:r>
          </a:p>
          <a:p>
            <a:pPr marL="0" marR="0">
              <a:lnSpc>
                <a:spcPct val="107000"/>
              </a:lnSpc>
              <a:spcBef>
                <a:spcPts val="0"/>
              </a:spcBef>
              <a:spcAft>
                <a:spcPts val="800"/>
              </a:spcAft>
            </a:pP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sr-Latn-RS" sz="1200" dirty="0">
                <a:effectLst/>
                <a:latin typeface="Times New Roman" panose="02020603050405020304" pitchFamily="18" charset="0"/>
                <a:ea typeface="Calibri" panose="020F0502020204030204" pitchFamily="34" charset="0"/>
                <a:cs typeface="Times New Roman" panose="02020603050405020304" pitchFamily="18" charset="0"/>
              </a:rPr>
              <a:t>Neverovatno, ali to predviđanje se pokazalo tačnim i danas se u literaturi sreće pod nazivom Moore-ov zakon, mada nije reč ni o kakvom zakonu.</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sr-Latn-RS" sz="1200" dirty="0">
                <a:effectLst/>
                <a:latin typeface="Times New Roman" panose="02020603050405020304" pitchFamily="18" charset="0"/>
                <a:ea typeface="Calibri" panose="020F0502020204030204" pitchFamily="34" charset="0"/>
                <a:cs typeface="Times New Roman" panose="02020603050405020304" pitchFamily="18" charset="0"/>
              </a:rPr>
              <a:t>Očekuje se da će ovaj zakon nastaviti da važi i u narednih 10-20 godina, kada će se dostići limit, tj. Dalja minijaturizacija bi uzrokovala nepouzdan rad komponenti (komponente će početi da međusobno interaguju, utičući ne samo na brzinu već i na pouzdanost sistema. Tekuću tehnologiju moraće da zameni potpuno nova.</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sr-Latn-RS" sz="1200" dirty="0">
                <a:effectLst/>
                <a:latin typeface="Times New Roman" panose="02020603050405020304" pitchFamily="18" charset="0"/>
                <a:ea typeface="Calibri" panose="020F0502020204030204" pitchFamily="34" charset="0"/>
                <a:cs typeface="Times New Roman" panose="02020603050405020304" pitchFamily="18" charset="0"/>
              </a:rPr>
              <a:t>Mooreov zakon se odnosi samo na broj tranzistora na čipu, mada ga mnogi pogrešno interpretiraju kao performanse procesora. Razlog je što su se performanse procesora do 2000 zaista udvostručavale približno na svake dve godine. Po ovom „zakonu“ se menjala b</a:t>
            </a:r>
            <a:r>
              <a:rPr lang="sr-Latn-BA" sz="1200" dirty="0">
                <a:effectLst/>
                <a:latin typeface="Times New Roman" panose="02020603050405020304" pitchFamily="18" charset="0"/>
                <a:ea typeface="Calibri" panose="020F0502020204030204" pitchFamily="34" charset="0"/>
                <a:cs typeface="Times New Roman" panose="02020603050405020304" pitchFamily="18" charset="0"/>
              </a:rPr>
              <a:t>rzina procesiranja, kapacitet memorije, pa čak i broj piksela kod digitalne kamere</a:t>
            </a:r>
            <a:endParaRPr lang="en-US" dirty="0"/>
          </a:p>
        </p:txBody>
      </p:sp>
      <p:sp>
        <p:nvSpPr>
          <p:cNvPr id="4" name="Slide Number Placeholder 3"/>
          <p:cNvSpPr>
            <a:spLocks noGrp="1"/>
          </p:cNvSpPr>
          <p:nvPr>
            <p:ph type="sldNum" sz="quarter" idx="5"/>
          </p:nvPr>
        </p:nvSpPr>
        <p:spPr/>
        <p:txBody>
          <a:bodyPr/>
          <a:lstStyle/>
          <a:p>
            <a:fld id="{8A04E8E9-E37E-46A6-969A-F44E626C6E2C}" type="slidenum">
              <a:rPr lang="en-US" altLang="en-US" smtClean="0"/>
              <a:pPr/>
              <a:t>4</a:t>
            </a:fld>
            <a:endParaRPr lang="en-US" altLang="en-US"/>
          </a:p>
        </p:txBody>
      </p:sp>
    </p:spTree>
    <p:extLst>
      <p:ext uri="{BB962C8B-B14F-4D97-AF65-F5344CB8AC3E}">
        <p14:creationId xmlns:p14="http://schemas.microsoft.com/office/powerpoint/2010/main" val="3977862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sr-Latn-BA" sz="1200" dirty="0">
                <a:effectLst/>
                <a:latin typeface="Times New Roman" panose="02020603050405020304" pitchFamily="18" charset="0"/>
                <a:ea typeface="Calibri" panose="020F0502020204030204" pitchFamily="34" charset="0"/>
                <a:cs typeface="Times New Roman" panose="02020603050405020304" pitchFamily="18" charset="0"/>
              </a:rPr>
              <a:t>Sve do početka ovog veka osnovni princip rada računara, koji je formulisao John Von Neuman, 1945??, se nije mnogo menjao. Taj pricip glasi: program i podaci se smeštaju u memoriju, odakle se pribavljaju, zatim se instrukcija izvršava i na kraju rezultat upisuje u memoriju. (Pr     e toga programi su bili hard codirani u hardveru računara. Promena programa je zahtevala rekonfiguraciju  hardvera.) </a:t>
            </a:r>
          </a:p>
          <a:p>
            <a:pPr marL="0" marR="0">
              <a:lnSpc>
                <a:spcPct val="107000"/>
              </a:lnSpc>
              <a:spcBef>
                <a:spcPts val="0"/>
              </a:spcBef>
              <a:spcAft>
                <a:spcPts val="800"/>
              </a:spcAft>
            </a:pPr>
            <a:r>
              <a:rPr lang="sr-Latn-BA" sz="1200" dirty="0">
                <a:effectLst/>
                <a:latin typeface="Times New Roman" panose="02020603050405020304" pitchFamily="18" charset="0"/>
                <a:ea typeface="Calibri" panose="020F0502020204030204" pitchFamily="34" charset="0"/>
                <a:cs typeface="Times New Roman" panose="02020603050405020304" pitchFamily="18" charset="0"/>
              </a:rPr>
              <a:t>Taj ciklus pribavljanje -izvršenje-smeštanje rezultata se ponavlja za svaku instrukciju u programu. U svakom ciklusu se pribavlja samo jedna instrukcija. Projektanti softvera su mogli da uživaju u blagodetima novih tehnologija bez napuštanja tradicionalnog načina programiranja i razmišljanja. Bez ikakve promene u programu, porgram se izvršavao brže samo zahvaljujući bržim procesorima. </a:t>
            </a:r>
          </a:p>
          <a:p>
            <a:pPr marL="0" marR="0">
              <a:lnSpc>
                <a:spcPct val="107000"/>
              </a:lnSpc>
              <a:spcBef>
                <a:spcPts val="0"/>
              </a:spcBef>
              <a:spcAft>
                <a:spcPts val="800"/>
              </a:spcAft>
            </a:pPr>
            <a:r>
              <a:rPr lang="sr-Latn-BA" sz="1200" dirty="0">
                <a:effectLst/>
                <a:latin typeface="Times New Roman" panose="02020603050405020304" pitchFamily="18" charset="0"/>
                <a:ea typeface="Calibri" panose="020F0502020204030204" pitchFamily="34" charset="0"/>
                <a:cs typeface="Times New Roman" panose="02020603050405020304" pitchFamily="18" charset="0"/>
              </a:rPr>
              <a:t>Naravno, nove tehnologije su omogućile pojavu novih aplikacija. I možemo slobodno reći da hardver i softver utiču jedni na druge. Softver zahteva moćnije računare, moćniji računari pružaju mogućnost za razvoj novi aplikacija. </a:t>
            </a:r>
          </a:p>
          <a:p>
            <a:pPr marL="0" marR="0">
              <a:lnSpc>
                <a:spcPct val="107000"/>
              </a:lnSpc>
              <a:spcBef>
                <a:spcPts val="0"/>
              </a:spcBef>
              <a:spcAft>
                <a:spcPts val="800"/>
              </a:spcAft>
            </a:pPr>
            <a:r>
              <a:rPr lang="sr-Latn-BA" sz="1200" dirty="0">
                <a:effectLst/>
                <a:latin typeface="Times New Roman" panose="02020603050405020304" pitchFamily="18" charset="0"/>
                <a:ea typeface="Calibri" panose="020F0502020204030204" pitchFamily="34" charset="0"/>
                <a:cs typeface="Times New Roman" panose="02020603050405020304" pitchFamily="18" charset="0"/>
              </a:rPr>
              <a:t>Natan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P Mayer</a:t>
            </a:r>
            <a:r>
              <a:rPr lang="sr-Latn-BA" sz="1200" dirty="0">
                <a:effectLst/>
                <a:latin typeface="Times New Roman" panose="02020603050405020304" pitchFamily="18" charset="0"/>
                <a:ea typeface="Calibri" panose="020F0502020204030204" pitchFamily="34" charset="0"/>
                <a:cs typeface="Times New Roman" panose="02020603050405020304" pitchFamily="18" charset="0"/>
              </a:rPr>
              <a:t> je u svom radu iz 1977. godine koji govori o razvoju softvera u narednih 50 godina, rekao da je softver kao gas koji teži da ispuni ceo prostor u kome se nalazi. Zaista, pokazalo se da koliko god su brzi procesori, koliko god da je veliki kapacitet meorije ili diskova, se jednog trenutka sav raspoloživi hardver iscrpi i zahteva se nova generacija računara (procesora).</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sr-Latn-BA" sz="1200" dirty="0">
                <a:effectLst/>
                <a:latin typeface="Times New Roman" panose="02020603050405020304" pitchFamily="18" charset="0"/>
                <a:ea typeface="Calibri" panose="020F0502020204030204" pitchFamily="34" charset="0"/>
                <a:cs typeface="Times New Roman" panose="02020603050405020304" pitchFamily="18" charset="0"/>
              </a:rPr>
              <a:t>Od početka ovog veka taktna frekvencija se više ne povećava, pa projektanti softvera ne mogu očekivati da će dobiti bolje performanse svog programa bez dodatnog napora. VREME BESPLATNOG RUČKA JE PROŠLO.!</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sr-Latn-BA" sz="1200" dirty="0">
                <a:effectLst/>
                <a:latin typeface="Times New Roman" panose="02020603050405020304" pitchFamily="18" charset="0"/>
                <a:ea typeface="Calibri" panose="020F0502020204030204" pitchFamily="34" charset="0"/>
                <a:cs typeface="Times New Roman" panose="02020603050405020304" pitchFamily="18" charset="0"/>
              </a:rPr>
              <a:t>Zašto se taktna frekvencija više ne povećava? Razlog leži u zakonima fizike (ili elektronike). Naime, kada govorimo o hardveru, jedno od ključnih pitanja je pitanje potrošnje energije. Energija koju procesor troši u svom radu sastoji se iz dve komponente: statička i dinamička potrošnja.Statička potrošnja potiče od curenja energije kada komponenta ne radi (i to je dobro poznati fenomen u elektronici). Dinamička potrošnja je potrošnja u toku rada komponente. Otprilike 60% te energije se troši na rad komponente, a 40% odlazi na zagrevanje i tu dolazimo do problema. Toplota koja se oslobađa mora da se odvodi da ne bi došlo do pregrevanja i otkaza komponenti (procesora). Vazdušnim hlađenjem se može odvoditi topolota do 100C. Veće zagrevanje zahteva vodeno hlađenje (između ostalog su veliki data centri uvek izgrađeni pored vode).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sr-Latn-BA" sz="1200" dirty="0">
                <a:effectLst/>
                <a:latin typeface="Times New Roman" panose="02020603050405020304" pitchFamily="18" charset="0"/>
                <a:ea typeface="Calibri" panose="020F0502020204030204" pitchFamily="34" charset="0"/>
                <a:cs typeface="Times New Roman" panose="02020603050405020304" pitchFamily="18" charset="0"/>
              </a:rPr>
              <a:t>Od čega zavisi dinamička potrošnja?</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sr-Latn-RS" sz="1200" dirty="0">
                <a:effectLst/>
                <a:latin typeface="Times New Roman" panose="02020603050405020304" pitchFamily="18" charset="0"/>
                <a:ea typeface="Calibri" panose="020F0502020204030204" pitchFamily="34" charset="0"/>
                <a:cs typeface="Times New Roman" panose="02020603050405020304" pitchFamily="18" charset="0"/>
              </a:rPr>
              <a:t>Broj tranzistora na čipu</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sr-Latn-RS" sz="1200" dirty="0">
                <a:effectLst/>
                <a:latin typeface="Times New Roman" panose="02020603050405020304" pitchFamily="18" charset="0"/>
                <a:ea typeface="Calibri" panose="020F0502020204030204" pitchFamily="34" charset="0"/>
                <a:cs typeface="Times New Roman" panose="02020603050405020304" pitchFamily="18" charset="0"/>
              </a:rPr>
              <a:t>Kapacitivnost tranzistora</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sr-Latn-RS" sz="1200" dirty="0">
                <a:effectLst/>
                <a:latin typeface="Times New Roman" panose="02020603050405020304" pitchFamily="18" charset="0"/>
                <a:ea typeface="Calibri" panose="020F0502020204030204" pitchFamily="34" charset="0"/>
                <a:cs typeface="Times New Roman" panose="02020603050405020304" pitchFamily="18" charset="0"/>
              </a:rPr>
              <a:t>Kvadrata napona napajanja</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sr-Latn-RS" sz="1200" dirty="0">
                <a:effectLst/>
                <a:latin typeface="Times New Roman" panose="02020603050405020304" pitchFamily="18" charset="0"/>
                <a:ea typeface="Calibri" panose="020F0502020204030204" pitchFamily="34" charset="0"/>
                <a:cs typeface="Times New Roman" panose="02020603050405020304" pitchFamily="18" charset="0"/>
              </a:rPr>
              <a:t>Frekvencije</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sr-Latn-RS" sz="1200" dirty="0">
                <a:effectLst/>
                <a:latin typeface="Times New Roman" panose="02020603050405020304" pitchFamily="18" charset="0"/>
                <a:ea typeface="Calibri" panose="020F0502020204030204" pitchFamily="34" charset="0"/>
                <a:cs typeface="Times New Roman" panose="02020603050405020304" pitchFamily="18" charset="0"/>
              </a:rPr>
              <a:t>Kapacitivnost je konstanta. Broj tranzistora raste. Da bi se smanjila potrošnja, a samim tim i zagreavanje, potrebno je sanjiti druge vrednosti: ili napon ili frekvenciju. Dugo vremena se potrošnja držala pod kontrolo</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m</a:t>
            </a:r>
            <a:r>
              <a:rPr lang="sr-Latn-RS" sz="1200" dirty="0">
                <a:effectLst/>
                <a:latin typeface="Times New Roman" panose="02020603050405020304" pitchFamily="18" charset="0"/>
                <a:ea typeface="Calibri" panose="020F0502020204030204" pitchFamily="34" charset="0"/>
                <a:cs typeface="Times New Roman" panose="02020603050405020304" pitchFamily="18" charset="0"/>
              </a:rPr>
              <a:t> tako što se smanjivao napon napajanja i to sa polaznih 10V na nešto iznad 1V. S obzirom da potrošnja zavisi od kvadrata napona napajanja, ovo je davalo dobre rezultate. Međutim, ispod 1V se ne može ići. S obzirom da broj tranzistora na čipu nastavlja da raste, primenjuju se različite tehnike da bi se smanjila potrošnja.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sr-Latn-RS" sz="1200" dirty="0">
                <a:effectLst/>
                <a:latin typeface="Times New Roman" panose="02020603050405020304" pitchFamily="18" charset="0"/>
                <a:ea typeface="Calibri" panose="020F0502020204030204" pitchFamily="34" charset="0"/>
                <a:cs typeface="Times New Roman" panose="02020603050405020304" pitchFamily="18" charset="0"/>
              </a:rPr>
              <a:t>Tako, npr. Intel primenjuje tvz. Dinamičku fekvenciju. Procesor se više ne taktuje konstantnom frekvencijom. Tamo gde su potrebna intenzivnija izračunavanja procesor radi na višim frekvencijama, a gde su potrebe za obradom manje na nižim.</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sr-Latn-RS" sz="1200" dirty="0">
                <a:effectLst/>
                <a:latin typeface="Times New Roman" panose="02020603050405020304" pitchFamily="18" charset="0"/>
                <a:ea typeface="Calibri" panose="020F0502020204030204" pitchFamily="34" charset="0"/>
                <a:cs typeface="Times New Roman" panose="02020603050405020304" pitchFamily="18" charset="0"/>
              </a:rPr>
              <a:t>Drugi prilaz, ne pobuđuje sve elemente procesora odjednom, već samo one koji su u datom trenutku aktivni. Ova tehnologija se zove dark silicon.</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sr-Latn-RS" sz="1200" dirty="0">
                <a:effectLst/>
                <a:latin typeface="Times New Roman" panose="02020603050405020304" pitchFamily="18" charset="0"/>
                <a:ea typeface="Calibri" panose="020F0502020204030204" pitchFamily="34" charset="0"/>
                <a:cs typeface="Times New Roman" panose="02020603050405020304" pitchFamily="18" charset="0"/>
              </a:rPr>
              <a:t>Treći prilaz se ogleda u pojednostavljenju hardvera, tj. u gradnji specijalizovanih procesora koji mogu biti optimizovani za određeni vid obrade. Npr. GPU.</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sr-Latn-RS" sz="1200" dirty="0">
                <a:effectLst/>
                <a:latin typeface="Times New Roman" panose="02020603050405020304" pitchFamily="18" charset="0"/>
                <a:ea typeface="Calibri" panose="020F0502020204030204" pitchFamily="34" charset="0"/>
                <a:cs typeface="Times New Roman" panose="02020603050405020304" pitchFamily="18" charset="0"/>
              </a:rPr>
              <a:t>I četvrti prilaz se ogleda u smanjenju frekvencije, ali ugradnji više procesora na jednom čipu. Od 2002. god, svi procesorski čipovi imaju više jezgara (core).</a:t>
            </a:r>
          </a:p>
          <a:p>
            <a:pPr marL="342900" marR="0" lvl="0" indent="-342900">
              <a:lnSpc>
                <a:spcPct val="107000"/>
              </a:lnSpc>
              <a:spcBef>
                <a:spcPts val="0"/>
              </a:spcBef>
              <a:spcAft>
                <a:spcPts val="800"/>
              </a:spcAft>
              <a:buFont typeface="Symbol" panose="05050102010706020507" pitchFamily="18" charset="2"/>
              <a:buChar char=""/>
            </a:pPr>
            <a:endParaRPr lang="sr-Latn-RS"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000" b="0" i="0" kern="1200" dirty="0">
                <a:solidFill>
                  <a:schemeClr val="tx1"/>
                </a:solidFill>
                <a:effectLst/>
                <a:latin typeface="Times New Roman" pitchFamily="18" charset="0"/>
                <a:ea typeface="+mn-ea"/>
                <a:cs typeface="+mn-cs"/>
              </a:rPr>
              <a:t>Kurs </a:t>
            </a:r>
            <a:r>
              <a:rPr lang="en-US" sz="1000" b="0" i="0" kern="1200" dirty="0" err="1">
                <a:solidFill>
                  <a:schemeClr val="tx1"/>
                </a:solidFill>
                <a:effectLst/>
                <a:latin typeface="Times New Roman" pitchFamily="18" charset="0"/>
                <a:ea typeface="+mn-ea"/>
                <a:cs typeface="+mn-cs"/>
              </a:rPr>
              <a:t>Paralelni</a:t>
            </a:r>
            <a:r>
              <a:rPr lang="en-US" sz="1000" b="0" i="0" kern="1200" dirty="0">
                <a:solidFill>
                  <a:schemeClr val="tx1"/>
                </a:solidFill>
                <a:effectLst/>
                <a:latin typeface="Times New Roman" pitchFamily="18" charset="0"/>
                <a:ea typeface="+mn-ea"/>
                <a:cs typeface="+mn-cs"/>
              </a:rPr>
              <a:t> </a:t>
            </a:r>
            <a:r>
              <a:rPr lang="en-US" sz="1000" b="0" i="0" kern="1200" dirty="0" err="1">
                <a:solidFill>
                  <a:schemeClr val="tx1"/>
                </a:solidFill>
                <a:effectLst/>
                <a:latin typeface="Times New Roman" pitchFamily="18" charset="0"/>
                <a:ea typeface="+mn-ea"/>
                <a:cs typeface="+mn-cs"/>
              </a:rPr>
              <a:t>sistemi</a:t>
            </a:r>
            <a:r>
              <a:rPr lang="en-US" sz="1000" b="0" i="0" kern="1200" dirty="0">
                <a:solidFill>
                  <a:schemeClr val="tx1"/>
                </a:solidFill>
                <a:effectLst/>
                <a:latin typeface="Times New Roman" pitchFamily="18" charset="0"/>
                <a:ea typeface="+mn-ea"/>
                <a:cs typeface="+mn-cs"/>
              </a:rPr>
              <a:t> se </a:t>
            </a:r>
            <a:r>
              <a:rPr lang="en-US" sz="1000" b="0" i="0" kern="1200" dirty="0" err="1">
                <a:solidFill>
                  <a:schemeClr val="tx1"/>
                </a:solidFill>
                <a:effectLst/>
                <a:latin typeface="Times New Roman" pitchFamily="18" charset="0"/>
                <a:ea typeface="+mn-ea"/>
                <a:cs typeface="+mn-cs"/>
              </a:rPr>
              <a:t>bavi</a:t>
            </a:r>
            <a:r>
              <a:rPr lang="en-US" sz="1000" b="0" i="0" kern="1200" dirty="0">
                <a:solidFill>
                  <a:schemeClr val="tx1"/>
                </a:solidFill>
                <a:effectLst/>
                <a:latin typeface="Times New Roman" pitchFamily="18" charset="0"/>
                <a:ea typeface="+mn-ea"/>
                <a:cs typeface="+mn-cs"/>
              </a:rPr>
              <a:t> </a:t>
            </a:r>
            <a:r>
              <a:rPr lang="en-US" sz="1000" b="0" i="0" kern="1200" dirty="0" err="1">
                <a:solidFill>
                  <a:schemeClr val="tx1"/>
                </a:solidFill>
                <a:effectLst/>
                <a:latin typeface="Times New Roman" pitchFamily="18" charset="0"/>
                <a:ea typeface="+mn-ea"/>
                <a:cs typeface="+mn-cs"/>
              </a:rPr>
              <a:t>teorijskim</a:t>
            </a:r>
            <a:r>
              <a:rPr lang="en-US" sz="1000" b="0" i="0" kern="1200" dirty="0">
                <a:solidFill>
                  <a:schemeClr val="tx1"/>
                </a:solidFill>
                <a:effectLst/>
                <a:latin typeface="Times New Roman" pitchFamily="18" charset="0"/>
                <a:ea typeface="+mn-ea"/>
                <a:cs typeface="+mn-cs"/>
              </a:rPr>
              <a:t> i </a:t>
            </a:r>
            <a:r>
              <a:rPr lang="en-US" sz="1000" b="0" i="0" kern="1200" dirty="0" err="1">
                <a:solidFill>
                  <a:schemeClr val="tx1"/>
                </a:solidFill>
                <a:effectLst/>
                <a:latin typeface="Times New Roman" pitchFamily="18" charset="0"/>
                <a:ea typeface="+mn-ea"/>
                <a:cs typeface="+mn-cs"/>
              </a:rPr>
              <a:t>praktičnim</a:t>
            </a:r>
            <a:r>
              <a:rPr lang="en-US" sz="1000" b="0" i="0" kern="1200" dirty="0">
                <a:solidFill>
                  <a:schemeClr val="tx1"/>
                </a:solidFill>
                <a:effectLst/>
                <a:latin typeface="Times New Roman" pitchFamily="18" charset="0"/>
                <a:ea typeface="+mn-ea"/>
                <a:cs typeface="+mn-cs"/>
              </a:rPr>
              <a:t> </a:t>
            </a:r>
            <a:r>
              <a:rPr lang="en-US" sz="1000" b="0" i="0" kern="1200" dirty="0" err="1">
                <a:solidFill>
                  <a:schemeClr val="tx1"/>
                </a:solidFill>
                <a:effectLst/>
                <a:latin typeface="Times New Roman" pitchFamily="18" charset="0"/>
                <a:ea typeface="+mn-ea"/>
                <a:cs typeface="+mn-cs"/>
              </a:rPr>
              <a:t>osnovama</a:t>
            </a:r>
            <a:r>
              <a:rPr lang="en-US" sz="1000" b="0" i="0" kern="1200" dirty="0">
                <a:solidFill>
                  <a:schemeClr val="tx1"/>
                </a:solidFill>
                <a:effectLst/>
                <a:latin typeface="Times New Roman" pitchFamily="18" charset="0"/>
                <a:ea typeface="+mn-ea"/>
                <a:cs typeface="+mn-cs"/>
              </a:rPr>
              <a:t> </a:t>
            </a:r>
            <a:r>
              <a:rPr lang="en-US" sz="1000" b="0" i="0" kern="1200" dirty="0" err="1">
                <a:solidFill>
                  <a:schemeClr val="tx1"/>
                </a:solidFill>
                <a:effectLst/>
                <a:latin typeface="Times New Roman" pitchFamily="18" charset="0"/>
                <a:ea typeface="+mn-ea"/>
                <a:cs typeface="+mn-cs"/>
              </a:rPr>
              <a:t>paralelnog</a:t>
            </a:r>
            <a:r>
              <a:rPr lang="en-US" sz="1000" b="0" i="0" kern="1200" dirty="0">
                <a:solidFill>
                  <a:schemeClr val="tx1"/>
                </a:solidFill>
                <a:effectLst/>
                <a:latin typeface="Times New Roman" pitchFamily="18" charset="0"/>
                <a:ea typeface="+mn-ea"/>
                <a:cs typeface="+mn-cs"/>
              </a:rPr>
              <a:t> </a:t>
            </a:r>
            <a:r>
              <a:rPr lang="en-US" sz="1000" b="0" i="0" kern="1200" dirty="0" err="1">
                <a:solidFill>
                  <a:schemeClr val="tx1"/>
                </a:solidFill>
                <a:effectLst/>
                <a:latin typeface="Times New Roman" pitchFamily="18" charset="0"/>
                <a:ea typeface="+mn-ea"/>
                <a:cs typeface="+mn-cs"/>
              </a:rPr>
              <a:t>programiranja</a:t>
            </a:r>
            <a:r>
              <a:rPr lang="en-US" sz="1000" b="0" i="0" kern="1200" dirty="0">
                <a:solidFill>
                  <a:schemeClr val="tx1"/>
                </a:solidFill>
                <a:effectLst/>
                <a:latin typeface="Times New Roman" pitchFamily="18" charset="0"/>
                <a:ea typeface="+mn-ea"/>
                <a:cs typeface="+mn-cs"/>
              </a:rPr>
              <a:t>.</a:t>
            </a:r>
            <a:endParaRPr lang="en-US" dirty="0"/>
          </a:p>
        </p:txBody>
      </p:sp>
      <p:sp>
        <p:nvSpPr>
          <p:cNvPr id="4" name="Slide Number Placeholder 3"/>
          <p:cNvSpPr>
            <a:spLocks noGrp="1"/>
          </p:cNvSpPr>
          <p:nvPr>
            <p:ph type="sldNum" sz="quarter" idx="5"/>
          </p:nvPr>
        </p:nvSpPr>
        <p:spPr/>
        <p:txBody>
          <a:bodyPr/>
          <a:lstStyle/>
          <a:p>
            <a:fld id="{8A04E8E9-E37E-46A6-969A-F44E626C6E2C}" type="slidenum">
              <a:rPr lang="en-US" altLang="en-US" smtClean="0"/>
              <a:pPr/>
              <a:t>5</a:t>
            </a:fld>
            <a:endParaRPr lang="en-US" altLang="en-US"/>
          </a:p>
        </p:txBody>
      </p:sp>
    </p:spTree>
    <p:extLst>
      <p:ext uri="{BB962C8B-B14F-4D97-AF65-F5344CB8AC3E}">
        <p14:creationId xmlns:p14="http://schemas.microsoft.com/office/powerpoint/2010/main" val="528874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Tokom vremena paralelizam se u radu procesora eksploatisao na različitim nivoima.</a:t>
            </a:r>
          </a:p>
          <a:p>
            <a:r>
              <a:rPr lang="sr-Latn-RS" dirty="0"/>
              <a:t>U periodu od 1970’ih do sredine osamdestih prilaz se ogledao u povećanju paralelizma na nivou bitova.</a:t>
            </a:r>
            <a:endParaRPr lang="en-US" dirty="0"/>
          </a:p>
        </p:txBody>
      </p:sp>
      <p:sp>
        <p:nvSpPr>
          <p:cNvPr id="4" name="Slide Number Placeholder 3"/>
          <p:cNvSpPr>
            <a:spLocks noGrp="1"/>
          </p:cNvSpPr>
          <p:nvPr>
            <p:ph type="sldNum" sz="quarter" idx="5"/>
          </p:nvPr>
        </p:nvSpPr>
        <p:spPr/>
        <p:txBody>
          <a:bodyPr/>
          <a:lstStyle/>
          <a:p>
            <a:fld id="{8A04E8E9-E37E-46A6-969A-F44E626C6E2C}" type="slidenum">
              <a:rPr lang="en-US" altLang="en-US" smtClean="0"/>
              <a:pPr/>
              <a:t>7</a:t>
            </a:fld>
            <a:endParaRPr lang="en-US" altLang="en-US"/>
          </a:p>
        </p:txBody>
      </p:sp>
    </p:spTree>
    <p:extLst>
      <p:ext uri="{BB962C8B-B14F-4D97-AF65-F5344CB8AC3E}">
        <p14:creationId xmlns:p14="http://schemas.microsoft.com/office/powerpoint/2010/main" val="1547508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4D5C923B-9743-A6D7-752D-7C7ED9841BA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AB71432-D878-49AA-B7D9-E43C8848D46F}"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
        <p:nvSpPr>
          <p:cNvPr id="65539" name="Rectangle 2">
            <a:extLst>
              <a:ext uri="{FF2B5EF4-FFF2-40B4-BE49-F238E27FC236}">
                <a16:creationId xmlns:a16="http://schemas.microsoft.com/office/drawing/2014/main" id="{A4FCE00C-3B2A-3ED4-9734-E374F752DCAD}"/>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C38B415B-2186-5364-C5A4-AF762816C4F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sr-Latn-CS" altLang="en-US"/>
              <a:t>1950. Godine Čeh, Antonin Svoboda, konstruisao prvi paralelni računar SAPO. Računar se sastojao od tri identične procesne jedinice koje su izvršavale isti program nad istim skupom podataka i komparatora. Izlaz se generisao samo ako su bar dve od tri procesne jedinice davale isti rezultat. Sistem je projektovan da bi se rešio problem nepouzdanih komponenti.</a:t>
            </a:r>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r-Latn-RS" dirty="0"/>
          </a:p>
        </p:txBody>
      </p:sp>
      <p:sp>
        <p:nvSpPr>
          <p:cNvPr id="4" name="Slide Number Placeholder 3"/>
          <p:cNvSpPr>
            <a:spLocks noGrp="1"/>
          </p:cNvSpPr>
          <p:nvPr>
            <p:ph type="sldNum" sz="quarter" idx="5"/>
          </p:nvPr>
        </p:nvSpPr>
        <p:spPr/>
        <p:txBody>
          <a:bodyPr/>
          <a:lstStyle/>
          <a:p>
            <a:fld id="{8A04E8E9-E37E-46A6-969A-F44E626C6E2C}" type="slidenum">
              <a:rPr lang="en-US" altLang="en-US" smtClean="0"/>
              <a:pPr/>
              <a:t>17</a:t>
            </a:fld>
            <a:endParaRPr lang="en-US" altLang="en-US"/>
          </a:p>
        </p:txBody>
      </p:sp>
    </p:spTree>
    <p:extLst>
      <p:ext uri="{BB962C8B-B14F-4D97-AF65-F5344CB8AC3E}">
        <p14:creationId xmlns:p14="http://schemas.microsoft.com/office/powerpoint/2010/main" val="4230029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defRPr/>
            </a:pPr>
            <a:r>
              <a:rPr lang="sr-Latn-CS" altLang="en-US" sz="2000" dirty="0"/>
              <a:t>Sekvencijalni programski jezici – od paralalizirajućeg kompajlera se traži da konvertuje program u paralelni i generiše izvršni kod </a:t>
            </a:r>
          </a:p>
          <a:p>
            <a:pPr lvl="1">
              <a:lnSpc>
                <a:spcPct val="80000"/>
              </a:lnSpc>
              <a:defRPr/>
            </a:pPr>
            <a:r>
              <a:rPr lang="sr-Latn-CS" altLang="en-US" sz="1800" dirty="0"/>
              <a:t>prilaz koji se dans retko koristi</a:t>
            </a:r>
          </a:p>
          <a:p>
            <a:pPr>
              <a:lnSpc>
                <a:spcPct val="80000"/>
              </a:lnSpc>
              <a:defRPr/>
            </a:pPr>
            <a:r>
              <a:rPr lang="sr-Latn-CS" altLang="en-US" sz="2000" dirty="0"/>
              <a:t>Sekvencijalni programski jezici dopunjeni konstrukcijama za deklaraciju deljivih promenljivih i paralelizma</a:t>
            </a:r>
            <a:endParaRPr lang="en-US" altLang="en-US" sz="2000" dirty="0"/>
          </a:p>
          <a:p>
            <a:pPr lvl="1">
              <a:lnSpc>
                <a:spcPct val="80000"/>
              </a:lnSpc>
              <a:defRPr/>
            </a:pPr>
            <a:r>
              <a:rPr lang="sr-Latn-CS" altLang="en-US" sz="1800" dirty="0"/>
              <a:t>Npr</a:t>
            </a:r>
            <a:r>
              <a:rPr lang="en-US" altLang="en-US" sz="1800" dirty="0"/>
              <a:t> UPC (Unified Parallel C) – </a:t>
            </a:r>
            <a:r>
              <a:rPr lang="sr-Latn-CS" altLang="en-US" sz="1800" dirty="0"/>
              <a:t>zahteva </a:t>
            </a:r>
            <a:r>
              <a:rPr lang="en-US" altLang="en-US" sz="1800" dirty="0"/>
              <a:t> UPC </a:t>
            </a:r>
            <a:r>
              <a:rPr lang="sr-Latn-CS" altLang="en-US" sz="1800" dirty="0"/>
              <a:t>k</a:t>
            </a:r>
            <a:r>
              <a:rPr lang="en-US" altLang="en-US" sz="1800" dirty="0" err="1"/>
              <a:t>omp</a:t>
            </a:r>
            <a:r>
              <a:rPr lang="sr-Latn-CS" altLang="en-US" sz="1800" dirty="0"/>
              <a:t>ajler, ACTUS</a:t>
            </a:r>
            <a:r>
              <a:rPr lang="en-US" altLang="en-US" sz="1800" dirty="0"/>
              <a:t>.</a:t>
            </a:r>
            <a:endParaRPr lang="sr-Latn-CS" altLang="en-US" sz="1800" dirty="0"/>
          </a:p>
          <a:p>
            <a:pPr>
              <a:lnSpc>
                <a:spcPct val="80000"/>
              </a:lnSpc>
              <a:defRPr/>
            </a:pPr>
            <a:r>
              <a:rPr lang="sr-Latn-CS" altLang="en-US" sz="2000" dirty="0"/>
              <a:t>Sekvencijalni PJ sa preprocesorskim kompajlerskim direktivama za deklaraciju deljivih promenljivih i paralelizma</a:t>
            </a:r>
            <a:endParaRPr lang="en-US" altLang="en-US" sz="2000" dirty="0"/>
          </a:p>
          <a:p>
            <a:pPr lvl="1">
              <a:lnSpc>
                <a:spcPct val="80000"/>
              </a:lnSpc>
              <a:defRPr/>
            </a:pPr>
            <a:r>
              <a:rPr lang="sr-Latn-CS" altLang="en-US" sz="1800" dirty="0"/>
              <a:t>Npr.</a:t>
            </a:r>
            <a:r>
              <a:rPr lang="en-US" altLang="en-US" sz="1800" dirty="0"/>
              <a:t> OpenMP – </a:t>
            </a:r>
            <a:r>
              <a:rPr lang="en-US" altLang="en-US" sz="1800" dirty="0" err="1"/>
              <a:t>industr</a:t>
            </a:r>
            <a:r>
              <a:rPr lang="sr-Latn-CS" altLang="en-US" sz="1800" dirty="0"/>
              <a:t>ijski </a:t>
            </a:r>
            <a:r>
              <a:rPr lang="en-US" altLang="en-US" sz="1800" dirty="0"/>
              <a:t>standard - </a:t>
            </a:r>
            <a:r>
              <a:rPr lang="sr-Latn-CS" altLang="en-US" sz="1800" dirty="0"/>
              <a:t>potreban</a:t>
            </a:r>
            <a:r>
              <a:rPr lang="en-US" altLang="en-US" sz="1800" dirty="0"/>
              <a:t> OpenMP </a:t>
            </a:r>
            <a:r>
              <a:rPr lang="sr-Latn-CS" altLang="en-US" sz="1800" dirty="0"/>
              <a:t>k</a:t>
            </a:r>
            <a:r>
              <a:rPr lang="en-US" altLang="en-US" sz="1800" dirty="0" err="1"/>
              <a:t>omp</a:t>
            </a:r>
            <a:r>
              <a:rPr lang="sr-Latn-CS" altLang="en-US" sz="1800" dirty="0"/>
              <a:t>ajler</a:t>
            </a:r>
          </a:p>
          <a:p>
            <a:pPr>
              <a:lnSpc>
                <a:spcPct val="80000"/>
              </a:lnSpc>
              <a:defRPr/>
            </a:pPr>
            <a:r>
              <a:rPr lang="sr-Latn-CS" altLang="en-US" sz="2000" dirty="0"/>
              <a:t> Niti (</a:t>
            </a:r>
            <a:r>
              <a:rPr lang="en-US" altLang="en-US" sz="2000" dirty="0"/>
              <a:t>Threads </a:t>
            </a:r>
            <a:r>
              <a:rPr lang="sr-Latn-CS" altLang="en-US" sz="2000" dirty="0"/>
              <a:t>)</a:t>
            </a:r>
            <a:r>
              <a:rPr lang="en-US" altLang="en-US" sz="2000" dirty="0"/>
              <a:t>- </a:t>
            </a:r>
            <a:r>
              <a:rPr lang="en-US" altLang="en-US" sz="2000" dirty="0" err="1"/>
              <a:t>programer</a:t>
            </a:r>
            <a:r>
              <a:rPr lang="en-US" altLang="en-US" sz="2000" dirty="0"/>
              <a:t> </a:t>
            </a:r>
            <a:r>
              <a:rPr lang="sr-Latn-CS" altLang="en-US" sz="2000" dirty="0"/>
              <a:t>vrši dekompoziciju programa na paralelne sekvence (niti) pri čemu svaka nit može da pristupa globalnim promenljivim</a:t>
            </a:r>
            <a:endParaRPr lang="en-US" altLang="en-US" sz="2000" dirty="0"/>
          </a:p>
          <a:p>
            <a:pPr lvl="1">
              <a:lnSpc>
                <a:spcPct val="80000"/>
              </a:lnSpc>
              <a:defRPr/>
            </a:pPr>
            <a:r>
              <a:rPr lang="sr-Latn-CS" altLang="en-US" sz="1800" dirty="0"/>
              <a:t>Npr.</a:t>
            </a:r>
            <a:r>
              <a:rPr lang="en-US" altLang="en-US" sz="1800" dirty="0"/>
              <a:t> </a:t>
            </a:r>
            <a:r>
              <a:rPr lang="en-US" altLang="en-US" sz="1800" dirty="0" err="1"/>
              <a:t>Pthreads</a:t>
            </a:r>
            <a:endParaRPr lang="en-US" altLang="en-US" sz="1800" dirty="0"/>
          </a:p>
          <a:p>
            <a:pPr>
              <a:lnSpc>
                <a:spcPct val="80000"/>
              </a:lnSpc>
              <a:defRPr/>
            </a:pPr>
            <a:r>
              <a:rPr lang="en-US" altLang="en-US" sz="2000" dirty="0"/>
              <a:t>Paral</a:t>
            </a:r>
            <a:r>
              <a:rPr lang="sr-Latn-CS" altLang="en-US" sz="2000" dirty="0"/>
              <a:t>elni programski jezici   </a:t>
            </a:r>
            <a:r>
              <a:rPr lang="en-US" altLang="en-US" sz="2000" dirty="0"/>
              <a:t>-  </a:t>
            </a:r>
            <a:r>
              <a:rPr lang="sr-Latn-CS" altLang="en-US" sz="2000" dirty="0"/>
              <a:t>kompajler kreira izvršni kod za svaki procesor </a:t>
            </a:r>
          </a:p>
          <a:p>
            <a:pPr lvl="1">
              <a:lnSpc>
                <a:spcPct val="80000"/>
              </a:lnSpc>
              <a:defRPr/>
            </a:pPr>
            <a:r>
              <a:rPr lang="sr-Latn-CS" altLang="en-US" sz="1800" dirty="0"/>
              <a:t>Npr. Ada</a:t>
            </a:r>
            <a:endParaRPr lang="en-US" altLang="en-US" sz="1800" dirty="0"/>
          </a:p>
          <a:p>
            <a:pPr>
              <a:lnSpc>
                <a:spcPct val="80000"/>
              </a:lnSpc>
              <a:defRPr/>
            </a:pPr>
            <a:r>
              <a:rPr lang="sr-Latn-CS" altLang="en-US" sz="2000" dirty="0"/>
              <a:t>Biblioteka funkcija za interprocesorsku komunikaciju koje se mogu pozivati iz različitih programskih jezika (C, C++, Fortan, ...)</a:t>
            </a:r>
          </a:p>
          <a:p>
            <a:pPr lvl="1">
              <a:lnSpc>
                <a:spcPct val="80000"/>
              </a:lnSpc>
              <a:defRPr/>
            </a:pPr>
            <a:r>
              <a:rPr lang="sr-Latn-CS" altLang="en-US" sz="1800" dirty="0"/>
              <a:t>MPI (</a:t>
            </a:r>
            <a:r>
              <a:rPr lang="en-US" altLang="en-US" sz="1800" dirty="0"/>
              <a:t>Message-Passing Interface</a:t>
            </a:r>
            <a:r>
              <a:rPr lang="sr-Latn-CS" altLang="en-US" sz="1800" dirty="0"/>
              <a:t>) standard definisan 1990ih.</a:t>
            </a:r>
          </a:p>
          <a:p>
            <a:pPr lvl="1">
              <a:lnSpc>
                <a:spcPct val="80000"/>
              </a:lnSpc>
              <a:defRPr/>
            </a:pPr>
            <a:r>
              <a:rPr lang="en-US" altLang="en-US" sz="1800" dirty="0"/>
              <a:t>P</a:t>
            </a:r>
            <a:r>
              <a:rPr lang="sr-Latn-CS" altLang="en-US" sz="1800" dirty="0"/>
              <a:t>VM (</a:t>
            </a:r>
            <a:r>
              <a:rPr lang="en-US" altLang="en-US" sz="1800" dirty="0"/>
              <a:t>Parallel Virtual Machine</a:t>
            </a:r>
            <a:r>
              <a:rPr lang="sr-Latn-CS" altLang="en-US" sz="1800" dirty="0"/>
              <a:t>) – razvijen krajem 1980-ih</a:t>
            </a:r>
            <a:r>
              <a:rPr lang="en-US" altLang="en-US" sz="1800" dirty="0"/>
              <a:t> </a:t>
            </a:r>
            <a:endParaRPr lang="en-US" dirty="0"/>
          </a:p>
        </p:txBody>
      </p:sp>
      <p:sp>
        <p:nvSpPr>
          <p:cNvPr id="4" name="Slide Number Placeholder 3"/>
          <p:cNvSpPr>
            <a:spLocks noGrp="1"/>
          </p:cNvSpPr>
          <p:nvPr>
            <p:ph type="sldNum" sz="quarter" idx="5"/>
          </p:nvPr>
        </p:nvSpPr>
        <p:spPr/>
        <p:txBody>
          <a:bodyPr/>
          <a:lstStyle/>
          <a:p>
            <a:fld id="{8A04E8E9-E37E-46A6-969A-F44E626C6E2C}" type="slidenum">
              <a:rPr lang="en-US" altLang="en-US" smtClean="0"/>
              <a:pPr/>
              <a:t>29</a:t>
            </a:fld>
            <a:endParaRPr lang="en-US" altLang="en-US"/>
          </a:p>
        </p:txBody>
      </p:sp>
    </p:spTree>
    <p:extLst>
      <p:ext uri="{BB962C8B-B14F-4D97-AF65-F5344CB8AC3E}">
        <p14:creationId xmlns:p14="http://schemas.microsoft.com/office/powerpoint/2010/main" val="17812082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To pokazuje generalno da serijski udeo teoretski ne ograničava paralelno povećanje brzine, ako se problem ili radno opterećenje skalira u svojoj paralelnoj komponenti. Modelira drugačiju situaciju od one iz Amdalovog zakona, koji predviđa smanjenje vremena za fiksnu veličinu problema.</a:t>
            </a:r>
            <a:endParaRPr lang="en-US" dirty="0"/>
          </a:p>
        </p:txBody>
      </p:sp>
      <p:sp>
        <p:nvSpPr>
          <p:cNvPr id="4" name="Slide Number Placeholder 3"/>
          <p:cNvSpPr>
            <a:spLocks noGrp="1"/>
          </p:cNvSpPr>
          <p:nvPr>
            <p:ph type="sldNum" sz="quarter" idx="10"/>
          </p:nvPr>
        </p:nvSpPr>
        <p:spPr/>
        <p:txBody>
          <a:bodyPr/>
          <a:lstStyle/>
          <a:p>
            <a:fld id="{8A04E8E9-E37E-46A6-969A-F44E626C6E2C}" type="slidenum">
              <a:rPr lang="en-US" altLang="en-US" smtClean="0"/>
              <a:pPr/>
              <a:t>35</a:t>
            </a:fld>
            <a:endParaRPr lang="en-US" altLang="en-US"/>
          </a:p>
        </p:txBody>
      </p:sp>
    </p:spTree>
    <p:extLst>
      <p:ext uri="{BB962C8B-B14F-4D97-AF65-F5344CB8AC3E}">
        <p14:creationId xmlns:p14="http://schemas.microsoft.com/office/powerpoint/2010/main" val="1600856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li je </a:t>
            </a:r>
            <a:r>
              <a:rPr lang="en-US" dirty="0" err="1"/>
              <a:t>mogu</a:t>
            </a:r>
            <a:r>
              <a:rPr lang="sr-Latn-RS" dirty="0"/>
              <a:t>će postići ubrzanje veće od broja procesora p?. Da li je moguće da S(p)</a:t>
            </a:r>
            <a:r>
              <a:rPr lang="en-US" dirty="0"/>
              <a:t>&gt;p?</a:t>
            </a:r>
            <a:r>
              <a:rPr lang="sr-Latn-RS" dirty="0"/>
              <a:t> Nnpr. Da sa 4 procesora dobijemo ubrzanje 5?</a:t>
            </a:r>
            <a:endParaRPr lang="en-US" dirty="0"/>
          </a:p>
          <a:p>
            <a:r>
              <a:rPr lang="en-US" dirty="0" err="1"/>
              <a:t>Verovali</a:t>
            </a:r>
            <a:r>
              <a:rPr lang="en-US" dirty="0"/>
              <a:t> </a:t>
            </a:r>
            <a:r>
              <a:rPr lang="en-US" dirty="0" err="1"/>
              <a:t>ili</a:t>
            </a:r>
            <a:r>
              <a:rPr lang="en-US" dirty="0"/>
              <a:t> ne, </a:t>
            </a:r>
            <a:r>
              <a:rPr lang="en-US" dirty="0" err="1"/>
              <a:t>takve</a:t>
            </a:r>
            <a:r>
              <a:rPr lang="en-US" dirty="0"/>
              <a:t> </a:t>
            </a:r>
            <a:r>
              <a:rPr lang="en-US" dirty="0" err="1"/>
              <a:t>situacije</a:t>
            </a:r>
            <a:r>
              <a:rPr lang="en-US" dirty="0"/>
              <a:t> </a:t>
            </a:r>
            <a:r>
              <a:rPr lang="en-US" dirty="0" err="1"/>
              <a:t>su</a:t>
            </a:r>
            <a:r>
              <a:rPr lang="en-US" dirty="0"/>
              <a:t> </a:t>
            </a:r>
            <a:r>
              <a:rPr lang="en-US" dirty="0" err="1"/>
              <a:t>mogu</a:t>
            </a:r>
            <a:r>
              <a:rPr lang="sr-Latn-RS" dirty="0"/>
              <a:t>ć</a:t>
            </a:r>
            <a:r>
              <a:rPr lang="en-US" dirty="0"/>
              <a:t>e u </a:t>
            </a:r>
            <a:r>
              <a:rPr lang="en-US" dirty="0" err="1"/>
              <a:t>praksi</a:t>
            </a:r>
            <a:r>
              <a:rPr lang="en-US" dirty="0"/>
              <a:t>, </a:t>
            </a:r>
            <a:r>
              <a:rPr lang="en-US" dirty="0" err="1"/>
              <a:t>ali</a:t>
            </a:r>
            <a:r>
              <a:rPr lang="en-US" dirty="0"/>
              <a:t> </a:t>
            </a:r>
            <a:r>
              <a:rPr lang="en-US" dirty="0" err="1"/>
              <a:t>su</a:t>
            </a:r>
            <a:r>
              <a:rPr lang="en-US" dirty="0"/>
              <a:t> </a:t>
            </a:r>
            <a:r>
              <a:rPr lang="en-US" dirty="0" err="1"/>
              <a:t>nepredvidive</a:t>
            </a:r>
            <a:r>
              <a:rPr lang="en-US" dirty="0"/>
              <a:t>. </a:t>
            </a:r>
            <a:r>
              <a:rPr lang="en-US" dirty="0" err="1"/>
              <a:t>Takvo</a:t>
            </a:r>
            <a:r>
              <a:rPr lang="en-US" dirty="0"/>
              <a:t> </a:t>
            </a:r>
            <a:r>
              <a:rPr lang="en-US" dirty="0" err="1"/>
              <a:t>ubrzanje</a:t>
            </a:r>
            <a:r>
              <a:rPr lang="en-US" dirty="0"/>
              <a:t> se </a:t>
            </a:r>
            <a:r>
              <a:rPr lang="en-US" dirty="0" err="1"/>
              <a:t>zove</a:t>
            </a:r>
            <a:r>
              <a:rPr lang="en-US" dirty="0"/>
              <a:t> </a:t>
            </a:r>
            <a:r>
              <a:rPr lang="en-US" dirty="0" err="1"/>
              <a:t>superlinearno</a:t>
            </a:r>
            <a:r>
              <a:rPr lang="en-US" dirty="0"/>
              <a:t>.</a:t>
            </a:r>
          </a:p>
          <a:p>
            <a:r>
              <a:rPr lang="sr-Latn-RS" dirty="0"/>
              <a:t>Zašto i kako do ovoga </a:t>
            </a:r>
            <a:r>
              <a:rPr lang="en-US" dirty="0"/>
              <a:t> </a:t>
            </a:r>
            <a:r>
              <a:rPr lang="en-US" dirty="0" err="1"/>
              <a:t>moze</a:t>
            </a:r>
            <a:r>
              <a:rPr lang="en-US" dirty="0"/>
              <a:t> </a:t>
            </a:r>
            <a:r>
              <a:rPr lang="sr-Latn-RS" dirty="0"/>
              <a:t>doći? Jedan od razloga je taj što ukupno raspoloživa keš memorija na p procesorskom sistemu može (realno) biti veća od keš memorije jenoprocesorskog sistema, pa će to rezultovati većem broj keš pogodaka u paralelnom sistemu. Ili, ako je u pitanju obrada velike količine podataka, nau paralelnom sistemu se svi ti podaci mogu smestiti u RAM, a u jednoprocesorskom sistemu će biti na disku.</a:t>
            </a:r>
            <a:endParaRPr lang="en-US" dirty="0"/>
          </a:p>
        </p:txBody>
      </p:sp>
      <p:sp>
        <p:nvSpPr>
          <p:cNvPr id="4" name="Slide Number Placeholder 3"/>
          <p:cNvSpPr>
            <a:spLocks noGrp="1"/>
          </p:cNvSpPr>
          <p:nvPr>
            <p:ph type="sldNum" sz="quarter" idx="5"/>
          </p:nvPr>
        </p:nvSpPr>
        <p:spPr/>
        <p:txBody>
          <a:bodyPr/>
          <a:lstStyle/>
          <a:p>
            <a:fld id="{8A04E8E9-E37E-46A6-969A-F44E626C6E2C}" type="slidenum">
              <a:rPr lang="en-US" altLang="en-US" smtClean="0"/>
              <a:pPr/>
              <a:t>45</a:t>
            </a:fld>
            <a:endParaRPr lang="en-US" altLang="en-US"/>
          </a:p>
        </p:txBody>
      </p:sp>
    </p:spTree>
    <p:extLst>
      <p:ext uri="{BB962C8B-B14F-4D97-AF65-F5344CB8AC3E}">
        <p14:creationId xmlns:p14="http://schemas.microsoft.com/office/powerpoint/2010/main" val="4493491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Jozef</a:t>
            </a:r>
            <a:r>
              <a:rPr lang="en-US" dirty="0"/>
              <a:t> </a:t>
            </a:r>
            <a:r>
              <a:rPr lang="en-US" dirty="0" err="1"/>
              <a:t>Hajdn</a:t>
            </a:r>
            <a:r>
              <a:rPr lang="en-US" dirty="0"/>
              <a:t> 1732-1809 je bio </a:t>
            </a:r>
            <a:r>
              <a:rPr lang="en-US" dirty="0" err="1"/>
              <a:t>austrijski</a:t>
            </a:r>
            <a:r>
              <a:rPr lang="en-US" dirty="0"/>
              <a:t> </a:t>
            </a:r>
            <a:r>
              <a:rPr lang="en-US" dirty="0" err="1"/>
              <a:t>kompozitor</a:t>
            </a:r>
            <a:r>
              <a:rPr lang="en-US" dirty="0"/>
              <a:t> I </a:t>
            </a:r>
            <a:r>
              <a:rPr lang="en-US" dirty="0" err="1"/>
              <a:t>dirigent</a:t>
            </a:r>
            <a:r>
              <a:rPr lang="en-US" dirty="0"/>
              <a:t>.</a:t>
            </a:r>
          </a:p>
          <a:p>
            <a:r>
              <a:rPr lang="ru-RU" b="0" i="0" dirty="0">
                <a:solidFill>
                  <a:srgbClr val="202122"/>
                </a:solidFill>
                <a:effectLst/>
                <a:latin typeface="Arial" panose="020B0604020202020204" pitchFamily="34" charset="0"/>
              </a:rPr>
              <a:t>Његов најплоднији стваралачки период био је за време службе на двору мађарског грофа Естерхазија, код кога је радио као дворски композитор и диригент дворског оркестра.</a:t>
            </a:r>
            <a:endParaRPr lang="en-US" b="0" i="0" dirty="0">
              <a:solidFill>
                <a:srgbClr val="202122"/>
              </a:solidFill>
              <a:effectLst/>
              <a:latin typeface="Arial" panose="020B0604020202020204" pitchFamily="34" charset="0"/>
            </a:endParaRPr>
          </a:p>
          <a:p>
            <a:r>
              <a:rPr lang="en-US" b="0" i="0" dirty="0" err="1">
                <a:solidFill>
                  <a:srgbClr val="202122"/>
                </a:solidFill>
                <a:effectLst/>
                <a:latin typeface="Arial" panose="020B0604020202020204" pitchFamily="34" charset="0"/>
              </a:rPr>
              <a:t>Komponovao</a:t>
            </a:r>
            <a:r>
              <a:rPr lang="en-US" b="0" i="0" dirty="0">
                <a:solidFill>
                  <a:srgbClr val="202122"/>
                </a:solidFill>
                <a:effectLst/>
                <a:latin typeface="Arial" panose="020B0604020202020204" pitchFamily="34" charset="0"/>
              </a:rPr>
              <a:t> je 104 </a:t>
            </a:r>
            <a:r>
              <a:rPr lang="en-US" b="0" i="0" dirty="0" err="1">
                <a:solidFill>
                  <a:srgbClr val="202122"/>
                </a:solidFill>
                <a:effectLst/>
                <a:latin typeface="Arial" panose="020B0604020202020204" pitchFamily="34" charset="0"/>
              </a:rPr>
              <a:t>simfonije</a:t>
            </a:r>
            <a:r>
              <a:rPr lang="en-US" b="0" i="0" dirty="0">
                <a:solidFill>
                  <a:srgbClr val="202122"/>
                </a:solidFill>
                <a:effectLst/>
                <a:latin typeface="Arial" panose="020B0604020202020204" pitchFamily="34" charset="0"/>
              </a:rPr>
              <a:t>.</a:t>
            </a:r>
          </a:p>
          <a:p>
            <a:pPr algn="just" fontAlgn="base"/>
            <a:r>
              <a:rPr lang="en-US" b="0" i="0" dirty="0" err="1">
                <a:solidFill>
                  <a:srgbClr val="333333"/>
                </a:solidFill>
                <a:effectLst/>
                <a:latin typeface="Verdana" panose="020B0604030504040204" pitchFamily="34" charset="0"/>
              </a:rPr>
              <a:t>Grof</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Esterhazi</a:t>
            </a:r>
            <a:r>
              <a:rPr lang="en-US" b="0" i="0" dirty="0">
                <a:solidFill>
                  <a:srgbClr val="333333"/>
                </a:solidFill>
                <a:effectLst/>
                <a:latin typeface="Verdana" panose="020B0604030504040204" pitchFamily="34" charset="0"/>
              </a:rPr>
              <a:t> je </a:t>
            </a:r>
            <a:r>
              <a:rPr lang="en-US" b="0" i="0" dirty="0" err="1">
                <a:solidFill>
                  <a:srgbClr val="333333"/>
                </a:solidFill>
                <a:effectLst/>
                <a:latin typeface="Verdana" panose="020B0604030504040204" pitchFamily="34" charset="0"/>
              </a:rPr>
              <a:t>preko</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leta</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boravio</a:t>
            </a:r>
            <a:r>
              <a:rPr lang="en-US" b="0" i="0" dirty="0">
                <a:solidFill>
                  <a:srgbClr val="333333"/>
                </a:solidFill>
                <a:effectLst/>
                <a:latin typeface="Verdana" panose="020B0604030504040204" pitchFamily="34" charset="0"/>
              </a:rPr>
              <a:t> u </a:t>
            </a:r>
            <a:r>
              <a:rPr lang="en-US" b="0" i="0" dirty="0" err="1">
                <a:solidFill>
                  <a:srgbClr val="333333"/>
                </a:solidFill>
                <a:effectLst/>
                <a:latin typeface="Verdana" panose="020B0604030504040204" pitchFamily="34" charset="0"/>
              </a:rPr>
              <a:t>svom</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letnjikovcu</a:t>
            </a:r>
            <a:r>
              <a:rPr lang="en-US" b="0" i="0" dirty="0">
                <a:solidFill>
                  <a:srgbClr val="333333"/>
                </a:solidFill>
                <a:effectLst/>
                <a:latin typeface="Verdana" panose="020B0604030504040204" pitchFamily="34" charset="0"/>
              </a:rPr>
              <a:t> u </a:t>
            </a:r>
            <a:r>
              <a:rPr lang="en-US" b="0" i="0" dirty="0" err="1">
                <a:solidFill>
                  <a:srgbClr val="333333"/>
                </a:solidFill>
                <a:effectLst/>
                <a:latin typeface="Verdana" panose="020B0604030504040204" pitchFamily="34" charset="0"/>
              </a:rPr>
              <a:t>kome</a:t>
            </a:r>
            <a:r>
              <a:rPr lang="en-US" b="0" i="0" dirty="0">
                <a:solidFill>
                  <a:srgbClr val="333333"/>
                </a:solidFill>
                <a:effectLst/>
                <a:latin typeface="Verdana" panose="020B0604030504040204" pitchFamily="34" charset="0"/>
              </a:rPr>
              <a:t> se </a:t>
            </a:r>
            <a:r>
              <a:rPr lang="en-US" b="0" i="0" dirty="0" err="1">
                <a:solidFill>
                  <a:srgbClr val="333333"/>
                </a:solidFill>
                <a:effectLst/>
                <a:latin typeface="Verdana" panose="020B0604030504040204" pitchFamily="34" charset="0"/>
              </a:rPr>
              <a:t>nalazilo</a:t>
            </a:r>
            <a:r>
              <a:rPr lang="en-US" b="0" i="0" dirty="0">
                <a:solidFill>
                  <a:srgbClr val="333333"/>
                </a:solidFill>
                <a:effectLst/>
                <a:latin typeface="Verdana" panose="020B0604030504040204" pitchFamily="34" charset="0"/>
              </a:rPr>
              <a:t> i </a:t>
            </a:r>
            <a:r>
              <a:rPr lang="en-US" b="0" i="0" dirty="0" err="1">
                <a:solidFill>
                  <a:srgbClr val="333333"/>
                </a:solidFill>
                <a:effectLst/>
                <a:latin typeface="Verdana" panose="020B0604030504040204" pitchFamily="34" charset="0"/>
              </a:rPr>
              <a:t>pozorište</a:t>
            </a:r>
            <a:r>
              <a:rPr lang="en-US" b="0" i="0" dirty="0">
                <a:solidFill>
                  <a:srgbClr val="333333"/>
                </a:solidFill>
                <a:effectLst/>
                <a:latin typeface="Verdana" panose="020B0604030504040204" pitchFamily="34" charset="0"/>
              </a:rPr>
              <a:t>.</a:t>
            </a:r>
          </a:p>
          <a:p>
            <a:pPr algn="just" fontAlgn="base"/>
            <a:r>
              <a:rPr lang="en-US" b="0" i="0" dirty="0" err="1">
                <a:solidFill>
                  <a:srgbClr val="333333"/>
                </a:solidFill>
                <a:effectLst/>
                <a:latin typeface="Verdana" panose="020B0604030504040204" pitchFamily="34" charset="0"/>
              </a:rPr>
              <a:t>Hajdnovi</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muzičari</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nisu</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bili</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baš</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oduševljeni</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letovanjem</a:t>
            </a:r>
            <a:r>
              <a:rPr lang="en-US" b="0" i="0" dirty="0">
                <a:solidFill>
                  <a:srgbClr val="333333"/>
                </a:solidFill>
                <a:effectLst/>
                <a:latin typeface="Verdana" panose="020B0604030504040204" pitchFamily="34" charset="0"/>
              </a:rPr>
              <a:t> u </a:t>
            </a:r>
            <a:r>
              <a:rPr lang="en-US" b="0" i="0" dirty="0" err="1">
                <a:solidFill>
                  <a:srgbClr val="333333"/>
                </a:solidFill>
                <a:effectLst/>
                <a:latin typeface="Verdana" panose="020B0604030504040204" pitchFamily="34" charset="0"/>
              </a:rPr>
              <a:t>Esterhazu</a:t>
            </a:r>
            <a:r>
              <a:rPr lang="en-US" b="0" i="0" dirty="0">
                <a:solidFill>
                  <a:srgbClr val="333333"/>
                </a:solidFill>
                <a:effectLst/>
                <a:latin typeface="Verdana" panose="020B0604030504040204" pitchFamily="34" charset="0"/>
              </a:rPr>
              <a:t>.</a:t>
            </a:r>
            <a:r>
              <a:rPr lang="sr-Latn-RS" b="0" i="0" dirty="0">
                <a:solidFill>
                  <a:srgbClr val="333333"/>
                </a:solidFill>
                <a:effectLst/>
                <a:latin typeface="Verdana" panose="020B0604030504040204" pitchFamily="34" charset="0"/>
              </a:rPr>
              <a:t> </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Kada</a:t>
            </a:r>
            <a:r>
              <a:rPr lang="en-US" b="0" i="0" dirty="0">
                <a:solidFill>
                  <a:srgbClr val="333333"/>
                </a:solidFill>
                <a:effectLst/>
                <a:latin typeface="Verdana" panose="020B0604030504040204" pitchFamily="34" charset="0"/>
              </a:rPr>
              <a:t> se </a:t>
            </a:r>
            <a:r>
              <a:rPr lang="en-US" b="0" i="0" dirty="0" err="1">
                <a:solidFill>
                  <a:srgbClr val="333333"/>
                </a:solidFill>
                <a:effectLst/>
                <a:latin typeface="Verdana" panose="020B0604030504040204" pitchFamily="34" charset="0"/>
              </a:rPr>
              <a:t>jednom</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prilikom</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letovanje</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bilo</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oteglo</a:t>
            </a:r>
            <a:r>
              <a:rPr lang="en-US" b="0" i="0" dirty="0">
                <a:solidFill>
                  <a:srgbClr val="333333"/>
                </a:solidFill>
                <a:effectLst/>
                <a:latin typeface="Verdana" panose="020B0604030504040204" pitchFamily="34" charset="0"/>
              </a:rPr>
              <a:t> do u </a:t>
            </a:r>
            <a:r>
              <a:rPr lang="en-US" b="0" i="0" dirty="0" err="1">
                <a:solidFill>
                  <a:srgbClr val="333333"/>
                </a:solidFill>
                <a:effectLst/>
                <a:latin typeface="Verdana" panose="020B0604030504040204" pitchFamily="34" charset="0"/>
              </a:rPr>
              <a:t>jesen</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zamolili</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su</a:t>
            </a:r>
            <a:r>
              <a:rPr lang="en-US" b="0" i="0" dirty="0">
                <a:solidFill>
                  <a:srgbClr val="333333"/>
                </a:solidFill>
                <a:effectLst/>
                <a:latin typeface="Verdana" panose="020B0604030504040204" pitchFamily="34" charset="0"/>
              </a:rPr>
              <a:t> </a:t>
            </a:r>
            <a:r>
              <a:rPr lang="sr-Latn-RS" b="0" i="0" dirty="0">
                <a:solidFill>
                  <a:srgbClr val="333333"/>
                </a:solidFill>
                <a:effectLst/>
                <a:latin typeface="Verdana" panose="020B0604030504040204" pitchFamily="34" charset="0"/>
              </a:rPr>
              <a:t>Hajdna </a:t>
            </a:r>
            <a:r>
              <a:rPr lang="en-US" b="0" i="0" dirty="0">
                <a:solidFill>
                  <a:srgbClr val="333333"/>
                </a:solidFill>
                <a:effectLst/>
                <a:latin typeface="Verdana" panose="020B0604030504040204" pitchFamily="34" charset="0"/>
              </a:rPr>
              <a:t>da </a:t>
            </a:r>
            <a:r>
              <a:rPr lang="sr-Latn-RS" b="0" i="0" dirty="0">
                <a:solidFill>
                  <a:srgbClr val="333333"/>
                </a:solidFill>
                <a:effectLst/>
                <a:latin typeface="Verdana" panose="020B0604030504040204" pitchFamily="34" charset="0"/>
              </a:rPr>
              <a:t>zamoli grofa da im dozvoli da</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vrate</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kući</a:t>
            </a:r>
            <a:r>
              <a:rPr lang="en-US" b="0" i="0" dirty="0">
                <a:solidFill>
                  <a:srgbClr val="333333"/>
                </a:solidFill>
                <a:effectLst/>
                <a:latin typeface="Verdana" panose="020B0604030504040204" pitchFamily="34" charset="0"/>
              </a:rPr>
              <a:t>. </a:t>
            </a:r>
          </a:p>
          <a:p>
            <a:pPr algn="just" fontAlgn="base"/>
            <a:r>
              <a:rPr lang="en-US" b="0" i="0" dirty="0" err="1">
                <a:solidFill>
                  <a:srgbClr val="333333"/>
                </a:solidFill>
                <a:effectLst/>
                <a:latin typeface="Verdana" panose="020B0604030504040204" pitchFamily="34" charset="0"/>
              </a:rPr>
              <a:t>Hajdn</a:t>
            </a:r>
            <a:r>
              <a:rPr lang="en-US" b="0" i="0" dirty="0">
                <a:solidFill>
                  <a:srgbClr val="333333"/>
                </a:solidFill>
                <a:effectLst/>
                <a:latin typeface="Verdana" panose="020B0604030504040204" pitchFamily="34" charset="0"/>
              </a:rPr>
              <a:t> je </a:t>
            </a:r>
            <a:r>
              <a:rPr lang="en-US" b="0" i="0" dirty="0" err="1">
                <a:solidFill>
                  <a:srgbClr val="333333"/>
                </a:solidFill>
                <a:effectLst/>
                <a:latin typeface="Verdana" panose="020B0604030504040204" pitchFamily="34" charset="0"/>
              </a:rPr>
              <a:t>obećao</a:t>
            </a:r>
            <a:r>
              <a:rPr lang="en-US" b="0" i="0" dirty="0">
                <a:solidFill>
                  <a:srgbClr val="333333"/>
                </a:solidFill>
                <a:effectLst/>
                <a:latin typeface="Verdana" panose="020B0604030504040204" pitchFamily="34" charset="0"/>
              </a:rPr>
              <a:t> da </a:t>
            </a:r>
            <a:r>
              <a:rPr lang="en-US" b="0" i="0" dirty="0" err="1">
                <a:solidFill>
                  <a:srgbClr val="333333"/>
                </a:solidFill>
                <a:effectLst/>
                <a:latin typeface="Verdana" panose="020B0604030504040204" pitchFamily="34" charset="0"/>
              </a:rPr>
              <a:t>će</a:t>
            </a:r>
            <a:r>
              <a:rPr lang="en-US" b="0" i="0" dirty="0">
                <a:solidFill>
                  <a:srgbClr val="333333"/>
                </a:solidFill>
                <a:effectLst/>
                <a:latin typeface="Verdana" panose="020B0604030504040204" pitchFamily="34" charset="0"/>
              </a:rPr>
              <a:t> o tome da </a:t>
            </a:r>
            <a:r>
              <a:rPr lang="en-US" b="0" i="0" dirty="0" err="1">
                <a:solidFill>
                  <a:srgbClr val="333333"/>
                </a:solidFill>
                <a:effectLst/>
                <a:latin typeface="Verdana" panose="020B0604030504040204" pitchFamily="34" charset="0"/>
              </a:rPr>
              <a:t>razmisli</a:t>
            </a:r>
            <a:endParaRPr lang="en-US" b="0" i="0" dirty="0">
              <a:solidFill>
                <a:srgbClr val="333333"/>
              </a:solidFill>
              <a:effectLst/>
              <a:latin typeface="Verdana" panose="020B0604030504040204" pitchFamily="34" charset="0"/>
            </a:endParaRPr>
          </a:p>
          <a:p>
            <a:r>
              <a:rPr lang="en-US" b="0" i="0" dirty="0">
                <a:solidFill>
                  <a:srgbClr val="333333"/>
                </a:solidFill>
                <a:effectLst/>
                <a:latin typeface="Verdana" panose="020B0604030504040204" pitchFamily="34" charset="0"/>
              </a:rPr>
              <a:t>Na </a:t>
            </a:r>
            <a:r>
              <a:rPr lang="en-US" b="0" i="0" dirty="0" err="1">
                <a:solidFill>
                  <a:srgbClr val="333333"/>
                </a:solidFill>
                <a:effectLst/>
                <a:latin typeface="Verdana" panose="020B0604030504040204" pitchFamily="34" charset="0"/>
              </a:rPr>
              <a:t>sledećem</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večernjem</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koncertu</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izvodila</a:t>
            </a:r>
            <a:r>
              <a:rPr lang="en-US" b="0" i="0" dirty="0">
                <a:solidFill>
                  <a:srgbClr val="333333"/>
                </a:solidFill>
                <a:effectLst/>
                <a:latin typeface="Verdana" panose="020B0604030504040204" pitchFamily="34" charset="0"/>
              </a:rPr>
              <a:t> se nova </a:t>
            </a:r>
            <a:r>
              <a:rPr lang="en-US" b="0" i="0" dirty="0" err="1">
                <a:solidFill>
                  <a:srgbClr val="333333"/>
                </a:solidFill>
                <a:effectLst/>
                <a:latin typeface="Verdana" panose="020B0604030504040204" pitchFamily="34" charset="0"/>
              </a:rPr>
              <a:t>simfonija</a:t>
            </a:r>
            <a:r>
              <a:rPr lang="en-US" b="0" i="0" dirty="0">
                <a:solidFill>
                  <a:srgbClr val="333333"/>
                </a:solidFill>
                <a:effectLst/>
                <a:latin typeface="Verdana" panose="020B0604030504040204" pitchFamily="34" charset="0"/>
              </a:rPr>
              <a:t>. </a:t>
            </a:r>
            <a:r>
              <a:rPr lang="sr-Latn-RS" b="0" i="0" dirty="0">
                <a:solidFill>
                  <a:srgbClr val="333333"/>
                </a:solidFill>
                <a:effectLst/>
                <a:latin typeface="Verdana" panose="020B0604030504040204" pitchFamily="34" charset="0"/>
              </a:rPr>
              <a:t>Kao I uvek, ceo orkestar je bio na okupu. Međutim, tokom izvođenja orkestar je napuštao jedan po jedan muzičar i na kraju je ostao samo solista na violini. </a:t>
            </a:r>
          </a:p>
          <a:p>
            <a:r>
              <a:rPr lang="en-US" b="0" i="0" dirty="0" err="1">
                <a:solidFill>
                  <a:srgbClr val="333333"/>
                </a:solidFill>
                <a:effectLst/>
                <a:latin typeface="Verdana" panose="020B0604030504040204" pitchFamily="34" charset="0"/>
              </a:rPr>
              <a:t>Kada</a:t>
            </a:r>
            <a:r>
              <a:rPr lang="en-US" b="0" i="0" dirty="0">
                <a:solidFill>
                  <a:srgbClr val="333333"/>
                </a:solidFill>
                <a:effectLst/>
                <a:latin typeface="Verdana" panose="020B0604030504040204" pitchFamily="34" charset="0"/>
              </a:rPr>
              <a:t> je </a:t>
            </a:r>
            <a:r>
              <a:rPr lang="en-US" b="0" i="0" dirty="0" err="1">
                <a:solidFill>
                  <a:srgbClr val="333333"/>
                </a:solidFill>
                <a:effectLst/>
                <a:latin typeface="Verdana" panose="020B0604030504040204" pitchFamily="34" charset="0"/>
              </a:rPr>
              <a:t>dirigent</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ostao</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sam</a:t>
            </a:r>
            <a:r>
              <a:rPr lang="en-US" b="0" i="0" dirty="0">
                <a:solidFill>
                  <a:srgbClr val="333333"/>
                </a:solidFill>
                <a:effectLst/>
                <a:latin typeface="Verdana" panose="020B0604030504040204" pitchFamily="34" charset="0"/>
              </a:rPr>
              <a:t>, </a:t>
            </a:r>
            <a:r>
              <a:rPr lang="sr-Latn-RS" b="0" i="0" dirty="0">
                <a:solidFill>
                  <a:srgbClr val="333333"/>
                </a:solidFill>
                <a:effectLst/>
                <a:latin typeface="Verdana" panose="020B0604030504040204" pitchFamily="34" charset="0"/>
              </a:rPr>
              <a:t>grof Esterhazi je p</a:t>
            </a:r>
            <a:r>
              <a:rPr lang="en-US" b="0" i="0" dirty="0" err="1">
                <a:solidFill>
                  <a:srgbClr val="333333"/>
                </a:solidFill>
                <a:effectLst/>
                <a:latin typeface="Verdana" panose="020B0604030504040204" pitchFamily="34" charset="0"/>
              </a:rPr>
              <a:t>rišao</a:t>
            </a:r>
            <a:r>
              <a:rPr lang="en-US" b="0" i="0" dirty="0">
                <a:solidFill>
                  <a:srgbClr val="333333"/>
                </a:solidFill>
                <a:effectLst/>
                <a:latin typeface="Verdana" panose="020B0604030504040204" pitchFamily="34" charset="0"/>
              </a:rPr>
              <a:t> je </a:t>
            </a:r>
            <a:r>
              <a:rPr lang="en-US" b="0" i="0" dirty="0" err="1">
                <a:solidFill>
                  <a:srgbClr val="333333"/>
                </a:solidFill>
                <a:effectLst/>
                <a:latin typeface="Verdana" panose="020B0604030504040204" pitchFamily="34" charset="0"/>
              </a:rPr>
              <a:t>Hajdnu</a:t>
            </a:r>
            <a:r>
              <a:rPr lang="en-US" b="0" i="0" dirty="0">
                <a:solidFill>
                  <a:srgbClr val="333333"/>
                </a:solidFill>
                <a:effectLst/>
                <a:latin typeface="Verdana" panose="020B0604030504040204" pitchFamily="34" charset="0"/>
              </a:rPr>
              <a:t> i </a:t>
            </a:r>
            <a:r>
              <a:rPr lang="en-US" b="0" i="0" dirty="0" err="1">
                <a:solidFill>
                  <a:srgbClr val="333333"/>
                </a:solidFill>
                <a:effectLst/>
                <a:latin typeface="Verdana" panose="020B0604030504040204" pitchFamily="34" charset="0"/>
              </a:rPr>
              <a:t>rekao</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Shvatio</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sam</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vašu</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poruku</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Muzičari</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žele</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kući</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Neka</a:t>
            </a:r>
            <a:r>
              <a:rPr lang="en-US" b="0" i="0" dirty="0">
                <a:solidFill>
                  <a:srgbClr val="333333"/>
                </a:solidFill>
                <a:effectLst/>
                <a:latin typeface="Verdana" panose="020B0604030504040204" pitchFamily="34" charset="0"/>
              </a:rPr>
              <a:t> </a:t>
            </a:r>
            <a:r>
              <a:rPr lang="en-US" b="0" i="0" dirty="0" err="1">
                <a:solidFill>
                  <a:srgbClr val="333333"/>
                </a:solidFill>
                <a:effectLst/>
                <a:latin typeface="Verdana" panose="020B0604030504040204" pitchFamily="34" charset="0"/>
              </a:rPr>
              <a:t>bude</a:t>
            </a:r>
            <a:r>
              <a:rPr lang="en-US" b="0" i="0" dirty="0">
                <a:solidFill>
                  <a:srgbClr val="333333"/>
                </a:solidFill>
                <a:effectLst/>
                <a:latin typeface="Verdana" panose="020B0604030504040204" pitchFamily="34" charset="0"/>
              </a:rPr>
              <a:t>! Sutra </a:t>
            </a:r>
            <a:r>
              <a:rPr lang="en-US" b="0" i="0" dirty="0" err="1">
                <a:solidFill>
                  <a:srgbClr val="333333"/>
                </a:solidFill>
                <a:effectLst/>
                <a:latin typeface="Verdana" panose="020B0604030504040204" pitchFamily="34" charset="0"/>
              </a:rPr>
              <a:t>putujemo</a:t>
            </a:r>
            <a:r>
              <a:rPr lang="en-US" b="0" i="0" dirty="0">
                <a:solidFill>
                  <a:srgbClr val="333333"/>
                </a:solidFill>
                <a:effectLst/>
                <a:latin typeface="Verdana" panose="020B0604030504040204" pitchFamily="34" charset="0"/>
              </a:rPr>
              <a:t>.“</a:t>
            </a:r>
            <a:endParaRPr lang="en-US" dirty="0"/>
          </a:p>
          <a:p>
            <a:endParaRPr lang="sr-Latn-RS" dirty="0"/>
          </a:p>
        </p:txBody>
      </p:sp>
      <p:sp>
        <p:nvSpPr>
          <p:cNvPr id="4" name="Slide Number Placeholder 3"/>
          <p:cNvSpPr>
            <a:spLocks noGrp="1"/>
          </p:cNvSpPr>
          <p:nvPr>
            <p:ph type="sldNum" sz="quarter" idx="5"/>
          </p:nvPr>
        </p:nvSpPr>
        <p:spPr/>
        <p:txBody>
          <a:bodyPr/>
          <a:lstStyle/>
          <a:p>
            <a:fld id="{8A04E8E9-E37E-46A6-969A-F44E626C6E2C}" type="slidenum">
              <a:rPr lang="en-US" altLang="en-US" smtClean="0"/>
              <a:pPr/>
              <a:t>51</a:t>
            </a:fld>
            <a:endParaRPr lang="en-US" altLang="en-US"/>
          </a:p>
        </p:txBody>
      </p:sp>
    </p:spTree>
    <p:extLst>
      <p:ext uri="{BB962C8B-B14F-4D97-AF65-F5344CB8AC3E}">
        <p14:creationId xmlns:p14="http://schemas.microsoft.com/office/powerpoint/2010/main" val="1292271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2" name="Group 1026">
            <a:extLst>
              <a:ext uri="{FF2B5EF4-FFF2-40B4-BE49-F238E27FC236}">
                <a16:creationId xmlns:a16="http://schemas.microsoft.com/office/drawing/2014/main" id="{CAD34DB0-46B5-1596-CE2F-CB5F205F3566}"/>
              </a:ext>
            </a:extLst>
          </p:cNvPr>
          <p:cNvGrpSpPr>
            <a:grpSpLocks/>
          </p:cNvGrpSpPr>
          <p:nvPr/>
        </p:nvGrpSpPr>
        <p:grpSpPr bwMode="auto">
          <a:xfrm>
            <a:off x="0" y="0"/>
            <a:ext cx="9144000" cy="6858000"/>
            <a:chOff x="0" y="0"/>
            <a:chExt cx="5760" cy="4320"/>
          </a:xfrm>
        </p:grpSpPr>
        <p:sp>
          <p:nvSpPr>
            <p:cNvPr id="3" name="Rectangle 1027">
              <a:extLst>
                <a:ext uri="{FF2B5EF4-FFF2-40B4-BE49-F238E27FC236}">
                  <a16:creationId xmlns:a16="http://schemas.microsoft.com/office/drawing/2014/main" id="{84E003BF-6A41-CD91-20BD-E538259FFEFC}"/>
                </a:ext>
              </a:extLst>
            </p:cNvPr>
            <p:cNvSpPr>
              <a:spLocks noChangeArrowheads="1"/>
            </p:cNvSpPr>
            <p:nvPr/>
          </p:nvSpPr>
          <p:spPr bwMode="hidden">
            <a:xfrm>
              <a:off x="0" y="0"/>
              <a:ext cx="5760" cy="535"/>
            </a:xfrm>
            <a:prstGeom prst="rect">
              <a:avLst/>
            </a:prstGeom>
            <a:gradFill rotWithShape="0">
              <a:gsLst>
                <a:gs pos="0">
                  <a:schemeClr val="folHlink"/>
                </a:gs>
                <a:gs pos="100000">
                  <a:schemeClr val="bg1"/>
                </a:gs>
              </a:gsLst>
              <a:lin ang="5400000" scaled="1"/>
            </a:gradFill>
            <a:ln>
              <a:noFill/>
            </a:ln>
            <a:effectLst/>
          </p:spPr>
          <p:txBody>
            <a:bodyPr wrap="none" anchor="ctr"/>
            <a:lstStyle/>
            <a:p>
              <a:pPr>
                <a:defRPr/>
              </a:pPr>
              <a:endParaRPr lang="en-US"/>
            </a:p>
          </p:txBody>
        </p:sp>
        <p:sp>
          <p:nvSpPr>
            <p:cNvPr id="4" name="Rectangle 1028">
              <a:extLst>
                <a:ext uri="{FF2B5EF4-FFF2-40B4-BE49-F238E27FC236}">
                  <a16:creationId xmlns:a16="http://schemas.microsoft.com/office/drawing/2014/main" id="{6E70999E-4E28-F884-9E98-C1B8CA93A48E}"/>
                </a:ext>
              </a:extLst>
            </p:cNvPr>
            <p:cNvSpPr>
              <a:spLocks noChangeArrowheads="1"/>
            </p:cNvSpPr>
            <p:nvPr/>
          </p:nvSpPr>
          <p:spPr bwMode="hidden">
            <a:xfrm>
              <a:off x="0" y="3147"/>
              <a:ext cx="5760" cy="1173"/>
            </a:xfrm>
            <a:prstGeom prst="rect">
              <a:avLst/>
            </a:prstGeom>
            <a:gradFill rotWithShape="0">
              <a:gsLst>
                <a:gs pos="0">
                  <a:schemeClr val="bg1"/>
                </a:gs>
                <a:gs pos="100000">
                  <a:schemeClr val="folHlink"/>
                </a:gs>
              </a:gsLst>
              <a:lin ang="5400000" scaled="1"/>
            </a:gradFill>
            <a:ln>
              <a:noFill/>
            </a:ln>
          </p:spPr>
          <p:txBody>
            <a:bodyPr wrap="none" anchor="ctr"/>
            <a:lstStyle/>
            <a:p>
              <a:pPr>
                <a:defRPr/>
              </a:pPr>
              <a:endParaRPr lang="en-US"/>
            </a:p>
          </p:txBody>
        </p:sp>
      </p:grpSp>
      <p:sp>
        <p:nvSpPr>
          <p:cNvPr id="5" name="AutoShape 1034">
            <a:extLst>
              <a:ext uri="{FF2B5EF4-FFF2-40B4-BE49-F238E27FC236}">
                <a16:creationId xmlns:a16="http://schemas.microsoft.com/office/drawing/2014/main" id="{1BF87177-01D3-43DB-6FEA-F4D8ED1CCDEB}"/>
              </a:ext>
            </a:extLst>
          </p:cNvPr>
          <p:cNvSpPr>
            <a:spLocks noChangeArrowheads="1"/>
          </p:cNvSpPr>
          <p:nvPr/>
        </p:nvSpPr>
        <p:spPr bwMode="auto">
          <a:xfrm flipH="1">
            <a:off x="381000" y="2949575"/>
            <a:ext cx="8763000" cy="430213"/>
          </a:xfrm>
          <a:prstGeom prst="homePlate">
            <a:avLst>
              <a:gd name="adj" fmla="val 0"/>
            </a:avLst>
          </a:prstGeom>
          <a:gradFill rotWithShape="0">
            <a:gsLst>
              <a:gs pos="0">
                <a:schemeClr val="bg2"/>
              </a:gs>
              <a:gs pos="50000">
                <a:schemeClr val="folHlink"/>
              </a:gs>
              <a:gs pos="100000">
                <a:schemeClr val="bg2"/>
              </a:gs>
            </a:gsLst>
            <a:lin ang="5400000" scaled="1"/>
          </a:gradFill>
          <a:ln>
            <a:noFill/>
          </a:ln>
          <a:effectLst/>
        </p:spPr>
        <p:txBody>
          <a:bodyPr wrap="none" anchor="ctr"/>
          <a:lstStyle/>
          <a:p>
            <a:pPr>
              <a:defRPr/>
            </a:pPr>
            <a:endParaRPr lang="en-US"/>
          </a:p>
        </p:txBody>
      </p:sp>
      <p:sp>
        <p:nvSpPr>
          <p:cNvPr id="35845" name="Rectangle 1029"/>
          <p:cNvSpPr>
            <a:spLocks noGrp="1" noChangeArrowheads="1"/>
          </p:cNvSpPr>
          <p:nvPr>
            <p:ph type="ctrTitle"/>
          </p:nvPr>
        </p:nvSpPr>
        <p:spPr>
          <a:xfrm>
            <a:off x="304800" y="946150"/>
            <a:ext cx="8534400" cy="1778000"/>
          </a:xfrm>
          <a:noFill/>
        </p:spPr>
        <p:txBody>
          <a:bodyPr lIns="91432" rIns="91432" anchor="b"/>
          <a:lstStyle>
            <a:lvl1pPr>
              <a:defRPr>
                <a:solidFill>
                  <a:schemeClr val="tx1"/>
                </a:solidFill>
                <a:effectLst>
                  <a:outerShdw blurRad="38100" dist="38100" dir="2700000" algn="tl">
                    <a:srgbClr val="C0C0C0"/>
                  </a:outerShdw>
                </a:effectLst>
              </a:defRPr>
            </a:lvl1pPr>
          </a:lstStyle>
          <a:p>
            <a:pPr lvl="0"/>
            <a:r>
              <a:rPr lang="en-US" altLang="en-US" noProof="0"/>
              <a:t>Click to edit Master title style</a:t>
            </a:r>
          </a:p>
        </p:txBody>
      </p:sp>
      <p:sp>
        <p:nvSpPr>
          <p:cNvPr id="35846" name="Rectangle 1030"/>
          <p:cNvSpPr>
            <a:spLocks noGrp="1" noChangeArrowheads="1"/>
          </p:cNvSpPr>
          <p:nvPr>
            <p:ph type="subTitle" idx="1"/>
          </p:nvPr>
        </p:nvSpPr>
        <p:spPr>
          <a:xfrm>
            <a:off x="381000" y="3524250"/>
            <a:ext cx="8458200" cy="2587625"/>
          </a:xfrm>
        </p:spPr>
        <p:txBody>
          <a:bodyPr lIns="91432" tIns="45716" rIns="91432" bIns="45716"/>
          <a:lstStyle>
            <a:lvl1pPr marL="0" indent="0" algn="ctr">
              <a:buFont typeface="Wingdings 2" pitchFamily="18" charset="2"/>
              <a:buNone/>
              <a:defRPr/>
            </a:lvl1pPr>
          </a:lstStyle>
          <a:p>
            <a:pPr lvl="0"/>
            <a:r>
              <a:rPr lang="en-US" altLang="en-US" noProof="0"/>
              <a:t>Click to edit Master subtitle style</a:t>
            </a:r>
          </a:p>
        </p:txBody>
      </p:sp>
      <p:sp>
        <p:nvSpPr>
          <p:cNvPr id="6" name="Rectangle 1031">
            <a:extLst>
              <a:ext uri="{FF2B5EF4-FFF2-40B4-BE49-F238E27FC236}">
                <a16:creationId xmlns:a16="http://schemas.microsoft.com/office/drawing/2014/main" id="{281BE836-3CD3-EF4A-C1EA-FF6B44BB710A}"/>
              </a:ext>
            </a:extLst>
          </p:cNvPr>
          <p:cNvSpPr>
            <a:spLocks noGrp="1" noChangeArrowheads="1"/>
          </p:cNvSpPr>
          <p:nvPr>
            <p:ph type="dt" sz="half" idx="10"/>
          </p:nvPr>
        </p:nvSpPr>
        <p:spPr bwMode="auto">
          <a:xfrm>
            <a:off x="1295400" y="6248400"/>
            <a:ext cx="1905000" cy="457200"/>
          </a:xfrm>
          <a:prstGeom prst="rect">
            <a:avLst/>
          </a:prstGeom>
        </p:spPr>
        <p:txBody>
          <a:bodyPr vert="horz" wrap="square" lIns="91432" tIns="45716" rIns="91432" bIns="45716" numCol="1" anchor="t" anchorCtr="0" compatLnSpc="1">
            <a:prstTxWarp prst="textNoShape">
              <a:avLst/>
            </a:prstTxWarp>
          </a:bodyPr>
          <a:lstStyle>
            <a:lvl1pPr>
              <a:spcBef>
                <a:spcPct val="50000"/>
              </a:spcBef>
              <a:defRPr sz="1400">
                <a:solidFill>
                  <a:srgbClr val="FFFFFF"/>
                </a:solidFill>
                <a:effectLst/>
                <a:latin typeface="Arial Narrow" pitchFamily="34" charset="0"/>
              </a:defRPr>
            </a:lvl1pPr>
          </a:lstStyle>
          <a:p>
            <a:pPr>
              <a:defRPr/>
            </a:pPr>
            <a:endParaRPr lang="en-US" altLang="en-US"/>
          </a:p>
        </p:txBody>
      </p:sp>
      <p:sp>
        <p:nvSpPr>
          <p:cNvPr id="7" name="Rectangle 1032">
            <a:extLst>
              <a:ext uri="{FF2B5EF4-FFF2-40B4-BE49-F238E27FC236}">
                <a16:creationId xmlns:a16="http://schemas.microsoft.com/office/drawing/2014/main" id="{6DE13407-DB14-FA81-92F8-F084BB336880}"/>
              </a:ext>
            </a:extLst>
          </p:cNvPr>
          <p:cNvSpPr>
            <a:spLocks noGrp="1" noChangeArrowheads="1"/>
          </p:cNvSpPr>
          <p:nvPr>
            <p:ph type="ftr" sz="quarter" idx="11"/>
          </p:nvPr>
        </p:nvSpPr>
        <p:spPr bwMode="auto">
          <a:xfrm>
            <a:off x="3733800" y="6248400"/>
            <a:ext cx="2895600" cy="457200"/>
          </a:xfrm>
          <a:prstGeom prst="rect">
            <a:avLst/>
          </a:prstGeom>
        </p:spPr>
        <p:txBody>
          <a:bodyPr vert="horz" wrap="square" lIns="91432" tIns="45716" rIns="91432" bIns="45716" numCol="1" anchor="t" anchorCtr="0" compatLnSpc="1">
            <a:prstTxWarp prst="textNoShape">
              <a:avLst/>
            </a:prstTxWarp>
          </a:bodyPr>
          <a:lstStyle>
            <a:lvl1pPr algn="ctr">
              <a:spcBef>
                <a:spcPct val="50000"/>
              </a:spcBef>
              <a:defRPr sz="1400">
                <a:solidFill>
                  <a:srgbClr val="FFFFFF"/>
                </a:solidFill>
                <a:effectLst/>
                <a:latin typeface="Arial Narrow" pitchFamily="34" charset="0"/>
              </a:defRPr>
            </a:lvl1pPr>
          </a:lstStyle>
          <a:p>
            <a:pPr>
              <a:defRPr/>
            </a:pPr>
            <a:endParaRPr lang="en-US" altLang="en-US"/>
          </a:p>
        </p:txBody>
      </p:sp>
      <p:sp>
        <p:nvSpPr>
          <p:cNvPr id="8" name="Rectangle 1033">
            <a:extLst>
              <a:ext uri="{FF2B5EF4-FFF2-40B4-BE49-F238E27FC236}">
                <a16:creationId xmlns:a16="http://schemas.microsoft.com/office/drawing/2014/main" id="{1E527DE5-33B1-5C2E-65B3-25D48A5E2123}"/>
              </a:ext>
            </a:extLst>
          </p:cNvPr>
          <p:cNvSpPr>
            <a:spLocks noGrp="1" noChangeArrowheads="1"/>
          </p:cNvSpPr>
          <p:nvPr>
            <p:ph type="sldNum" sz="quarter" idx="12"/>
          </p:nvPr>
        </p:nvSpPr>
        <p:spPr>
          <a:xfrm>
            <a:off x="0" y="6400800"/>
            <a:ext cx="457200" cy="381000"/>
          </a:xfrm>
        </p:spPr>
        <p:txBody>
          <a:bodyPr/>
          <a:lstStyle>
            <a:lvl1pPr>
              <a:defRPr>
                <a:solidFill>
                  <a:srgbClr val="FFFFFF"/>
                </a:solidFill>
              </a:defRPr>
            </a:lvl1pPr>
          </a:lstStyle>
          <a:p>
            <a:fld id="{C7EDEA3C-4BC6-4C7D-8F5D-2B49CD7F5194}" type="slidenum">
              <a:rPr lang="en-US" altLang="en-US"/>
              <a:pPr/>
              <a:t>‹#›</a:t>
            </a:fld>
            <a:endParaRPr lang="en-US" altLang="en-US"/>
          </a:p>
        </p:txBody>
      </p:sp>
    </p:spTree>
    <p:extLst>
      <p:ext uri="{BB962C8B-B14F-4D97-AF65-F5344CB8AC3E}">
        <p14:creationId xmlns:p14="http://schemas.microsoft.com/office/powerpoint/2010/main" val="4071366037"/>
      </p:ext>
    </p:extLst>
  </p:cSld>
  <p:clrMapOvr>
    <a:masterClrMapping/>
  </p:clrMapOvr>
  <p:transition>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8">
            <a:extLst>
              <a:ext uri="{FF2B5EF4-FFF2-40B4-BE49-F238E27FC236}">
                <a16:creationId xmlns:a16="http://schemas.microsoft.com/office/drawing/2014/main" id="{B957F598-4D29-801D-177D-B022173D7B3D}"/>
              </a:ext>
            </a:extLst>
          </p:cNvPr>
          <p:cNvSpPr>
            <a:spLocks noGrp="1" noChangeArrowheads="1"/>
          </p:cNvSpPr>
          <p:nvPr>
            <p:ph type="sldNum" sz="quarter" idx="10"/>
          </p:nvPr>
        </p:nvSpPr>
        <p:spPr>
          <a:ln/>
        </p:spPr>
        <p:txBody>
          <a:bodyPr/>
          <a:lstStyle>
            <a:lvl1pPr>
              <a:defRPr/>
            </a:lvl1pPr>
          </a:lstStyle>
          <a:p>
            <a:fld id="{F65A9488-27C1-46D8-9AC6-B003E3D7EA22}" type="slidenum">
              <a:rPr lang="en-US" altLang="en-US"/>
              <a:pPr/>
              <a:t>‹#›</a:t>
            </a:fld>
            <a:endParaRPr lang="en-US" altLang="en-US"/>
          </a:p>
        </p:txBody>
      </p:sp>
    </p:spTree>
    <p:extLst>
      <p:ext uri="{BB962C8B-B14F-4D97-AF65-F5344CB8AC3E}">
        <p14:creationId xmlns:p14="http://schemas.microsoft.com/office/powerpoint/2010/main" val="428628521"/>
      </p:ext>
    </p:extLst>
  </p:cSld>
  <p:clrMapOvr>
    <a:masterClrMapping/>
  </p:clrMapOvr>
  <p:transition>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8">
            <a:extLst>
              <a:ext uri="{FF2B5EF4-FFF2-40B4-BE49-F238E27FC236}">
                <a16:creationId xmlns:a16="http://schemas.microsoft.com/office/drawing/2014/main" id="{9FE2EC34-A0DB-76AF-8949-E2FB33539C8A}"/>
              </a:ext>
            </a:extLst>
          </p:cNvPr>
          <p:cNvSpPr>
            <a:spLocks noGrp="1" noChangeArrowheads="1"/>
          </p:cNvSpPr>
          <p:nvPr>
            <p:ph type="sldNum" sz="quarter" idx="10"/>
          </p:nvPr>
        </p:nvSpPr>
        <p:spPr>
          <a:ln/>
        </p:spPr>
        <p:txBody>
          <a:bodyPr/>
          <a:lstStyle>
            <a:lvl1pPr>
              <a:defRPr/>
            </a:lvl1pPr>
          </a:lstStyle>
          <a:p>
            <a:fld id="{ED2F610E-B451-43EE-AB1F-0195E4196695}" type="slidenum">
              <a:rPr lang="en-US" altLang="en-US"/>
              <a:pPr/>
              <a:t>‹#›</a:t>
            </a:fld>
            <a:endParaRPr lang="en-US" altLang="en-US"/>
          </a:p>
        </p:txBody>
      </p:sp>
    </p:spTree>
    <p:extLst>
      <p:ext uri="{BB962C8B-B14F-4D97-AF65-F5344CB8AC3E}">
        <p14:creationId xmlns:p14="http://schemas.microsoft.com/office/powerpoint/2010/main" val="3155490376"/>
      </p:ext>
    </p:extLst>
  </p:cSld>
  <p:clrMapOvr>
    <a:masterClrMapping/>
  </p:clrMapOvr>
  <p:transition>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0" y="708025"/>
            <a:ext cx="4495800" cy="6149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708025"/>
            <a:ext cx="4495800" cy="6149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8">
            <a:extLst>
              <a:ext uri="{FF2B5EF4-FFF2-40B4-BE49-F238E27FC236}">
                <a16:creationId xmlns:a16="http://schemas.microsoft.com/office/drawing/2014/main" id="{C836C8E7-E7EF-F913-F289-DAF1B9E81553}"/>
              </a:ext>
            </a:extLst>
          </p:cNvPr>
          <p:cNvSpPr>
            <a:spLocks noGrp="1" noChangeArrowheads="1"/>
          </p:cNvSpPr>
          <p:nvPr>
            <p:ph type="sldNum" sz="quarter" idx="10"/>
          </p:nvPr>
        </p:nvSpPr>
        <p:spPr>
          <a:ln/>
        </p:spPr>
        <p:txBody>
          <a:bodyPr/>
          <a:lstStyle>
            <a:lvl1pPr>
              <a:defRPr/>
            </a:lvl1pPr>
          </a:lstStyle>
          <a:p>
            <a:fld id="{65D7F161-4E85-4B9A-9F14-E93E3CBC8047}" type="slidenum">
              <a:rPr lang="en-US" altLang="en-US"/>
              <a:pPr/>
              <a:t>‹#›</a:t>
            </a:fld>
            <a:endParaRPr lang="en-US" altLang="en-US"/>
          </a:p>
        </p:txBody>
      </p:sp>
    </p:spTree>
    <p:extLst>
      <p:ext uri="{BB962C8B-B14F-4D97-AF65-F5344CB8AC3E}">
        <p14:creationId xmlns:p14="http://schemas.microsoft.com/office/powerpoint/2010/main" val="165711860"/>
      </p:ext>
    </p:extLst>
  </p:cSld>
  <p:clrMapOvr>
    <a:masterClrMapping/>
  </p:clrMapOvr>
  <p:transition>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8">
            <a:extLst>
              <a:ext uri="{FF2B5EF4-FFF2-40B4-BE49-F238E27FC236}">
                <a16:creationId xmlns:a16="http://schemas.microsoft.com/office/drawing/2014/main" id="{D01532D9-A17A-FB94-5DA0-5CD6EC9C6B3A}"/>
              </a:ext>
            </a:extLst>
          </p:cNvPr>
          <p:cNvSpPr>
            <a:spLocks noGrp="1" noChangeArrowheads="1"/>
          </p:cNvSpPr>
          <p:nvPr>
            <p:ph type="sldNum" sz="quarter" idx="10"/>
          </p:nvPr>
        </p:nvSpPr>
        <p:spPr>
          <a:ln/>
        </p:spPr>
        <p:txBody>
          <a:bodyPr/>
          <a:lstStyle>
            <a:lvl1pPr>
              <a:defRPr/>
            </a:lvl1pPr>
          </a:lstStyle>
          <a:p>
            <a:fld id="{ECEF7681-962A-4935-AA3A-E9AF003EF634}" type="slidenum">
              <a:rPr lang="en-US" altLang="en-US"/>
              <a:pPr/>
              <a:t>‹#›</a:t>
            </a:fld>
            <a:endParaRPr lang="en-US" altLang="en-US"/>
          </a:p>
        </p:txBody>
      </p:sp>
    </p:spTree>
    <p:extLst>
      <p:ext uri="{BB962C8B-B14F-4D97-AF65-F5344CB8AC3E}">
        <p14:creationId xmlns:p14="http://schemas.microsoft.com/office/powerpoint/2010/main" val="223193235"/>
      </p:ext>
    </p:extLst>
  </p:cSld>
  <p:clrMapOvr>
    <a:masterClrMapping/>
  </p:clrMapOvr>
  <p:transition>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8">
            <a:extLst>
              <a:ext uri="{FF2B5EF4-FFF2-40B4-BE49-F238E27FC236}">
                <a16:creationId xmlns:a16="http://schemas.microsoft.com/office/drawing/2014/main" id="{06F2F805-777E-4CA1-F522-5C8C25361015}"/>
              </a:ext>
            </a:extLst>
          </p:cNvPr>
          <p:cNvSpPr>
            <a:spLocks noGrp="1" noChangeArrowheads="1"/>
          </p:cNvSpPr>
          <p:nvPr>
            <p:ph type="sldNum" sz="quarter" idx="10"/>
          </p:nvPr>
        </p:nvSpPr>
        <p:spPr>
          <a:ln/>
        </p:spPr>
        <p:txBody>
          <a:bodyPr/>
          <a:lstStyle>
            <a:lvl1pPr>
              <a:defRPr/>
            </a:lvl1pPr>
          </a:lstStyle>
          <a:p>
            <a:fld id="{3D886C75-D358-46CB-AD4A-8C8644D742B8}" type="slidenum">
              <a:rPr lang="en-US" altLang="en-US"/>
              <a:pPr/>
              <a:t>‹#›</a:t>
            </a:fld>
            <a:endParaRPr lang="en-US" altLang="en-US"/>
          </a:p>
        </p:txBody>
      </p:sp>
    </p:spTree>
    <p:extLst>
      <p:ext uri="{BB962C8B-B14F-4D97-AF65-F5344CB8AC3E}">
        <p14:creationId xmlns:p14="http://schemas.microsoft.com/office/powerpoint/2010/main" val="1918650972"/>
      </p:ext>
    </p:extLst>
  </p:cSld>
  <p:clrMapOvr>
    <a:masterClrMapping/>
  </p:clrMapOvr>
  <p:transition>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8">
            <a:extLst>
              <a:ext uri="{FF2B5EF4-FFF2-40B4-BE49-F238E27FC236}">
                <a16:creationId xmlns:a16="http://schemas.microsoft.com/office/drawing/2014/main" id="{9A4A7321-D437-7DE7-5826-6B23F04E8489}"/>
              </a:ext>
            </a:extLst>
          </p:cNvPr>
          <p:cNvSpPr>
            <a:spLocks noGrp="1" noChangeArrowheads="1"/>
          </p:cNvSpPr>
          <p:nvPr>
            <p:ph type="sldNum" sz="quarter" idx="10"/>
          </p:nvPr>
        </p:nvSpPr>
        <p:spPr>
          <a:ln/>
        </p:spPr>
        <p:txBody>
          <a:bodyPr/>
          <a:lstStyle>
            <a:lvl1pPr>
              <a:defRPr/>
            </a:lvl1pPr>
          </a:lstStyle>
          <a:p>
            <a:fld id="{106BFE72-8835-4144-A70F-BC770A063AF6}" type="slidenum">
              <a:rPr lang="en-US" altLang="en-US"/>
              <a:pPr/>
              <a:t>‹#›</a:t>
            </a:fld>
            <a:endParaRPr lang="en-US" altLang="en-US"/>
          </a:p>
        </p:txBody>
      </p:sp>
    </p:spTree>
    <p:extLst>
      <p:ext uri="{BB962C8B-B14F-4D97-AF65-F5344CB8AC3E}">
        <p14:creationId xmlns:p14="http://schemas.microsoft.com/office/powerpoint/2010/main" val="3553829845"/>
      </p:ext>
    </p:extLst>
  </p:cSld>
  <p:clrMapOvr>
    <a:masterClrMapping/>
  </p:clrMapOvr>
  <p:transition>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8">
            <a:extLst>
              <a:ext uri="{FF2B5EF4-FFF2-40B4-BE49-F238E27FC236}">
                <a16:creationId xmlns:a16="http://schemas.microsoft.com/office/drawing/2014/main" id="{96362562-A6F7-039C-E465-D8418F3D6A80}"/>
              </a:ext>
            </a:extLst>
          </p:cNvPr>
          <p:cNvSpPr>
            <a:spLocks noGrp="1" noChangeArrowheads="1"/>
          </p:cNvSpPr>
          <p:nvPr>
            <p:ph type="sldNum" sz="quarter" idx="10"/>
          </p:nvPr>
        </p:nvSpPr>
        <p:spPr>
          <a:ln/>
        </p:spPr>
        <p:txBody>
          <a:bodyPr/>
          <a:lstStyle>
            <a:lvl1pPr>
              <a:defRPr/>
            </a:lvl1pPr>
          </a:lstStyle>
          <a:p>
            <a:fld id="{78DF52D2-E7CE-456C-B023-AB8051DCF651}" type="slidenum">
              <a:rPr lang="en-US" altLang="en-US"/>
              <a:pPr/>
              <a:t>‹#›</a:t>
            </a:fld>
            <a:endParaRPr lang="en-US" altLang="en-US"/>
          </a:p>
        </p:txBody>
      </p:sp>
    </p:spTree>
    <p:extLst>
      <p:ext uri="{BB962C8B-B14F-4D97-AF65-F5344CB8AC3E}">
        <p14:creationId xmlns:p14="http://schemas.microsoft.com/office/powerpoint/2010/main" val="935117442"/>
      </p:ext>
    </p:extLst>
  </p:cSld>
  <p:clrMapOvr>
    <a:masterClrMapping/>
  </p:clrMapOvr>
  <p:transition>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8">
            <a:extLst>
              <a:ext uri="{FF2B5EF4-FFF2-40B4-BE49-F238E27FC236}">
                <a16:creationId xmlns:a16="http://schemas.microsoft.com/office/drawing/2014/main" id="{07521819-3F8D-9C2F-1058-F728C4BD7FCB}"/>
              </a:ext>
            </a:extLst>
          </p:cNvPr>
          <p:cNvSpPr>
            <a:spLocks noGrp="1" noChangeArrowheads="1"/>
          </p:cNvSpPr>
          <p:nvPr>
            <p:ph type="sldNum" sz="quarter" idx="10"/>
          </p:nvPr>
        </p:nvSpPr>
        <p:spPr>
          <a:ln/>
        </p:spPr>
        <p:txBody>
          <a:bodyPr/>
          <a:lstStyle>
            <a:lvl1pPr>
              <a:defRPr/>
            </a:lvl1pPr>
          </a:lstStyle>
          <a:p>
            <a:fld id="{D971982B-A6BA-4DC9-9F1B-BA8144CCF3B6}" type="slidenum">
              <a:rPr lang="en-US" altLang="en-US"/>
              <a:pPr/>
              <a:t>‹#›</a:t>
            </a:fld>
            <a:endParaRPr lang="en-US" altLang="en-US"/>
          </a:p>
        </p:txBody>
      </p:sp>
    </p:spTree>
    <p:extLst>
      <p:ext uri="{BB962C8B-B14F-4D97-AF65-F5344CB8AC3E}">
        <p14:creationId xmlns:p14="http://schemas.microsoft.com/office/powerpoint/2010/main" val="1724782814"/>
      </p:ext>
    </p:extLst>
  </p:cSld>
  <p:clrMapOvr>
    <a:masterClrMapping/>
  </p:clrMapOvr>
  <p:transition>
    <p:pull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8">
            <a:extLst>
              <a:ext uri="{FF2B5EF4-FFF2-40B4-BE49-F238E27FC236}">
                <a16:creationId xmlns:a16="http://schemas.microsoft.com/office/drawing/2014/main" id="{ED606935-3A07-DB27-8F1D-E21ED2056D2C}"/>
              </a:ext>
            </a:extLst>
          </p:cNvPr>
          <p:cNvSpPr>
            <a:spLocks noGrp="1" noChangeArrowheads="1"/>
          </p:cNvSpPr>
          <p:nvPr>
            <p:ph type="sldNum" sz="quarter" idx="10"/>
          </p:nvPr>
        </p:nvSpPr>
        <p:spPr>
          <a:ln/>
        </p:spPr>
        <p:txBody>
          <a:bodyPr/>
          <a:lstStyle>
            <a:lvl1pPr>
              <a:defRPr/>
            </a:lvl1pPr>
          </a:lstStyle>
          <a:p>
            <a:fld id="{903F5F51-CD57-4A7C-9B2A-088E06A2BD51}" type="slidenum">
              <a:rPr lang="en-US" altLang="en-US"/>
              <a:pPr/>
              <a:t>‹#›</a:t>
            </a:fld>
            <a:endParaRPr lang="en-US" altLang="en-US"/>
          </a:p>
        </p:txBody>
      </p:sp>
    </p:spTree>
    <p:extLst>
      <p:ext uri="{BB962C8B-B14F-4D97-AF65-F5344CB8AC3E}">
        <p14:creationId xmlns:p14="http://schemas.microsoft.com/office/powerpoint/2010/main" val="292215786"/>
      </p:ext>
    </p:extLst>
  </p:cSld>
  <p:clrMapOvr>
    <a:masterClrMapping/>
  </p:clrMapOvr>
  <p:transition>
    <p:pull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85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85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8">
            <a:extLst>
              <a:ext uri="{FF2B5EF4-FFF2-40B4-BE49-F238E27FC236}">
                <a16:creationId xmlns:a16="http://schemas.microsoft.com/office/drawing/2014/main" id="{43299563-463D-92A1-F119-446C2FFCB634}"/>
              </a:ext>
            </a:extLst>
          </p:cNvPr>
          <p:cNvSpPr>
            <a:spLocks noGrp="1" noChangeArrowheads="1"/>
          </p:cNvSpPr>
          <p:nvPr>
            <p:ph type="sldNum" sz="quarter" idx="10"/>
          </p:nvPr>
        </p:nvSpPr>
        <p:spPr>
          <a:ln/>
        </p:spPr>
        <p:txBody>
          <a:bodyPr/>
          <a:lstStyle>
            <a:lvl1pPr>
              <a:defRPr/>
            </a:lvl1pPr>
          </a:lstStyle>
          <a:p>
            <a:fld id="{72412E5F-0F1D-4ADE-9122-410EA3743908}" type="slidenum">
              <a:rPr lang="en-US" altLang="en-US"/>
              <a:pPr/>
              <a:t>‹#›</a:t>
            </a:fld>
            <a:endParaRPr lang="en-US" altLang="en-US"/>
          </a:p>
        </p:txBody>
      </p:sp>
    </p:spTree>
    <p:extLst>
      <p:ext uri="{BB962C8B-B14F-4D97-AF65-F5344CB8AC3E}">
        <p14:creationId xmlns:p14="http://schemas.microsoft.com/office/powerpoint/2010/main" val="956264670"/>
      </p:ext>
    </p:extLst>
  </p:cSld>
  <p:clrMapOvr>
    <a:masterClrMapping/>
  </p:clrMapOvr>
  <p:transition>
    <p:pull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15BA43C6-B48D-8E8A-F5B4-C1EA2CBF1C07}"/>
              </a:ext>
            </a:extLst>
          </p:cNvPr>
          <p:cNvGrpSpPr>
            <a:grpSpLocks/>
          </p:cNvGrpSpPr>
          <p:nvPr/>
        </p:nvGrpSpPr>
        <p:grpSpPr bwMode="auto">
          <a:xfrm>
            <a:off x="0" y="0"/>
            <a:ext cx="9144000" cy="6858000"/>
            <a:chOff x="0" y="0"/>
            <a:chExt cx="5760" cy="4320"/>
          </a:xfrm>
        </p:grpSpPr>
        <p:sp>
          <p:nvSpPr>
            <p:cNvPr id="3" name="Rectangle 3">
              <a:extLst>
                <a:ext uri="{FF2B5EF4-FFF2-40B4-BE49-F238E27FC236}">
                  <a16:creationId xmlns:a16="http://schemas.microsoft.com/office/drawing/2014/main" id="{1B7F5D59-4F1F-D1BC-912A-748802C529D9}"/>
                </a:ext>
              </a:extLst>
            </p:cNvPr>
            <p:cNvSpPr>
              <a:spLocks noChangeArrowheads="1"/>
            </p:cNvSpPr>
            <p:nvPr/>
          </p:nvSpPr>
          <p:spPr bwMode="hidden">
            <a:xfrm>
              <a:off x="0" y="0"/>
              <a:ext cx="5760" cy="535"/>
            </a:xfrm>
            <a:prstGeom prst="rect">
              <a:avLst/>
            </a:prstGeom>
            <a:gradFill rotWithShape="0">
              <a:gsLst>
                <a:gs pos="0">
                  <a:schemeClr val="folHlink"/>
                </a:gs>
                <a:gs pos="100000">
                  <a:schemeClr val="bg1"/>
                </a:gs>
              </a:gsLst>
              <a:lin ang="5400000" scaled="1"/>
            </a:gradFill>
            <a:ln>
              <a:noFill/>
            </a:ln>
            <a:effectLst/>
          </p:spPr>
          <p:txBody>
            <a:bodyPr wrap="none" anchor="ctr"/>
            <a:lstStyle/>
            <a:p>
              <a:pPr>
                <a:defRPr/>
              </a:pPr>
              <a:endParaRPr lang="en-US"/>
            </a:p>
          </p:txBody>
        </p:sp>
        <p:sp>
          <p:nvSpPr>
            <p:cNvPr id="4" name="Rectangle 4">
              <a:extLst>
                <a:ext uri="{FF2B5EF4-FFF2-40B4-BE49-F238E27FC236}">
                  <a16:creationId xmlns:a16="http://schemas.microsoft.com/office/drawing/2014/main" id="{E64FC327-9239-568A-63B7-E7633C2F1982}"/>
                </a:ext>
              </a:extLst>
            </p:cNvPr>
            <p:cNvSpPr>
              <a:spLocks noChangeArrowheads="1"/>
            </p:cNvSpPr>
            <p:nvPr/>
          </p:nvSpPr>
          <p:spPr bwMode="hidden">
            <a:xfrm>
              <a:off x="0" y="3147"/>
              <a:ext cx="5760" cy="1173"/>
            </a:xfrm>
            <a:prstGeom prst="rect">
              <a:avLst/>
            </a:prstGeom>
            <a:gradFill rotWithShape="0">
              <a:gsLst>
                <a:gs pos="0">
                  <a:schemeClr val="bg1"/>
                </a:gs>
                <a:gs pos="100000">
                  <a:schemeClr val="folHlink"/>
                </a:gs>
              </a:gsLst>
              <a:lin ang="5400000" scaled="1"/>
            </a:gradFill>
            <a:ln>
              <a:noFill/>
            </a:ln>
          </p:spPr>
          <p:txBody>
            <a:bodyPr wrap="none" anchor="ctr"/>
            <a:lstStyle/>
            <a:p>
              <a:pPr>
                <a:defRPr/>
              </a:pPr>
              <a:endParaRPr lang="en-US"/>
            </a:p>
          </p:txBody>
        </p:sp>
      </p:grpSp>
      <p:sp>
        <p:nvSpPr>
          <p:cNvPr id="5" name="AutoShape 10">
            <a:extLst>
              <a:ext uri="{FF2B5EF4-FFF2-40B4-BE49-F238E27FC236}">
                <a16:creationId xmlns:a16="http://schemas.microsoft.com/office/drawing/2014/main" id="{109EEE81-E27A-2253-62D7-86B895AD4486}"/>
              </a:ext>
            </a:extLst>
          </p:cNvPr>
          <p:cNvSpPr>
            <a:spLocks noChangeArrowheads="1"/>
          </p:cNvSpPr>
          <p:nvPr/>
        </p:nvSpPr>
        <p:spPr bwMode="auto">
          <a:xfrm flipH="1">
            <a:off x="381000" y="2949575"/>
            <a:ext cx="8763000" cy="430213"/>
          </a:xfrm>
          <a:prstGeom prst="homePlate">
            <a:avLst>
              <a:gd name="adj" fmla="val 0"/>
            </a:avLst>
          </a:prstGeom>
          <a:gradFill rotWithShape="0">
            <a:gsLst>
              <a:gs pos="0">
                <a:schemeClr val="bg2"/>
              </a:gs>
              <a:gs pos="50000">
                <a:schemeClr val="folHlink"/>
              </a:gs>
              <a:gs pos="100000">
                <a:schemeClr val="bg2"/>
              </a:gs>
            </a:gsLst>
            <a:lin ang="5400000" scaled="1"/>
          </a:gradFill>
          <a:ln>
            <a:noFill/>
          </a:ln>
          <a:effectLst/>
        </p:spPr>
        <p:txBody>
          <a:bodyPr wrap="none" anchor="ctr"/>
          <a:lstStyle/>
          <a:p>
            <a:pPr>
              <a:defRPr/>
            </a:pPr>
            <a:endParaRPr lang="en-US"/>
          </a:p>
        </p:txBody>
      </p:sp>
      <p:sp>
        <p:nvSpPr>
          <p:cNvPr id="74757" name="Rectangle 5"/>
          <p:cNvSpPr>
            <a:spLocks noGrp="1" noChangeArrowheads="1"/>
          </p:cNvSpPr>
          <p:nvPr>
            <p:ph type="ctrTitle"/>
          </p:nvPr>
        </p:nvSpPr>
        <p:spPr>
          <a:xfrm>
            <a:off x="304800" y="946150"/>
            <a:ext cx="8534400" cy="1778000"/>
          </a:xfrm>
          <a:noFill/>
        </p:spPr>
        <p:txBody>
          <a:bodyPr lIns="91432" rIns="91432" anchor="b"/>
          <a:lstStyle>
            <a:lvl1pPr>
              <a:defRPr>
                <a:solidFill>
                  <a:schemeClr val="tx1"/>
                </a:solidFill>
                <a:effectLst>
                  <a:outerShdw blurRad="38100" dist="38100" dir="2700000" algn="tl">
                    <a:srgbClr val="C0C0C0"/>
                  </a:outerShdw>
                </a:effectLst>
              </a:defRPr>
            </a:lvl1pPr>
          </a:lstStyle>
          <a:p>
            <a:pPr lvl="0"/>
            <a:r>
              <a:rPr lang="en-US" altLang="en-US" noProof="0"/>
              <a:t>Click to edit Master title style</a:t>
            </a:r>
          </a:p>
        </p:txBody>
      </p:sp>
      <p:sp>
        <p:nvSpPr>
          <p:cNvPr id="74758" name="Rectangle 6"/>
          <p:cNvSpPr>
            <a:spLocks noGrp="1" noChangeArrowheads="1"/>
          </p:cNvSpPr>
          <p:nvPr>
            <p:ph type="subTitle" idx="1"/>
          </p:nvPr>
        </p:nvSpPr>
        <p:spPr>
          <a:xfrm>
            <a:off x="381000" y="3524250"/>
            <a:ext cx="8458200" cy="2587625"/>
          </a:xfrm>
        </p:spPr>
        <p:txBody>
          <a:bodyPr lIns="91432" tIns="45716" rIns="91432" bIns="45716"/>
          <a:lstStyle>
            <a:lvl1pPr marL="0" indent="0" algn="ctr">
              <a:buFont typeface="Wingdings 2" pitchFamily="18" charset="2"/>
              <a:buNone/>
              <a:defRPr/>
            </a:lvl1pPr>
          </a:lstStyle>
          <a:p>
            <a:pPr lvl="0"/>
            <a:r>
              <a:rPr lang="en-US" altLang="en-US" noProof="0"/>
              <a:t>Click to edit Master subtitle style</a:t>
            </a:r>
          </a:p>
        </p:txBody>
      </p:sp>
      <p:sp>
        <p:nvSpPr>
          <p:cNvPr id="6" name="Date Placeholder 5">
            <a:extLst>
              <a:ext uri="{FF2B5EF4-FFF2-40B4-BE49-F238E27FC236}">
                <a16:creationId xmlns:a16="http://schemas.microsoft.com/office/drawing/2014/main" id="{838EE8BE-7D3A-7EFF-8F6F-180517DA90E9}"/>
              </a:ext>
            </a:extLst>
          </p:cNvPr>
          <p:cNvSpPr>
            <a:spLocks noGrp="1" noChangeArrowheads="1"/>
          </p:cNvSpPr>
          <p:nvPr>
            <p:ph type="dt" sz="half" idx="10"/>
          </p:nvPr>
        </p:nvSpPr>
        <p:spPr bwMode="auto">
          <a:xfrm>
            <a:off x="1295400" y="6248400"/>
            <a:ext cx="1905000" cy="457200"/>
          </a:xfrm>
          <a:prstGeom prst="rect">
            <a:avLst/>
          </a:prstGeom>
        </p:spPr>
        <p:txBody>
          <a:bodyPr vert="horz" wrap="square" lIns="91432" tIns="45716" rIns="91432" bIns="45716" numCol="1" anchor="t" anchorCtr="0" compatLnSpc="1">
            <a:prstTxWarp prst="textNoShape">
              <a:avLst/>
            </a:prstTxWarp>
          </a:bodyPr>
          <a:lstStyle>
            <a:lvl1pPr>
              <a:spcBef>
                <a:spcPct val="50000"/>
              </a:spcBef>
              <a:defRPr sz="1400">
                <a:solidFill>
                  <a:srgbClr val="FFFFFF"/>
                </a:solidFill>
                <a:effectLst/>
                <a:latin typeface="Arial Narrow" pitchFamily="34" charset="0"/>
              </a:defRPr>
            </a:lvl1pPr>
          </a:lstStyle>
          <a:p>
            <a:pPr>
              <a:defRPr/>
            </a:pPr>
            <a:endParaRPr lang="en-US" altLang="en-US"/>
          </a:p>
        </p:txBody>
      </p:sp>
      <p:sp>
        <p:nvSpPr>
          <p:cNvPr id="7" name="Footer Placeholder 6">
            <a:extLst>
              <a:ext uri="{FF2B5EF4-FFF2-40B4-BE49-F238E27FC236}">
                <a16:creationId xmlns:a16="http://schemas.microsoft.com/office/drawing/2014/main" id="{DB3730F6-BE54-48CA-7C96-B716AC2C6293}"/>
              </a:ext>
            </a:extLst>
          </p:cNvPr>
          <p:cNvSpPr>
            <a:spLocks noGrp="1" noChangeArrowheads="1"/>
          </p:cNvSpPr>
          <p:nvPr>
            <p:ph type="ftr" sz="quarter" idx="11"/>
          </p:nvPr>
        </p:nvSpPr>
        <p:spPr bwMode="auto">
          <a:xfrm>
            <a:off x="3733800" y="6248400"/>
            <a:ext cx="2895600" cy="457200"/>
          </a:xfrm>
          <a:prstGeom prst="rect">
            <a:avLst/>
          </a:prstGeom>
        </p:spPr>
        <p:txBody>
          <a:bodyPr vert="horz" wrap="square" lIns="91432" tIns="45716" rIns="91432" bIns="45716" numCol="1" anchor="t" anchorCtr="0" compatLnSpc="1">
            <a:prstTxWarp prst="textNoShape">
              <a:avLst/>
            </a:prstTxWarp>
          </a:bodyPr>
          <a:lstStyle>
            <a:lvl1pPr algn="ctr">
              <a:spcBef>
                <a:spcPct val="50000"/>
              </a:spcBef>
              <a:defRPr sz="1400">
                <a:solidFill>
                  <a:srgbClr val="FFFFFF"/>
                </a:solidFill>
                <a:effectLst/>
                <a:latin typeface="Arial Narrow" pitchFamily="34" charset="0"/>
              </a:defRPr>
            </a:lvl1pPr>
          </a:lstStyle>
          <a:p>
            <a:pPr>
              <a:defRPr/>
            </a:pPr>
            <a:endParaRPr lang="en-US" altLang="en-US"/>
          </a:p>
        </p:txBody>
      </p:sp>
      <p:sp>
        <p:nvSpPr>
          <p:cNvPr id="8" name="Slide Number Placeholder 7">
            <a:extLst>
              <a:ext uri="{FF2B5EF4-FFF2-40B4-BE49-F238E27FC236}">
                <a16:creationId xmlns:a16="http://schemas.microsoft.com/office/drawing/2014/main" id="{268556FA-2ADC-92D6-E04A-916613083FF6}"/>
              </a:ext>
            </a:extLst>
          </p:cNvPr>
          <p:cNvSpPr>
            <a:spLocks noGrp="1" noChangeArrowheads="1"/>
          </p:cNvSpPr>
          <p:nvPr>
            <p:ph type="sldNum" sz="quarter" idx="12"/>
          </p:nvPr>
        </p:nvSpPr>
        <p:spPr>
          <a:xfrm>
            <a:off x="0" y="6400800"/>
            <a:ext cx="457200" cy="381000"/>
          </a:xfrm>
        </p:spPr>
        <p:txBody>
          <a:bodyPr/>
          <a:lstStyle>
            <a:lvl1pPr>
              <a:defRPr>
                <a:solidFill>
                  <a:srgbClr val="FFFFFF"/>
                </a:solidFill>
              </a:defRPr>
            </a:lvl1pPr>
          </a:lstStyle>
          <a:p>
            <a:fld id="{7E8282CC-672D-4738-B4F3-7BBEFD3D9787}" type="slidenum">
              <a:rPr lang="en-US" altLang="en-US"/>
              <a:pPr/>
              <a:t>‹#›</a:t>
            </a:fld>
            <a:endParaRPr lang="en-US" altLang="en-US"/>
          </a:p>
        </p:txBody>
      </p:sp>
    </p:spTree>
    <p:extLst>
      <p:ext uri="{BB962C8B-B14F-4D97-AF65-F5344CB8AC3E}">
        <p14:creationId xmlns:p14="http://schemas.microsoft.com/office/powerpoint/2010/main" val="1019023231"/>
      </p:ext>
    </p:extLst>
  </p:cSld>
  <p:clrMapOvr>
    <a:masterClrMapping/>
  </p:clrMapOvr>
  <p:transition>
    <p:pull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58934F6-0E0D-C3D6-C2A8-D41FE7FDA2C1}"/>
              </a:ext>
            </a:extLst>
          </p:cNvPr>
          <p:cNvSpPr>
            <a:spLocks noGrp="1" noChangeArrowheads="1"/>
          </p:cNvSpPr>
          <p:nvPr>
            <p:ph type="sldNum" sz="quarter" idx="10"/>
          </p:nvPr>
        </p:nvSpPr>
        <p:spPr>
          <a:ln/>
        </p:spPr>
        <p:txBody>
          <a:bodyPr/>
          <a:lstStyle>
            <a:lvl1pPr>
              <a:defRPr/>
            </a:lvl1pPr>
          </a:lstStyle>
          <a:p>
            <a:fld id="{5793E233-F7DF-44BC-A081-9479E69C99F5}" type="slidenum">
              <a:rPr lang="en-US" altLang="en-US"/>
              <a:pPr/>
              <a:t>‹#›</a:t>
            </a:fld>
            <a:endParaRPr lang="en-US" altLang="en-US"/>
          </a:p>
        </p:txBody>
      </p:sp>
    </p:spTree>
    <p:extLst>
      <p:ext uri="{BB962C8B-B14F-4D97-AF65-F5344CB8AC3E}">
        <p14:creationId xmlns:p14="http://schemas.microsoft.com/office/powerpoint/2010/main" val="1716073113"/>
      </p:ext>
    </p:extLst>
  </p:cSld>
  <p:clrMapOvr>
    <a:masterClrMapping/>
  </p:clrMapOvr>
  <p:transition>
    <p:pull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229149E0-9294-E617-C649-552D8AA58FB6}"/>
              </a:ext>
            </a:extLst>
          </p:cNvPr>
          <p:cNvSpPr>
            <a:spLocks noGrp="1" noChangeArrowheads="1"/>
          </p:cNvSpPr>
          <p:nvPr>
            <p:ph type="sldNum" sz="quarter" idx="10"/>
          </p:nvPr>
        </p:nvSpPr>
        <p:spPr>
          <a:ln/>
        </p:spPr>
        <p:txBody>
          <a:bodyPr/>
          <a:lstStyle>
            <a:lvl1pPr>
              <a:defRPr/>
            </a:lvl1pPr>
          </a:lstStyle>
          <a:p>
            <a:fld id="{E739E51E-BAE6-484B-9FB9-45FD3AFB1D25}" type="slidenum">
              <a:rPr lang="en-US" altLang="en-US"/>
              <a:pPr/>
              <a:t>‹#›</a:t>
            </a:fld>
            <a:endParaRPr lang="en-US" altLang="en-US"/>
          </a:p>
        </p:txBody>
      </p:sp>
    </p:spTree>
    <p:extLst>
      <p:ext uri="{BB962C8B-B14F-4D97-AF65-F5344CB8AC3E}">
        <p14:creationId xmlns:p14="http://schemas.microsoft.com/office/powerpoint/2010/main" val="1141478177"/>
      </p:ext>
    </p:extLst>
  </p:cSld>
  <p:clrMapOvr>
    <a:masterClrMapping/>
  </p:clrMapOvr>
  <p:transition>
    <p:pull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0" y="708025"/>
            <a:ext cx="4495800" cy="6149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708025"/>
            <a:ext cx="4495800" cy="6149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7C8C0DDA-6F89-18FF-27F2-634F3C5A7C01}"/>
              </a:ext>
            </a:extLst>
          </p:cNvPr>
          <p:cNvSpPr>
            <a:spLocks noGrp="1" noChangeArrowheads="1"/>
          </p:cNvSpPr>
          <p:nvPr>
            <p:ph type="sldNum" sz="quarter" idx="10"/>
          </p:nvPr>
        </p:nvSpPr>
        <p:spPr>
          <a:ln/>
        </p:spPr>
        <p:txBody>
          <a:bodyPr/>
          <a:lstStyle>
            <a:lvl1pPr>
              <a:defRPr/>
            </a:lvl1pPr>
          </a:lstStyle>
          <a:p>
            <a:fld id="{010C1326-9702-4CDA-BADA-0108910F213E}" type="slidenum">
              <a:rPr lang="en-US" altLang="en-US"/>
              <a:pPr/>
              <a:t>‹#›</a:t>
            </a:fld>
            <a:endParaRPr lang="en-US" altLang="en-US"/>
          </a:p>
        </p:txBody>
      </p:sp>
    </p:spTree>
    <p:extLst>
      <p:ext uri="{BB962C8B-B14F-4D97-AF65-F5344CB8AC3E}">
        <p14:creationId xmlns:p14="http://schemas.microsoft.com/office/powerpoint/2010/main" val="281186525"/>
      </p:ext>
    </p:extLst>
  </p:cSld>
  <p:clrMapOvr>
    <a:masterClrMapping/>
  </p:clrMapOvr>
  <p:transition>
    <p:pull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23ECB502-DDF3-3FE8-518B-C05893DD4B25}"/>
              </a:ext>
            </a:extLst>
          </p:cNvPr>
          <p:cNvSpPr>
            <a:spLocks noGrp="1" noChangeArrowheads="1"/>
          </p:cNvSpPr>
          <p:nvPr>
            <p:ph type="sldNum" sz="quarter" idx="10"/>
          </p:nvPr>
        </p:nvSpPr>
        <p:spPr>
          <a:ln/>
        </p:spPr>
        <p:txBody>
          <a:bodyPr/>
          <a:lstStyle>
            <a:lvl1pPr>
              <a:defRPr/>
            </a:lvl1pPr>
          </a:lstStyle>
          <a:p>
            <a:fld id="{7C715D32-B2A6-4436-BC0E-3C558B398821}" type="slidenum">
              <a:rPr lang="en-US" altLang="en-US"/>
              <a:pPr/>
              <a:t>‹#›</a:t>
            </a:fld>
            <a:endParaRPr lang="en-US" altLang="en-US"/>
          </a:p>
        </p:txBody>
      </p:sp>
    </p:spTree>
    <p:extLst>
      <p:ext uri="{BB962C8B-B14F-4D97-AF65-F5344CB8AC3E}">
        <p14:creationId xmlns:p14="http://schemas.microsoft.com/office/powerpoint/2010/main" val="667163158"/>
      </p:ext>
    </p:extLst>
  </p:cSld>
  <p:clrMapOvr>
    <a:masterClrMapping/>
  </p:clrMapOvr>
  <p:transition>
    <p:pull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834CA5D4-F7E3-DDE8-064D-5084F193A5D8}"/>
              </a:ext>
            </a:extLst>
          </p:cNvPr>
          <p:cNvSpPr>
            <a:spLocks noGrp="1" noChangeArrowheads="1"/>
          </p:cNvSpPr>
          <p:nvPr>
            <p:ph type="sldNum" sz="quarter" idx="10"/>
          </p:nvPr>
        </p:nvSpPr>
        <p:spPr>
          <a:ln/>
        </p:spPr>
        <p:txBody>
          <a:bodyPr/>
          <a:lstStyle>
            <a:lvl1pPr>
              <a:defRPr/>
            </a:lvl1pPr>
          </a:lstStyle>
          <a:p>
            <a:fld id="{2CAC977B-E2E3-4F23-BDD6-B2D0A5014393}" type="slidenum">
              <a:rPr lang="en-US" altLang="en-US"/>
              <a:pPr/>
              <a:t>‹#›</a:t>
            </a:fld>
            <a:endParaRPr lang="en-US" altLang="en-US"/>
          </a:p>
        </p:txBody>
      </p:sp>
    </p:spTree>
    <p:extLst>
      <p:ext uri="{BB962C8B-B14F-4D97-AF65-F5344CB8AC3E}">
        <p14:creationId xmlns:p14="http://schemas.microsoft.com/office/powerpoint/2010/main" val="3625274199"/>
      </p:ext>
    </p:extLst>
  </p:cSld>
  <p:clrMapOvr>
    <a:masterClrMapping/>
  </p:clrMapOvr>
  <p:transition>
    <p:pull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B6D195F-D94E-2168-40B8-79DC61FC36AA}"/>
              </a:ext>
            </a:extLst>
          </p:cNvPr>
          <p:cNvSpPr>
            <a:spLocks noGrp="1" noChangeArrowheads="1"/>
          </p:cNvSpPr>
          <p:nvPr>
            <p:ph type="sldNum" sz="quarter" idx="10"/>
          </p:nvPr>
        </p:nvSpPr>
        <p:spPr>
          <a:ln/>
        </p:spPr>
        <p:txBody>
          <a:bodyPr/>
          <a:lstStyle>
            <a:lvl1pPr>
              <a:defRPr/>
            </a:lvl1pPr>
          </a:lstStyle>
          <a:p>
            <a:fld id="{ADAD2A9A-F9DC-4B4C-A8E0-B2A9856FFEB1}" type="slidenum">
              <a:rPr lang="en-US" altLang="en-US"/>
              <a:pPr/>
              <a:t>‹#›</a:t>
            </a:fld>
            <a:endParaRPr lang="en-US" altLang="en-US"/>
          </a:p>
        </p:txBody>
      </p:sp>
    </p:spTree>
    <p:extLst>
      <p:ext uri="{BB962C8B-B14F-4D97-AF65-F5344CB8AC3E}">
        <p14:creationId xmlns:p14="http://schemas.microsoft.com/office/powerpoint/2010/main" val="3096474575"/>
      </p:ext>
    </p:extLst>
  </p:cSld>
  <p:clrMapOvr>
    <a:masterClrMapping/>
  </p:clrMapOvr>
  <p:transition>
    <p:pull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7ECA5F9-2FE2-DEAB-484A-A325130A4A7C}"/>
              </a:ext>
            </a:extLst>
          </p:cNvPr>
          <p:cNvSpPr>
            <a:spLocks noGrp="1" noChangeArrowheads="1"/>
          </p:cNvSpPr>
          <p:nvPr>
            <p:ph type="sldNum" sz="quarter" idx="10"/>
          </p:nvPr>
        </p:nvSpPr>
        <p:spPr>
          <a:ln/>
        </p:spPr>
        <p:txBody>
          <a:bodyPr/>
          <a:lstStyle>
            <a:lvl1pPr>
              <a:defRPr/>
            </a:lvl1pPr>
          </a:lstStyle>
          <a:p>
            <a:fld id="{BE89794C-A345-45AD-BD55-1FF09F22B90D}" type="slidenum">
              <a:rPr lang="en-US" altLang="en-US"/>
              <a:pPr/>
              <a:t>‹#›</a:t>
            </a:fld>
            <a:endParaRPr lang="en-US" altLang="en-US"/>
          </a:p>
        </p:txBody>
      </p:sp>
    </p:spTree>
    <p:extLst>
      <p:ext uri="{BB962C8B-B14F-4D97-AF65-F5344CB8AC3E}">
        <p14:creationId xmlns:p14="http://schemas.microsoft.com/office/powerpoint/2010/main" val="3651834471"/>
      </p:ext>
    </p:extLst>
  </p:cSld>
  <p:clrMapOvr>
    <a:masterClrMapping/>
  </p:clrMapOvr>
  <p:transition>
    <p:pull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05E5A99-28AC-BD60-0A07-B63D2A0EDDD4}"/>
              </a:ext>
            </a:extLst>
          </p:cNvPr>
          <p:cNvSpPr>
            <a:spLocks noGrp="1" noChangeArrowheads="1"/>
          </p:cNvSpPr>
          <p:nvPr>
            <p:ph type="sldNum" sz="quarter" idx="10"/>
          </p:nvPr>
        </p:nvSpPr>
        <p:spPr>
          <a:ln/>
        </p:spPr>
        <p:txBody>
          <a:bodyPr/>
          <a:lstStyle>
            <a:lvl1pPr>
              <a:defRPr/>
            </a:lvl1pPr>
          </a:lstStyle>
          <a:p>
            <a:fld id="{31563D9A-29EF-41A6-967C-8854E3D8E69D}" type="slidenum">
              <a:rPr lang="en-US" altLang="en-US"/>
              <a:pPr/>
              <a:t>‹#›</a:t>
            </a:fld>
            <a:endParaRPr lang="en-US" altLang="en-US"/>
          </a:p>
        </p:txBody>
      </p:sp>
    </p:spTree>
    <p:extLst>
      <p:ext uri="{BB962C8B-B14F-4D97-AF65-F5344CB8AC3E}">
        <p14:creationId xmlns:p14="http://schemas.microsoft.com/office/powerpoint/2010/main" val="4117233772"/>
      </p:ext>
    </p:extLst>
  </p:cSld>
  <p:clrMapOvr>
    <a:masterClrMapping/>
  </p:clrMapOvr>
  <p:transition>
    <p:pull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DD24287-E905-01C6-68BC-6F3F06C43F0D}"/>
              </a:ext>
            </a:extLst>
          </p:cNvPr>
          <p:cNvSpPr>
            <a:spLocks noGrp="1" noChangeArrowheads="1"/>
          </p:cNvSpPr>
          <p:nvPr>
            <p:ph type="sldNum" sz="quarter" idx="10"/>
          </p:nvPr>
        </p:nvSpPr>
        <p:spPr>
          <a:ln/>
        </p:spPr>
        <p:txBody>
          <a:bodyPr/>
          <a:lstStyle>
            <a:lvl1pPr>
              <a:defRPr/>
            </a:lvl1pPr>
          </a:lstStyle>
          <a:p>
            <a:fld id="{3818CCFB-70E2-4725-BCBB-638FC2EC3F9C}" type="slidenum">
              <a:rPr lang="en-US" altLang="en-US"/>
              <a:pPr/>
              <a:t>‹#›</a:t>
            </a:fld>
            <a:endParaRPr lang="en-US" altLang="en-US"/>
          </a:p>
        </p:txBody>
      </p:sp>
    </p:spTree>
    <p:extLst>
      <p:ext uri="{BB962C8B-B14F-4D97-AF65-F5344CB8AC3E}">
        <p14:creationId xmlns:p14="http://schemas.microsoft.com/office/powerpoint/2010/main" val="500933114"/>
      </p:ext>
    </p:extLst>
  </p:cSld>
  <p:clrMapOvr>
    <a:masterClrMapping/>
  </p:clrMapOvr>
  <p:transition>
    <p:pull di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85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85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9ECB814-C47F-833B-91DA-D8260B9A278F}"/>
              </a:ext>
            </a:extLst>
          </p:cNvPr>
          <p:cNvSpPr>
            <a:spLocks noGrp="1" noChangeArrowheads="1"/>
          </p:cNvSpPr>
          <p:nvPr>
            <p:ph type="sldNum" sz="quarter" idx="10"/>
          </p:nvPr>
        </p:nvSpPr>
        <p:spPr>
          <a:ln/>
        </p:spPr>
        <p:txBody>
          <a:bodyPr/>
          <a:lstStyle>
            <a:lvl1pPr>
              <a:defRPr/>
            </a:lvl1pPr>
          </a:lstStyle>
          <a:p>
            <a:fld id="{2539CFD2-024D-48FD-9593-47CC250CC17A}" type="slidenum">
              <a:rPr lang="en-US" altLang="en-US"/>
              <a:pPr/>
              <a:t>‹#›</a:t>
            </a:fld>
            <a:endParaRPr lang="en-US" altLang="en-US"/>
          </a:p>
        </p:txBody>
      </p:sp>
    </p:spTree>
    <p:extLst>
      <p:ext uri="{BB962C8B-B14F-4D97-AF65-F5344CB8AC3E}">
        <p14:creationId xmlns:p14="http://schemas.microsoft.com/office/powerpoint/2010/main" val="3863145392"/>
      </p:ext>
    </p:extLst>
  </p:cSld>
  <p:clrMapOvr>
    <a:masterClrMapping/>
  </p:clrMapOvr>
  <p:transition>
    <p:pull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4818" name="Rectangle 1026">
            <a:extLst>
              <a:ext uri="{FF2B5EF4-FFF2-40B4-BE49-F238E27FC236}">
                <a16:creationId xmlns:a16="http://schemas.microsoft.com/office/drawing/2014/main" id="{CE37FF46-16E0-2452-E180-82D14F92E15D}"/>
              </a:ext>
            </a:extLst>
          </p:cNvPr>
          <p:cNvSpPr>
            <a:spLocks noGrp="1" noChangeArrowheads="1"/>
          </p:cNvSpPr>
          <p:nvPr>
            <p:ph type="title"/>
          </p:nvPr>
        </p:nvSpPr>
        <p:spPr bwMode="auto">
          <a:xfrm>
            <a:off x="0" y="0"/>
            <a:ext cx="9144000" cy="701675"/>
          </a:xfrm>
          <a:prstGeom prst="rect">
            <a:avLst/>
          </a:prstGeom>
          <a:solidFill>
            <a:schemeClr val="tx1"/>
          </a:solidFill>
          <a:ln>
            <a:noFill/>
          </a:ln>
        </p:spPr>
        <p:txBody>
          <a:bodyPr vert="horz" wrap="square" lIns="182863" tIns="45716" rIns="182863" bIns="45716" numCol="1" anchor="t" anchorCtr="0" compatLnSpc="1">
            <a:prstTxWarp prst="textNoShape">
              <a:avLst/>
            </a:prstTxWarp>
            <a:spAutoFit/>
          </a:bodyPr>
          <a:lstStyle/>
          <a:p>
            <a:pPr lvl="0"/>
            <a:r>
              <a:rPr lang="en-US" altLang="en-US"/>
              <a:t>Click to edit Master title style</a:t>
            </a:r>
          </a:p>
        </p:txBody>
      </p:sp>
      <p:sp>
        <p:nvSpPr>
          <p:cNvPr id="34819" name="Rectangle 1027">
            <a:extLst>
              <a:ext uri="{FF2B5EF4-FFF2-40B4-BE49-F238E27FC236}">
                <a16:creationId xmlns:a16="http://schemas.microsoft.com/office/drawing/2014/main" id="{26926FBB-48EA-5A26-2F65-BD0D3C1630B5}"/>
              </a:ext>
            </a:extLst>
          </p:cNvPr>
          <p:cNvSpPr>
            <a:spLocks noGrp="1" noChangeArrowheads="1"/>
          </p:cNvSpPr>
          <p:nvPr>
            <p:ph type="body" idx="1"/>
          </p:nvPr>
        </p:nvSpPr>
        <p:spPr bwMode="auto">
          <a:xfrm>
            <a:off x="0" y="708025"/>
            <a:ext cx="9144000" cy="6149975"/>
          </a:xfrm>
          <a:prstGeom prst="rect">
            <a:avLst/>
          </a:prstGeom>
          <a:noFill/>
          <a:ln>
            <a:noFill/>
          </a:ln>
        </p:spPr>
        <p:txBody>
          <a:bodyPr vert="horz" wrap="square" lIns="182863" tIns="137148" rIns="182863" bIns="13714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4820" name="Rectangle 1028">
            <a:extLst>
              <a:ext uri="{FF2B5EF4-FFF2-40B4-BE49-F238E27FC236}">
                <a16:creationId xmlns:a16="http://schemas.microsoft.com/office/drawing/2014/main" id="{D912F0A2-8204-5425-31CF-05E5C2247FC0}"/>
              </a:ext>
            </a:extLst>
          </p:cNvPr>
          <p:cNvSpPr>
            <a:spLocks noGrp="1" noChangeArrowheads="1"/>
          </p:cNvSpPr>
          <p:nvPr>
            <p:ph type="sldNum" sz="quarter" idx="4"/>
          </p:nvPr>
        </p:nvSpPr>
        <p:spPr bwMode="auto">
          <a:xfrm>
            <a:off x="8686800" y="6477000"/>
            <a:ext cx="381000" cy="304800"/>
          </a:xfrm>
          <a:prstGeom prst="rect">
            <a:avLst/>
          </a:prstGeom>
          <a:noFill/>
          <a:ln>
            <a:noFill/>
          </a:ln>
        </p:spPr>
        <p:txBody>
          <a:bodyPr vert="horz" wrap="square" lIns="91432" tIns="45716" rIns="91432" bIns="45716" numCol="1" anchor="t" anchorCtr="0" compatLnSpc="1">
            <a:prstTxWarp prst="textNoShape">
              <a:avLst/>
            </a:prstTxWarp>
          </a:bodyPr>
          <a:lstStyle>
            <a:lvl1pPr algn="r">
              <a:spcBef>
                <a:spcPct val="50000"/>
              </a:spcBef>
              <a:defRPr sz="1400">
                <a:effectLst/>
                <a:latin typeface="Arial Narrow" panose="020B0606020202030204" pitchFamily="34" charset="0"/>
              </a:defRPr>
            </a:lvl1pPr>
          </a:lstStyle>
          <a:p>
            <a:fld id="{EAB8C315-252F-4E50-BEC4-4E2B5A23198F}" type="slidenum">
              <a:rPr lang="en-US" altLang="en-US"/>
              <a:pPr/>
              <a:t>‹#›</a:t>
            </a:fld>
            <a:endParaRPr lang="en-US" altLang="en-US"/>
          </a:p>
        </p:txBody>
      </p:sp>
      <p:sp>
        <p:nvSpPr>
          <p:cNvPr id="34821" name="Rectangle 1029">
            <a:extLst>
              <a:ext uri="{FF2B5EF4-FFF2-40B4-BE49-F238E27FC236}">
                <a16:creationId xmlns:a16="http://schemas.microsoft.com/office/drawing/2014/main" id="{2CDBC284-135C-BFF1-8908-DF3493D60B86}"/>
              </a:ext>
            </a:extLst>
          </p:cNvPr>
          <p:cNvSpPr>
            <a:spLocks noChangeArrowheads="1"/>
          </p:cNvSpPr>
          <p:nvPr/>
        </p:nvSpPr>
        <p:spPr bwMode="auto">
          <a:xfrm>
            <a:off x="463550" y="1812925"/>
            <a:ext cx="190500" cy="4678363"/>
          </a:xfrm>
          <a:prstGeom prst="rect">
            <a:avLst/>
          </a:prstGeom>
          <a:noFill/>
          <a:ln>
            <a:noFill/>
          </a:ln>
        </p:spPr>
        <p:txBody>
          <a:bodyPr wrap="none" anchor="ctr"/>
          <a:lstStyle/>
          <a:p>
            <a:pPr>
              <a:defRPr/>
            </a:pPr>
            <a:endParaRPr lang="en-US"/>
          </a:p>
        </p:txBody>
      </p:sp>
    </p:spTree>
  </p:cSld>
  <p:clrMap bg1="lt1" tx1="dk1" bg2="lt2" tx2="dk2" accent1="accent1" accent2="accent2" accent3="accent3" accent4="accent4" accent5="accent5" accent6="accent6" hlink="hlink" folHlink="folHlink"/>
  <p:sldLayoutIdLst>
    <p:sldLayoutId id="2147483791"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transition>
    <p:pull dir="d"/>
  </p:transition>
  <p:txStyles>
    <p:titleStyle>
      <a:lvl1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2pPr>
      <a:lvl3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3pPr>
      <a:lvl4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4pPr>
      <a:lvl5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5pPr>
      <a:lvl6pPr marL="457200"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6pPr>
      <a:lvl7pPr marL="914400"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7pPr>
      <a:lvl8pPr marL="1371600"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8pPr>
      <a:lvl9pPr marL="1828800"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9pPr>
    </p:titleStyle>
    <p:bodyStyle>
      <a:lvl1pPr marL="342900" indent="-342900" algn="l" rtl="0" eaLnBrk="0" fontAlgn="base" hangingPunct="0">
        <a:spcBef>
          <a:spcPct val="20000"/>
        </a:spcBef>
        <a:spcAft>
          <a:spcPct val="0"/>
        </a:spcAft>
        <a:buClr>
          <a:schemeClr val="accent1"/>
        </a:buClr>
        <a:buSzPct val="85000"/>
        <a:buFont typeface="Wingdings 2" panose="05020102010507070707" pitchFamily="18" charset="2"/>
        <a:buChar char="ã"/>
        <a:defRPr kumimoji="1" sz="2800">
          <a:solidFill>
            <a:schemeClr val="accent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l"/>
        <a:defRPr kumimoji="1" sz="2300">
          <a:solidFill>
            <a:schemeClr val="hlink"/>
          </a:solidFill>
          <a:effectLst>
            <a:outerShdw blurRad="38100" dist="38100" dir="2700000" algn="tl">
              <a:srgbClr val="C0C0C0"/>
            </a:outerShdw>
          </a:effectLst>
          <a:latin typeface="+mn-lt"/>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Ø"/>
        <a:defRPr kumimoji="1" sz="2000">
          <a:solidFill>
            <a:schemeClr val="tx1"/>
          </a:solidFill>
          <a:effectLst>
            <a:outerShdw blurRad="38100" dist="38100" dir="2700000" algn="tl">
              <a:srgbClr val="C0C0C0"/>
            </a:outerShdw>
          </a:effectLst>
          <a:latin typeface="+mn-lt"/>
        </a:defRPr>
      </a:lvl3pPr>
      <a:lvl4pPr marL="1600200" indent="-228600" algn="l" rtl="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mn-lt"/>
        </a:defRPr>
      </a:lvl4pPr>
      <a:lvl5pPr marL="2057400" indent="-228600" algn="l" rtl="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mn-lt"/>
        </a:defRPr>
      </a:lvl5pPr>
      <a:lvl6pPr marL="2514600" indent="-228600" algn="l" rtl="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mn-lt"/>
        </a:defRPr>
      </a:lvl6pPr>
      <a:lvl7pPr marL="2971800" indent="-228600" algn="l" rtl="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mn-lt"/>
        </a:defRPr>
      </a:lvl7pPr>
      <a:lvl8pPr marL="3429000" indent="-228600" algn="l" rtl="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mn-lt"/>
        </a:defRPr>
      </a:lvl8pPr>
      <a:lvl9pPr marL="3886200" indent="-228600" algn="l" rtl="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6002A3E6-4CDD-5194-7821-4D39B69A7CB1}"/>
              </a:ext>
            </a:extLst>
          </p:cNvPr>
          <p:cNvSpPr>
            <a:spLocks noGrp="1" noChangeArrowheads="1"/>
          </p:cNvSpPr>
          <p:nvPr>
            <p:ph type="title"/>
          </p:nvPr>
        </p:nvSpPr>
        <p:spPr bwMode="auto">
          <a:xfrm>
            <a:off x="0" y="0"/>
            <a:ext cx="9144000" cy="701675"/>
          </a:xfrm>
          <a:prstGeom prst="rect">
            <a:avLst/>
          </a:prstGeom>
          <a:solidFill>
            <a:schemeClr val="tx1"/>
          </a:solidFill>
          <a:ln>
            <a:noFill/>
          </a:ln>
        </p:spPr>
        <p:txBody>
          <a:bodyPr vert="horz" wrap="square" lIns="182863" tIns="45716" rIns="182863" bIns="45716" numCol="1" anchor="t" anchorCtr="0" compatLnSpc="1">
            <a:prstTxWarp prst="textNoShape">
              <a:avLst/>
            </a:prstTxWarp>
            <a:spAutoFit/>
          </a:bodyPr>
          <a:lstStyle/>
          <a:p>
            <a:pPr lvl="0"/>
            <a:r>
              <a:rPr lang="en-US" altLang="en-US"/>
              <a:t>Click to edit Master title style</a:t>
            </a:r>
          </a:p>
        </p:txBody>
      </p:sp>
      <p:sp>
        <p:nvSpPr>
          <p:cNvPr id="73731" name="Rectangle 3">
            <a:extLst>
              <a:ext uri="{FF2B5EF4-FFF2-40B4-BE49-F238E27FC236}">
                <a16:creationId xmlns:a16="http://schemas.microsoft.com/office/drawing/2014/main" id="{6B888BD2-4CE1-CADB-E4C7-B98784A84D15}"/>
              </a:ext>
            </a:extLst>
          </p:cNvPr>
          <p:cNvSpPr>
            <a:spLocks noGrp="1" noChangeArrowheads="1"/>
          </p:cNvSpPr>
          <p:nvPr>
            <p:ph type="body" idx="1"/>
          </p:nvPr>
        </p:nvSpPr>
        <p:spPr bwMode="auto">
          <a:xfrm>
            <a:off x="0" y="708025"/>
            <a:ext cx="9144000" cy="6149975"/>
          </a:xfrm>
          <a:prstGeom prst="rect">
            <a:avLst/>
          </a:prstGeom>
          <a:noFill/>
          <a:ln>
            <a:noFill/>
          </a:ln>
        </p:spPr>
        <p:txBody>
          <a:bodyPr vert="horz" wrap="square" lIns="182863" tIns="137148" rIns="182863" bIns="13714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3732" name="Rectangle 4">
            <a:extLst>
              <a:ext uri="{FF2B5EF4-FFF2-40B4-BE49-F238E27FC236}">
                <a16:creationId xmlns:a16="http://schemas.microsoft.com/office/drawing/2014/main" id="{5D1C6F9B-F3E5-1081-0AAF-C7DD8B13A7A5}"/>
              </a:ext>
            </a:extLst>
          </p:cNvPr>
          <p:cNvSpPr>
            <a:spLocks noGrp="1" noChangeArrowheads="1"/>
          </p:cNvSpPr>
          <p:nvPr>
            <p:ph type="sldNum" sz="quarter" idx="4"/>
          </p:nvPr>
        </p:nvSpPr>
        <p:spPr bwMode="auto">
          <a:xfrm>
            <a:off x="8686800" y="6477000"/>
            <a:ext cx="381000" cy="304800"/>
          </a:xfrm>
          <a:prstGeom prst="rect">
            <a:avLst/>
          </a:prstGeom>
          <a:noFill/>
          <a:ln>
            <a:noFill/>
          </a:ln>
        </p:spPr>
        <p:txBody>
          <a:bodyPr vert="horz" wrap="square" lIns="91432" tIns="45716" rIns="91432" bIns="45716" numCol="1" anchor="t" anchorCtr="0" compatLnSpc="1">
            <a:prstTxWarp prst="textNoShape">
              <a:avLst/>
            </a:prstTxWarp>
          </a:bodyPr>
          <a:lstStyle>
            <a:lvl1pPr algn="r">
              <a:spcBef>
                <a:spcPct val="50000"/>
              </a:spcBef>
              <a:defRPr sz="1400">
                <a:effectLst/>
                <a:latin typeface="Arial Narrow" panose="020B0606020202030204" pitchFamily="34" charset="0"/>
              </a:defRPr>
            </a:lvl1pPr>
          </a:lstStyle>
          <a:p>
            <a:fld id="{8FD6BBB6-B483-42FF-960F-1ADA608751B6}" type="slidenum">
              <a:rPr lang="en-US" altLang="en-US"/>
              <a:pPr/>
              <a:t>‹#›</a:t>
            </a:fld>
            <a:endParaRPr lang="en-US" altLang="en-US"/>
          </a:p>
        </p:txBody>
      </p:sp>
      <p:sp>
        <p:nvSpPr>
          <p:cNvPr id="73733" name="Rectangle 5">
            <a:extLst>
              <a:ext uri="{FF2B5EF4-FFF2-40B4-BE49-F238E27FC236}">
                <a16:creationId xmlns:a16="http://schemas.microsoft.com/office/drawing/2014/main" id="{B6114D76-366A-5D7E-3F2C-3D7D08753825}"/>
              </a:ext>
            </a:extLst>
          </p:cNvPr>
          <p:cNvSpPr>
            <a:spLocks noChangeArrowheads="1"/>
          </p:cNvSpPr>
          <p:nvPr/>
        </p:nvSpPr>
        <p:spPr bwMode="auto">
          <a:xfrm>
            <a:off x="463550" y="1812925"/>
            <a:ext cx="190500" cy="4678363"/>
          </a:xfrm>
          <a:prstGeom prst="rect">
            <a:avLst/>
          </a:prstGeom>
          <a:noFill/>
          <a:ln>
            <a:noFill/>
          </a:ln>
        </p:spPr>
        <p:txBody>
          <a:bodyPr wrap="none" anchor="ctr"/>
          <a:lstStyle/>
          <a:p>
            <a:pPr>
              <a:defRPr/>
            </a:pPr>
            <a:endParaRPr lang="en-US"/>
          </a:p>
        </p:txBody>
      </p:sp>
    </p:spTree>
  </p:cSld>
  <p:clrMap bg1="lt1" tx1="dk1" bg2="lt2" tx2="dk2" accent1="accent1" accent2="accent2" accent3="accent3" accent4="accent4" accent5="accent5" accent6="accent6" hlink="hlink" folHlink="folHlink"/>
  <p:sldLayoutIdLst>
    <p:sldLayoutId id="2147483792"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Lst>
  <p:transition>
    <p:pull dir="d"/>
  </p:transition>
  <p:txStyles>
    <p:titleStyle>
      <a:lvl1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2pPr>
      <a:lvl3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3pPr>
      <a:lvl4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4pPr>
      <a:lvl5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5pPr>
      <a:lvl6pPr marL="457200"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6pPr>
      <a:lvl7pPr marL="914400"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7pPr>
      <a:lvl8pPr marL="1371600"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8pPr>
      <a:lvl9pPr marL="1828800"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9pPr>
    </p:titleStyle>
    <p:bodyStyle>
      <a:lvl1pPr marL="342900" indent="-342900" algn="l" rtl="0" eaLnBrk="0" fontAlgn="base" hangingPunct="0">
        <a:spcBef>
          <a:spcPct val="20000"/>
        </a:spcBef>
        <a:spcAft>
          <a:spcPct val="0"/>
        </a:spcAft>
        <a:buClr>
          <a:schemeClr val="accent1"/>
        </a:buClr>
        <a:buSzPct val="85000"/>
        <a:buFont typeface="Wingdings 2" panose="05020102010507070707" pitchFamily="18" charset="2"/>
        <a:buChar char="ã"/>
        <a:defRPr kumimoji="1" sz="2800">
          <a:solidFill>
            <a:schemeClr val="accent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l"/>
        <a:defRPr kumimoji="1" sz="2300">
          <a:solidFill>
            <a:schemeClr val="hlink"/>
          </a:solidFill>
          <a:effectLst>
            <a:outerShdw blurRad="38100" dist="38100" dir="2700000" algn="tl">
              <a:srgbClr val="C0C0C0"/>
            </a:outerShdw>
          </a:effectLst>
          <a:latin typeface="+mn-lt"/>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Ø"/>
        <a:defRPr kumimoji="1" sz="2000">
          <a:solidFill>
            <a:schemeClr val="tx1"/>
          </a:solidFill>
          <a:effectLst>
            <a:outerShdw blurRad="38100" dist="38100" dir="2700000" algn="tl">
              <a:srgbClr val="C0C0C0"/>
            </a:outerShdw>
          </a:effectLst>
          <a:latin typeface="+mn-lt"/>
        </a:defRPr>
      </a:lvl3pPr>
      <a:lvl4pPr marL="1600200" indent="-228600" algn="l" rtl="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mn-lt"/>
        </a:defRPr>
      </a:lvl4pPr>
      <a:lvl5pPr marL="2057400" indent="-228600" algn="l" rtl="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mn-lt"/>
        </a:defRPr>
      </a:lvl5pPr>
      <a:lvl6pPr marL="2514600" indent="-228600" algn="l" rtl="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mn-lt"/>
        </a:defRPr>
      </a:lvl6pPr>
      <a:lvl7pPr marL="2971800" indent="-228600" algn="l" rtl="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mn-lt"/>
        </a:defRPr>
      </a:lvl7pPr>
      <a:lvl8pPr marL="3429000" indent="-228600" algn="l" rtl="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mn-lt"/>
        </a:defRPr>
      </a:lvl8pPr>
      <a:lvl9pPr marL="3886200" indent="-228600" algn="l" rtl="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file:///D:\users\ema\paralelni\ponovo\Classification%20of%20Parallel%20Machines_files\FIG2A.gif" TargetMode="External"/><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file:///D:\users\ema\paralelni\ponovo\Classification%20of%20Parallel%20Machines_files\FIG2B.gif"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file:///D:\users\ema\paralelni\ponovo\Classification%20of%20Parallel%20Machines_files\FIG2C.gif"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file:///D:\users\ema\paralelni\ponovo\Classification%20of%20Parallel%20Machines_files\FIG2D.gif" TargetMode="External"/><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9.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13.xml"/><Relationship Id="rId5" Type="http://schemas.openxmlformats.org/officeDocument/2006/relationships/image" Target="../media/image11.wmf"/><Relationship Id="rId4" Type="http://schemas.openxmlformats.org/officeDocument/2006/relationships/oleObject" Target="../embeddings/oleObject2.bin"/></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8.xml"/><Relationship Id="rId6" Type="http://schemas.openxmlformats.org/officeDocument/2006/relationships/image" Target="../media/image16.png"/><Relationship Id="rId5" Type="http://schemas.openxmlformats.org/officeDocument/2006/relationships/image" Target="../media/image12.wmf"/><Relationship Id="rId4" Type="http://schemas.openxmlformats.org/officeDocument/2006/relationships/oleObject" Target="../embeddings/oleObject3.bin"/></Relationships>
</file>

<file path=ppt/slides/_rels/slide3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4.bin"/><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5.bin"/><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6.bin"/><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7.bin"/><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8.bin"/><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640AB37-D92E-F034-C9AC-CF23C8DCFFE6}"/>
              </a:ext>
            </a:extLst>
          </p:cNvPr>
          <p:cNvSpPr>
            <a:spLocks noGrp="1" noChangeArrowheads="1"/>
          </p:cNvSpPr>
          <p:nvPr>
            <p:ph type="ctrTitle"/>
          </p:nvPr>
        </p:nvSpPr>
        <p:spPr/>
        <p:txBody>
          <a:bodyPr/>
          <a:lstStyle/>
          <a:p>
            <a:pPr>
              <a:defRPr/>
            </a:pPr>
            <a:r>
              <a:rPr lang="hr-HR" altLang="en-US"/>
              <a:t>Paralelni sistemi</a:t>
            </a:r>
            <a:endParaRPr lang="en-US" altLang="en-US"/>
          </a:p>
        </p:txBody>
      </p:sp>
      <p:sp>
        <p:nvSpPr>
          <p:cNvPr id="43011" name="Rectangle 3">
            <a:extLst>
              <a:ext uri="{FF2B5EF4-FFF2-40B4-BE49-F238E27FC236}">
                <a16:creationId xmlns:a16="http://schemas.microsoft.com/office/drawing/2014/main" id="{B27DFB02-447A-8F0D-AF62-B65C5BDADA35}"/>
              </a:ext>
            </a:extLst>
          </p:cNvPr>
          <p:cNvSpPr>
            <a:spLocks noGrp="1" noChangeArrowheads="1"/>
          </p:cNvSpPr>
          <p:nvPr>
            <p:ph type="subTitle" idx="1"/>
          </p:nvPr>
        </p:nvSpPr>
        <p:spPr/>
        <p:txBody>
          <a:bodyPr/>
          <a:lstStyle/>
          <a:p>
            <a:pPr algn="l">
              <a:defRPr/>
            </a:pPr>
            <a:r>
              <a:rPr lang="en-US" altLang="en-US" dirty="0" err="1"/>
              <a:t>Nastavnik</a:t>
            </a:r>
            <a:r>
              <a:rPr lang="en-US" altLang="en-US" dirty="0"/>
              <a:t>: Emina </a:t>
            </a:r>
            <a:r>
              <a:rPr lang="en-US" altLang="en-US" dirty="0" err="1"/>
              <a:t>Milovanovi</a:t>
            </a:r>
            <a:r>
              <a:rPr lang="sr-Latn-RS" altLang="en-US" dirty="0"/>
              <a:t>ć</a:t>
            </a:r>
            <a:endParaRPr lang="hr-HR" altLang="en-US" dirty="0"/>
          </a:p>
          <a:p>
            <a:pPr algn="l">
              <a:defRPr/>
            </a:pPr>
            <a:r>
              <a:rPr lang="hr-HR" altLang="en-US" dirty="0"/>
              <a:t>fond sati 2+2+1 (VI</a:t>
            </a:r>
            <a:r>
              <a:rPr lang="en-US" altLang="en-US" dirty="0"/>
              <a:t> </a:t>
            </a:r>
            <a:r>
              <a:rPr lang="hr-HR" altLang="en-US" dirty="0"/>
              <a:t>sem.)</a:t>
            </a:r>
          </a:p>
          <a:p>
            <a:pPr algn="l">
              <a:defRPr/>
            </a:pPr>
            <a:r>
              <a:rPr lang="sr-Latn-RS" altLang="en-US" dirty="0"/>
              <a:t>Stranica predmeta: </a:t>
            </a:r>
            <a:r>
              <a:rPr lang="en-US" altLang="en-US" dirty="0"/>
              <a:t>cs</a:t>
            </a:r>
            <a:r>
              <a:rPr lang="hr-HR" altLang="en-US" dirty="0"/>
              <a:t>.elfak.ni.ac.</a:t>
            </a:r>
            <a:r>
              <a:rPr lang="en-US" altLang="en-US" dirty="0" err="1"/>
              <a:t>rs</a:t>
            </a:r>
            <a:r>
              <a:rPr lang="en-US" altLang="en-US" dirty="0"/>
              <a:t>/</a:t>
            </a:r>
            <a:r>
              <a:rPr lang="en-US" altLang="en-US" dirty="0" err="1"/>
              <a:t>nastava</a:t>
            </a:r>
            <a:r>
              <a:rPr lang="hr-HR" altLang="en-US" dirty="0"/>
              <a:t>/</a:t>
            </a:r>
            <a:endParaRPr lang="en-US" altLang="en-US" dirty="0"/>
          </a:p>
          <a:p>
            <a:pPr>
              <a:defRPr/>
            </a:pPr>
            <a:endParaRPr lang="en-US" altLang="en-US" dirty="0"/>
          </a:p>
        </p:txBody>
      </p:sp>
    </p:spTree>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A2064591-6FDB-A3CE-C787-869D72E1B6DD}"/>
              </a:ext>
            </a:extLst>
          </p:cNvPr>
          <p:cNvSpPr>
            <a:spLocks noGrp="1" noChangeArrowheads="1"/>
          </p:cNvSpPr>
          <p:nvPr>
            <p:ph type="title"/>
          </p:nvPr>
        </p:nvSpPr>
        <p:spPr>
          <a:xfrm>
            <a:off x="0" y="0"/>
            <a:ext cx="9144000" cy="701675"/>
          </a:xfrm>
        </p:spPr>
        <p:txBody>
          <a:bodyPr wrap="square" anchor="t">
            <a:normAutofit/>
          </a:bodyPr>
          <a:lstStyle/>
          <a:p>
            <a:pPr>
              <a:defRPr/>
            </a:pPr>
            <a:r>
              <a:rPr lang="sr-Latn-CS" altLang="en-US"/>
              <a:t>Način ocenjivanja</a:t>
            </a:r>
            <a:endParaRPr lang="en-US" altLang="en-US"/>
          </a:p>
        </p:txBody>
      </p:sp>
      <p:sp>
        <p:nvSpPr>
          <p:cNvPr id="97283" name="Rectangle 3">
            <a:extLst>
              <a:ext uri="{FF2B5EF4-FFF2-40B4-BE49-F238E27FC236}">
                <a16:creationId xmlns:a16="http://schemas.microsoft.com/office/drawing/2014/main" id="{2C006925-ABD8-143B-F6F3-32E0BD8F67F2}"/>
              </a:ext>
            </a:extLst>
          </p:cNvPr>
          <p:cNvSpPr>
            <a:spLocks noGrp="1" noChangeArrowheads="1"/>
          </p:cNvSpPr>
          <p:nvPr>
            <p:ph idx="1"/>
          </p:nvPr>
        </p:nvSpPr>
        <p:spPr>
          <a:xfrm>
            <a:off x="0" y="708025"/>
            <a:ext cx="9144000" cy="6149975"/>
          </a:xfrm>
        </p:spPr>
        <p:txBody>
          <a:bodyPr wrap="square" anchor="t">
            <a:normAutofit/>
          </a:bodyPr>
          <a:lstStyle/>
          <a:p>
            <a:pPr>
              <a:defRPr/>
            </a:pPr>
            <a:r>
              <a:rPr lang="sr-Latn-CS" altLang="en-US"/>
              <a:t>Lab. Vežbe 20</a:t>
            </a:r>
            <a:endParaRPr lang="en-US" altLang="en-US"/>
          </a:p>
          <a:p>
            <a:pPr>
              <a:defRPr/>
            </a:pPr>
            <a:r>
              <a:rPr lang="en-US" altLang="en-US" err="1"/>
              <a:t>Integrisani</a:t>
            </a:r>
            <a:r>
              <a:rPr lang="en-US" altLang="en-US"/>
              <a:t> </a:t>
            </a:r>
            <a:r>
              <a:rPr lang="en-US" altLang="en-US" err="1"/>
              <a:t>ispit</a:t>
            </a:r>
            <a:r>
              <a:rPr lang="en-US" altLang="en-US"/>
              <a:t> 80 (</a:t>
            </a:r>
            <a:r>
              <a:rPr lang="en-US" altLang="en-US" err="1"/>
              <a:t>teorija</a:t>
            </a:r>
            <a:r>
              <a:rPr lang="en-US" altLang="en-US"/>
              <a:t> + </a:t>
            </a:r>
            <a:r>
              <a:rPr lang="en-US" altLang="en-US" err="1"/>
              <a:t>zadaci</a:t>
            </a:r>
            <a:r>
              <a:rPr lang="en-US" altLang="en-US"/>
              <a:t>) </a:t>
            </a:r>
          </a:p>
          <a:p>
            <a:pPr>
              <a:defRPr/>
            </a:pPr>
            <a:endParaRPr lang="en-US" altLang="en-US"/>
          </a:p>
          <a:p>
            <a:pPr>
              <a:defRPr/>
            </a:pPr>
            <a:r>
              <a:rPr lang="en-US" altLang="en-US" err="1"/>
              <a:t>Literatura</a:t>
            </a:r>
            <a:endParaRPr lang="en-US" altLang="en-US"/>
          </a:p>
          <a:p>
            <a:pPr lvl="1">
              <a:buFontTx/>
              <a:buAutoNum type="arabicPeriod"/>
              <a:defRPr/>
            </a:pPr>
            <a:r>
              <a:rPr lang="en-US" altLang="en-US" sz="2800" err="1">
                <a:solidFill>
                  <a:schemeClr val="accent1"/>
                </a:solidFill>
              </a:rPr>
              <a:t>Nastavni</a:t>
            </a:r>
            <a:r>
              <a:rPr lang="en-US" altLang="en-US" sz="2800">
                <a:solidFill>
                  <a:schemeClr val="accent1"/>
                </a:solidFill>
              </a:rPr>
              <a:t> </a:t>
            </a:r>
            <a:r>
              <a:rPr lang="en-US" altLang="en-US" sz="2800" err="1">
                <a:solidFill>
                  <a:schemeClr val="accent1"/>
                </a:solidFill>
              </a:rPr>
              <a:t>materijal</a:t>
            </a:r>
            <a:r>
              <a:rPr lang="en-US" altLang="en-US" sz="2800">
                <a:solidFill>
                  <a:schemeClr val="accent1"/>
                </a:solidFill>
              </a:rPr>
              <a:t> </a:t>
            </a:r>
            <a:r>
              <a:rPr lang="en-US" altLang="en-US" sz="2800" err="1">
                <a:solidFill>
                  <a:schemeClr val="accent1"/>
                </a:solidFill>
              </a:rPr>
              <a:t>sa</a:t>
            </a:r>
            <a:r>
              <a:rPr lang="en-US" altLang="en-US" sz="2800">
                <a:solidFill>
                  <a:schemeClr val="accent1"/>
                </a:solidFill>
              </a:rPr>
              <a:t> </a:t>
            </a:r>
            <a:r>
              <a:rPr lang="en-US" altLang="en-US" sz="2800" err="1">
                <a:solidFill>
                  <a:schemeClr val="accent1"/>
                </a:solidFill>
              </a:rPr>
              <a:t>predavanja</a:t>
            </a:r>
            <a:r>
              <a:rPr lang="en-US" altLang="en-US" sz="2800">
                <a:solidFill>
                  <a:schemeClr val="accent1"/>
                </a:solidFill>
              </a:rPr>
              <a:t>  i </a:t>
            </a:r>
            <a:r>
              <a:rPr lang="en-US" altLang="en-US" sz="2800" err="1">
                <a:solidFill>
                  <a:schemeClr val="accent1"/>
                </a:solidFill>
              </a:rPr>
              <a:t>vezbi</a:t>
            </a:r>
            <a:r>
              <a:rPr lang="en-US" altLang="en-US" sz="2800">
                <a:solidFill>
                  <a:schemeClr val="accent1"/>
                </a:solidFill>
              </a:rPr>
              <a:t> cs.elfak.ni.ac.rs/</a:t>
            </a:r>
            <a:r>
              <a:rPr lang="en-US" altLang="en-US" sz="2800" err="1">
                <a:solidFill>
                  <a:schemeClr val="accent1"/>
                </a:solidFill>
              </a:rPr>
              <a:t>predavanja</a:t>
            </a:r>
            <a:r>
              <a:rPr lang="en-US" altLang="en-US" sz="2800">
                <a:solidFill>
                  <a:schemeClr val="accent1"/>
                </a:solidFill>
              </a:rPr>
              <a:t>/</a:t>
            </a:r>
          </a:p>
          <a:p>
            <a:pPr lvl="1">
              <a:buFontTx/>
              <a:buAutoNum type="arabicPeriod"/>
              <a:defRPr/>
            </a:pPr>
            <a:r>
              <a:rPr lang="en-US" altLang="en-US" sz="2800">
                <a:solidFill>
                  <a:schemeClr val="accent1"/>
                </a:solidFill>
              </a:rPr>
              <a:t>M. Sto</a:t>
            </a:r>
            <a:r>
              <a:rPr lang="sr-Latn-RS" altLang="en-US" sz="2800">
                <a:solidFill>
                  <a:schemeClr val="accent1"/>
                </a:solidFill>
              </a:rPr>
              <a:t>čev, E. Milovanović, T. Nikolić, Višeprocesorski sistemi na čipu, Elektronski fakultet Niš, 2012.</a:t>
            </a:r>
            <a:endParaRPr lang="en-US" altLang="en-US" sz="2800">
              <a:solidFill>
                <a:schemeClr val="accent1"/>
              </a:solidFill>
            </a:endParaRPr>
          </a:p>
          <a:p>
            <a:pPr>
              <a:defRPr/>
            </a:pPr>
            <a:endParaRPr lang="sr-Latn-CS" altLang="en-US"/>
          </a:p>
          <a:p>
            <a:pPr>
              <a:defRPr/>
            </a:pPr>
            <a:endParaRPr lang="en-US" altLang="en-US"/>
          </a:p>
        </p:txBody>
      </p:sp>
    </p:spTree>
  </p:cSld>
  <p:clrMapOvr>
    <a:masterClrMapping/>
  </p:clrMapOvr>
  <p:transition>
    <p:pull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0" name="Rectangle 4">
            <a:extLst>
              <a:ext uri="{FF2B5EF4-FFF2-40B4-BE49-F238E27FC236}">
                <a16:creationId xmlns:a16="http://schemas.microsoft.com/office/drawing/2014/main" id="{BA0354FF-EC79-6C9B-A8DE-53164794BBDB}"/>
              </a:ext>
            </a:extLst>
          </p:cNvPr>
          <p:cNvSpPr>
            <a:spLocks noGrp="1" noChangeArrowheads="1"/>
          </p:cNvSpPr>
          <p:nvPr>
            <p:ph type="title"/>
          </p:nvPr>
        </p:nvSpPr>
        <p:spPr/>
        <p:txBody>
          <a:bodyPr/>
          <a:lstStyle/>
          <a:p>
            <a:pPr>
              <a:defRPr/>
            </a:pPr>
            <a:r>
              <a:rPr lang="en-US" altLang="en-US"/>
              <a:t>Moore-ov zakon</a:t>
            </a:r>
          </a:p>
        </p:txBody>
      </p:sp>
      <p:sp>
        <p:nvSpPr>
          <p:cNvPr id="101381" name="Rectangle 5">
            <a:extLst>
              <a:ext uri="{FF2B5EF4-FFF2-40B4-BE49-F238E27FC236}">
                <a16:creationId xmlns:a16="http://schemas.microsoft.com/office/drawing/2014/main" id="{31155251-8E03-D4B9-9641-D3A86DCC0549}"/>
              </a:ext>
            </a:extLst>
          </p:cNvPr>
          <p:cNvSpPr>
            <a:spLocks noGrp="1" noChangeArrowheads="1"/>
          </p:cNvSpPr>
          <p:nvPr>
            <p:ph type="body" idx="1"/>
          </p:nvPr>
        </p:nvSpPr>
        <p:spPr/>
        <p:txBody>
          <a:bodyPr/>
          <a:lstStyle/>
          <a:p>
            <a:pPr>
              <a:lnSpc>
                <a:spcPct val="90000"/>
              </a:lnSpc>
            </a:pPr>
            <a:r>
              <a:rPr lang="sr-Latn-CS" altLang="en-US" sz="2000" dirty="0"/>
              <a:t>Kompjuterska tehnologija je učinila neverovatan napredak u poslednjih </a:t>
            </a:r>
            <a:r>
              <a:rPr lang="en-US" altLang="en-US" sz="2000" dirty="0"/>
              <a:t>7</a:t>
            </a:r>
            <a:r>
              <a:rPr lang="sr-Latn-CS" altLang="en-US" sz="2000" dirty="0"/>
              <a:t>0 godina od kada se pojavio prvi elektronski računar opšte namene.</a:t>
            </a:r>
          </a:p>
          <a:p>
            <a:pPr lvl="1">
              <a:lnSpc>
                <a:spcPct val="90000"/>
              </a:lnSpc>
            </a:pPr>
            <a:r>
              <a:rPr lang="sr-Latn-CS" altLang="en-US" sz="1700" dirty="0"/>
              <a:t>Danas se za manje od 1000 Eur može kupiti PC koji ima bolje performanse, više memorije i više prostora na disku od računara proizvedenog 80-ih godina 20. v. Koji je koštao milione dolara.</a:t>
            </a:r>
          </a:p>
          <a:p>
            <a:pPr>
              <a:lnSpc>
                <a:spcPct val="90000"/>
              </a:lnSpc>
            </a:pPr>
            <a:r>
              <a:rPr lang="en-US" altLang="en-US" sz="2000" b="1" dirty="0"/>
              <a:t>Moore-</a:t>
            </a:r>
            <a:r>
              <a:rPr lang="en-US" altLang="en-US" sz="2000" b="1" dirty="0" err="1"/>
              <a:t>ov</a:t>
            </a:r>
            <a:r>
              <a:rPr lang="en-US" altLang="en-US" sz="2000" b="1" dirty="0"/>
              <a:t> </a:t>
            </a:r>
            <a:r>
              <a:rPr lang="en-US" altLang="en-US" sz="2000" b="1" dirty="0" err="1"/>
              <a:t>zakon</a:t>
            </a:r>
            <a:r>
              <a:rPr lang="en-US" altLang="en-US" sz="2000" b="1" dirty="0"/>
              <a:t> </a:t>
            </a:r>
            <a:r>
              <a:rPr lang="sr-Latn-BA" altLang="en-US" sz="2000" dirty="0"/>
              <a:t>kaže</a:t>
            </a:r>
            <a:r>
              <a:rPr lang="sr-Latn-BA" altLang="en-US" sz="2000" b="1" dirty="0"/>
              <a:t> </a:t>
            </a:r>
            <a:r>
              <a:rPr lang="sr-Latn-BA" altLang="en-US" sz="2000" dirty="0"/>
              <a:t>da se tokom istorije računarstva broj</a:t>
            </a:r>
            <a:r>
              <a:rPr lang="sr-Latn-BA" altLang="en-US" sz="2000" b="1" dirty="0"/>
              <a:t> </a:t>
            </a:r>
            <a:r>
              <a:rPr lang="sr-Latn-BA" altLang="en-US" sz="2000" dirty="0"/>
              <a:t>tranzistora   na integrisanom kolu udvostručava približno svake 2 godine. </a:t>
            </a:r>
          </a:p>
          <a:p>
            <a:pPr lvl="1">
              <a:lnSpc>
                <a:spcPct val="90000"/>
              </a:lnSpc>
            </a:pPr>
            <a:r>
              <a:rPr lang="sr-Latn-BA" altLang="en-US" sz="1800" dirty="0"/>
              <a:t>Zakon je dobio ime po suosnivaču Intela, Gordon E. Moore, koji je ovoaj trend opisao u svom radu koji je publikovan 1965. god. </a:t>
            </a:r>
          </a:p>
          <a:p>
            <a:pPr lvl="1">
              <a:lnSpc>
                <a:spcPct val="90000"/>
              </a:lnSpc>
            </a:pPr>
            <a:r>
              <a:rPr lang="sr-Latn-BA" altLang="en-US" sz="1800" dirty="0"/>
              <a:t>Pokazalo se da je njegovo predviđanje prilično pouzdano. </a:t>
            </a:r>
            <a:endParaRPr lang="en-US" altLang="en-US" sz="1800" dirty="0"/>
          </a:p>
          <a:p>
            <a:pPr lvl="1">
              <a:lnSpc>
                <a:spcPct val="90000"/>
              </a:lnSpc>
            </a:pPr>
            <a:r>
              <a:rPr lang="en-US" altLang="en-US" sz="1800" dirty="0" err="1"/>
              <a:t>smatra</a:t>
            </a:r>
            <a:r>
              <a:rPr lang="en-US" altLang="en-US" sz="1800" dirty="0"/>
              <a:t> se da </a:t>
            </a:r>
            <a:r>
              <a:rPr lang="en-US" altLang="en-US" sz="1800" dirty="0" err="1"/>
              <a:t>ce</a:t>
            </a:r>
            <a:r>
              <a:rPr lang="en-US" altLang="en-US" sz="1800" dirty="0"/>
              <a:t> se </a:t>
            </a:r>
            <a:r>
              <a:rPr lang="en-US" altLang="en-US" sz="1800" dirty="0" err="1"/>
              <a:t>ovaj</a:t>
            </a:r>
            <a:r>
              <a:rPr lang="en-US" altLang="en-US" sz="1800" dirty="0"/>
              <a:t> trend </a:t>
            </a:r>
            <a:r>
              <a:rPr lang="en-US" altLang="en-US" sz="1800" dirty="0" err="1"/>
              <a:t>nastaviti</a:t>
            </a:r>
            <a:r>
              <a:rPr lang="en-US" altLang="en-US" sz="1800" dirty="0"/>
              <a:t> i u </a:t>
            </a:r>
            <a:r>
              <a:rPr lang="en-US" altLang="en-US" sz="1800" dirty="0" err="1"/>
              <a:t>narednih</a:t>
            </a:r>
            <a:r>
              <a:rPr lang="en-US" altLang="en-US" sz="1800" dirty="0"/>
              <a:t> 10-20 </a:t>
            </a:r>
            <a:r>
              <a:rPr lang="en-US" altLang="en-US" sz="1800"/>
              <a:t>godina</a:t>
            </a:r>
            <a:endParaRPr lang="sr-Latn-BA" altLang="en-US" sz="1800" dirty="0"/>
          </a:p>
          <a:p>
            <a:pPr>
              <a:lnSpc>
                <a:spcPct val="90000"/>
              </a:lnSpc>
            </a:pPr>
            <a:r>
              <a:rPr lang="sr-Latn-BA" altLang="en-US" sz="2000" dirty="0"/>
              <a:t>Moore-ov zakon se danas koristi da opiše trend performansi  mnogih  elektronskih komponent</a:t>
            </a:r>
            <a:r>
              <a:rPr lang="en-US" altLang="en-US" sz="2000" dirty="0"/>
              <a:t>i</a:t>
            </a:r>
            <a:endParaRPr lang="sr-Latn-BA" altLang="en-US" sz="2000" dirty="0"/>
          </a:p>
          <a:p>
            <a:pPr lvl="1">
              <a:lnSpc>
                <a:spcPct val="90000"/>
              </a:lnSpc>
            </a:pPr>
            <a:r>
              <a:rPr lang="sr-Latn-BA" altLang="en-US" sz="1800" dirty="0"/>
              <a:t>Brzina procesiranja, kapacitet memorije, pa čak i broj piksela kod digitalne kamere.</a:t>
            </a:r>
          </a:p>
          <a:p>
            <a:pPr lvl="1">
              <a:lnSpc>
                <a:spcPct val="90000"/>
              </a:lnSpc>
            </a:pPr>
            <a:r>
              <a:rPr lang="sr-Latn-BA" altLang="en-US" sz="1800" dirty="0"/>
              <a:t>Sve promene su eksponencijalne..</a:t>
            </a:r>
            <a:endParaRPr lang="en-US" altLang="en-US" sz="1800" dirty="0"/>
          </a:p>
          <a:p>
            <a:pPr lvl="1">
              <a:lnSpc>
                <a:spcPct val="90000"/>
              </a:lnSpc>
            </a:pPr>
            <a:endParaRPr lang="sr-Latn-CS" altLang="en-US" sz="1700" dirty="0"/>
          </a:p>
        </p:txBody>
      </p:sp>
    </p:spTree>
  </p:cSld>
  <p:clrMapOvr>
    <a:masterClrMapping/>
  </p:clrMapOvr>
  <p:transition>
    <p:pull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1F1C5C80-306C-75BB-57E0-119D043B71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17270"/>
            <a:ext cx="9144000" cy="4823460"/>
          </a:xfrm>
          <a:prstGeom prst="rect">
            <a:avLst/>
          </a:prstGeom>
        </p:spPr>
      </p:pic>
    </p:spTree>
    <p:extLst>
      <p:ext uri="{BB962C8B-B14F-4D97-AF65-F5344CB8AC3E}">
        <p14:creationId xmlns:p14="http://schemas.microsoft.com/office/powerpoint/2010/main" val="4163387765"/>
      </p:ext>
    </p:extLst>
  </p:cSld>
  <p:clrMapOvr>
    <a:masterClrMapping/>
  </p:clrMapOvr>
  <p:transition>
    <p:pull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BB936-D84A-46CB-9E31-CC4DA17BD020}"/>
              </a:ext>
            </a:extLst>
          </p:cNvPr>
          <p:cNvSpPr>
            <a:spLocks noGrp="1"/>
          </p:cNvSpPr>
          <p:nvPr>
            <p:ph type="title"/>
          </p:nvPr>
        </p:nvSpPr>
        <p:spPr/>
        <p:txBody>
          <a:bodyPr/>
          <a:lstStyle/>
          <a:p>
            <a:r>
              <a:rPr lang="sr-Latn-RS" dirty="0"/>
              <a:t>Vreme besplatnog ručka je prošlo</a:t>
            </a:r>
            <a:endParaRPr lang="en-US" dirty="0"/>
          </a:p>
        </p:txBody>
      </p:sp>
      <p:sp>
        <p:nvSpPr>
          <p:cNvPr id="3" name="Content Placeholder 2">
            <a:extLst>
              <a:ext uri="{FF2B5EF4-FFF2-40B4-BE49-F238E27FC236}">
                <a16:creationId xmlns:a16="http://schemas.microsoft.com/office/drawing/2014/main" id="{37E50FD9-E812-553E-3CB2-8E0FD2A65328}"/>
              </a:ext>
            </a:extLst>
          </p:cNvPr>
          <p:cNvSpPr>
            <a:spLocks noGrp="1"/>
          </p:cNvSpPr>
          <p:nvPr>
            <p:ph idx="1"/>
          </p:nvPr>
        </p:nvSpPr>
        <p:spPr/>
        <p:txBody>
          <a:bodyPr/>
          <a:lstStyle/>
          <a:p>
            <a:r>
              <a:rPr lang="sr-Latn-RS" dirty="0"/>
              <a:t>Od početka ovog veka taktna frekvencija procesora se ne povećava </a:t>
            </a:r>
          </a:p>
          <a:p>
            <a:r>
              <a:rPr lang="en-US" dirty="0"/>
              <a:t>Z</a:t>
            </a:r>
            <a:r>
              <a:rPr lang="sr-Latn-RS" dirty="0"/>
              <a:t>ašto</a:t>
            </a:r>
            <a:r>
              <a:rPr lang="en-US" dirty="0"/>
              <a:t>?</a:t>
            </a:r>
          </a:p>
          <a:p>
            <a:pPr lvl="1"/>
            <a:r>
              <a:rPr lang="en-US" dirty="0"/>
              <a:t>Potro</a:t>
            </a:r>
            <a:r>
              <a:rPr lang="sr-Latn-RS" dirty="0"/>
              <a:t>šnja energije: statička i dinamička potrošnja</a:t>
            </a:r>
          </a:p>
          <a:p>
            <a:pPr lvl="1"/>
            <a:r>
              <a:rPr lang="sr-Latn-RS" dirty="0"/>
              <a:t>Dinamička potrošnja zavisi od</a:t>
            </a:r>
          </a:p>
          <a:p>
            <a:pPr lvl="2"/>
            <a:r>
              <a:rPr lang="sr-Latn-RS" dirty="0"/>
              <a:t>Broja tranzistora</a:t>
            </a:r>
          </a:p>
          <a:p>
            <a:pPr lvl="2"/>
            <a:r>
              <a:rPr lang="sr-Latn-RS" dirty="0"/>
              <a:t>Kapacitivnosti tranzistora</a:t>
            </a:r>
          </a:p>
          <a:p>
            <a:pPr lvl="2"/>
            <a:r>
              <a:rPr lang="sr-Latn-RS" dirty="0"/>
              <a:t>Kvadrata napona napajanja</a:t>
            </a:r>
          </a:p>
          <a:p>
            <a:pPr lvl="2"/>
            <a:r>
              <a:rPr lang="sr-Latn-RS" dirty="0"/>
              <a:t>Taktne frekvencije</a:t>
            </a:r>
          </a:p>
          <a:p>
            <a:pPr lvl="2"/>
            <a:endParaRPr lang="sr-Latn-RS" dirty="0"/>
          </a:p>
          <a:p>
            <a:pPr marL="457200" lvl="1" indent="0">
              <a:buNone/>
            </a:pPr>
            <a:endParaRPr lang="en-US" dirty="0"/>
          </a:p>
        </p:txBody>
      </p:sp>
    </p:spTree>
    <p:extLst>
      <p:ext uri="{BB962C8B-B14F-4D97-AF65-F5344CB8AC3E}">
        <p14:creationId xmlns:p14="http://schemas.microsoft.com/office/powerpoint/2010/main" val="3051481263"/>
      </p:ext>
    </p:extLst>
  </p:cSld>
  <p:clrMapOvr>
    <a:masterClrMapping/>
  </p:clrMapOvr>
  <p:transition>
    <p:pull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462C1209-C4CE-03BC-E448-BCEB72FBE6B2}"/>
              </a:ext>
            </a:extLst>
          </p:cNvPr>
          <p:cNvSpPr>
            <a:spLocks noGrp="1" noChangeArrowheads="1"/>
          </p:cNvSpPr>
          <p:nvPr>
            <p:ph type="title"/>
          </p:nvPr>
        </p:nvSpPr>
        <p:spPr/>
        <p:txBody>
          <a:bodyPr/>
          <a:lstStyle/>
          <a:p>
            <a:pPr>
              <a:defRPr/>
            </a:pPr>
            <a:r>
              <a:rPr lang="sr-Latn-CS" altLang="en-US"/>
              <a:t>Šta je paralelni računar</a:t>
            </a:r>
            <a:endParaRPr lang="en-US" altLang="en-US"/>
          </a:p>
        </p:txBody>
      </p:sp>
      <p:sp>
        <p:nvSpPr>
          <p:cNvPr id="99331" name="Rectangle 3">
            <a:extLst>
              <a:ext uri="{FF2B5EF4-FFF2-40B4-BE49-F238E27FC236}">
                <a16:creationId xmlns:a16="http://schemas.microsoft.com/office/drawing/2014/main" id="{3708CE39-12E9-43F8-F3A8-399E9E7D1623}"/>
              </a:ext>
            </a:extLst>
          </p:cNvPr>
          <p:cNvSpPr>
            <a:spLocks noGrp="1" noChangeArrowheads="1"/>
          </p:cNvSpPr>
          <p:nvPr>
            <p:ph type="body" idx="1"/>
          </p:nvPr>
        </p:nvSpPr>
        <p:spPr/>
        <p:txBody>
          <a:bodyPr/>
          <a:lstStyle/>
          <a:p>
            <a:pPr>
              <a:defRPr/>
            </a:pPr>
            <a:r>
              <a:rPr lang="en-US" altLang="en-US"/>
              <a:t>Defini</a:t>
            </a:r>
            <a:r>
              <a:rPr lang="sr-Latn-CS" altLang="en-US"/>
              <a:t>cija</a:t>
            </a:r>
            <a:r>
              <a:rPr lang="en-US" altLang="en-US"/>
              <a:t>: “</a:t>
            </a:r>
            <a:r>
              <a:rPr lang="sr-Latn-CS" altLang="en-US"/>
              <a:t>Paralelni računar predstavlja skup procesnih elemenat</a:t>
            </a:r>
            <a:r>
              <a:rPr lang="en-US" altLang="en-US"/>
              <a:t>a</a:t>
            </a:r>
            <a:r>
              <a:rPr lang="sr-Latn-CS" altLang="en-US"/>
              <a:t> (procesora) koji medjusobno saradjuju i komuniciraju radi bržeg rešavanja nekog problema”</a:t>
            </a:r>
          </a:p>
          <a:p>
            <a:pPr>
              <a:defRPr/>
            </a:pPr>
            <a:r>
              <a:rPr lang="sr-Latn-CS" altLang="en-US"/>
              <a:t>Pitanja</a:t>
            </a:r>
            <a:endParaRPr lang="en-US" altLang="en-US"/>
          </a:p>
          <a:p>
            <a:pPr lvl="1">
              <a:defRPr/>
            </a:pPr>
            <a:r>
              <a:rPr lang="sr-Latn-CS" altLang="en-US"/>
              <a:t>Koliko je velik taj skup</a:t>
            </a:r>
            <a:r>
              <a:rPr lang="en-US" altLang="en-US"/>
              <a:t>?</a:t>
            </a:r>
          </a:p>
          <a:p>
            <a:pPr lvl="1">
              <a:defRPr/>
            </a:pPr>
            <a:r>
              <a:rPr lang="sr-Latn-CS" altLang="en-US"/>
              <a:t>Koliko su moćni procesni elementi</a:t>
            </a:r>
            <a:r>
              <a:rPr lang="en-US" altLang="en-US"/>
              <a:t>?</a:t>
            </a:r>
          </a:p>
          <a:p>
            <a:pPr lvl="1">
              <a:defRPr/>
            </a:pPr>
            <a:r>
              <a:rPr lang="sr-Latn-CS" altLang="en-US"/>
              <a:t>Kako oni medjusobno saradjuju i komuniciraju</a:t>
            </a:r>
            <a:r>
              <a:rPr lang="en-US" altLang="en-US"/>
              <a:t>?</a:t>
            </a:r>
          </a:p>
          <a:p>
            <a:pPr lvl="1">
              <a:defRPr/>
            </a:pPr>
            <a:r>
              <a:rPr lang="sr-Latn-CS" altLang="en-US"/>
              <a:t>Kako se podaci prenose</a:t>
            </a:r>
            <a:r>
              <a:rPr lang="en-US" altLang="en-US"/>
              <a:t>? </a:t>
            </a:r>
          </a:p>
          <a:p>
            <a:pPr lvl="1">
              <a:defRPr/>
            </a:pPr>
            <a:r>
              <a:rPr lang="sr-Latn-CS" altLang="en-US"/>
              <a:t>Kako su procesni elementi medjusobno povezani</a:t>
            </a:r>
            <a:r>
              <a:rPr lang="en-US" altLang="en-US"/>
              <a:t>?</a:t>
            </a:r>
          </a:p>
          <a:p>
            <a:pPr lvl="1">
              <a:defRPr/>
            </a:pPr>
            <a:r>
              <a:rPr lang="sr-Latn-CS" altLang="en-US"/>
              <a:t>Šta </a:t>
            </a:r>
            <a:r>
              <a:rPr lang="en-US" altLang="en-US"/>
              <a:t>j</a:t>
            </a:r>
            <a:r>
              <a:rPr lang="sr-Latn-CS" altLang="en-US"/>
              <a:t>e na raspolaganju programeru</a:t>
            </a:r>
            <a:r>
              <a:rPr lang="en-US" altLang="en-US"/>
              <a:t>?</a:t>
            </a:r>
          </a:p>
          <a:p>
            <a:pPr lvl="1">
              <a:defRPr/>
            </a:pPr>
            <a:r>
              <a:rPr lang="sr-Latn-CS" altLang="en-US"/>
              <a:t>Kakve su performanse takvih sistema</a:t>
            </a:r>
            <a:r>
              <a:rPr lang="en-US" altLang="en-US"/>
              <a:t>?</a:t>
            </a:r>
          </a:p>
          <a:p>
            <a:pPr>
              <a:defRPr/>
            </a:pPr>
            <a:endParaRPr lang="en-US" altLang="en-US"/>
          </a:p>
        </p:txBody>
      </p:sp>
    </p:spTree>
  </p:cSld>
  <p:clrMapOvr>
    <a:masterClrMapping/>
  </p:clrMapOvr>
  <p:transition>
    <p:pull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C6A1EC79-CC4D-48EA-563F-9DD298DFDE87}"/>
              </a:ext>
            </a:extLst>
          </p:cNvPr>
          <p:cNvSpPr>
            <a:spLocks noGrp="1" noChangeArrowheads="1"/>
          </p:cNvSpPr>
          <p:nvPr>
            <p:ph type="title"/>
          </p:nvPr>
        </p:nvSpPr>
        <p:spPr>
          <a:xfrm>
            <a:off x="0" y="0"/>
            <a:ext cx="9144000" cy="519113"/>
          </a:xfrm>
        </p:spPr>
        <p:txBody>
          <a:bodyPr/>
          <a:lstStyle/>
          <a:p>
            <a:pPr>
              <a:defRPr/>
            </a:pPr>
            <a:r>
              <a:rPr lang="sr-Latn-CS" altLang="en-US" sz="2800"/>
              <a:t>Na kojim nivoima se paralelizam može eksploatisati?</a:t>
            </a:r>
            <a:endParaRPr lang="en-US" altLang="en-US" sz="2800"/>
          </a:p>
        </p:txBody>
      </p:sp>
      <p:sp>
        <p:nvSpPr>
          <p:cNvPr id="100355" name="Rectangle 3">
            <a:extLst>
              <a:ext uri="{FF2B5EF4-FFF2-40B4-BE49-F238E27FC236}">
                <a16:creationId xmlns:a16="http://schemas.microsoft.com/office/drawing/2014/main" id="{1CAF9C03-C4F9-B03E-DDEE-0707DE8E8E5D}"/>
              </a:ext>
            </a:extLst>
          </p:cNvPr>
          <p:cNvSpPr>
            <a:spLocks noGrp="1" noChangeArrowheads="1"/>
          </p:cNvSpPr>
          <p:nvPr>
            <p:ph type="body" idx="1"/>
          </p:nvPr>
        </p:nvSpPr>
        <p:spPr/>
        <p:txBody>
          <a:bodyPr>
            <a:normAutofit/>
          </a:bodyPr>
          <a:lstStyle/>
          <a:p>
            <a:pPr>
              <a:lnSpc>
                <a:spcPct val="90000"/>
              </a:lnSpc>
            </a:pPr>
            <a:r>
              <a:rPr lang="sr-Latn-CS" altLang="en-US" sz="2200" dirty="0"/>
              <a:t>Paralelizam na nivo</a:t>
            </a:r>
            <a:r>
              <a:rPr lang="en-US" altLang="en-US" sz="2200" dirty="0"/>
              <a:t>u</a:t>
            </a:r>
            <a:r>
              <a:rPr lang="sr-Latn-CS" altLang="en-US" sz="2200" dirty="0"/>
              <a:t> bitova</a:t>
            </a:r>
            <a:r>
              <a:rPr lang="en-US" altLang="en-US" sz="2200" dirty="0"/>
              <a:t>: 1970 </a:t>
            </a:r>
            <a:r>
              <a:rPr lang="sr-Latn-CS" altLang="en-US" sz="2200" dirty="0"/>
              <a:t>do</a:t>
            </a:r>
            <a:r>
              <a:rPr lang="en-US" altLang="en-US" sz="2200" dirty="0"/>
              <a:t> ~1985</a:t>
            </a:r>
          </a:p>
          <a:p>
            <a:pPr lvl="1">
              <a:lnSpc>
                <a:spcPct val="90000"/>
              </a:lnSpc>
            </a:pPr>
            <a:r>
              <a:rPr lang="en-US" altLang="en-US" sz="1900" dirty="0"/>
              <a:t>4 bits, 8 bit, 16 bit, 32</a:t>
            </a:r>
            <a:r>
              <a:rPr lang="sr-Latn-RS" altLang="en-US" sz="1900" dirty="0"/>
              <a:t>, 64</a:t>
            </a:r>
            <a:r>
              <a:rPr lang="en-US" altLang="en-US" sz="1900" dirty="0"/>
              <a:t> bit</a:t>
            </a:r>
            <a:r>
              <a:rPr lang="sr-Latn-RS" altLang="en-US" sz="1900" dirty="0"/>
              <a:t>ni</a:t>
            </a:r>
            <a:r>
              <a:rPr lang="en-US" altLang="en-US" sz="1900" dirty="0"/>
              <a:t> mi</a:t>
            </a:r>
            <a:r>
              <a:rPr lang="sr-Latn-CS" altLang="en-US" sz="1900" dirty="0"/>
              <a:t>k</a:t>
            </a:r>
            <a:r>
              <a:rPr lang="en-US" altLang="en-US" sz="1900" dirty="0" err="1"/>
              <a:t>roprocesor</a:t>
            </a:r>
            <a:r>
              <a:rPr lang="sr-Latn-CS" altLang="en-US" sz="1900" dirty="0"/>
              <a:t>i</a:t>
            </a:r>
            <a:endParaRPr lang="en-US" altLang="en-US" sz="1900" dirty="0"/>
          </a:p>
          <a:p>
            <a:pPr>
              <a:lnSpc>
                <a:spcPct val="90000"/>
              </a:lnSpc>
            </a:pPr>
            <a:r>
              <a:rPr lang="sr-Latn-CS" altLang="en-US" sz="2200" dirty="0"/>
              <a:t>Paralelizam na nivou instrukcija</a:t>
            </a:r>
            <a:r>
              <a:rPr lang="en-US" altLang="en-US" sz="2200" dirty="0"/>
              <a:t> (ILP): </a:t>
            </a:r>
            <a:br>
              <a:rPr lang="en-US" altLang="en-US" sz="2200" dirty="0"/>
            </a:br>
            <a:r>
              <a:rPr lang="en-US" altLang="en-US" sz="2200" dirty="0"/>
              <a:t>~1985 </a:t>
            </a:r>
            <a:r>
              <a:rPr lang="sr-Latn-CS" altLang="en-US" sz="2200" dirty="0"/>
              <a:t>do </a:t>
            </a:r>
            <a:r>
              <a:rPr lang="en-US" altLang="en-US" sz="2200" dirty="0" err="1"/>
              <a:t>kraja</a:t>
            </a:r>
            <a:r>
              <a:rPr lang="en-US" altLang="en-US" sz="2200" dirty="0"/>
              <a:t> 1990ih</a:t>
            </a:r>
          </a:p>
          <a:p>
            <a:pPr lvl="1">
              <a:lnSpc>
                <a:spcPct val="90000"/>
              </a:lnSpc>
            </a:pPr>
            <a:r>
              <a:rPr lang="sr-Latn-CS" altLang="en-US" sz="1900" dirty="0"/>
              <a:t>Protočnost (</a:t>
            </a:r>
            <a:r>
              <a:rPr lang="en-US" altLang="en-US" sz="1900" dirty="0"/>
              <a:t>Pipelining</a:t>
            </a:r>
            <a:r>
              <a:rPr lang="sr-Latn-CS" altLang="en-US" sz="1900" dirty="0"/>
              <a:t>) </a:t>
            </a:r>
            <a:r>
              <a:rPr lang="en-US" altLang="en-US" sz="1900" dirty="0"/>
              <a:t>i RISC + </a:t>
            </a:r>
            <a:r>
              <a:rPr lang="sr-Latn-RS" altLang="en-US" sz="1900" dirty="0"/>
              <a:t>moćni kompilatori</a:t>
            </a:r>
            <a:endParaRPr lang="en-US" altLang="en-US" sz="2100" dirty="0"/>
          </a:p>
          <a:p>
            <a:pPr lvl="1">
              <a:lnSpc>
                <a:spcPct val="90000"/>
              </a:lnSpc>
              <a:spcBef>
                <a:spcPct val="40000"/>
              </a:spcBef>
            </a:pPr>
            <a:r>
              <a:rPr lang="en-US" altLang="en-US" sz="1900" dirty="0"/>
              <a:t>Supers</a:t>
            </a:r>
            <a:r>
              <a:rPr lang="sr-Latn-CS" altLang="en-US" sz="1900" dirty="0"/>
              <a:t>kalarni procesori</a:t>
            </a:r>
          </a:p>
          <a:p>
            <a:pPr lvl="1">
              <a:lnSpc>
                <a:spcPct val="90000"/>
              </a:lnSpc>
            </a:pPr>
            <a:r>
              <a:rPr lang="en-US" altLang="en-US" sz="1900" dirty="0"/>
              <a:t>VLIW</a:t>
            </a:r>
          </a:p>
          <a:p>
            <a:pPr lvl="1">
              <a:lnSpc>
                <a:spcPct val="90000"/>
              </a:lnSpc>
            </a:pPr>
            <a:r>
              <a:rPr lang="en-US" altLang="en-US" sz="1900" dirty="0"/>
              <a:t>Ova </a:t>
            </a:r>
            <a:r>
              <a:rPr lang="en-US" altLang="en-US" sz="1900" dirty="0" err="1"/>
              <a:t>hardverska</a:t>
            </a:r>
            <a:r>
              <a:rPr lang="en-US" altLang="en-US" sz="1900" dirty="0"/>
              <a:t> </a:t>
            </a:r>
            <a:r>
              <a:rPr lang="en-US" altLang="en-US" sz="1900" dirty="0" err="1"/>
              <a:t>pobolj</a:t>
            </a:r>
            <a:r>
              <a:rPr lang="sr-Latn-BA" altLang="en-US" sz="1900" dirty="0"/>
              <a:t>šanja nisu skalabilna i zahtevaju sofisticirane kompajlerske tehnologije. </a:t>
            </a:r>
          </a:p>
          <a:p>
            <a:pPr lvl="1">
              <a:lnSpc>
                <a:spcPct val="90000"/>
              </a:lnSpc>
            </a:pPr>
            <a:r>
              <a:rPr lang="sr-Latn-BA" altLang="en-US" sz="1900" dirty="0"/>
              <a:t>Vektorki računari takođe koriste LLP i imaju dobre performanse samo za određeni broj problema.</a:t>
            </a:r>
            <a:endParaRPr lang="en-US" altLang="en-US" sz="1900" dirty="0"/>
          </a:p>
          <a:p>
            <a:pPr>
              <a:lnSpc>
                <a:spcPct val="90000"/>
              </a:lnSpc>
            </a:pPr>
            <a:r>
              <a:rPr lang="sr-Latn-CS" altLang="en-US" sz="2200" dirty="0"/>
              <a:t>Paralelizam na nivou zadataka (procesa, taskova)</a:t>
            </a:r>
            <a:endParaRPr lang="sr-Latn-CS" altLang="en-US" sz="2400" dirty="0"/>
          </a:p>
          <a:p>
            <a:pPr lvl="1">
              <a:lnSpc>
                <a:spcPct val="90000"/>
              </a:lnSpc>
            </a:pPr>
            <a:r>
              <a:rPr lang="sr-Latn-CS" altLang="en-US" sz="1900" dirty="0"/>
              <a:t>Više procesa simultano rešava dati problem</a:t>
            </a:r>
          </a:p>
          <a:p>
            <a:pPr lvl="1">
              <a:lnSpc>
                <a:spcPct val="90000"/>
              </a:lnSpc>
            </a:pPr>
            <a:r>
              <a:rPr lang="sr-Latn-CS" altLang="en-US" sz="1900" dirty="0"/>
              <a:t>Opšte prihvaćen trend kod računara opšte namene</a:t>
            </a:r>
          </a:p>
          <a:p>
            <a:pPr lvl="1">
              <a:lnSpc>
                <a:spcPct val="90000"/>
              </a:lnSpc>
            </a:pPr>
            <a:r>
              <a:rPr lang="sr-Latn-CS" altLang="en-US" sz="1900" dirty="0"/>
              <a:t>Komunikacija i sinhronizacija procesa čine srž paralelnog programiranja</a:t>
            </a:r>
          </a:p>
          <a:p>
            <a:pPr lvl="1">
              <a:lnSpc>
                <a:spcPct val="90000"/>
              </a:lnSpc>
            </a:pPr>
            <a:r>
              <a:rPr lang="en-US" altLang="en-US" sz="1900" dirty="0"/>
              <a:t>Server</a:t>
            </a:r>
            <a:r>
              <a:rPr lang="sr-Latn-CS" altLang="en-US" sz="1900" dirty="0"/>
              <a:t>i</a:t>
            </a:r>
            <a:r>
              <a:rPr lang="en-US" altLang="en-US" sz="1900" dirty="0"/>
              <a:t> </a:t>
            </a:r>
            <a:r>
              <a:rPr lang="sr-Latn-CS" altLang="en-US" sz="1900" dirty="0"/>
              <a:t>su</a:t>
            </a:r>
            <a:r>
              <a:rPr lang="en-US" altLang="en-US" sz="1900" dirty="0"/>
              <a:t> </a:t>
            </a:r>
            <a:r>
              <a:rPr lang="en-US" altLang="en-US" sz="1900" dirty="0" err="1"/>
              <a:t>paral</a:t>
            </a:r>
            <a:r>
              <a:rPr lang="sr-Latn-CS" altLang="en-US" sz="1900" dirty="0"/>
              <a:t>elni</a:t>
            </a:r>
            <a:r>
              <a:rPr lang="en-US" altLang="en-US" sz="1900" dirty="0"/>
              <a:t>l</a:t>
            </a:r>
          </a:p>
          <a:p>
            <a:pPr lvl="1">
              <a:lnSpc>
                <a:spcPct val="90000"/>
              </a:lnSpc>
            </a:pPr>
            <a:r>
              <a:rPr lang="en-US" altLang="en-US" sz="1900" dirty="0"/>
              <a:t>dual, quad - core PC</a:t>
            </a:r>
            <a:r>
              <a:rPr lang="sr-Latn-RS" altLang="en-US" sz="1900" dirty="0"/>
              <a:t>, ....</a:t>
            </a:r>
            <a:endParaRPr lang="en-US" altLang="en-US" sz="1900" dirty="0"/>
          </a:p>
          <a:p>
            <a:pPr>
              <a:lnSpc>
                <a:spcPct val="90000"/>
              </a:lnSpc>
            </a:pPr>
            <a:endParaRPr lang="en-US" altLang="en-US" sz="2200" dirty="0"/>
          </a:p>
        </p:txBody>
      </p:sp>
    </p:spTree>
  </p:cSld>
  <p:clrMapOvr>
    <a:masterClrMapping/>
  </p:clrMapOvr>
  <p:transition>
    <p:pull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04C8BD5B-EACA-9546-A8DA-C4E5D4A6DC58}"/>
              </a:ext>
            </a:extLst>
          </p:cNvPr>
          <p:cNvSpPr>
            <a:spLocks noGrp="1" noChangeArrowheads="1"/>
          </p:cNvSpPr>
          <p:nvPr>
            <p:ph type="title"/>
          </p:nvPr>
        </p:nvSpPr>
        <p:spPr/>
        <p:txBody>
          <a:bodyPr/>
          <a:lstStyle/>
          <a:p>
            <a:pPr>
              <a:defRPr/>
            </a:pPr>
            <a:r>
              <a:rPr lang="hr-HR" altLang="en-US"/>
              <a:t>Podela PRS</a:t>
            </a:r>
            <a:endParaRPr lang="en-US" altLang="en-US"/>
          </a:p>
        </p:txBody>
      </p:sp>
      <p:sp>
        <p:nvSpPr>
          <p:cNvPr id="44035" name="Rectangle 3">
            <a:extLst>
              <a:ext uri="{FF2B5EF4-FFF2-40B4-BE49-F238E27FC236}">
                <a16:creationId xmlns:a16="http://schemas.microsoft.com/office/drawing/2014/main" id="{4C492635-1F2B-0C01-383A-024BEDDFFCA2}"/>
              </a:ext>
            </a:extLst>
          </p:cNvPr>
          <p:cNvSpPr>
            <a:spLocks noGrp="1" noChangeArrowheads="1"/>
          </p:cNvSpPr>
          <p:nvPr>
            <p:ph type="body" idx="1"/>
          </p:nvPr>
        </p:nvSpPr>
        <p:spPr/>
        <p:txBody>
          <a:bodyPr/>
          <a:lstStyle/>
          <a:p>
            <a:pPr>
              <a:lnSpc>
                <a:spcPct val="90000"/>
              </a:lnSpc>
              <a:defRPr/>
            </a:pPr>
            <a:r>
              <a:rPr lang="hr-HR" altLang="en-US"/>
              <a:t>U odnosu na način upravljanja:</a:t>
            </a:r>
          </a:p>
          <a:p>
            <a:pPr lvl="1">
              <a:lnSpc>
                <a:spcPct val="90000"/>
              </a:lnSpc>
              <a:defRPr/>
            </a:pPr>
            <a:r>
              <a:rPr lang="hr-HR" altLang="en-US"/>
              <a:t>Programski upravljane (control driven Von Neumann)</a:t>
            </a:r>
          </a:p>
          <a:p>
            <a:pPr lvl="2">
              <a:lnSpc>
                <a:spcPct val="90000"/>
              </a:lnSpc>
              <a:defRPr/>
            </a:pPr>
            <a:r>
              <a:rPr lang="hr-HR" altLang="en-US"/>
              <a:t>Redosled izvršenja instrukcija odredjen je sadržajem programskog brojača. </a:t>
            </a:r>
          </a:p>
          <a:p>
            <a:pPr lvl="3">
              <a:lnSpc>
                <a:spcPct val="90000"/>
              </a:lnSpc>
              <a:defRPr/>
            </a:pPr>
            <a:r>
              <a:rPr lang="hr-HR" altLang="en-US"/>
              <a:t>Paralelne arhitekture se dobijaju povezivanjem dv</a:t>
            </a:r>
            <a:r>
              <a:rPr lang="en-US" altLang="en-US"/>
              <a:t>e</a:t>
            </a:r>
            <a:r>
              <a:rPr lang="hr-HR" altLang="en-US"/>
              <a:t> ili više jednoproceso</a:t>
            </a:r>
            <a:r>
              <a:rPr lang="en-US" altLang="en-US"/>
              <a:t>r</a:t>
            </a:r>
            <a:r>
              <a:rPr lang="hr-HR" altLang="en-US"/>
              <a:t>skih mašina</a:t>
            </a:r>
          </a:p>
          <a:p>
            <a:pPr lvl="3">
              <a:lnSpc>
                <a:spcPct val="90000"/>
              </a:lnSpc>
              <a:defRPr/>
            </a:pPr>
            <a:r>
              <a:rPr lang="hr-HR" altLang="en-US"/>
              <a:t>Svaka procesorska jedinica sledi tradicionalnu sekvencu mašinskih ciklusa: pribavljanje instrukcije-izvršenje-smeštanje rezultata</a:t>
            </a:r>
          </a:p>
          <a:p>
            <a:pPr lvl="1">
              <a:lnSpc>
                <a:spcPct val="90000"/>
              </a:lnSpc>
              <a:defRPr/>
            </a:pPr>
            <a:r>
              <a:rPr lang="hr-HR" altLang="en-US"/>
              <a:t>Upravljanje definisano tokom podataka (Data flow računari)</a:t>
            </a:r>
          </a:p>
          <a:p>
            <a:pPr lvl="2">
              <a:lnSpc>
                <a:spcPct val="90000"/>
              </a:lnSpc>
              <a:defRPr/>
            </a:pPr>
            <a:r>
              <a:rPr lang="hr-HR" altLang="en-US"/>
              <a:t>Instrukcija se izvršava čim je dostupna odgovarajuća kombinacija njenih argumenata (halapljiva izračunavanja)</a:t>
            </a:r>
          </a:p>
          <a:p>
            <a:pPr lvl="3">
              <a:lnSpc>
                <a:spcPct val="90000"/>
              </a:lnSpc>
              <a:defRPr/>
            </a:pPr>
            <a:r>
              <a:rPr lang="hr-HR" altLang="en-US"/>
              <a:t>poseduju sitno zrnasti paralelizam na nivou instrukcija</a:t>
            </a:r>
          </a:p>
          <a:p>
            <a:pPr lvl="1">
              <a:lnSpc>
                <a:spcPct val="90000"/>
              </a:lnSpc>
              <a:defRPr/>
            </a:pPr>
            <a:r>
              <a:rPr lang="hr-HR" altLang="en-US"/>
              <a:t>Upravljanje po zahtevu (deamand driven, Reduction mašine)</a:t>
            </a:r>
          </a:p>
          <a:p>
            <a:pPr lvl="2">
              <a:lnSpc>
                <a:spcPct val="90000"/>
              </a:lnSpc>
              <a:defRPr/>
            </a:pPr>
            <a:r>
              <a:rPr lang="hr-HR" altLang="en-US"/>
              <a:t>Izvršavaju se samo one instrukcije čiji je rezultat potreban za druga izračunavanja.</a:t>
            </a:r>
          </a:p>
          <a:p>
            <a:pPr lvl="3">
              <a:lnSpc>
                <a:spcPct val="90000"/>
              </a:lnSpc>
              <a:defRPr/>
            </a:pPr>
            <a:r>
              <a:rPr lang="hr-HR" altLang="en-US"/>
              <a:t>Program se može posmatrati kao niz ugnježdjenih izračunavanja, a</a:t>
            </a:r>
            <a:r>
              <a:rPr lang="en-US" altLang="en-US"/>
              <a:t> </a:t>
            </a:r>
            <a:r>
              <a:rPr lang="hr-HR" altLang="en-US"/>
              <a:t>izvršenje se obavlja redukovanjem najdublje ugnježdjenih izračunavanja u saglasnosti sa semantikom odgovarajućih operatora, sve dok postoji potreba za izračunavanjem</a:t>
            </a:r>
          </a:p>
          <a:p>
            <a:pPr lvl="3">
              <a:lnSpc>
                <a:spcPct val="90000"/>
              </a:lnSpc>
              <a:defRPr/>
            </a:pPr>
            <a:endParaRPr lang="en-US" altLang="en-US"/>
          </a:p>
        </p:txBody>
      </p:sp>
    </p:spTree>
  </p:cSld>
  <p:clrMapOvr>
    <a:masterClrMapping/>
  </p:clrMapOvr>
  <p:transition>
    <p:pull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D734F8D6-2F4E-BF4A-D0BA-FCA334989CE9}"/>
              </a:ext>
            </a:extLst>
          </p:cNvPr>
          <p:cNvSpPr>
            <a:spLocks noGrp="1" noChangeArrowheads="1"/>
          </p:cNvSpPr>
          <p:nvPr>
            <p:ph type="title"/>
          </p:nvPr>
        </p:nvSpPr>
        <p:spPr/>
        <p:txBody>
          <a:bodyPr/>
          <a:lstStyle/>
          <a:p>
            <a:pPr>
              <a:defRPr/>
            </a:pPr>
            <a:r>
              <a:rPr lang="hr-HR" altLang="en-US"/>
              <a:t>Data flow i Reduction prilaz</a:t>
            </a:r>
            <a:endParaRPr lang="en-US" altLang="en-US"/>
          </a:p>
        </p:txBody>
      </p:sp>
      <p:sp>
        <p:nvSpPr>
          <p:cNvPr id="45059" name="Rectangle 3">
            <a:extLst>
              <a:ext uri="{FF2B5EF4-FFF2-40B4-BE49-F238E27FC236}">
                <a16:creationId xmlns:a16="http://schemas.microsoft.com/office/drawing/2014/main" id="{F5E4A81E-C1A9-4A2A-D2D4-FF853B4764DE}"/>
              </a:ext>
            </a:extLst>
          </p:cNvPr>
          <p:cNvSpPr>
            <a:spLocks noGrp="1" noChangeArrowheads="1"/>
          </p:cNvSpPr>
          <p:nvPr>
            <p:ph type="body" idx="1"/>
          </p:nvPr>
        </p:nvSpPr>
        <p:spPr/>
        <p:txBody>
          <a:bodyPr/>
          <a:lstStyle/>
          <a:p>
            <a:pPr>
              <a:defRPr/>
            </a:pPr>
            <a:r>
              <a:rPr lang="hr-HR" altLang="en-US"/>
              <a:t>Data flow računari koriste prilaz “odozdo-na-gore” u izračunavanju</a:t>
            </a:r>
          </a:p>
          <a:p>
            <a:pPr>
              <a:defRPr/>
            </a:pPr>
            <a:r>
              <a:rPr lang="hr-HR" altLang="en-US"/>
              <a:t>Reduction mašine koriste prilaz “s-vrha –na-niže”</a:t>
            </a:r>
          </a:p>
          <a:p>
            <a:pPr>
              <a:defRPr/>
            </a:pPr>
            <a:r>
              <a:rPr lang="hr-HR" altLang="en-US"/>
              <a:t>Primer</a:t>
            </a:r>
          </a:p>
          <a:p>
            <a:pPr lvl="1">
              <a:defRPr/>
            </a:pPr>
            <a:r>
              <a:rPr lang="hr-HR" altLang="en-US"/>
              <a:t>a=(b+1)*c-d/e</a:t>
            </a:r>
            <a:endParaRPr lang="en-US" altLang="en-US"/>
          </a:p>
        </p:txBody>
      </p:sp>
      <p:sp>
        <p:nvSpPr>
          <p:cNvPr id="45060" name="Text Box 4">
            <a:extLst>
              <a:ext uri="{FF2B5EF4-FFF2-40B4-BE49-F238E27FC236}">
                <a16:creationId xmlns:a16="http://schemas.microsoft.com/office/drawing/2014/main" id="{328F15B9-2A11-6D72-D440-DB2379B4E075}"/>
              </a:ext>
            </a:extLst>
          </p:cNvPr>
          <p:cNvSpPr txBox="1">
            <a:spLocks noChangeArrowheads="1"/>
          </p:cNvSpPr>
          <p:nvPr/>
        </p:nvSpPr>
        <p:spPr bwMode="auto">
          <a:xfrm>
            <a:off x="2879725" y="6132513"/>
            <a:ext cx="2584450" cy="366712"/>
          </a:xfrm>
          <a:prstGeom prst="rect">
            <a:avLst/>
          </a:prstGeom>
          <a:noFill/>
          <a:ln>
            <a:noFill/>
          </a:ln>
          <a:effectLst/>
        </p:spPr>
        <p:txBody>
          <a:bodyPr wrap="none" anchor="b">
            <a:spAutoFit/>
          </a:bodyPr>
          <a:lstStyle/>
          <a:p>
            <a:pPr>
              <a:defRPr/>
            </a:pPr>
            <a:r>
              <a:rPr lang="hr-HR" altLang="en-US">
                <a:effectLst>
                  <a:outerShdw blurRad="38100" dist="38100" dir="2700000" algn="tl">
                    <a:srgbClr val="C0C0C0"/>
                  </a:outerShdw>
                </a:effectLst>
              </a:rPr>
              <a:t>b       1       c       d       e</a:t>
            </a:r>
            <a:endParaRPr lang="en-US" altLang="en-US">
              <a:effectLst>
                <a:outerShdw blurRad="38100" dist="38100" dir="2700000" algn="tl">
                  <a:srgbClr val="C0C0C0"/>
                </a:outerShdw>
              </a:effectLst>
            </a:endParaRPr>
          </a:p>
        </p:txBody>
      </p:sp>
      <p:sp>
        <p:nvSpPr>
          <p:cNvPr id="45062" name="Text Box 6">
            <a:extLst>
              <a:ext uri="{FF2B5EF4-FFF2-40B4-BE49-F238E27FC236}">
                <a16:creationId xmlns:a16="http://schemas.microsoft.com/office/drawing/2014/main" id="{E9DFBF0D-5DFD-8401-5848-D2A05BEF67AF}"/>
              </a:ext>
            </a:extLst>
          </p:cNvPr>
          <p:cNvSpPr txBox="1">
            <a:spLocks noChangeArrowheads="1"/>
          </p:cNvSpPr>
          <p:nvPr/>
        </p:nvSpPr>
        <p:spPr bwMode="auto">
          <a:xfrm>
            <a:off x="3260725" y="5522913"/>
            <a:ext cx="1905000" cy="366712"/>
          </a:xfrm>
          <a:prstGeom prst="rect">
            <a:avLst/>
          </a:prstGeom>
          <a:noFill/>
          <a:ln>
            <a:noFill/>
          </a:ln>
          <a:effectLst/>
        </p:spPr>
        <p:txBody>
          <a:bodyPr wrap="none" anchor="b">
            <a:spAutoFit/>
          </a:bodyPr>
          <a:lstStyle/>
          <a:p>
            <a:pPr>
              <a:defRPr/>
            </a:pPr>
            <a:r>
              <a:rPr lang="hr-HR" altLang="en-US">
                <a:effectLst>
                  <a:outerShdw blurRad="38100" dist="38100" dir="2700000" algn="tl">
                    <a:srgbClr val="C0C0C0"/>
                  </a:outerShdw>
                </a:effectLst>
              </a:rPr>
              <a:t>+                        /</a:t>
            </a:r>
            <a:endParaRPr lang="en-US" altLang="en-US">
              <a:effectLst>
                <a:outerShdw blurRad="38100" dist="38100" dir="2700000" algn="tl">
                  <a:srgbClr val="C0C0C0"/>
                </a:outerShdw>
              </a:effectLst>
            </a:endParaRPr>
          </a:p>
        </p:txBody>
      </p:sp>
      <p:sp>
        <p:nvSpPr>
          <p:cNvPr id="45064" name="Text Box 8">
            <a:extLst>
              <a:ext uri="{FF2B5EF4-FFF2-40B4-BE49-F238E27FC236}">
                <a16:creationId xmlns:a16="http://schemas.microsoft.com/office/drawing/2014/main" id="{62D96E61-338C-355F-905C-AAE797BB252F}"/>
              </a:ext>
            </a:extLst>
          </p:cNvPr>
          <p:cNvSpPr txBox="1">
            <a:spLocks noChangeArrowheads="1"/>
          </p:cNvSpPr>
          <p:nvPr/>
        </p:nvSpPr>
        <p:spPr bwMode="auto">
          <a:xfrm>
            <a:off x="3717925" y="4913313"/>
            <a:ext cx="273050" cy="366712"/>
          </a:xfrm>
          <a:prstGeom prst="rect">
            <a:avLst/>
          </a:prstGeom>
          <a:noFill/>
          <a:ln>
            <a:noFill/>
          </a:ln>
          <a:effectLst/>
        </p:spPr>
        <p:txBody>
          <a:bodyPr wrap="none" anchor="b">
            <a:spAutoFit/>
          </a:bodyPr>
          <a:lstStyle/>
          <a:p>
            <a:pPr>
              <a:defRPr/>
            </a:pPr>
            <a:r>
              <a:rPr lang="hr-HR" altLang="en-US">
                <a:effectLst>
                  <a:outerShdw blurRad="38100" dist="38100" dir="2700000" algn="tl">
                    <a:srgbClr val="C0C0C0"/>
                  </a:outerShdw>
                </a:effectLst>
              </a:rPr>
              <a:t>*</a:t>
            </a:r>
            <a:endParaRPr lang="en-US" altLang="en-US">
              <a:effectLst>
                <a:outerShdw blurRad="38100" dist="38100" dir="2700000" algn="tl">
                  <a:srgbClr val="C0C0C0"/>
                </a:outerShdw>
              </a:effectLst>
            </a:endParaRPr>
          </a:p>
        </p:txBody>
      </p:sp>
      <p:sp>
        <p:nvSpPr>
          <p:cNvPr id="45066" name="Text Box 10">
            <a:extLst>
              <a:ext uri="{FF2B5EF4-FFF2-40B4-BE49-F238E27FC236}">
                <a16:creationId xmlns:a16="http://schemas.microsoft.com/office/drawing/2014/main" id="{523E6519-E10E-1DBF-660F-B3C7D47CBD53}"/>
              </a:ext>
            </a:extLst>
          </p:cNvPr>
          <p:cNvSpPr txBox="1">
            <a:spLocks noChangeArrowheads="1"/>
          </p:cNvSpPr>
          <p:nvPr/>
        </p:nvSpPr>
        <p:spPr bwMode="auto">
          <a:xfrm>
            <a:off x="4251325" y="4151313"/>
            <a:ext cx="336550" cy="366712"/>
          </a:xfrm>
          <a:prstGeom prst="rect">
            <a:avLst/>
          </a:prstGeom>
          <a:noFill/>
          <a:ln>
            <a:noFill/>
          </a:ln>
          <a:effectLst/>
        </p:spPr>
        <p:txBody>
          <a:bodyPr wrap="none" anchor="b">
            <a:spAutoFit/>
          </a:bodyPr>
          <a:lstStyle/>
          <a:p>
            <a:pPr>
              <a:defRPr/>
            </a:pPr>
            <a:r>
              <a:rPr lang="hr-HR" altLang="en-US">
                <a:effectLst>
                  <a:outerShdw blurRad="38100" dist="38100" dir="2700000" algn="tl">
                    <a:srgbClr val="C0C0C0"/>
                  </a:outerShdw>
                </a:effectLst>
              </a:rPr>
              <a:t>--</a:t>
            </a:r>
            <a:endParaRPr lang="en-US" altLang="en-US">
              <a:effectLst>
                <a:outerShdw blurRad="38100" dist="38100" dir="2700000" algn="tl">
                  <a:srgbClr val="C0C0C0"/>
                </a:outerShdw>
              </a:effectLst>
            </a:endParaRPr>
          </a:p>
        </p:txBody>
      </p:sp>
      <p:sp>
        <p:nvSpPr>
          <p:cNvPr id="45069" name="Line 13">
            <a:extLst>
              <a:ext uri="{FF2B5EF4-FFF2-40B4-BE49-F238E27FC236}">
                <a16:creationId xmlns:a16="http://schemas.microsoft.com/office/drawing/2014/main" id="{BF8269E4-BD97-697A-F020-6A824411EFAF}"/>
              </a:ext>
            </a:extLst>
          </p:cNvPr>
          <p:cNvSpPr>
            <a:spLocks noChangeShapeType="1"/>
          </p:cNvSpPr>
          <p:nvPr/>
        </p:nvSpPr>
        <p:spPr bwMode="auto">
          <a:xfrm flipV="1">
            <a:off x="3048000" y="5791200"/>
            <a:ext cx="304800" cy="381000"/>
          </a:xfrm>
          <a:prstGeom prst="line">
            <a:avLst/>
          </a:prstGeom>
          <a:noFill/>
          <a:ln w="9525">
            <a:solidFill>
              <a:schemeClr val="tx1"/>
            </a:solidFill>
            <a:round/>
            <a:headEnd/>
            <a:tailEnd/>
          </a:ln>
          <a:effectLst/>
        </p:spPr>
        <p:txBody>
          <a:bodyPr wrap="none" anchor="b">
            <a:spAutoFit/>
          </a:bodyPr>
          <a:lstStyle/>
          <a:p>
            <a:pPr>
              <a:defRPr/>
            </a:pPr>
            <a:endParaRPr lang="en-US"/>
          </a:p>
        </p:txBody>
      </p:sp>
      <p:sp>
        <p:nvSpPr>
          <p:cNvPr id="45070" name="Line 14">
            <a:extLst>
              <a:ext uri="{FF2B5EF4-FFF2-40B4-BE49-F238E27FC236}">
                <a16:creationId xmlns:a16="http://schemas.microsoft.com/office/drawing/2014/main" id="{7FF7ED82-3F27-A182-17B1-6CBC8EDCB83F}"/>
              </a:ext>
            </a:extLst>
          </p:cNvPr>
          <p:cNvSpPr>
            <a:spLocks noChangeShapeType="1"/>
          </p:cNvSpPr>
          <p:nvPr/>
        </p:nvSpPr>
        <p:spPr bwMode="auto">
          <a:xfrm flipH="1" flipV="1">
            <a:off x="3429000" y="5791200"/>
            <a:ext cx="228600" cy="457200"/>
          </a:xfrm>
          <a:prstGeom prst="line">
            <a:avLst/>
          </a:prstGeom>
          <a:noFill/>
          <a:ln w="9525">
            <a:solidFill>
              <a:schemeClr val="tx1"/>
            </a:solidFill>
            <a:round/>
            <a:headEnd/>
            <a:tailEnd/>
          </a:ln>
          <a:effectLst/>
        </p:spPr>
        <p:txBody>
          <a:bodyPr wrap="none" anchor="b">
            <a:spAutoFit/>
          </a:bodyPr>
          <a:lstStyle/>
          <a:p>
            <a:pPr>
              <a:defRPr/>
            </a:pPr>
            <a:endParaRPr lang="en-US"/>
          </a:p>
        </p:txBody>
      </p:sp>
      <p:sp>
        <p:nvSpPr>
          <p:cNvPr id="45071" name="Line 15">
            <a:extLst>
              <a:ext uri="{FF2B5EF4-FFF2-40B4-BE49-F238E27FC236}">
                <a16:creationId xmlns:a16="http://schemas.microsoft.com/office/drawing/2014/main" id="{76D1B79B-4AEE-5C52-A202-13AEFD7360E0}"/>
              </a:ext>
            </a:extLst>
          </p:cNvPr>
          <p:cNvSpPr>
            <a:spLocks noChangeShapeType="1"/>
          </p:cNvSpPr>
          <p:nvPr/>
        </p:nvSpPr>
        <p:spPr bwMode="auto">
          <a:xfrm flipV="1">
            <a:off x="4724400" y="5867400"/>
            <a:ext cx="304800" cy="381000"/>
          </a:xfrm>
          <a:prstGeom prst="line">
            <a:avLst/>
          </a:prstGeom>
          <a:noFill/>
          <a:ln w="9525">
            <a:solidFill>
              <a:schemeClr val="tx1"/>
            </a:solidFill>
            <a:round/>
            <a:headEnd/>
            <a:tailEnd/>
          </a:ln>
          <a:effectLst/>
        </p:spPr>
        <p:txBody>
          <a:bodyPr wrap="none" anchor="b">
            <a:spAutoFit/>
          </a:bodyPr>
          <a:lstStyle/>
          <a:p>
            <a:pPr>
              <a:defRPr/>
            </a:pPr>
            <a:endParaRPr lang="en-US"/>
          </a:p>
        </p:txBody>
      </p:sp>
      <p:sp>
        <p:nvSpPr>
          <p:cNvPr id="45072" name="Line 16">
            <a:extLst>
              <a:ext uri="{FF2B5EF4-FFF2-40B4-BE49-F238E27FC236}">
                <a16:creationId xmlns:a16="http://schemas.microsoft.com/office/drawing/2014/main" id="{FB0CBA56-00D3-881F-DDD1-A308BE67C81F}"/>
              </a:ext>
            </a:extLst>
          </p:cNvPr>
          <p:cNvSpPr>
            <a:spLocks noChangeShapeType="1"/>
          </p:cNvSpPr>
          <p:nvPr/>
        </p:nvSpPr>
        <p:spPr bwMode="auto">
          <a:xfrm flipH="1" flipV="1">
            <a:off x="5105400" y="5943600"/>
            <a:ext cx="228600" cy="304800"/>
          </a:xfrm>
          <a:prstGeom prst="line">
            <a:avLst/>
          </a:prstGeom>
          <a:noFill/>
          <a:ln w="9525">
            <a:solidFill>
              <a:schemeClr val="tx1"/>
            </a:solidFill>
            <a:round/>
            <a:headEnd/>
            <a:tailEnd/>
          </a:ln>
          <a:effectLst/>
        </p:spPr>
        <p:txBody>
          <a:bodyPr wrap="none" anchor="b">
            <a:spAutoFit/>
          </a:bodyPr>
          <a:lstStyle/>
          <a:p>
            <a:pPr>
              <a:defRPr/>
            </a:pPr>
            <a:endParaRPr lang="en-US"/>
          </a:p>
        </p:txBody>
      </p:sp>
      <p:sp>
        <p:nvSpPr>
          <p:cNvPr id="45073" name="Line 17">
            <a:extLst>
              <a:ext uri="{FF2B5EF4-FFF2-40B4-BE49-F238E27FC236}">
                <a16:creationId xmlns:a16="http://schemas.microsoft.com/office/drawing/2014/main" id="{1B961978-AFDB-568A-2879-BC309B4048B5}"/>
              </a:ext>
            </a:extLst>
          </p:cNvPr>
          <p:cNvSpPr>
            <a:spLocks noChangeShapeType="1"/>
          </p:cNvSpPr>
          <p:nvPr/>
        </p:nvSpPr>
        <p:spPr bwMode="auto">
          <a:xfrm flipV="1">
            <a:off x="3429000" y="5105400"/>
            <a:ext cx="381000" cy="457200"/>
          </a:xfrm>
          <a:prstGeom prst="line">
            <a:avLst/>
          </a:prstGeom>
          <a:noFill/>
          <a:ln w="9525">
            <a:solidFill>
              <a:schemeClr val="tx1"/>
            </a:solidFill>
            <a:round/>
            <a:headEnd/>
            <a:tailEnd/>
          </a:ln>
          <a:effectLst/>
        </p:spPr>
        <p:txBody>
          <a:bodyPr wrap="none" anchor="b">
            <a:spAutoFit/>
          </a:bodyPr>
          <a:lstStyle/>
          <a:p>
            <a:pPr>
              <a:defRPr/>
            </a:pPr>
            <a:endParaRPr lang="en-US"/>
          </a:p>
        </p:txBody>
      </p:sp>
      <p:sp>
        <p:nvSpPr>
          <p:cNvPr id="45074" name="Line 18">
            <a:extLst>
              <a:ext uri="{FF2B5EF4-FFF2-40B4-BE49-F238E27FC236}">
                <a16:creationId xmlns:a16="http://schemas.microsoft.com/office/drawing/2014/main" id="{F43E4B12-4D87-87D4-7BED-F3CA584E0EA4}"/>
              </a:ext>
            </a:extLst>
          </p:cNvPr>
          <p:cNvSpPr>
            <a:spLocks noChangeShapeType="1"/>
          </p:cNvSpPr>
          <p:nvPr/>
        </p:nvSpPr>
        <p:spPr bwMode="auto">
          <a:xfrm flipH="1" flipV="1">
            <a:off x="4495800" y="4419600"/>
            <a:ext cx="533400" cy="1143000"/>
          </a:xfrm>
          <a:prstGeom prst="line">
            <a:avLst/>
          </a:prstGeom>
          <a:noFill/>
          <a:ln w="9525">
            <a:solidFill>
              <a:schemeClr val="tx1"/>
            </a:solidFill>
            <a:round/>
            <a:headEnd/>
            <a:tailEnd/>
          </a:ln>
          <a:effectLst/>
        </p:spPr>
        <p:txBody>
          <a:bodyPr wrap="none" anchor="b">
            <a:spAutoFit/>
          </a:bodyPr>
          <a:lstStyle/>
          <a:p>
            <a:pPr>
              <a:defRPr/>
            </a:pPr>
            <a:endParaRPr lang="en-US"/>
          </a:p>
        </p:txBody>
      </p:sp>
      <p:sp>
        <p:nvSpPr>
          <p:cNvPr id="45075" name="Line 19">
            <a:extLst>
              <a:ext uri="{FF2B5EF4-FFF2-40B4-BE49-F238E27FC236}">
                <a16:creationId xmlns:a16="http://schemas.microsoft.com/office/drawing/2014/main" id="{F385081E-1A8A-B7C7-5C4E-2CC4B9F0AD87}"/>
              </a:ext>
            </a:extLst>
          </p:cNvPr>
          <p:cNvSpPr>
            <a:spLocks noChangeShapeType="1"/>
          </p:cNvSpPr>
          <p:nvPr/>
        </p:nvSpPr>
        <p:spPr bwMode="auto">
          <a:xfrm flipV="1">
            <a:off x="3886200" y="4419600"/>
            <a:ext cx="457200" cy="533400"/>
          </a:xfrm>
          <a:prstGeom prst="line">
            <a:avLst/>
          </a:prstGeom>
          <a:noFill/>
          <a:ln w="9525">
            <a:solidFill>
              <a:schemeClr val="tx1"/>
            </a:solidFill>
            <a:round/>
            <a:headEnd/>
            <a:tailEnd/>
          </a:ln>
          <a:effectLst/>
        </p:spPr>
        <p:txBody>
          <a:bodyPr wrap="none" anchor="b">
            <a:spAutoFit/>
          </a:bodyPr>
          <a:lstStyle/>
          <a:p>
            <a:pPr>
              <a:defRPr/>
            </a:pPr>
            <a:endParaRPr lang="en-US"/>
          </a:p>
        </p:txBody>
      </p:sp>
      <p:sp>
        <p:nvSpPr>
          <p:cNvPr id="45076" name="Line 20">
            <a:extLst>
              <a:ext uri="{FF2B5EF4-FFF2-40B4-BE49-F238E27FC236}">
                <a16:creationId xmlns:a16="http://schemas.microsoft.com/office/drawing/2014/main" id="{9209D2AF-DED1-4C3A-4B02-C810055C0D13}"/>
              </a:ext>
            </a:extLst>
          </p:cNvPr>
          <p:cNvSpPr>
            <a:spLocks noChangeShapeType="1"/>
          </p:cNvSpPr>
          <p:nvPr/>
        </p:nvSpPr>
        <p:spPr bwMode="auto">
          <a:xfrm flipH="1" flipV="1">
            <a:off x="3886200" y="5105400"/>
            <a:ext cx="304800" cy="1066800"/>
          </a:xfrm>
          <a:prstGeom prst="line">
            <a:avLst/>
          </a:prstGeom>
          <a:noFill/>
          <a:ln w="9525">
            <a:solidFill>
              <a:schemeClr val="tx1"/>
            </a:solidFill>
            <a:round/>
            <a:headEnd/>
            <a:tailEnd/>
          </a:ln>
          <a:effectLst/>
        </p:spPr>
        <p:txBody>
          <a:bodyPr wrap="none" anchor="b">
            <a:spAutoFit/>
          </a:bodyPr>
          <a:lstStyle/>
          <a:p>
            <a:pPr>
              <a:defRPr/>
            </a:pPr>
            <a:endParaRPr lang="en-US"/>
          </a:p>
        </p:txBody>
      </p:sp>
      <p:sp>
        <p:nvSpPr>
          <p:cNvPr id="45077" name="Line 21">
            <a:extLst>
              <a:ext uri="{FF2B5EF4-FFF2-40B4-BE49-F238E27FC236}">
                <a16:creationId xmlns:a16="http://schemas.microsoft.com/office/drawing/2014/main" id="{B2528BDE-D10B-6AD2-EFBC-C57C037130A3}"/>
              </a:ext>
            </a:extLst>
          </p:cNvPr>
          <p:cNvSpPr>
            <a:spLocks noChangeShapeType="1"/>
          </p:cNvSpPr>
          <p:nvPr/>
        </p:nvSpPr>
        <p:spPr bwMode="auto">
          <a:xfrm flipV="1">
            <a:off x="4419600" y="3962400"/>
            <a:ext cx="0" cy="228600"/>
          </a:xfrm>
          <a:prstGeom prst="line">
            <a:avLst/>
          </a:prstGeom>
          <a:noFill/>
          <a:ln w="9525">
            <a:solidFill>
              <a:schemeClr val="tx1"/>
            </a:solidFill>
            <a:round/>
            <a:headEnd/>
            <a:tailEnd type="triangle" w="med" len="med"/>
          </a:ln>
          <a:effectLst/>
        </p:spPr>
        <p:txBody>
          <a:bodyPr wrap="none" anchor="b">
            <a:spAutoFit/>
          </a:bodyPr>
          <a:lstStyle/>
          <a:p>
            <a:pPr>
              <a:defRPr/>
            </a:pPr>
            <a:endParaRPr lang="en-US"/>
          </a:p>
        </p:txBody>
      </p:sp>
      <p:sp>
        <p:nvSpPr>
          <p:cNvPr id="45078" name="Text Box 22">
            <a:extLst>
              <a:ext uri="{FF2B5EF4-FFF2-40B4-BE49-F238E27FC236}">
                <a16:creationId xmlns:a16="http://schemas.microsoft.com/office/drawing/2014/main" id="{22F578DB-0DD5-239A-D0A8-E37E3A776C26}"/>
              </a:ext>
            </a:extLst>
          </p:cNvPr>
          <p:cNvSpPr txBox="1">
            <a:spLocks noChangeArrowheads="1"/>
          </p:cNvSpPr>
          <p:nvPr/>
        </p:nvSpPr>
        <p:spPr bwMode="auto">
          <a:xfrm>
            <a:off x="4327525" y="3541713"/>
            <a:ext cx="311150" cy="366712"/>
          </a:xfrm>
          <a:prstGeom prst="rect">
            <a:avLst/>
          </a:prstGeom>
          <a:noFill/>
          <a:ln>
            <a:noFill/>
          </a:ln>
          <a:effectLst/>
        </p:spPr>
        <p:txBody>
          <a:bodyPr wrap="none" anchor="b">
            <a:spAutoFit/>
          </a:bodyPr>
          <a:lstStyle/>
          <a:p>
            <a:pPr>
              <a:defRPr/>
            </a:pPr>
            <a:r>
              <a:rPr lang="hr-HR" altLang="en-US">
                <a:effectLst>
                  <a:outerShdw blurRad="38100" dist="38100" dir="2700000" algn="tl">
                    <a:srgbClr val="C0C0C0"/>
                  </a:outerShdw>
                </a:effectLst>
              </a:rPr>
              <a:t>a</a:t>
            </a:r>
            <a:endParaRPr lang="en-US" altLang="en-US">
              <a:effectLst>
                <a:outerShdw blurRad="38100" dist="38100" dir="2700000" algn="tl">
                  <a:srgbClr val="C0C0C0"/>
                </a:outerShdw>
              </a:effectLst>
            </a:endParaRPr>
          </a:p>
        </p:txBody>
      </p:sp>
      <p:sp>
        <p:nvSpPr>
          <p:cNvPr id="45091" name="Line 35">
            <a:extLst>
              <a:ext uri="{FF2B5EF4-FFF2-40B4-BE49-F238E27FC236}">
                <a16:creationId xmlns:a16="http://schemas.microsoft.com/office/drawing/2014/main" id="{C1290B4B-70DE-C515-E9B3-7935C69744CC}"/>
              </a:ext>
            </a:extLst>
          </p:cNvPr>
          <p:cNvSpPr>
            <a:spLocks noChangeShapeType="1"/>
          </p:cNvSpPr>
          <p:nvPr/>
        </p:nvSpPr>
        <p:spPr bwMode="auto">
          <a:xfrm flipV="1">
            <a:off x="2438400" y="3733800"/>
            <a:ext cx="0" cy="2514600"/>
          </a:xfrm>
          <a:prstGeom prst="line">
            <a:avLst/>
          </a:prstGeom>
          <a:noFill/>
          <a:ln w="9525">
            <a:solidFill>
              <a:schemeClr val="tx1"/>
            </a:solidFill>
            <a:round/>
            <a:headEnd/>
            <a:tailEnd type="triangle" w="med" len="med"/>
          </a:ln>
          <a:effectLst/>
        </p:spPr>
        <p:txBody>
          <a:bodyPr wrap="none" anchor="b">
            <a:spAutoFit/>
          </a:bodyPr>
          <a:lstStyle/>
          <a:p>
            <a:pPr>
              <a:defRPr/>
            </a:pPr>
            <a:endParaRPr lang="en-US"/>
          </a:p>
        </p:txBody>
      </p:sp>
      <p:sp>
        <p:nvSpPr>
          <p:cNvPr id="45093" name="Line 37">
            <a:extLst>
              <a:ext uri="{FF2B5EF4-FFF2-40B4-BE49-F238E27FC236}">
                <a16:creationId xmlns:a16="http://schemas.microsoft.com/office/drawing/2014/main" id="{E9B6A321-8AFD-0234-1E16-49CF75F1F50B}"/>
              </a:ext>
            </a:extLst>
          </p:cNvPr>
          <p:cNvSpPr>
            <a:spLocks noChangeShapeType="1"/>
          </p:cNvSpPr>
          <p:nvPr/>
        </p:nvSpPr>
        <p:spPr bwMode="auto">
          <a:xfrm>
            <a:off x="6248400" y="3810000"/>
            <a:ext cx="0" cy="2590800"/>
          </a:xfrm>
          <a:prstGeom prst="line">
            <a:avLst/>
          </a:prstGeom>
          <a:noFill/>
          <a:ln w="9525">
            <a:solidFill>
              <a:schemeClr val="tx1"/>
            </a:solidFill>
            <a:round/>
            <a:headEnd/>
            <a:tailEnd type="triangle" w="med" len="med"/>
          </a:ln>
          <a:effectLst/>
        </p:spPr>
        <p:txBody>
          <a:bodyPr wrap="none" anchor="b">
            <a:spAutoFit/>
          </a:bodyPr>
          <a:lstStyle/>
          <a:p>
            <a:pPr>
              <a:defRPr/>
            </a:pPr>
            <a:endParaRPr lang="en-US"/>
          </a:p>
        </p:txBody>
      </p:sp>
      <p:sp>
        <p:nvSpPr>
          <p:cNvPr id="45094" name="Text Box 38">
            <a:extLst>
              <a:ext uri="{FF2B5EF4-FFF2-40B4-BE49-F238E27FC236}">
                <a16:creationId xmlns:a16="http://schemas.microsoft.com/office/drawing/2014/main" id="{40793F35-FDE5-9E6F-3A56-801C2EFC58D5}"/>
              </a:ext>
            </a:extLst>
          </p:cNvPr>
          <p:cNvSpPr txBox="1">
            <a:spLocks noChangeArrowheads="1"/>
          </p:cNvSpPr>
          <p:nvPr/>
        </p:nvSpPr>
        <p:spPr bwMode="auto">
          <a:xfrm rot="10800000">
            <a:off x="1905000" y="4648200"/>
            <a:ext cx="458788" cy="1044575"/>
          </a:xfrm>
          <a:prstGeom prst="rect">
            <a:avLst/>
          </a:prstGeom>
          <a:noFill/>
          <a:ln>
            <a:noFill/>
          </a:ln>
          <a:effectLst/>
        </p:spPr>
        <p:txBody>
          <a:bodyPr vert="eaVert" wrap="none" anchor="b">
            <a:spAutoFit/>
          </a:bodyPr>
          <a:lstStyle/>
          <a:p>
            <a:pPr>
              <a:defRPr/>
            </a:pPr>
            <a:r>
              <a:rPr lang="hr-HR" altLang="en-US">
                <a:effectLst>
                  <a:outerShdw blurRad="38100" dist="38100" dir="2700000" algn="tl">
                    <a:srgbClr val="C0C0C0"/>
                  </a:outerShdw>
                </a:effectLst>
              </a:rPr>
              <a:t>Data flow</a:t>
            </a:r>
            <a:endParaRPr lang="en-US" altLang="en-US">
              <a:effectLst>
                <a:outerShdw blurRad="38100" dist="38100" dir="2700000" algn="tl">
                  <a:srgbClr val="C0C0C0"/>
                </a:outerShdw>
              </a:effectLst>
            </a:endParaRPr>
          </a:p>
        </p:txBody>
      </p:sp>
      <p:sp>
        <p:nvSpPr>
          <p:cNvPr id="45095" name="Text Box 39">
            <a:extLst>
              <a:ext uri="{FF2B5EF4-FFF2-40B4-BE49-F238E27FC236}">
                <a16:creationId xmlns:a16="http://schemas.microsoft.com/office/drawing/2014/main" id="{0DAE39C3-0D7F-5407-E022-89189515FF98}"/>
              </a:ext>
            </a:extLst>
          </p:cNvPr>
          <p:cNvSpPr txBox="1">
            <a:spLocks noChangeArrowheads="1"/>
          </p:cNvSpPr>
          <p:nvPr/>
        </p:nvSpPr>
        <p:spPr bwMode="auto">
          <a:xfrm>
            <a:off x="6537325" y="4760913"/>
            <a:ext cx="458788" cy="1120775"/>
          </a:xfrm>
          <a:prstGeom prst="rect">
            <a:avLst/>
          </a:prstGeom>
          <a:noFill/>
          <a:ln>
            <a:noFill/>
          </a:ln>
          <a:effectLst/>
        </p:spPr>
        <p:txBody>
          <a:bodyPr vert="eaVert" wrap="none" anchor="b">
            <a:spAutoFit/>
          </a:bodyPr>
          <a:lstStyle/>
          <a:p>
            <a:pPr>
              <a:defRPr/>
            </a:pPr>
            <a:r>
              <a:rPr lang="hr-HR" altLang="en-US">
                <a:effectLst>
                  <a:outerShdw blurRad="38100" dist="38100" dir="2700000" algn="tl">
                    <a:srgbClr val="C0C0C0"/>
                  </a:outerShdw>
                </a:effectLst>
              </a:rPr>
              <a:t>Reduction</a:t>
            </a:r>
            <a:endParaRPr lang="en-US" altLang="en-US">
              <a:effectLst>
                <a:outerShdw blurRad="38100" dist="38100" dir="2700000" algn="tl">
                  <a:srgbClr val="C0C0C0"/>
                </a:outerShdw>
              </a:effectLst>
            </a:endParaRPr>
          </a:p>
        </p:txBody>
      </p:sp>
    </p:spTree>
  </p:cSld>
  <p:clrMapOvr>
    <a:masterClrMapping/>
  </p:clrMapOvr>
  <p:transition>
    <p:pull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339D98F1-1E7C-8A99-4EB0-78EFC093B053}"/>
              </a:ext>
            </a:extLst>
          </p:cNvPr>
          <p:cNvSpPr>
            <a:spLocks noGrp="1" noChangeArrowheads="1"/>
          </p:cNvSpPr>
          <p:nvPr>
            <p:ph type="title"/>
          </p:nvPr>
        </p:nvSpPr>
        <p:spPr>
          <a:xfrm>
            <a:off x="0" y="0"/>
            <a:ext cx="9144000" cy="579438"/>
          </a:xfrm>
        </p:spPr>
        <p:txBody>
          <a:bodyPr/>
          <a:lstStyle/>
          <a:p>
            <a:pPr>
              <a:defRPr/>
            </a:pPr>
            <a:r>
              <a:rPr lang="hr-HR" altLang="en-US" sz="3200"/>
              <a:t>Flinova klasifikacija </a:t>
            </a:r>
            <a:r>
              <a:rPr lang="en-US" altLang="en-US" sz="3200"/>
              <a:t>Von Neumanovih ra</a:t>
            </a:r>
            <a:r>
              <a:rPr lang="hr-HR" altLang="en-US" sz="3200"/>
              <a:t>čunara </a:t>
            </a:r>
            <a:endParaRPr lang="en-US" altLang="en-US" sz="3200"/>
          </a:p>
        </p:txBody>
      </p:sp>
      <p:sp>
        <p:nvSpPr>
          <p:cNvPr id="46083" name="Rectangle 3">
            <a:extLst>
              <a:ext uri="{FF2B5EF4-FFF2-40B4-BE49-F238E27FC236}">
                <a16:creationId xmlns:a16="http://schemas.microsoft.com/office/drawing/2014/main" id="{6307E9F9-B570-D94C-A627-BA0022CBF47B}"/>
              </a:ext>
            </a:extLst>
          </p:cNvPr>
          <p:cNvSpPr>
            <a:spLocks noGrp="1" noChangeArrowheads="1"/>
          </p:cNvSpPr>
          <p:nvPr>
            <p:ph type="body" idx="1"/>
          </p:nvPr>
        </p:nvSpPr>
        <p:spPr/>
        <p:txBody>
          <a:bodyPr/>
          <a:lstStyle/>
          <a:p>
            <a:pPr>
              <a:defRPr/>
            </a:pPr>
            <a:r>
              <a:rPr lang="hr-HR" altLang="en-US"/>
              <a:t>Podela izvršena  prema broju jednovremenih tokova instrukcija i tokova podataka</a:t>
            </a:r>
          </a:p>
          <a:p>
            <a:pPr lvl="1">
              <a:defRPr/>
            </a:pPr>
            <a:r>
              <a:rPr lang="hr-HR" altLang="en-US"/>
              <a:t>SISD (Single Instruction Single Data stream) – računari sa jednim tokom instrukcija i jednim tokom podataka</a:t>
            </a:r>
          </a:p>
          <a:p>
            <a:pPr lvl="1">
              <a:defRPr/>
            </a:pPr>
            <a:r>
              <a:rPr lang="hr-HR" altLang="en-US"/>
              <a:t>MISD (Multiple Instruction Single Data stream) – računari sa višestrukim tokom instrukcija i jednim tokom podataka</a:t>
            </a:r>
          </a:p>
          <a:p>
            <a:pPr lvl="1">
              <a:defRPr/>
            </a:pPr>
            <a:r>
              <a:rPr lang="hr-HR" altLang="en-US"/>
              <a:t>SIMD (Single Instruction Multiple Data stream) – računari sa jednim tokom instrukcija i višestrukim tokom podataka</a:t>
            </a:r>
          </a:p>
          <a:p>
            <a:pPr lvl="1">
              <a:defRPr/>
            </a:pPr>
            <a:r>
              <a:rPr lang="hr-HR" altLang="en-US"/>
              <a:t>MIMD (Multiple Instruction Multiple Data stream) – računari sa višestrukim tokom instrukcija i višestrukim tokom podataka</a:t>
            </a:r>
            <a:endParaRPr lang="en-US" altLang="en-US"/>
          </a:p>
        </p:txBody>
      </p:sp>
    </p:spTree>
  </p:cSld>
  <p:clrMapOvr>
    <a:masterClrMapping/>
  </p:clrMapOvr>
  <p:transition>
    <p:pull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9C20506-1807-7CB5-BC11-2022007287E1}"/>
              </a:ext>
            </a:extLst>
          </p:cNvPr>
          <p:cNvSpPr>
            <a:spLocks noGrp="1" noChangeArrowheads="1"/>
          </p:cNvSpPr>
          <p:nvPr>
            <p:ph type="title"/>
          </p:nvPr>
        </p:nvSpPr>
        <p:spPr/>
        <p:txBody>
          <a:bodyPr/>
          <a:lstStyle/>
          <a:p>
            <a:pPr>
              <a:defRPr/>
            </a:pPr>
            <a:r>
              <a:rPr lang="hr-HR" altLang="en-US"/>
              <a:t>Klasifikacija</a:t>
            </a:r>
            <a:r>
              <a:rPr lang="en-US" altLang="en-US"/>
              <a:t> Von Neumanovih ra</a:t>
            </a:r>
            <a:r>
              <a:rPr lang="hr-HR" altLang="en-US"/>
              <a:t>čunara</a:t>
            </a:r>
            <a:endParaRPr lang="en-US" altLang="en-US"/>
          </a:p>
        </p:txBody>
      </p:sp>
      <p:sp>
        <p:nvSpPr>
          <p:cNvPr id="3075" name="Rectangle 3">
            <a:extLst>
              <a:ext uri="{FF2B5EF4-FFF2-40B4-BE49-F238E27FC236}">
                <a16:creationId xmlns:a16="http://schemas.microsoft.com/office/drawing/2014/main" id="{F209CCD3-CFB1-D3C8-45E8-2150B506D674}"/>
              </a:ext>
            </a:extLst>
          </p:cNvPr>
          <p:cNvSpPr>
            <a:spLocks noGrp="1" noChangeArrowheads="1"/>
          </p:cNvSpPr>
          <p:nvPr>
            <p:ph type="body" idx="4294967295"/>
          </p:nvPr>
        </p:nvSpPr>
        <p:spPr>
          <a:xfrm>
            <a:off x="0" y="914400"/>
            <a:ext cx="9144000" cy="5943600"/>
          </a:xfrm>
        </p:spPr>
        <p:txBody>
          <a:bodyPr/>
          <a:lstStyle/>
          <a:p>
            <a:pPr>
              <a:defRPr/>
            </a:pPr>
            <a:r>
              <a:rPr lang="en-US" altLang="en-US">
                <a:cs typeface="Times New Roman" pitchFamily="18" charset="0"/>
              </a:rPr>
              <a:t>SISD Computers </a:t>
            </a:r>
            <a:r>
              <a:rPr lang="hr-HR" altLang="en-US">
                <a:latin typeface="Times New Roman" pitchFamily="18" charset="0"/>
              </a:rPr>
              <a:t>(Single Instruction Single Data stream)</a:t>
            </a:r>
          </a:p>
          <a:p>
            <a:pPr>
              <a:buFont typeface="Wingdings 2" panose="05020102010507070707" pitchFamily="18" charset="2"/>
              <a:buNone/>
              <a:defRPr/>
            </a:pPr>
            <a:endParaRPr lang="en-US" altLang="en-US"/>
          </a:p>
        </p:txBody>
      </p:sp>
      <p:pic>
        <p:nvPicPr>
          <p:cNvPr id="23556" name="Picture 4" descr="D:\users\ema\paralelni\ponovo\Classification of Parallel Machines_files\FIG2A.gif">
            <a:extLst>
              <a:ext uri="{FF2B5EF4-FFF2-40B4-BE49-F238E27FC236}">
                <a16:creationId xmlns:a16="http://schemas.microsoft.com/office/drawing/2014/main" id="{118298AD-31B9-8D89-B217-98323A6CBF36}"/>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438275" y="2514600"/>
            <a:ext cx="626745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Text Box 5">
            <a:extLst>
              <a:ext uri="{FF2B5EF4-FFF2-40B4-BE49-F238E27FC236}">
                <a16:creationId xmlns:a16="http://schemas.microsoft.com/office/drawing/2014/main" id="{A19CF640-6D21-5F8C-6CAA-9F64A971E746}"/>
              </a:ext>
            </a:extLst>
          </p:cNvPr>
          <p:cNvSpPr txBox="1">
            <a:spLocks noChangeArrowheads="1"/>
          </p:cNvSpPr>
          <p:nvPr/>
        </p:nvSpPr>
        <p:spPr bwMode="auto">
          <a:xfrm>
            <a:off x="365125" y="3851275"/>
            <a:ext cx="8245475" cy="2832100"/>
          </a:xfrm>
          <a:prstGeom prst="rect">
            <a:avLst/>
          </a:prstGeom>
          <a:noFill/>
          <a:ln>
            <a:noFill/>
          </a:ln>
          <a:effectLst/>
        </p:spPr>
        <p:txBody>
          <a:bodyPr>
            <a:spAutoFit/>
          </a:bodyPr>
          <a:lstStyle/>
          <a:p>
            <a:pPr eaLnBrk="1" hangingPunct="1">
              <a:defRPr/>
            </a:pPr>
            <a:r>
              <a:rPr lang="hr-HR" altLang="en-US" sz="2000" dirty="0">
                <a:effectLst/>
                <a:latin typeface="Tahoma" pitchFamily="34" charset="0"/>
                <a:cs typeface="Tahoma" pitchFamily="34" charset="0"/>
              </a:rPr>
              <a:t>Primer:</a:t>
            </a:r>
          </a:p>
          <a:p>
            <a:pPr marL="342900" indent="-342900" eaLnBrk="1" hangingPunct="1">
              <a:buFont typeface="Arial" panose="020B0604020202020204" pitchFamily="34" charset="0"/>
              <a:buChar char="•"/>
              <a:defRPr/>
            </a:pPr>
            <a:r>
              <a:rPr lang="hr-HR" altLang="en-US" sz="2000" dirty="0">
                <a:effectLst/>
                <a:latin typeface="Tahoma" pitchFamily="34" charset="0"/>
                <a:cs typeface="Tahoma" pitchFamily="34" charset="0"/>
              </a:rPr>
              <a:t>Brzina je ograničena internom brzinom prenosa u okviru računara</a:t>
            </a:r>
          </a:p>
          <a:p>
            <a:pPr eaLnBrk="1" hangingPunct="1">
              <a:buFontTx/>
              <a:buChar char="•"/>
              <a:defRPr/>
            </a:pPr>
            <a:r>
              <a:rPr lang="sr-Latn-BA" altLang="en-US" sz="2000" dirty="0">
                <a:effectLst/>
                <a:latin typeface="Tahoma" pitchFamily="34" charset="0"/>
                <a:cs typeface="Tahoma" pitchFamily="34" charset="0"/>
              </a:rPr>
              <a:t> </a:t>
            </a:r>
            <a:r>
              <a:rPr lang="en-US" altLang="en-US" sz="2000" dirty="0">
                <a:effectLst/>
                <a:latin typeface="Tahoma" pitchFamily="34" charset="0"/>
                <a:cs typeface="Tahoma" pitchFamily="34" charset="0"/>
              </a:rPr>
              <a:t>Da bi se </a:t>
            </a:r>
            <a:r>
              <a:rPr lang="en-US" altLang="en-US" sz="2000" dirty="0" err="1">
                <a:effectLst/>
                <a:latin typeface="Tahoma" pitchFamily="34" charset="0"/>
                <a:cs typeface="Tahoma" pitchFamily="34" charset="0"/>
              </a:rPr>
              <a:t>i</a:t>
            </a:r>
            <a:r>
              <a:rPr lang="hr-HR" altLang="en-US" sz="2000" dirty="0">
                <a:effectLst/>
                <a:latin typeface="Tahoma" pitchFamily="34" charset="0"/>
                <a:cs typeface="Tahoma" pitchFamily="34" charset="0"/>
              </a:rPr>
              <a:t>zračunala suma od </a:t>
            </a:r>
            <a:r>
              <a:rPr lang="en-US" altLang="en-US" sz="2000" dirty="0">
                <a:effectLst/>
                <a:latin typeface="Tahoma" pitchFamily="34" charset="0"/>
                <a:cs typeface="Tahoma" pitchFamily="34" charset="0"/>
              </a:rPr>
              <a:t> N </a:t>
            </a:r>
            <a:r>
              <a:rPr lang="hr-HR" altLang="en-US" sz="2000" dirty="0">
                <a:effectLst/>
                <a:latin typeface="Tahoma" pitchFamily="34" charset="0"/>
                <a:cs typeface="Tahoma" pitchFamily="34" charset="0"/>
              </a:rPr>
              <a:t>brojeva </a:t>
            </a:r>
            <a:r>
              <a:rPr lang="en-US" altLang="en-US" sz="2000" dirty="0">
                <a:effectLst/>
                <a:latin typeface="Tahoma" pitchFamily="34" charset="0"/>
                <a:cs typeface="Tahoma" pitchFamily="34" charset="0"/>
              </a:rPr>
              <a:t> a1, a2, .... </a:t>
            </a:r>
            <a:r>
              <a:rPr lang="sr-Latn-CS" altLang="en-US" sz="2000" dirty="0">
                <a:effectLst/>
                <a:latin typeface="Tahoma" pitchFamily="34" charset="0"/>
                <a:cs typeface="Tahoma" pitchFamily="34" charset="0"/>
              </a:rPr>
              <a:t>,</a:t>
            </a:r>
            <a:r>
              <a:rPr lang="en-US" altLang="en-US" sz="2000" dirty="0" err="1">
                <a:effectLst/>
                <a:latin typeface="Tahoma" pitchFamily="34" charset="0"/>
                <a:cs typeface="Tahoma" pitchFamily="34" charset="0"/>
              </a:rPr>
              <a:t>aN</a:t>
            </a:r>
            <a:r>
              <a:rPr lang="en-US" altLang="en-US" sz="2000" dirty="0">
                <a:effectLst/>
                <a:latin typeface="Tahoma" pitchFamily="34" charset="0"/>
                <a:cs typeface="Tahoma" pitchFamily="34" charset="0"/>
              </a:rPr>
              <a:t> </a:t>
            </a:r>
            <a:r>
              <a:rPr lang="hr-HR" altLang="en-US" sz="2000" dirty="0">
                <a:effectLst/>
                <a:latin typeface="Tahoma" pitchFamily="34" charset="0"/>
                <a:cs typeface="Tahoma" pitchFamily="34" charset="0"/>
              </a:rPr>
              <a:t>procesor mora</a:t>
            </a:r>
            <a:r>
              <a:rPr lang="en-US" altLang="en-US" sz="2000" dirty="0">
                <a:effectLst/>
                <a:latin typeface="Tahoma" pitchFamily="34" charset="0"/>
                <a:cs typeface="Tahoma" pitchFamily="34" charset="0"/>
              </a:rPr>
              <a:t> </a:t>
            </a:r>
            <a:r>
              <a:rPr lang="hr-HR" altLang="en-US" sz="2000" dirty="0">
                <a:effectLst/>
                <a:latin typeface="Tahoma" pitchFamily="34" charset="0"/>
                <a:cs typeface="Tahoma" pitchFamily="34" charset="0"/>
              </a:rPr>
              <a:t>pristupiti memoriji N puta uzastopno. </a:t>
            </a:r>
          </a:p>
          <a:p>
            <a:pPr eaLnBrk="1" hangingPunct="1">
              <a:buFontTx/>
              <a:buChar char="•"/>
              <a:defRPr/>
            </a:pPr>
            <a:r>
              <a:rPr lang="hr-HR" altLang="en-US" sz="2000" dirty="0">
                <a:effectLst/>
                <a:latin typeface="Tahoma" pitchFamily="34" charset="0"/>
                <a:cs typeface="Tahoma" pitchFamily="34" charset="0"/>
              </a:rPr>
              <a:t>Takodje, potrbno je obaviti </a:t>
            </a:r>
            <a:r>
              <a:rPr lang="en-US" altLang="en-US" sz="2000" dirty="0">
                <a:effectLst/>
                <a:latin typeface="Tahoma" pitchFamily="34" charset="0"/>
                <a:cs typeface="Tahoma" pitchFamily="34" charset="0"/>
              </a:rPr>
              <a:t> N-1 </a:t>
            </a:r>
            <a:r>
              <a:rPr lang="hr-HR" altLang="en-US" sz="2000" dirty="0">
                <a:effectLst/>
                <a:latin typeface="Tahoma" pitchFamily="34" charset="0"/>
                <a:cs typeface="Tahoma" pitchFamily="34" charset="0"/>
              </a:rPr>
              <a:t>sabiranje. </a:t>
            </a:r>
          </a:p>
          <a:p>
            <a:pPr lvl="1" eaLnBrk="1" hangingPunct="1">
              <a:buFontTx/>
              <a:buChar char="•"/>
              <a:defRPr/>
            </a:pPr>
            <a:r>
              <a:rPr lang="sr-Latn-BA" altLang="en-US" sz="2000" dirty="0">
                <a:effectLst/>
                <a:latin typeface="Tahoma" pitchFamily="34" charset="0"/>
                <a:cs typeface="Tahoma" pitchFamily="34" charset="0"/>
              </a:rPr>
              <a:t> </a:t>
            </a:r>
            <a:r>
              <a:rPr lang="sr-Latn-BA" altLang="en-US" dirty="0">
                <a:effectLst/>
                <a:latin typeface="Tahoma" pitchFamily="34" charset="0"/>
                <a:cs typeface="Tahoma" pitchFamily="34" charset="0"/>
              </a:rPr>
              <a:t>ako pristup memoriji ili operacija sabiranj traju 1 vremensku jedinicu,</a:t>
            </a:r>
            <a:r>
              <a:rPr lang="hr-HR" altLang="en-US" dirty="0">
                <a:effectLst/>
                <a:latin typeface="Tahoma" pitchFamily="34" charset="0"/>
                <a:cs typeface="Tahoma" pitchFamily="34" charset="0"/>
              </a:rPr>
              <a:t> ovo i</a:t>
            </a:r>
            <a:r>
              <a:rPr lang="en-US" altLang="en-US" dirty="0">
                <a:effectLst/>
                <a:latin typeface="Tahoma" pitchFamily="34" charset="0"/>
                <a:cs typeface="Tahoma" pitchFamily="34" charset="0"/>
              </a:rPr>
              <a:t>z</a:t>
            </a:r>
            <a:r>
              <a:rPr lang="hr-HR" altLang="en-US" dirty="0">
                <a:effectLst/>
                <a:latin typeface="Tahoma" pitchFamily="34" charset="0"/>
                <a:cs typeface="Tahoma" pitchFamily="34" charset="0"/>
              </a:rPr>
              <a:t>računavanje zahteva iz</a:t>
            </a:r>
            <a:r>
              <a:rPr lang="en-US" altLang="en-US" dirty="0">
                <a:effectLst/>
                <a:latin typeface="Tahoma" pitchFamily="34" charset="0"/>
                <a:cs typeface="Tahoma" pitchFamily="34" charset="0"/>
              </a:rPr>
              <a:t>v</a:t>
            </a:r>
            <a:r>
              <a:rPr lang="hr-HR" altLang="en-US" dirty="0">
                <a:effectLst/>
                <a:latin typeface="Tahoma" pitchFamily="34" charset="0"/>
                <a:cs typeface="Tahoma" pitchFamily="34" charset="0"/>
              </a:rPr>
              <a:t>ršenje </a:t>
            </a:r>
            <a:r>
              <a:rPr lang="en-US" altLang="en-US" dirty="0">
                <a:effectLst/>
                <a:latin typeface="Tahoma" pitchFamily="34" charset="0"/>
                <a:cs typeface="Tahoma" pitchFamily="34" charset="0"/>
              </a:rPr>
              <a:t>O(N) </a:t>
            </a:r>
            <a:r>
              <a:rPr lang="sr-Latn-RS" altLang="en-US" dirty="0">
                <a:effectLst/>
                <a:latin typeface="Tahoma" pitchFamily="34" charset="0"/>
                <a:cs typeface="Tahoma" pitchFamily="34" charset="0"/>
              </a:rPr>
              <a:t>vremena</a:t>
            </a:r>
            <a:r>
              <a:rPr lang="en-US" altLang="en-US" dirty="0">
                <a:effectLst/>
                <a:latin typeface="Tahoma" pitchFamily="34" charset="0"/>
                <a:cs typeface="Tahoma" pitchFamily="34" charset="0"/>
              </a:rPr>
              <a:t> </a:t>
            </a:r>
            <a:r>
              <a:rPr lang="hr-HR" altLang="en-US" dirty="0">
                <a:effectLst/>
                <a:latin typeface="Tahoma" pitchFamily="34" charset="0"/>
                <a:cs typeface="Tahoma" pitchFamily="34" charset="0"/>
              </a:rPr>
              <a:t>t.j. algoritmi za SISD računare ne sadrže ni jedan vid paralelizma jer postoji samo jedan procesor.</a:t>
            </a:r>
            <a:endParaRPr lang="en-US" altLang="en-US" dirty="0">
              <a:effectLst/>
              <a:latin typeface="Tahoma" pitchFamily="34" charset="0"/>
              <a:cs typeface="Tahoma"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a:extLst>
              <a:ext uri="{FF2B5EF4-FFF2-40B4-BE49-F238E27FC236}">
                <a16:creationId xmlns:a16="http://schemas.microsoft.com/office/drawing/2014/main" id="{6AFAEC0A-2FFC-1B73-B2FF-81A1F3FD1545}"/>
              </a:ext>
            </a:extLst>
          </p:cNvPr>
          <p:cNvSpPr>
            <a:spLocks noChangeArrowheads="1"/>
          </p:cNvSpPr>
          <p:nvPr/>
        </p:nvSpPr>
        <p:spPr bwMode="auto">
          <a:xfrm>
            <a:off x="1438275" y="2981325"/>
            <a:ext cx="9144000" cy="0"/>
          </a:xfrm>
          <a:prstGeom prst="rect">
            <a:avLst/>
          </a:prstGeom>
          <a:noFill/>
          <a:ln>
            <a:noFill/>
          </a:ln>
          <a:effectLst/>
        </p:spPr>
        <p:txBody>
          <a:bodyPr>
            <a:spAutoFit/>
          </a:bodyPr>
          <a:lstStyle/>
          <a:p>
            <a:pPr>
              <a:defRPr/>
            </a:pPr>
            <a:endParaRPr lang="en-US"/>
          </a:p>
        </p:txBody>
      </p:sp>
      <p:sp>
        <p:nvSpPr>
          <p:cNvPr id="4102" name="Rectangle 6">
            <a:extLst>
              <a:ext uri="{FF2B5EF4-FFF2-40B4-BE49-F238E27FC236}">
                <a16:creationId xmlns:a16="http://schemas.microsoft.com/office/drawing/2014/main" id="{49C6A6C3-7213-EF61-AAFA-9A0211C01478}"/>
              </a:ext>
            </a:extLst>
          </p:cNvPr>
          <p:cNvSpPr>
            <a:spLocks noChangeArrowheads="1"/>
          </p:cNvSpPr>
          <p:nvPr/>
        </p:nvSpPr>
        <p:spPr bwMode="auto">
          <a:xfrm>
            <a:off x="1638300" y="2085975"/>
            <a:ext cx="9144000" cy="0"/>
          </a:xfrm>
          <a:prstGeom prst="rect">
            <a:avLst/>
          </a:prstGeom>
          <a:noFill/>
          <a:ln>
            <a:noFill/>
          </a:ln>
          <a:effectLst/>
        </p:spPr>
        <p:txBody>
          <a:bodyPr>
            <a:spAutoFit/>
          </a:bodyPr>
          <a:lstStyle/>
          <a:p>
            <a:pPr>
              <a:defRPr/>
            </a:pPr>
            <a:endParaRPr lang="en-US"/>
          </a:p>
        </p:txBody>
      </p:sp>
      <p:pic>
        <p:nvPicPr>
          <p:cNvPr id="24580" name="Picture 5" descr="D:\users\ema\paralelni\ponovo\Classification of Parallel Machines_files\FIG2B.gif">
            <a:extLst>
              <a:ext uri="{FF2B5EF4-FFF2-40B4-BE49-F238E27FC236}">
                <a16:creationId xmlns:a16="http://schemas.microsoft.com/office/drawing/2014/main" id="{A629A03D-C525-12A2-B1F8-E268E261B57C}"/>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304800" y="1955006"/>
            <a:ext cx="6438900" cy="294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Text Box 7">
            <a:extLst>
              <a:ext uri="{FF2B5EF4-FFF2-40B4-BE49-F238E27FC236}">
                <a16:creationId xmlns:a16="http://schemas.microsoft.com/office/drawing/2014/main" id="{A43168DA-4A7B-B123-9B8D-BCBA7B389C1D}"/>
              </a:ext>
            </a:extLst>
          </p:cNvPr>
          <p:cNvSpPr txBox="1">
            <a:spLocks noChangeArrowheads="1"/>
          </p:cNvSpPr>
          <p:nvPr/>
        </p:nvSpPr>
        <p:spPr bwMode="auto">
          <a:xfrm>
            <a:off x="441325" y="5070475"/>
            <a:ext cx="7788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effectLst/>
              <a:latin typeface="Times New Roman" panose="02020603050405020304" pitchFamily="18" charset="0"/>
            </a:endParaRPr>
          </a:p>
        </p:txBody>
      </p:sp>
      <p:sp>
        <p:nvSpPr>
          <p:cNvPr id="24582" name="Text Box 8">
            <a:extLst>
              <a:ext uri="{FF2B5EF4-FFF2-40B4-BE49-F238E27FC236}">
                <a16:creationId xmlns:a16="http://schemas.microsoft.com/office/drawing/2014/main" id="{630F9C4B-A549-9A06-A9AB-21D0879B2980}"/>
              </a:ext>
            </a:extLst>
          </p:cNvPr>
          <p:cNvSpPr txBox="1">
            <a:spLocks noChangeArrowheads="1"/>
          </p:cNvSpPr>
          <p:nvPr/>
        </p:nvSpPr>
        <p:spPr bwMode="auto">
          <a:xfrm>
            <a:off x="517525" y="5070475"/>
            <a:ext cx="260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hr-HR" altLang="en-US" sz="2400">
                <a:effectLst/>
                <a:latin typeface="Times New Roman" panose="02020603050405020304" pitchFamily="18" charset="0"/>
              </a:rPr>
              <a:t> </a:t>
            </a:r>
            <a:endParaRPr lang="en-US" altLang="en-US" sz="2400">
              <a:effectLst/>
              <a:latin typeface="Times New Roman" panose="02020603050405020304" pitchFamily="18" charset="0"/>
            </a:endParaRPr>
          </a:p>
        </p:txBody>
      </p:sp>
      <p:sp>
        <p:nvSpPr>
          <p:cNvPr id="24583" name="Rectangle 12">
            <a:extLst>
              <a:ext uri="{FF2B5EF4-FFF2-40B4-BE49-F238E27FC236}">
                <a16:creationId xmlns:a16="http://schemas.microsoft.com/office/drawing/2014/main" id="{9EB51E6D-A8DD-C5B0-12F1-8523F8F4260B}"/>
              </a:ext>
            </a:extLst>
          </p:cNvPr>
          <p:cNvSpPr>
            <a:spLocks noGrp="1" noChangeArrowheads="1"/>
          </p:cNvSpPr>
          <p:nvPr>
            <p:ph type="title"/>
          </p:nvPr>
        </p:nvSpPr>
        <p:spPr>
          <a:xfrm>
            <a:off x="0" y="0"/>
            <a:ext cx="9144000" cy="579438"/>
          </a:xfrm>
        </p:spPr>
        <p:txBody>
          <a:bodyPr/>
          <a:lstStyle/>
          <a:p>
            <a:r>
              <a:rPr kumimoji="0" lang="en-US" altLang="en-US" sz="3200" b="1">
                <a:effectLst/>
                <a:latin typeface="Times New Roman" panose="02020603050405020304" pitchFamily="18" charset="0"/>
              </a:rPr>
              <a:t>MISD </a:t>
            </a:r>
            <a:r>
              <a:rPr kumimoji="0" lang="sr-Latn-CS" altLang="en-US" sz="3200" b="1">
                <a:effectLst/>
                <a:latin typeface="Times New Roman" panose="02020603050405020304" pitchFamily="18" charset="0"/>
              </a:rPr>
              <a:t>računari</a:t>
            </a:r>
            <a:endParaRPr kumimoji="0" lang="en-US" altLang="en-US" sz="3200" b="1">
              <a:effectLst/>
              <a:latin typeface="Times New Roman" panose="02020603050405020304" pitchFamily="18" charset="0"/>
            </a:endParaRPr>
          </a:p>
        </p:txBody>
      </p:sp>
      <p:sp>
        <p:nvSpPr>
          <p:cNvPr id="4109" name="Rectangle 13">
            <a:extLst>
              <a:ext uri="{FF2B5EF4-FFF2-40B4-BE49-F238E27FC236}">
                <a16:creationId xmlns:a16="http://schemas.microsoft.com/office/drawing/2014/main" id="{B0940CC5-9387-3A38-0080-D8943CCC3999}"/>
              </a:ext>
            </a:extLst>
          </p:cNvPr>
          <p:cNvSpPr>
            <a:spLocks noGrp="1" noChangeArrowheads="1"/>
          </p:cNvSpPr>
          <p:nvPr>
            <p:ph type="body" idx="1"/>
          </p:nvPr>
        </p:nvSpPr>
        <p:spPr>
          <a:xfrm>
            <a:off x="0" y="1066800"/>
            <a:ext cx="9144000" cy="5791200"/>
          </a:xfrm>
        </p:spPr>
        <p:txBody>
          <a:bodyPr/>
          <a:lstStyle/>
          <a:p>
            <a:pPr eaLnBrk="1" hangingPunct="1">
              <a:spcBef>
                <a:spcPct val="0"/>
              </a:spcBef>
              <a:buClrTx/>
              <a:buSzTx/>
              <a:buFontTx/>
              <a:buNone/>
              <a:defRPr/>
            </a:pPr>
            <a:r>
              <a:rPr kumimoji="0" lang="en-US" altLang="en-US" sz="2400">
                <a:solidFill>
                  <a:schemeClr val="tx1"/>
                </a:solidFill>
                <a:effectLst/>
                <a:cs typeface="Tahoma" pitchFamily="34" charset="0"/>
              </a:rPr>
              <a:t>N procesor</a:t>
            </a:r>
            <a:r>
              <a:rPr kumimoji="0" lang="hr-HR" altLang="en-US" sz="2400">
                <a:solidFill>
                  <a:schemeClr val="tx1"/>
                </a:solidFill>
                <a:effectLst/>
                <a:cs typeface="Tahoma" pitchFamily="34" charset="0"/>
              </a:rPr>
              <a:t>a</a:t>
            </a:r>
            <a:r>
              <a:rPr kumimoji="0" lang="en-US" altLang="en-US" sz="2400">
                <a:solidFill>
                  <a:schemeClr val="tx1"/>
                </a:solidFill>
                <a:effectLst/>
                <a:cs typeface="Tahoma" pitchFamily="34" charset="0"/>
              </a:rPr>
              <a:t>, </a:t>
            </a:r>
            <a:r>
              <a:rPr kumimoji="0" lang="hr-HR" altLang="en-US" sz="2400">
                <a:solidFill>
                  <a:schemeClr val="tx1"/>
                </a:solidFill>
                <a:effectLst/>
                <a:cs typeface="Tahoma" pitchFamily="34" charset="0"/>
              </a:rPr>
              <a:t>svaki sa sopstveno</a:t>
            </a:r>
            <a:r>
              <a:rPr kumimoji="0" lang="en-US" altLang="en-US" sz="2400">
                <a:solidFill>
                  <a:schemeClr val="tx1"/>
                </a:solidFill>
                <a:effectLst/>
                <a:cs typeface="Tahoma" pitchFamily="34" charset="0"/>
              </a:rPr>
              <a:t>m</a:t>
            </a:r>
            <a:r>
              <a:rPr kumimoji="0" lang="hr-HR" altLang="en-US" sz="2400">
                <a:solidFill>
                  <a:schemeClr val="tx1"/>
                </a:solidFill>
                <a:effectLst/>
                <a:cs typeface="Tahoma" pitchFamily="34" charset="0"/>
              </a:rPr>
              <a:t> upravljačkom jedinicom koji dele </a:t>
            </a:r>
            <a:r>
              <a:rPr kumimoji="0" lang="en-US" altLang="en-US" sz="2400">
                <a:solidFill>
                  <a:schemeClr val="tx1"/>
                </a:solidFill>
                <a:effectLst/>
                <a:cs typeface="Tahoma" pitchFamily="34" charset="0"/>
              </a:rPr>
              <a:t>p</a:t>
            </a:r>
            <a:r>
              <a:rPr kumimoji="0" lang="hr-HR" altLang="en-US" sz="2400">
                <a:solidFill>
                  <a:schemeClr val="tx1"/>
                </a:solidFill>
                <a:effectLst/>
                <a:cs typeface="Tahoma" pitchFamily="34" charset="0"/>
              </a:rPr>
              <a:t>ristup zajedničkoj memoriji. </a:t>
            </a:r>
            <a:endParaRPr kumimoji="0" lang="en-US" altLang="en-US" sz="2400">
              <a:solidFill>
                <a:schemeClr val="tx1"/>
              </a:solidFill>
              <a:effectLst/>
              <a:cs typeface="Tahoma" pitchFamily="34" charset="0"/>
            </a:endParaRPr>
          </a:p>
          <a:p>
            <a:pPr>
              <a:buFont typeface="Wingdings 2" panose="05020102010507070707" pitchFamily="18" charset="2"/>
              <a:buNone/>
              <a:defRPr/>
            </a:pPr>
            <a:endParaRPr lang="en-US" altLang="en-US">
              <a:cs typeface="Tahoma" pitchFamily="34" charset="0"/>
            </a:endParaRPr>
          </a:p>
        </p:txBody>
      </p:sp>
      <p:pic>
        <p:nvPicPr>
          <p:cNvPr id="2" name="Content Placeholder 4">
            <a:extLst>
              <a:ext uri="{FF2B5EF4-FFF2-40B4-BE49-F238E27FC236}">
                <a16:creationId xmlns:a16="http://schemas.microsoft.com/office/drawing/2014/main" id="{D5630457-2D8C-CA2C-1764-A82B173B5241}"/>
              </a:ext>
            </a:extLst>
          </p:cNvPr>
          <p:cNvPicPr>
            <a:picLocks noChangeAspect="1"/>
          </p:cNvPicPr>
          <p:nvPr/>
        </p:nvPicPr>
        <p:blipFill>
          <a:blip r:embed="rId4"/>
          <a:stretch>
            <a:fillRect/>
          </a:stretch>
        </p:blipFill>
        <p:spPr bwMode="auto">
          <a:xfrm>
            <a:off x="4953000" y="4724400"/>
            <a:ext cx="4191000" cy="1971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a:extLst>
              <a:ext uri="{FF2B5EF4-FFF2-40B4-BE49-F238E27FC236}">
                <a16:creationId xmlns:a16="http://schemas.microsoft.com/office/drawing/2014/main" id="{EB21805A-5086-07AD-2EC7-C16652FFF356}"/>
              </a:ext>
            </a:extLst>
          </p:cNvPr>
          <p:cNvSpPr txBox="1">
            <a:spLocks noChangeArrowheads="1"/>
          </p:cNvSpPr>
          <p:nvPr/>
        </p:nvSpPr>
        <p:spPr bwMode="auto">
          <a:xfrm>
            <a:off x="669925" y="1260475"/>
            <a:ext cx="260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hr-HR" altLang="en-US" sz="2400">
                <a:effectLst/>
                <a:latin typeface="Times New Roman" panose="02020603050405020304" pitchFamily="18" charset="0"/>
              </a:rPr>
              <a:t> </a:t>
            </a:r>
            <a:endParaRPr lang="en-US" altLang="en-US" sz="2400">
              <a:effectLst/>
              <a:latin typeface="Times New Roman" panose="02020603050405020304" pitchFamily="18" charset="0"/>
            </a:endParaRPr>
          </a:p>
        </p:txBody>
      </p:sp>
      <p:sp>
        <p:nvSpPr>
          <p:cNvPr id="25603" name="Rectangle 6">
            <a:extLst>
              <a:ext uri="{FF2B5EF4-FFF2-40B4-BE49-F238E27FC236}">
                <a16:creationId xmlns:a16="http://schemas.microsoft.com/office/drawing/2014/main" id="{2F4A5D8F-0B3F-E3AA-B069-E2A88733AFB0}"/>
              </a:ext>
            </a:extLst>
          </p:cNvPr>
          <p:cNvSpPr>
            <a:spLocks noGrp="1" noChangeArrowheads="1"/>
          </p:cNvSpPr>
          <p:nvPr>
            <p:ph type="title"/>
          </p:nvPr>
        </p:nvSpPr>
        <p:spPr>
          <a:xfrm>
            <a:off x="0" y="0"/>
            <a:ext cx="9144000" cy="641350"/>
          </a:xfrm>
        </p:spPr>
        <p:txBody>
          <a:bodyPr/>
          <a:lstStyle/>
          <a:p>
            <a:r>
              <a:rPr kumimoji="0" lang="en-US" altLang="en-US" sz="3600">
                <a:effectLst/>
                <a:latin typeface="Times New Roman" panose="02020603050405020304" pitchFamily="18" charset="0"/>
              </a:rPr>
              <a:t>MISD </a:t>
            </a:r>
            <a:r>
              <a:rPr kumimoji="0" lang="sr-Latn-CS" altLang="en-US" sz="3600">
                <a:effectLst/>
                <a:latin typeface="Times New Roman" panose="02020603050405020304" pitchFamily="18" charset="0"/>
              </a:rPr>
              <a:t>računari</a:t>
            </a:r>
            <a:endParaRPr kumimoji="0" lang="en-US" altLang="en-US" sz="3600">
              <a:effectLst/>
              <a:latin typeface="Times New Roman" panose="02020603050405020304" pitchFamily="18" charset="0"/>
            </a:endParaRPr>
          </a:p>
        </p:txBody>
      </p:sp>
      <p:sp>
        <p:nvSpPr>
          <p:cNvPr id="6152" name="Rectangle 8">
            <a:extLst>
              <a:ext uri="{FF2B5EF4-FFF2-40B4-BE49-F238E27FC236}">
                <a16:creationId xmlns:a16="http://schemas.microsoft.com/office/drawing/2014/main" id="{2CCF603D-36E4-739B-9F24-8301C3FC8AD2}"/>
              </a:ext>
            </a:extLst>
          </p:cNvPr>
          <p:cNvSpPr>
            <a:spLocks noGrp="1" noChangeArrowheads="1"/>
          </p:cNvSpPr>
          <p:nvPr>
            <p:ph type="body" idx="1"/>
          </p:nvPr>
        </p:nvSpPr>
        <p:spPr/>
        <p:txBody>
          <a:bodyPr/>
          <a:lstStyle/>
          <a:p>
            <a:pPr>
              <a:defRPr/>
            </a:pPr>
            <a:r>
              <a:rPr kumimoji="0" lang="hr-HR" altLang="en-US" sz="2400" dirty="0">
                <a:solidFill>
                  <a:schemeClr val="tx1"/>
                </a:solidFill>
                <a:effectLst/>
              </a:rPr>
              <a:t>Postoji N tokova instrukcija i jedan tok (niz) podataka. Paralelizam se postiže tako što više procesora izvršava različite instrukcije  u isto vreme nad istim podatkom. </a:t>
            </a:r>
            <a:endParaRPr kumimoji="0" lang="en-US" altLang="en-US" sz="2400" dirty="0">
              <a:solidFill>
                <a:schemeClr val="tx1"/>
              </a:solidFill>
              <a:effectLst/>
            </a:endParaRPr>
          </a:p>
          <a:p>
            <a:pPr>
              <a:defRPr/>
            </a:pPr>
            <a:r>
              <a:rPr kumimoji="0" lang="hr-HR" altLang="en-US" sz="2400" dirty="0">
                <a:solidFill>
                  <a:schemeClr val="tx1"/>
                </a:solidFill>
                <a:effectLst/>
              </a:rPr>
              <a:t> </a:t>
            </a:r>
            <a:r>
              <a:rPr kumimoji="0" lang="en-US" altLang="en-US" sz="2400" dirty="0">
                <a:solidFill>
                  <a:schemeClr val="tx1"/>
                </a:solidFill>
                <a:effectLst/>
              </a:rPr>
              <a:t>MISD ma</a:t>
            </a:r>
            <a:r>
              <a:rPr kumimoji="0" lang="hr-HR" altLang="en-US" sz="2400" dirty="0">
                <a:solidFill>
                  <a:schemeClr val="tx1"/>
                </a:solidFill>
                <a:effectLst/>
              </a:rPr>
              <a:t>šine su od koristi kod onih izračunavanja gde isti podatak treba obraditi na više načina .</a:t>
            </a:r>
            <a:endParaRPr kumimoji="0" lang="en-US" altLang="en-US" sz="2400" dirty="0">
              <a:solidFill>
                <a:schemeClr val="tx1"/>
              </a:solidFill>
              <a:effectLst/>
            </a:endParaRPr>
          </a:p>
          <a:p>
            <a:pPr lvl="1">
              <a:defRPr/>
            </a:pPr>
            <a:r>
              <a:rPr kumimoji="0" lang="hr-HR" altLang="en-US" sz="2100" dirty="0">
                <a:solidFill>
                  <a:schemeClr val="tx1"/>
                </a:solidFill>
                <a:effectLst/>
              </a:rPr>
              <a:t> </a:t>
            </a:r>
            <a:r>
              <a:rPr kumimoji="0" lang="hr-HR" altLang="en-US" sz="2100" dirty="0"/>
              <a:t>Primer: Testiranje oblika. </a:t>
            </a:r>
          </a:p>
          <a:p>
            <a:pPr lvl="1">
              <a:defRPr/>
            </a:pPr>
            <a:r>
              <a:rPr kumimoji="0" lang="hr-HR" altLang="en-US" sz="2400" dirty="0">
                <a:solidFill>
                  <a:schemeClr val="tx1"/>
                </a:solidFill>
                <a:effectLst/>
              </a:rPr>
              <a:t>Za većinu aplikacija MISD način rada nije pogodan, tako da nem</a:t>
            </a:r>
            <a:r>
              <a:rPr kumimoji="0" lang="en-US" altLang="en-US" sz="2400" dirty="0">
                <a:solidFill>
                  <a:schemeClr val="tx1"/>
                </a:solidFill>
                <a:effectLst/>
              </a:rPr>
              <a:t>a</a:t>
            </a:r>
            <a:r>
              <a:rPr kumimoji="0" lang="hr-HR" altLang="en-US" sz="2400" dirty="0">
                <a:solidFill>
                  <a:schemeClr val="tx1"/>
                </a:solidFill>
                <a:effectLst/>
              </a:rPr>
              <a:t> komercijalno raspoloživih mašina ovog tipa. </a:t>
            </a:r>
            <a:endParaRPr kumimoji="0" lang="en-US" altLang="en-US" sz="2400" dirty="0">
              <a:solidFill>
                <a:schemeClr val="tx1"/>
              </a:solidFill>
              <a:effectLst/>
            </a:endParaRPr>
          </a:p>
          <a:p>
            <a:pPr>
              <a:defRPr/>
            </a:pPr>
            <a:endParaRPr lang="en-US" alt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a:extLst>
              <a:ext uri="{FF2B5EF4-FFF2-40B4-BE49-F238E27FC236}">
                <a16:creationId xmlns:a16="http://schemas.microsoft.com/office/drawing/2014/main" id="{C6AADD79-1E75-8A00-1B1F-F51C80082445}"/>
              </a:ext>
            </a:extLst>
          </p:cNvPr>
          <p:cNvSpPr txBox="1">
            <a:spLocks noChangeArrowheads="1"/>
          </p:cNvSpPr>
          <p:nvPr/>
        </p:nvSpPr>
        <p:spPr bwMode="auto">
          <a:xfrm>
            <a:off x="304800" y="685800"/>
            <a:ext cx="88392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b="1">
              <a:effectLst/>
              <a:latin typeface="Tahoma" panose="020B0604030504040204" pitchFamily="34" charset="0"/>
              <a:cs typeface="Tahoma" panose="020B0604030504040204" pitchFamily="34" charset="0"/>
            </a:endParaRPr>
          </a:p>
          <a:p>
            <a:pPr eaLnBrk="1" hangingPunct="1"/>
            <a:r>
              <a:rPr lang="hr-HR" altLang="en-US" sz="2000">
                <a:effectLst/>
                <a:latin typeface="Tahoma" panose="020B0604030504040204" pitchFamily="34" charset="0"/>
                <a:cs typeface="Tahoma" panose="020B0604030504040204" pitchFamily="34" charset="0"/>
              </a:rPr>
              <a:t>Postoji N procesora čijim radom upravlja jedinstvena upravljačka jedinica (control) .Ovo je isto kao da svaki procesor sadrži identičnu kopiju programa. Postoji N tokova podataka, po jedan za svaki procesor, što znači da se različiti podaci mogu koristiti u svakom procesoru. </a:t>
            </a:r>
            <a:endParaRPr lang="en-US" altLang="en-US" sz="2000">
              <a:effectLst/>
              <a:latin typeface="Tahoma" panose="020B0604030504040204" pitchFamily="34" charset="0"/>
              <a:cs typeface="Tahoma" panose="020B0604030504040204" pitchFamily="34" charset="0"/>
            </a:endParaRPr>
          </a:p>
        </p:txBody>
      </p:sp>
      <p:sp>
        <p:nvSpPr>
          <p:cNvPr id="7172" name="Rectangle 4">
            <a:extLst>
              <a:ext uri="{FF2B5EF4-FFF2-40B4-BE49-F238E27FC236}">
                <a16:creationId xmlns:a16="http://schemas.microsoft.com/office/drawing/2014/main" id="{FA70BA19-D916-3511-727E-00547F8749BD}"/>
              </a:ext>
            </a:extLst>
          </p:cNvPr>
          <p:cNvSpPr>
            <a:spLocks noChangeArrowheads="1"/>
          </p:cNvSpPr>
          <p:nvPr/>
        </p:nvSpPr>
        <p:spPr bwMode="auto">
          <a:xfrm>
            <a:off x="2700338" y="1919288"/>
            <a:ext cx="9144000" cy="0"/>
          </a:xfrm>
          <a:prstGeom prst="rect">
            <a:avLst/>
          </a:prstGeom>
          <a:noFill/>
          <a:ln>
            <a:noFill/>
          </a:ln>
          <a:effectLst/>
        </p:spPr>
        <p:txBody>
          <a:bodyPr>
            <a:spAutoFit/>
          </a:bodyPr>
          <a:lstStyle/>
          <a:p>
            <a:pPr>
              <a:defRPr/>
            </a:pPr>
            <a:endParaRPr lang="en-US"/>
          </a:p>
        </p:txBody>
      </p:sp>
      <p:pic>
        <p:nvPicPr>
          <p:cNvPr id="26628" name="Picture 3" descr="D:\users\ema\paralelni\ponovo\Classification of Parallel Machines_files\FIG2C.gif">
            <a:extLst>
              <a:ext uri="{FF2B5EF4-FFF2-40B4-BE49-F238E27FC236}">
                <a16:creationId xmlns:a16="http://schemas.microsoft.com/office/drawing/2014/main" id="{2406245B-1066-857C-8F38-FEC2626A05D0}"/>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1447800" y="2590800"/>
            <a:ext cx="4876800"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Rectangle 5">
            <a:extLst>
              <a:ext uri="{FF2B5EF4-FFF2-40B4-BE49-F238E27FC236}">
                <a16:creationId xmlns:a16="http://schemas.microsoft.com/office/drawing/2014/main" id="{3CD1CA43-1B99-EA46-3BDB-7DA2D98E88C2}"/>
              </a:ext>
            </a:extLst>
          </p:cNvPr>
          <p:cNvSpPr>
            <a:spLocks noGrp="1" noChangeArrowheads="1"/>
          </p:cNvSpPr>
          <p:nvPr>
            <p:ph type="title"/>
          </p:nvPr>
        </p:nvSpPr>
        <p:spPr/>
        <p:txBody>
          <a:bodyPr/>
          <a:lstStyle/>
          <a:p>
            <a:pPr>
              <a:defRPr/>
            </a:pPr>
            <a:r>
              <a:rPr kumimoji="0" lang="en-US" altLang="en-US"/>
              <a:t>SIMD</a:t>
            </a:r>
          </a:p>
        </p:txBody>
      </p:sp>
      <p:sp>
        <p:nvSpPr>
          <p:cNvPr id="6" name="TextBox 5">
            <a:extLst>
              <a:ext uri="{FF2B5EF4-FFF2-40B4-BE49-F238E27FC236}">
                <a16:creationId xmlns:a16="http://schemas.microsoft.com/office/drawing/2014/main" id="{8018DDAA-4754-9AD9-3414-D65C46944D42}"/>
              </a:ext>
            </a:extLst>
          </p:cNvPr>
          <p:cNvSpPr txBox="1"/>
          <p:nvPr/>
        </p:nvSpPr>
        <p:spPr>
          <a:xfrm>
            <a:off x="3886200" y="6400800"/>
            <a:ext cx="5046663" cy="461963"/>
          </a:xfrm>
          <a:prstGeom prst="rect">
            <a:avLst/>
          </a:prstGeom>
          <a:noFill/>
        </p:spPr>
        <p:txBody>
          <a:bodyPr wrap="none">
            <a:spAutoFit/>
          </a:bodyPr>
          <a:lstStyle/>
          <a:p>
            <a:pPr>
              <a:defRPr/>
            </a:pPr>
            <a:r>
              <a:rPr lang="sr-Latn-CS" altLang="en-US" sz="1200" dirty="0">
                <a:solidFill>
                  <a:srgbClr val="000000"/>
                </a:solidFill>
                <a:effectLst/>
                <a:latin typeface="Times New Roman" pitchFamily="18" charset="0"/>
              </a:rPr>
              <a:t>1950. Godine Čeh, Antonin Svoboda, konstruisao prvi paralelni računar SAPO</a:t>
            </a:r>
          </a:p>
          <a:p>
            <a:pPr>
              <a:defRPr/>
            </a:pPr>
            <a:r>
              <a:rPr lang="sr-Latn-CS" sz="1200" dirty="0">
                <a:solidFill>
                  <a:srgbClr val="000000"/>
                </a:solidFill>
                <a:effectLst/>
                <a:latin typeface="Times New Roman" pitchFamily="18" charset="0"/>
              </a:rPr>
              <a:t>(Samočinný počítač – automatski računar)</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41CB5-08B5-31C7-77D7-9F20F0499643}"/>
              </a:ext>
            </a:extLst>
          </p:cNvPr>
          <p:cNvSpPr>
            <a:spLocks noGrp="1"/>
          </p:cNvSpPr>
          <p:nvPr>
            <p:ph type="title"/>
          </p:nvPr>
        </p:nvSpPr>
        <p:spPr/>
        <p:txBody>
          <a:bodyPr/>
          <a:lstStyle/>
          <a:p>
            <a:r>
              <a:rPr lang="en-US" dirty="0"/>
              <a:t>SIMD</a:t>
            </a:r>
            <a:endParaRPr lang="sr-Latn-RS" dirty="0"/>
          </a:p>
        </p:txBody>
      </p:sp>
      <p:pic>
        <p:nvPicPr>
          <p:cNvPr id="10" name="Picture 9">
            <a:extLst>
              <a:ext uri="{FF2B5EF4-FFF2-40B4-BE49-F238E27FC236}">
                <a16:creationId xmlns:a16="http://schemas.microsoft.com/office/drawing/2014/main" id="{1B6CA68E-3486-9C9C-25C6-9D0E3C4E0E3C}"/>
              </a:ext>
            </a:extLst>
          </p:cNvPr>
          <p:cNvPicPr>
            <a:picLocks noChangeAspect="1"/>
          </p:cNvPicPr>
          <p:nvPr/>
        </p:nvPicPr>
        <p:blipFill>
          <a:blip r:embed="rId2"/>
          <a:stretch>
            <a:fillRect/>
          </a:stretch>
        </p:blipFill>
        <p:spPr>
          <a:xfrm>
            <a:off x="1828800" y="1114868"/>
            <a:ext cx="4191000" cy="2333625"/>
          </a:xfrm>
          <a:prstGeom prst="rect">
            <a:avLst/>
          </a:prstGeom>
        </p:spPr>
      </p:pic>
      <p:pic>
        <p:nvPicPr>
          <p:cNvPr id="12" name="Picture 11">
            <a:extLst>
              <a:ext uri="{FF2B5EF4-FFF2-40B4-BE49-F238E27FC236}">
                <a16:creationId xmlns:a16="http://schemas.microsoft.com/office/drawing/2014/main" id="{9DA4A172-810E-4B27-D429-FAC2211A4299}"/>
              </a:ext>
            </a:extLst>
          </p:cNvPr>
          <p:cNvPicPr>
            <a:picLocks noChangeAspect="1"/>
          </p:cNvPicPr>
          <p:nvPr/>
        </p:nvPicPr>
        <p:blipFill>
          <a:blip r:embed="rId3"/>
          <a:stretch>
            <a:fillRect/>
          </a:stretch>
        </p:blipFill>
        <p:spPr>
          <a:xfrm>
            <a:off x="2019300" y="3962400"/>
            <a:ext cx="3810000" cy="1400175"/>
          </a:xfrm>
          <a:prstGeom prst="rect">
            <a:avLst/>
          </a:prstGeom>
        </p:spPr>
      </p:pic>
    </p:spTree>
    <p:extLst>
      <p:ext uri="{BB962C8B-B14F-4D97-AF65-F5344CB8AC3E}">
        <p14:creationId xmlns:p14="http://schemas.microsoft.com/office/powerpoint/2010/main" val="3485171962"/>
      </p:ext>
    </p:extLst>
  </p:cSld>
  <p:clrMapOvr>
    <a:masterClrMapping/>
  </p:clrMapOvr>
  <p:transition>
    <p:pull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a:extLst>
              <a:ext uri="{FF2B5EF4-FFF2-40B4-BE49-F238E27FC236}">
                <a16:creationId xmlns:a16="http://schemas.microsoft.com/office/drawing/2014/main" id="{034EB090-9095-B4BA-1E7D-4C787E1C6A81}"/>
              </a:ext>
            </a:extLst>
          </p:cNvPr>
          <p:cNvSpPr txBox="1">
            <a:spLocks noChangeArrowheads="1"/>
          </p:cNvSpPr>
          <p:nvPr/>
        </p:nvSpPr>
        <p:spPr bwMode="auto">
          <a:xfrm>
            <a:off x="457200" y="838200"/>
            <a:ext cx="7940675" cy="588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Tx/>
              <a:buChar char="•"/>
            </a:pPr>
            <a:r>
              <a:rPr lang="hr-HR" altLang="en-US" sz="2000">
                <a:effectLst/>
                <a:latin typeface="Tahoma" panose="020B0604030504040204" pitchFamily="34" charset="0"/>
                <a:cs typeface="Tahoma" panose="020B0604030504040204" pitchFamily="34" charset="0"/>
              </a:rPr>
              <a:t> Procesori u sistemu rade sinhrono: svi izvršavaju istu instrukciju nad različitim podatkom.</a:t>
            </a:r>
            <a:r>
              <a:rPr lang="en-US" altLang="en-US" sz="2000">
                <a:effectLst/>
                <a:latin typeface="Tahoma" panose="020B0604030504040204" pitchFamily="34" charset="0"/>
                <a:cs typeface="Tahoma" panose="020B0604030504040204" pitchFamily="34" charset="0"/>
              </a:rPr>
              <a:t> </a:t>
            </a:r>
            <a:endParaRPr lang="hr-HR" altLang="en-US" sz="2000">
              <a:effectLst/>
              <a:latin typeface="Tahoma" panose="020B0604030504040204" pitchFamily="34" charset="0"/>
              <a:cs typeface="Tahoma" panose="020B0604030504040204" pitchFamily="34" charset="0"/>
            </a:endParaRPr>
          </a:p>
          <a:p>
            <a:pPr eaLnBrk="1" hangingPunct="1"/>
            <a:endParaRPr lang="hr-HR" altLang="en-US" sz="2000">
              <a:effectLst/>
              <a:latin typeface="Tahoma" panose="020B0604030504040204" pitchFamily="34" charset="0"/>
              <a:cs typeface="Tahoma" panose="020B0604030504040204" pitchFamily="34" charset="0"/>
            </a:endParaRPr>
          </a:p>
          <a:p>
            <a:pPr eaLnBrk="1" hangingPunct="1"/>
            <a:r>
              <a:rPr lang="hr-HR" altLang="en-US" sz="2000">
                <a:effectLst/>
                <a:latin typeface="Tahoma" panose="020B0604030504040204" pitchFamily="34" charset="0"/>
                <a:cs typeface="Tahoma" panose="020B0604030504040204" pitchFamily="34" charset="0"/>
              </a:rPr>
              <a:t>Procesorska polja k</a:t>
            </a:r>
            <a:r>
              <a:rPr lang="en-US" altLang="en-US" sz="2000">
                <a:effectLst/>
                <a:latin typeface="Tahoma" panose="020B0604030504040204" pitchFamily="34" charset="0"/>
                <a:cs typeface="Tahoma" panose="020B0604030504040204" pitchFamily="34" charset="0"/>
              </a:rPr>
              <a:t>a</a:t>
            </a:r>
            <a:r>
              <a:rPr lang="hr-HR" altLang="en-US" sz="2000">
                <a:effectLst/>
                <a:latin typeface="Tahoma" panose="020B0604030504040204" pitchFamily="34" charset="0"/>
                <a:cs typeface="Tahoma" panose="020B0604030504040204" pitchFamily="34" charset="0"/>
              </a:rPr>
              <a:t>o npr. </a:t>
            </a:r>
            <a:r>
              <a:rPr lang="en-US" altLang="en-US" sz="2000">
                <a:effectLst/>
                <a:latin typeface="Tahoma" panose="020B0604030504040204" pitchFamily="34" charset="0"/>
                <a:cs typeface="Tahoma" panose="020B0604030504040204" pitchFamily="34" charset="0"/>
              </a:rPr>
              <a:t>ICL DAP (Distributed Array Processor) </a:t>
            </a:r>
            <a:r>
              <a:rPr lang="hr-HR" altLang="en-US" sz="2000">
                <a:effectLst/>
                <a:latin typeface="Tahoma" panose="020B0604030504040204" pitchFamily="34" charset="0"/>
                <a:cs typeface="Tahoma" panose="020B0604030504040204" pitchFamily="34" charset="0"/>
              </a:rPr>
              <a:t>spadaju u ovu kategoriju. </a:t>
            </a:r>
            <a:endParaRPr lang="en-US" altLang="en-US" sz="2000">
              <a:effectLst/>
              <a:latin typeface="Tahoma" panose="020B0604030504040204" pitchFamily="34" charset="0"/>
              <a:cs typeface="Tahoma" panose="020B0604030504040204" pitchFamily="34" charset="0"/>
            </a:endParaRPr>
          </a:p>
          <a:p>
            <a:pPr eaLnBrk="1" hangingPunct="1">
              <a:buFontTx/>
              <a:buChar char="•"/>
            </a:pPr>
            <a:r>
              <a:rPr lang="hr-HR" altLang="en-US" sz="2000">
                <a:effectLst/>
                <a:latin typeface="Tahoma" panose="020B0604030504040204" pitchFamily="34" charset="0"/>
                <a:cs typeface="Tahoma" panose="020B0604030504040204" pitchFamily="34" charset="0"/>
              </a:rPr>
              <a:t> </a:t>
            </a:r>
            <a:r>
              <a:rPr lang="en-US" altLang="en-US" sz="2000">
                <a:effectLst/>
                <a:latin typeface="Tahoma" panose="020B0604030504040204" pitchFamily="34" charset="0"/>
                <a:cs typeface="Tahoma" panose="020B0604030504040204" pitchFamily="34" charset="0"/>
              </a:rPr>
              <a:t>SIMD </a:t>
            </a:r>
            <a:r>
              <a:rPr lang="hr-HR" altLang="en-US" sz="2000">
                <a:effectLst/>
                <a:latin typeface="Tahoma" panose="020B0604030504040204" pitchFamily="34" charset="0"/>
                <a:cs typeface="Tahoma" panose="020B0604030504040204" pitchFamily="34" charset="0"/>
              </a:rPr>
              <a:t>mašine su naročito pogodne za probleme koji imaju regularnu strukturu, tj. ista instrukcija se može primeniti na podskup podataka. </a:t>
            </a:r>
            <a:endParaRPr lang="en-US" altLang="en-US" sz="2000">
              <a:effectLst/>
              <a:latin typeface="Tahoma" panose="020B0604030504040204" pitchFamily="34" charset="0"/>
              <a:cs typeface="Tahoma" panose="020B0604030504040204" pitchFamily="34" charset="0"/>
            </a:endParaRPr>
          </a:p>
          <a:p>
            <a:pPr eaLnBrk="1" hangingPunct="1"/>
            <a:endParaRPr lang="hr-HR" altLang="en-US" sz="2000">
              <a:effectLst/>
              <a:latin typeface="Tahoma" panose="020B0604030504040204" pitchFamily="34" charset="0"/>
              <a:cs typeface="Tahoma" panose="020B0604030504040204" pitchFamily="34" charset="0"/>
            </a:endParaRPr>
          </a:p>
          <a:p>
            <a:pPr eaLnBrk="1" hangingPunct="1"/>
            <a:r>
              <a:rPr lang="hr-HR" altLang="en-US" sz="2000" b="1">
                <a:effectLst/>
                <a:latin typeface="Tahoma" panose="020B0604030504040204" pitchFamily="34" charset="0"/>
                <a:cs typeface="Tahoma" panose="020B0604030504040204" pitchFamily="34" charset="0"/>
              </a:rPr>
              <a:t>Primer:</a:t>
            </a:r>
            <a:r>
              <a:rPr lang="hr-HR" altLang="en-US" sz="2000">
                <a:effectLst/>
                <a:latin typeface="Tahoma" panose="020B0604030504040204" pitchFamily="34" charset="0"/>
                <a:cs typeface="Tahoma" panose="020B0604030504040204" pitchFamily="34" charset="0"/>
              </a:rPr>
              <a:t> Sabiranje dve matrice </a:t>
            </a:r>
            <a:r>
              <a:rPr lang="en-US" altLang="en-US" sz="2000">
                <a:effectLst/>
                <a:latin typeface="Tahoma" panose="020B0604030504040204" pitchFamily="34" charset="0"/>
                <a:cs typeface="Tahoma" panose="020B0604030504040204" pitchFamily="34" charset="0"/>
              </a:rPr>
              <a:t>A + B = C.</a:t>
            </a:r>
            <a:br>
              <a:rPr lang="en-US" altLang="en-US" sz="2000">
                <a:effectLst/>
                <a:latin typeface="Tahoma" panose="020B0604030504040204" pitchFamily="34" charset="0"/>
                <a:cs typeface="Tahoma" panose="020B0604030504040204" pitchFamily="34" charset="0"/>
              </a:rPr>
            </a:br>
            <a:endParaRPr lang="hr-HR" altLang="en-US" sz="2000">
              <a:effectLst/>
              <a:latin typeface="Tahoma" panose="020B0604030504040204" pitchFamily="34" charset="0"/>
              <a:cs typeface="Tahoma" panose="020B0604030504040204" pitchFamily="34" charset="0"/>
            </a:endParaRPr>
          </a:p>
          <a:p>
            <a:pPr eaLnBrk="1" hangingPunct="1"/>
            <a:r>
              <a:rPr lang="hr-HR" altLang="en-US" sz="2000">
                <a:effectLst/>
                <a:latin typeface="Tahoma" panose="020B0604030504040204" pitchFamily="34" charset="0"/>
                <a:cs typeface="Tahoma" panose="020B0604030504040204" pitchFamily="34" charset="0"/>
              </a:rPr>
              <a:t>Pretpostavimo da </a:t>
            </a:r>
            <a:r>
              <a:rPr lang="en-US" altLang="en-US" sz="2000">
                <a:effectLst/>
                <a:latin typeface="Tahoma" panose="020B0604030504040204" pitchFamily="34" charset="0"/>
                <a:cs typeface="Tahoma" panose="020B0604030504040204" pitchFamily="34" charset="0"/>
              </a:rPr>
              <a:t>imamo </a:t>
            </a:r>
            <a:r>
              <a:rPr lang="hr-HR" altLang="en-US" sz="2000">
                <a:effectLst/>
                <a:latin typeface="Tahoma" panose="020B0604030504040204" pitchFamily="34" charset="0"/>
                <a:cs typeface="Tahoma" panose="020B0604030504040204" pitchFamily="34" charset="0"/>
              </a:rPr>
              <a:t>dve matrice A i B reda 2 i 4 procesora</a:t>
            </a:r>
            <a:endParaRPr lang="en-US" altLang="en-US" sz="2000">
              <a:effectLst/>
              <a:latin typeface="Tahoma" panose="020B0604030504040204" pitchFamily="34" charset="0"/>
              <a:cs typeface="Tahoma" panose="020B0604030504040204" pitchFamily="34" charset="0"/>
            </a:endParaRPr>
          </a:p>
          <a:p>
            <a:pPr eaLnBrk="1" hangingPunct="1"/>
            <a:r>
              <a:rPr lang="en-US" altLang="en-US" sz="2000">
                <a:effectLst/>
                <a:latin typeface="Tahoma" panose="020B0604030504040204" pitchFamily="34" charset="0"/>
                <a:cs typeface="Tahoma" panose="020B0604030504040204" pitchFamily="34" charset="0"/>
              </a:rPr>
              <a:t>A11 + B11 = C11 ... A12 + B12 = C12 </a:t>
            </a:r>
          </a:p>
          <a:p>
            <a:pPr eaLnBrk="1" hangingPunct="1"/>
            <a:r>
              <a:rPr lang="en-US" altLang="en-US" sz="2000">
                <a:effectLst/>
                <a:latin typeface="Tahoma" panose="020B0604030504040204" pitchFamily="34" charset="0"/>
                <a:cs typeface="Tahoma" panose="020B0604030504040204" pitchFamily="34" charset="0"/>
              </a:rPr>
              <a:t>A21 + B21 = C21 ... A22 + B22 = C22 </a:t>
            </a:r>
            <a:endParaRPr lang="hr-HR" altLang="en-US" sz="2000">
              <a:effectLst/>
              <a:latin typeface="Tahoma" panose="020B0604030504040204" pitchFamily="34" charset="0"/>
              <a:cs typeface="Tahoma" panose="020B0604030504040204" pitchFamily="34" charset="0"/>
            </a:endParaRPr>
          </a:p>
          <a:p>
            <a:pPr eaLnBrk="1" hangingPunct="1"/>
            <a:endParaRPr lang="en-US" altLang="en-US" sz="2000">
              <a:effectLst/>
              <a:latin typeface="Tahoma" panose="020B0604030504040204" pitchFamily="34" charset="0"/>
              <a:cs typeface="Tahoma" panose="020B0604030504040204" pitchFamily="34" charset="0"/>
            </a:endParaRPr>
          </a:p>
          <a:p>
            <a:pPr eaLnBrk="1" hangingPunct="1"/>
            <a:r>
              <a:rPr lang="hr-HR" altLang="en-US" sz="2000">
                <a:effectLst/>
                <a:latin typeface="Tahoma" panose="020B0604030504040204" pitchFamily="34" charset="0"/>
                <a:cs typeface="Tahoma" panose="020B0604030504040204" pitchFamily="34" charset="0"/>
              </a:rPr>
              <a:t>Ista instrukcija se izdaje svim procesorima (sabiranje dva broja) i svi procesori je izvršavaju jednovremeno. </a:t>
            </a:r>
          </a:p>
          <a:p>
            <a:pPr eaLnBrk="1" hangingPunct="1"/>
            <a:r>
              <a:rPr lang="hr-HR" altLang="en-US" sz="2000">
                <a:effectLst/>
                <a:latin typeface="Tahoma" panose="020B0604030504040204" pitchFamily="34" charset="0"/>
                <a:cs typeface="Tahoma" panose="020B0604030504040204" pitchFamily="34" charset="0"/>
              </a:rPr>
              <a:t>Izračunavanje se obavlja u jednom koraku naspram 4 koraka na sekvencijalnoj mašini. </a:t>
            </a:r>
            <a:endParaRPr lang="en-US" altLang="en-US" sz="2000">
              <a:effectLst/>
              <a:latin typeface="Tahoma" panose="020B0604030504040204" pitchFamily="34" charset="0"/>
              <a:cs typeface="Tahoma" panose="020B0604030504040204" pitchFamily="34" charset="0"/>
            </a:endParaRPr>
          </a:p>
        </p:txBody>
      </p:sp>
      <p:sp>
        <p:nvSpPr>
          <p:cNvPr id="8195" name="Rectangle 3">
            <a:extLst>
              <a:ext uri="{FF2B5EF4-FFF2-40B4-BE49-F238E27FC236}">
                <a16:creationId xmlns:a16="http://schemas.microsoft.com/office/drawing/2014/main" id="{4B017441-DF33-94C7-1470-398C7A22F169}"/>
              </a:ext>
            </a:extLst>
          </p:cNvPr>
          <p:cNvSpPr>
            <a:spLocks noGrp="1" noChangeArrowheads="1"/>
          </p:cNvSpPr>
          <p:nvPr>
            <p:ph type="title"/>
          </p:nvPr>
        </p:nvSpPr>
        <p:spPr/>
        <p:txBody>
          <a:bodyPr/>
          <a:lstStyle/>
          <a:p>
            <a:pPr>
              <a:defRPr/>
            </a:pPr>
            <a:r>
              <a:rPr kumimoji="0" lang="en-US" altLang="en-US"/>
              <a:t>SIMD</a:t>
            </a:r>
            <a:r>
              <a:rPr kumimoji="0" lang="sr-Latn-CS" altLang="en-US"/>
              <a:t> (nast.)</a:t>
            </a:r>
            <a:endParaRPr kumimoji="0"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a:extLst>
              <a:ext uri="{FF2B5EF4-FFF2-40B4-BE49-F238E27FC236}">
                <a16:creationId xmlns:a16="http://schemas.microsoft.com/office/drawing/2014/main" id="{6B33F58D-C7B7-B581-01DD-EF93012006DF}"/>
              </a:ext>
            </a:extLst>
          </p:cNvPr>
          <p:cNvSpPr txBox="1">
            <a:spLocks noChangeArrowheads="1"/>
          </p:cNvSpPr>
          <p:nvPr/>
        </p:nvSpPr>
        <p:spPr bwMode="auto">
          <a:xfrm>
            <a:off x="457200" y="914400"/>
            <a:ext cx="8093075" cy="593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hr-HR" altLang="en-US" sz="2400">
                <a:effectLst/>
                <a:latin typeface="Times New Roman" panose="02020603050405020304" pitchFamily="18" charset="0"/>
              </a:rPr>
              <a:t>Ponekad može biti potrebno da samo podskup procesora izvršava datu instrukciju (tj. samo neki podaci trebaju biti obradjeni datom instrukcijom) </a:t>
            </a:r>
            <a:br>
              <a:rPr lang="en-US" altLang="en-US" sz="2400">
                <a:effectLst/>
                <a:latin typeface="Times New Roman" panose="02020603050405020304" pitchFamily="18" charset="0"/>
                <a:cs typeface="Times New Roman" panose="02020603050405020304" pitchFamily="18" charset="0"/>
              </a:rPr>
            </a:br>
            <a:r>
              <a:rPr lang="hr-HR" altLang="en-US" sz="2400">
                <a:effectLst/>
                <a:latin typeface="Times New Roman" panose="02020603050405020304" pitchFamily="18" charset="0"/>
              </a:rPr>
              <a:t>Ova informacija može biti kodirana samom instrukcijom ukazujući da li je</a:t>
            </a:r>
            <a:endParaRPr lang="en-US" altLang="en-US" sz="2400">
              <a:effectLst/>
              <a:latin typeface="Times New Roman" panose="02020603050405020304" pitchFamily="18" charset="0"/>
              <a:cs typeface="Times New Roman" panose="02020603050405020304" pitchFamily="18" charset="0"/>
            </a:endParaRPr>
          </a:p>
          <a:p>
            <a:pPr eaLnBrk="1" hangingPunct="1">
              <a:buFontTx/>
              <a:buAutoNum type="arabicPeriod"/>
            </a:pPr>
            <a:r>
              <a:rPr lang="en-US" altLang="en-US" sz="2400">
                <a:effectLst/>
                <a:latin typeface="Times New Roman" panose="02020603050405020304" pitchFamily="18" charset="0"/>
              </a:rPr>
              <a:t>procesor  </a:t>
            </a:r>
            <a:r>
              <a:rPr lang="en-US" altLang="en-US" sz="2400" b="1">
                <a:effectLst/>
                <a:latin typeface="Times New Roman" panose="02020603050405020304" pitchFamily="18" charset="0"/>
              </a:rPr>
              <a:t>a</a:t>
            </a:r>
            <a:r>
              <a:rPr lang="hr-HR" altLang="en-US" sz="2400" b="1">
                <a:effectLst/>
                <a:latin typeface="Times New Roman" panose="02020603050405020304" pitchFamily="18" charset="0"/>
              </a:rPr>
              <a:t>ktivan</a:t>
            </a:r>
            <a:r>
              <a:rPr lang="en-US" altLang="en-US" sz="2400">
                <a:effectLst/>
                <a:latin typeface="Times New Roman" panose="02020603050405020304" pitchFamily="18" charset="0"/>
              </a:rPr>
              <a:t> ( </a:t>
            </a:r>
            <a:r>
              <a:rPr lang="hr-HR" altLang="en-US" sz="2400">
                <a:effectLst/>
                <a:latin typeface="Times New Roman" panose="02020603050405020304" pitchFamily="18" charset="0"/>
              </a:rPr>
              <a:t>izvršava instrukciju)</a:t>
            </a:r>
            <a:endParaRPr lang="en-US" altLang="en-US" sz="2400">
              <a:effectLst/>
              <a:latin typeface="Times New Roman" panose="02020603050405020304" pitchFamily="18" charset="0"/>
            </a:endParaRPr>
          </a:p>
          <a:p>
            <a:pPr eaLnBrk="1" hangingPunct="1">
              <a:buFontTx/>
              <a:buAutoNum type="arabicPeriod"/>
            </a:pPr>
            <a:r>
              <a:rPr lang="en-US" altLang="en-US" sz="2400">
                <a:effectLst/>
                <a:latin typeface="Times New Roman" panose="02020603050405020304" pitchFamily="18" charset="0"/>
              </a:rPr>
              <a:t>procesor  </a:t>
            </a:r>
            <a:r>
              <a:rPr lang="hr-HR" altLang="en-US" sz="2400" b="1">
                <a:effectLst/>
                <a:latin typeface="Times New Roman" panose="02020603050405020304" pitchFamily="18" charset="0"/>
              </a:rPr>
              <a:t>pasivan </a:t>
            </a:r>
            <a:r>
              <a:rPr lang="en-US" altLang="en-US" sz="2400">
                <a:effectLst/>
                <a:latin typeface="Times New Roman" panose="02020603050405020304" pitchFamily="18" charset="0"/>
              </a:rPr>
              <a:t> ( </a:t>
            </a:r>
            <a:r>
              <a:rPr lang="hr-HR" altLang="en-US" sz="2400">
                <a:effectLst/>
                <a:latin typeface="Times New Roman" panose="02020603050405020304" pitchFamily="18" charset="0"/>
              </a:rPr>
              <a:t>čeka na sledeću instrukciju) </a:t>
            </a:r>
          </a:p>
          <a:p>
            <a:pPr eaLnBrk="1" hangingPunct="1"/>
            <a:endParaRPr lang="hr-HR" altLang="en-US" sz="2400">
              <a:effectLst/>
              <a:latin typeface="Times New Roman" panose="02020603050405020304" pitchFamily="18" charset="0"/>
            </a:endParaRPr>
          </a:p>
          <a:p>
            <a:pPr eaLnBrk="1" hangingPunct="1"/>
            <a:r>
              <a:rPr lang="hr-HR" altLang="en-US" sz="2400">
                <a:effectLst/>
                <a:latin typeface="Times New Roman" panose="02020603050405020304" pitchFamily="18" charset="0"/>
              </a:rPr>
              <a:t>U toku izvršenja programa na SIMD (i MIMD) javlja se potreba za komunikacijom izmedju procesora da bi se razmenili podaci ili rezultati. </a:t>
            </a:r>
          </a:p>
          <a:p>
            <a:pPr eaLnBrk="1" hangingPunct="1"/>
            <a:r>
              <a:rPr lang="hr-HR" altLang="en-US" sz="2400">
                <a:effectLst/>
                <a:latin typeface="Times New Roman" panose="02020603050405020304" pitchFamily="18" charset="0"/>
              </a:rPr>
              <a:t>Komunikacija se može ostvariti korišćenjem </a:t>
            </a:r>
            <a:r>
              <a:rPr lang="hr-HR" altLang="en-US" sz="2400">
                <a:solidFill>
                  <a:srgbClr val="CC6600"/>
                </a:solidFill>
                <a:effectLst/>
                <a:latin typeface="Times New Roman" panose="02020603050405020304" pitchFamily="18" charset="0"/>
              </a:rPr>
              <a:t>deljive memorije i deljivih promenljivih</a:t>
            </a:r>
            <a:r>
              <a:rPr lang="hr-HR" altLang="en-US" sz="2400">
                <a:effectLst/>
                <a:latin typeface="Times New Roman" panose="02020603050405020304" pitchFamily="18" charset="0"/>
              </a:rPr>
              <a:t> ili </a:t>
            </a:r>
            <a:r>
              <a:rPr lang="hr-HR" altLang="en-US" sz="2400">
                <a:solidFill>
                  <a:srgbClr val="CC6600"/>
                </a:solidFill>
                <a:effectLst/>
                <a:latin typeface="Times New Roman" panose="02020603050405020304" pitchFamily="18" charset="0"/>
              </a:rPr>
              <a:t>slanjem poruka kroz sprežnu mrežu</a:t>
            </a:r>
            <a:r>
              <a:rPr lang="hr-HR" altLang="en-US" sz="2400">
                <a:effectLst/>
                <a:latin typeface="Times New Roman" panose="02020603050405020304" pitchFamily="18" charset="0"/>
              </a:rPr>
              <a:t>. </a:t>
            </a:r>
          </a:p>
          <a:p>
            <a:pPr eaLnBrk="1" hangingPunct="1"/>
            <a:endParaRPr lang="hr-HR" altLang="en-US" sz="2400">
              <a:effectLst/>
              <a:latin typeface="Times New Roman" panose="02020603050405020304" pitchFamily="18" charset="0"/>
            </a:endParaRPr>
          </a:p>
          <a:p>
            <a:pPr eaLnBrk="1" hangingPunct="1"/>
            <a:r>
              <a:rPr lang="sr-Latn-CS" altLang="en-US" sz="2400">
                <a:effectLst/>
                <a:latin typeface="Times New Roman" panose="02020603050405020304" pitchFamily="18" charset="0"/>
                <a:cs typeface="Times New Roman" panose="02020603050405020304" pitchFamily="18" charset="0"/>
              </a:rPr>
              <a:t>Primeri SIMD:</a:t>
            </a:r>
            <a:r>
              <a:rPr lang="en-US" altLang="en-US" sz="2400">
                <a:effectLst/>
                <a:latin typeface="Times New Roman" panose="02020603050405020304" pitchFamily="18" charset="0"/>
                <a:cs typeface="Times New Roman" panose="02020603050405020304" pitchFamily="18" charset="0"/>
              </a:rPr>
              <a:t>Illiac IV, MPP, DAP, CM-2,  MasPar MP-2</a:t>
            </a:r>
          </a:p>
          <a:p>
            <a:pPr eaLnBrk="1" hangingPunct="1"/>
            <a:endParaRPr lang="en-US" altLang="en-US" sz="2400">
              <a:effectLst/>
              <a:latin typeface="Times New Roman" panose="02020603050405020304" pitchFamily="18" charset="0"/>
              <a:cs typeface="Times New Roman" panose="02020603050405020304" pitchFamily="18" charset="0"/>
            </a:endParaRPr>
          </a:p>
        </p:txBody>
      </p:sp>
      <p:sp>
        <p:nvSpPr>
          <p:cNvPr id="9219" name="Rectangle 3">
            <a:extLst>
              <a:ext uri="{FF2B5EF4-FFF2-40B4-BE49-F238E27FC236}">
                <a16:creationId xmlns:a16="http://schemas.microsoft.com/office/drawing/2014/main" id="{DF3931FD-9135-3A73-EFAD-754C1A93FE8A}"/>
              </a:ext>
            </a:extLst>
          </p:cNvPr>
          <p:cNvSpPr>
            <a:spLocks noGrp="1" noChangeArrowheads="1"/>
          </p:cNvSpPr>
          <p:nvPr>
            <p:ph type="title"/>
          </p:nvPr>
        </p:nvSpPr>
        <p:spPr/>
        <p:txBody>
          <a:bodyPr/>
          <a:lstStyle/>
          <a:p>
            <a:pPr>
              <a:defRPr/>
            </a:pPr>
            <a:r>
              <a:rPr kumimoji="0" lang="en-US" altLang="en-US"/>
              <a:t>SIMD</a:t>
            </a:r>
            <a:r>
              <a:rPr kumimoji="0" lang="sr-Latn-CS" altLang="en-US"/>
              <a:t> (nast.)</a:t>
            </a:r>
            <a:endParaRPr kumimoji="0"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14FDCA3A-77F1-B47A-70B7-07A4311F44F1}"/>
              </a:ext>
            </a:extLst>
          </p:cNvPr>
          <p:cNvSpPr>
            <a:spLocks noChangeArrowheads="1"/>
          </p:cNvSpPr>
          <p:nvPr/>
        </p:nvSpPr>
        <p:spPr bwMode="auto">
          <a:xfrm>
            <a:off x="0" y="1479550"/>
            <a:ext cx="8534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hr-HR" altLang="en-US" sz="2400">
                <a:effectLst/>
                <a:latin typeface="Times New Roman" panose="02020603050405020304" pitchFamily="18" charset="0"/>
              </a:rPr>
              <a:t>To je najopštija i najmoćnija klasa računara.</a:t>
            </a:r>
            <a:r>
              <a:rPr lang="en-US" altLang="en-US" sz="2400">
                <a:effectLst/>
                <a:latin typeface="Times New Roman" panose="02020603050405020304" pitchFamily="18" charset="0"/>
                <a:cs typeface="Times New Roman" panose="02020603050405020304" pitchFamily="18" charset="0"/>
              </a:rPr>
              <a:t>.</a:t>
            </a:r>
            <a:br>
              <a:rPr lang="en-US" altLang="en-US" sz="2400">
                <a:effectLst/>
                <a:latin typeface="Times New Roman" panose="02020603050405020304" pitchFamily="18" charset="0"/>
                <a:cs typeface="Times New Roman" panose="02020603050405020304" pitchFamily="18" charset="0"/>
              </a:rPr>
            </a:br>
            <a:r>
              <a:rPr lang="hr-HR" altLang="en-US" sz="2400">
                <a:effectLst/>
                <a:latin typeface="Times New Roman" panose="02020603050405020304" pitchFamily="18" charset="0"/>
              </a:rPr>
              <a:t>Postoji N procesora, N nizova instrukcija i N nizova podataka</a:t>
            </a:r>
            <a:r>
              <a:rPr lang="en-US" altLang="en-US" sz="2400">
                <a:effectLst/>
                <a:latin typeface="Times New Roman" panose="02020603050405020304" pitchFamily="18" charset="0"/>
                <a:cs typeface="Times New Roman" panose="02020603050405020304" pitchFamily="18" charset="0"/>
              </a:rPr>
              <a:t>. </a:t>
            </a:r>
          </a:p>
          <a:p>
            <a:endParaRPr lang="en-US" altLang="en-US" sz="2400">
              <a:effectLst/>
              <a:latin typeface="Times New Roman" panose="02020603050405020304" pitchFamily="18" charset="0"/>
            </a:endParaRPr>
          </a:p>
        </p:txBody>
      </p:sp>
      <p:pic>
        <p:nvPicPr>
          <p:cNvPr id="29699" name="Picture 2" descr="D:\users\ema\paralelni\ponovo\Classification of Parallel Machines_files\FIG2D.gif">
            <a:extLst>
              <a:ext uri="{FF2B5EF4-FFF2-40B4-BE49-F238E27FC236}">
                <a16:creationId xmlns:a16="http://schemas.microsoft.com/office/drawing/2014/main" id="{54A37BF4-70F5-6740-12EE-3E66A35B58D1}"/>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28600" y="2667000"/>
            <a:ext cx="4495800" cy="360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Rectangle 4">
            <a:extLst>
              <a:ext uri="{FF2B5EF4-FFF2-40B4-BE49-F238E27FC236}">
                <a16:creationId xmlns:a16="http://schemas.microsoft.com/office/drawing/2014/main" id="{6D8E0A1F-FC5B-A855-5E86-138F4BD23B7F}"/>
              </a:ext>
            </a:extLst>
          </p:cNvPr>
          <p:cNvSpPr>
            <a:spLocks noGrp="1" noChangeArrowheads="1"/>
          </p:cNvSpPr>
          <p:nvPr>
            <p:ph type="title"/>
          </p:nvPr>
        </p:nvSpPr>
        <p:spPr>
          <a:xfrm>
            <a:off x="0" y="0"/>
            <a:ext cx="9144000" cy="1066800"/>
          </a:xfrm>
        </p:spPr>
        <p:txBody>
          <a:bodyPr/>
          <a:lstStyle/>
          <a:p>
            <a:pPr>
              <a:defRPr/>
            </a:pPr>
            <a:r>
              <a:rPr kumimoji="0" lang="en-US" altLang="en-US" sz="3200"/>
              <a:t>MIMD </a:t>
            </a:r>
            <a:r>
              <a:rPr kumimoji="0" lang="hr-HR" altLang="en-US" sz="3200"/>
              <a:t>računari</a:t>
            </a:r>
            <a:r>
              <a:rPr kumimoji="0" lang="en-US" altLang="en-US" sz="3200"/>
              <a:t> (multiprocessors / multicomputers)</a:t>
            </a:r>
          </a:p>
        </p:txBody>
      </p:sp>
      <p:pic>
        <p:nvPicPr>
          <p:cNvPr id="3" name="Picture 2">
            <a:extLst>
              <a:ext uri="{FF2B5EF4-FFF2-40B4-BE49-F238E27FC236}">
                <a16:creationId xmlns:a16="http://schemas.microsoft.com/office/drawing/2014/main" id="{EB3A4674-7F53-3ED6-E0A4-3D233AB1FB50}"/>
              </a:ext>
            </a:extLst>
          </p:cNvPr>
          <p:cNvPicPr>
            <a:picLocks noChangeAspect="1"/>
          </p:cNvPicPr>
          <p:nvPr/>
        </p:nvPicPr>
        <p:blipFill>
          <a:blip r:embed="rId4"/>
          <a:stretch>
            <a:fillRect/>
          </a:stretch>
        </p:blipFill>
        <p:spPr>
          <a:xfrm>
            <a:off x="4953000" y="3302793"/>
            <a:ext cx="4191000" cy="23336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a:extLst>
              <a:ext uri="{FF2B5EF4-FFF2-40B4-BE49-F238E27FC236}">
                <a16:creationId xmlns:a16="http://schemas.microsoft.com/office/drawing/2014/main" id="{1DB8DFE3-8FEE-8D50-DAB5-5DC4E66D0DDE}"/>
              </a:ext>
            </a:extLst>
          </p:cNvPr>
          <p:cNvSpPr>
            <a:spLocks noGrp="1" noChangeArrowheads="1"/>
          </p:cNvSpPr>
          <p:nvPr>
            <p:ph type="title"/>
          </p:nvPr>
        </p:nvSpPr>
        <p:spPr/>
        <p:txBody>
          <a:bodyPr/>
          <a:lstStyle/>
          <a:p>
            <a:r>
              <a:rPr kumimoji="0" lang="hr-HR" altLang="en-US">
                <a:effectLst/>
              </a:rPr>
              <a:t>Osobine MIMD sistema</a:t>
            </a:r>
            <a:endParaRPr kumimoji="0" lang="en-US" altLang="en-US">
              <a:effectLst/>
            </a:endParaRPr>
          </a:p>
        </p:txBody>
      </p:sp>
      <p:sp>
        <p:nvSpPr>
          <p:cNvPr id="15364" name="Rectangle 4">
            <a:extLst>
              <a:ext uri="{FF2B5EF4-FFF2-40B4-BE49-F238E27FC236}">
                <a16:creationId xmlns:a16="http://schemas.microsoft.com/office/drawing/2014/main" id="{50A004F0-B8B7-088D-2320-735723676706}"/>
              </a:ext>
            </a:extLst>
          </p:cNvPr>
          <p:cNvSpPr>
            <a:spLocks noGrp="1" noChangeArrowheads="1"/>
          </p:cNvSpPr>
          <p:nvPr>
            <p:ph type="body" idx="1"/>
          </p:nvPr>
        </p:nvSpPr>
        <p:spPr/>
        <p:txBody>
          <a:bodyPr/>
          <a:lstStyle/>
          <a:p>
            <a:pPr>
              <a:defRPr/>
            </a:pPr>
            <a:r>
              <a:rPr kumimoji="0" lang="hr-HR" altLang="en-US" sz="2400">
                <a:solidFill>
                  <a:schemeClr val="tx1"/>
                </a:solidFill>
                <a:effectLst/>
              </a:rPr>
              <a:t>Procesori rade asinhrono (mogu izvršavati različite instrukcije nad različitim podacima u isto vreme)</a:t>
            </a:r>
          </a:p>
          <a:p>
            <a:pPr>
              <a:defRPr/>
            </a:pPr>
            <a:r>
              <a:rPr kumimoji="0" lang="hr-HR" altLang="en-US" sz="2400">
                <a:solidFill>
                  <a:schemeClr val="tx1"/>
                </a:solidFill>
                <a:effectLst/>
              </a:rPr>
              <a:t> Komunikacija izmedju procesora se može obaviti preko deljive memorije ili slanjem poruka kroz sprežnu mrežu.</a:t>
            </a:r>
          </a:p>
          <a:p>
            <a:pPr>
              <a:defRPr/>
            </a:pPr>
            <a:r>
              <a:rPr kumimoji="0" lang="hr-HR" altLang="en-US" sz="2400">
                <a:solidFill>
                  <a:schemeClr val="tx1"/>
                </a:solidFill>
                <a:effectLst/>
              </a:rPr>
              <a:t> MIMD računari sa deljivom memorijom zovu se </a:t>
            </a:r>
            <a:r>
              <a:rPr kumimoji="0" lang="hr-HR" altLang="en-US" sz="2400" b="1">
                <a:solidFill>
                  <a:schemeClr val="tx1"/>
                </a:solidFill>
                <a:effectLst/>
              </a:rPr>
              <a:t>multiprocesori</a:t>
            </a:r>
            <a:r>
              <a:rPr kumimoji="0" lang="hr-HR" altLang="en-US" sz="2400">
                <a:solidFill>
                  <a:schemeClr val="tx1"/>
                </a:solidFill>
                <a:effectLst/>
              </a:rPr>
              <a:t> ili </a:t>
            </a:r>
            <a:r>
              <a:rPr kumimoji="0" lang="hr-HR" altLang="en-US" sz="2400" b="1">
                <a:solidFill>
                  <a:schemeClr val="tx1"/>
                </a:solidFill>
                <a:effectLst/>
              </a:rPr>
              <a:t>čvrsto</a:t>
            </a:r>
            <a:r>
              <a:rPr kumimoji="0" lang="hr-HR" altLang="en-US" sz="2400">
                <a:solidFill>
                  <a:schemeClr val="tx1"/>
                </a:solidFill>
                <a:effectLst/>
              </a:rPr>
              <a:t> </a:t>
            </a:r>
            <a:r>
              <a:rPr kumimoji="0" lang="hr-HR" altLang="en-US" sz="2400" b="1">
                <a:solidFill>
                  <a:schemeClr val="tx1"/>
                </a:solidFill>
                <a:effectLst/>
              </a:rPr>
              <a:t>spregnuti</a:t>
            </a:r>
            <a:r>
              <a:rPr kumimoji="0" lang="hr-HR" altLang="en-US" sz="2400">
                <a:solidFill>
                  <a:schemeClr val="tx1"/>
                </a:solidFill>
                <a:effectLst/>
              </a:rPr>
              <a:t> </a:t>
            </a:r>
            <a:r>
              <a:rPr kumimoji="0" lang="hr-HR" altLang="en-US" sz="2400" b="1">
                <a:solidFill>
                  <a:schemeClr val="tx1"/>
                </a:solidFill>
                <a:effectLst/>
              </a:rPr>
              <a:t>sistemi</a:t>
            </a:r>
            <a:r>
              <a:rPr kumimoji="0" lang="hr-HR" altLang="en-US" sz="2400">
                <a:solidFill>
                  <a:schemeClr val="tx1"/>
                </a:solidFill>
                <a:effectLst/>
              </a:rPr>
              <a:t> (Primeri: </a:t>
            </a:r>
            <a:r>
              <a:rPr kumimoji="0" lang="en-US" altLang="en-US" sz="2400">
                <a:solidFill>
                  <a:schemeClr val="tx1"/>
                </a:solidFill>
                <a:effectLst/>
              </a:rPr>
              <a:t>ENCORE, MULTIMAX, SEQUENT &amp; BALANCE.</a:t>
            </a:r>
            <a:r>
              <a:rPr kumimoji="0" lang="hr-HR" altLang="en-US" sz="2400">
                <a:solidFill>
                  <a:schemeClr val="tx1"/>
                </a:solidFill>
                <a:effectLst/>
              </a:rPr>
              <a:t>)</a:t>
            </a:r>
          </a:p>
          <a:p>
            <a:pPr>
              <a:defRPr/>
            </a:pPr>
            <a:r>
              <a:rPr kumimoji="0" lang="hr-HR" altLang="en-US" sz="2400">
                <a:solidFill>
                  <a:schemeClr val="tx1"/>
                </a:solidFill>
                <a:effectLst/>
              </a:rPr>
              <a:t> MIMD računari koji komuniciraju slanjem poruka kroz sprežnu mrežu zovu se </a:t>
            </a:r>
            <a:r>
              <a:rPr kumimoji="0" lang="hr-HR" altLang="en-US" sz="2400" b="1">
                <a:solidFill>
                  <a:schemeClr val="tx1"/>
                </a:solidFill>
                <a:effectLst/>
              </a:rPr>
              <a:t>multiračunari</a:t>
            </a:r>
            <a:r>
              <a:rPr kumimoji="0" lang="hr-HR" altLang="en-US" sz="2400">
                <a:solidFill>
                  <a:schemeClr val="tx1"/>
                </a:solidFill>
                <a:effectLst/>
              </a:rPr>
              <a:t> ili </a:t>
            </a:r>
            <a:r>
              <a:rPr kumimoji="0" lang="hr-HR" altLang="en-US" sz="2400" b="1">
                <a:solidFill>
                  <a:schemeClr val="tx1"/>
                </a:solidFill>
                <a:effectLst/>
              </a:rPr>
              <a:t>slabo</a:t>
            </a:r>
            <a:r>
              <a:rPr kumimoji="0" lang="hr-HR" altLang="en-US" sz="2400">
                <a:solidFill>
                  <a:schemeClr val="tx1"/>
                </a:solidFill>
                <a:effectLst/>
              </a:rPr>
              <a:t> </a:t>
            </a:r>
            <a:r>
              <a:rPr kumimoji="0" lang="hr-HR" altLang="en-US" sz="2400" b="1">
                <a:solidFill>
                  <a:schemeClr val="tx1"/>
                </a:solidFill>
                <a:effectLst/>
              </a:rPr>
              <a:t>spregnuti</a:t>
            </a:r>
            <a:r>
              <a:rPr kumimoji="0" lang="hr-HR" altLang="en-US" sz="2400">
                <a:solidFill>
                  <a:schemeClr val="tx1"/>
                </a:solidFill>
                <a:effectLst/>
              </a:rPr>
              <a:t> </a:t>
            </a:r>
            <a:r>
              <a:rPr kumimoji="0" lang="hr-HR" altLang="en-US" sz="2400" b="1">
                <a:solidFill>
                  <a:schemeClr val="tx1"/>
                </a:solidFill>
                <a:effectLst/>
              </a:rPr>
              <a:t>sistemi</a:t>
            </a:r>
            <a:r>
              <a:rPr kumimoji="0" lang="en-US" altLang="en-US" sz="2400">
                <a:solidFill>
                  <a:schemeClr val="tx1"/>
                </a:solidFill>
                <a:effectLst/>
              </a:rPr>
              <a:t> </a:t>
            </a:r>
            <a:r>
              <a:rPr kumimoji="0" lang="hr-HR" altLang="en-US" sz="2400">
                <a:solidFill>
                  <a:schemeClr val="tx1"/>
                </a:solidFill>
                <a:effectLst/>
              </a:rPr>
              <a:t>(Primeri: </a:t>
            </a:r>
            <a:r>
              <a:rPr kumimoji="0" lang="en-US" altLang="en-US" sz="2400">
                <a:solidFill>
                  <a:schemeClr val="tx1"/>
                </a:solidFill>
                <a:effectLst/>
              </a:rPr>
              <a:t>INTEL iPSC, NCUBE/7 </a:t>
            </a:r>
            <a:r>
              <a:rPr kumimoji="0" lang="hr-HR" altLang="en-US" sz="2400">
                <a:solidFill>
                  <a:schemeClr val="tx1"/>
                </a:solidFill>
                <a:effectLst/>
              </a:rPr>
              <a:t>)</a:t>
            </a:r>
            <a:endParaRPr kumimoji="0" lang="en-US" altLang="en-US" sz="2400">
              <a:solidFill>
                <a:schemeClr val="tx1"/>
              </a:solidFill>
              <a:effectLst/>
            </a:endParaRPr>
          </a:p>
          <a:p>
            <a:pPr>
              <a:defRPr/>
            </a:pPr>
            <a:endParaRPr lang="en-US" altLang="en-US"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a:extLst>
              <a:ext uri="{FF2B5EF4-FFF2-40B4-BE49-F238E27FC236}">
                <a16:creationId xmlns:a16="http://schemas.microsoft.com/office/drawing/2014/main" id="{A10F148E-1C62-0ECB-197E-7465ED1CCDC4}"/>
              </a:ext>
            </a:extLst>
          </p:cNvPr>
          <p:cNvSpPr>
            <a:spLocks noChangeArrowheads="1"/>
          </p:cNvSpPr>
          <p:nvPr/>
        </p:nvSpPr>
        <p:spPr bwMode="auto">
          <a:xfrm>
            <a:off x="2847975" y="1647825"/>
            <a:ext cx="9144000" cy="0"/>
          </a:xfrm>
          <a:prstGeom prst="rect">
            <a:avLst/>
          </a:prstGeom>
          <a:noFill/>
          <a:ln>
            <a:noFill/>
          </a:ln>
          <a:effectLst/>
        </p:spPr>
        <p:txBody>
          <a:bodyPr>
            <a:spAutoFit/>
          </a:bodyPr>
          <a:lstStyle/>
          <a:p>
            <a:pPr>
              <a:defRPr/>
            </a:pPr>
            <a:endParaRPr lang="en-US"/>
          </a:p>
        </p:txBody>
      </p:sp>
      <p:grpSp>
        <p:nvGrpSpPr>
          <p:cNvPr id="31747" name="Group 5">
            <a:extLst>
              <a:ext uri="{FF2B5EF4-FFF2-40B4-BE49-F238E27FC236}">
                <a16:creationId xmlns:a16="http://schemas.microsoft.com/office/drawing/2014/main" id="{8D562B9B-4F77-9C5A-F9C6-3255B2938CF2}"/>
              </a:ext>
            </a:extLst>
          </p:cNvPr>
          <p:cNvGrpSpPr>
            <a:grpSpLocks/>
          </p:cNvGrpSpPr>
          <p:nvPr/>
        </p:nvGrpSpPr>
        <p:grpSpPr bwMode="auto">
          <a:xfrm>
            <a:off x="1143000" y="2057400"/>
            <a:ext cx="6396038" cy="3127375"/>
            <a:chOff x="528" y="1296"/>
            <a:chExt cx="4029" cy="1970"/>
          </a:xfrm>
        </p:grpSpPr>
        <p:grpSp>
          <p:nvGrpSpPr>
            <p:cNvPr id="31749" name="Group 6">
              <a:extLst>
                <a:ext uri="{FF2B5EF4-FFF2-40B4-BE49-F238E27FC236}">
                  <a16:creationId xmlns:a16="http://schemas.microsoft.com/office/drawing/2014/main" id="{B91A6BA8-1094-E392-D8C0-E41084BA5A8A}"/>
                </a:ext>
              </a:extLst>
            </p:cNvPr>
            <p:cNvGrpSpPr>
              <a:grpSpLocks/>
            </p:cNvGrpSpPr>
            <p:nvPr/>
          </p:nvGrpSpPr>
          <p:grpSpPr bwMode="auto">
            <a:xfrm>
              <a:off x="528" y="1296"/>
              <a:ext cx="1821" cy="1920"/>
              <a:chOff x="384" y="1296"/>
              <a:chExt cx="1821" cy="1920"/>
            </a:xfrm>
          </p:grpSpPr>
          <p:sp>
            <p:nvSpPr>
              <p:cNvPr id="31765" name="Rectangle 7">
                <a:extLst>
                  <a:ext uri="{FF2B5EF4-FFF2-40B4-BE49-F238E27FC236}">
                    <a16:creationId xmlns:a16="http://schemas.microsoft.com/office/drawing/2014/main" id="{AA21FF58-22DF-60AF-17C2-48A404334296}"/>
                  </a:ext>
                </a:extLst>
              </p:cNvPr>
              <p:cNvSpPr>
                <a:spLocks noChangeArrowheads="1"/>
              </p:cNvSpPr>
              <p:nvPr/>
            </p:nvSpPr>
            <p:spPr bwMode="auto">
              <a:xfrm>
                <a:off x="864" y="1296"/>
                <a:ext cx="624" cy="624"/>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effectLst/>
                    <a:latin typeface="Times New Roman" panose="02020603050405020304" pitchFamily="18" charset="0"/>
                  </a:rPr>
                  <a:t>SISD</a:t>
                </a:r>
              </a:p>
            </p:txBody>
          </p:sp>
          <p:sp>
            <p:nvSpPr>
              <p:cNvPr id="31766" name="Rectangle 8">
                <a:extLst>
                  <a:ext uri="{FF2B5EF4-FFF2-40B4-BE49-F238E27FC236}">
                    <a16:creationId xmlns:a16="http://schemas.microsoft.com/office/drawing/2014/main" id="{15A4D1EB-A174-A8F1-37F8-C4C06C3E7FD1}"/>
                  </a:ext>
                </a:extLst>
              </p:cNvPr>
              <p:cNvSpPr>
                <a:spLocks noChangeArrowheads="1"/>
              </p:cNvSpPr>
              <p:nvPr/>
            </p:nvSpPr>
            <p:spPr bwMode="auto">
              <a:xfrm>
                <a:off x="864" y="2592"/>
                <a:ext cx="624" cy="624"/>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effectLst/>
                    <a:latin typeface="Times New Roman" panose="02020603050405020304" pitchFamily="18" charset="0"/>
                  </a:rPr>
                  <a:t>SIMD</a:t>
                </a:r>
              </a:p>
            </p:txBody>
          </p:sp>
          <p:sp>
            <p:nvSpPr>
              <p:cNvPr id="31767" name="Text Box 9">
                <a:extLst>
                  <a:ext uri="{FF2B5EF4-FFF2-40B4-BE49-F238E27FC236}">
                    <a16:creationId xmlns:a16="http://schemas.microsoft.com/office/drawing/2014/main" id="{B3F97CE7-1723-CAB6-FBD1-CF9765D56B4A}"/>
                  </a:ext>
                </a:extLst>
              </p:cNvPr>
              <p:cNvSpPr txBox="1">
                <a:spLocks noChangeArrowheads="1"/>
              </p:cNvSpPr>
              <p:nvPr/>
            </p:nvSpPr>
            <p:spPr bwMode="auto">
              <a:xfrm>
                <a:off x="384" y="1392"/>
                <a:ext cx="419"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80000"/>
                  </a:lnSpc>
                </a:pPr>
                <a:r>
                  <a:rPr lang="en-US" altLang="en-US" sz="2000">
                    <a:effectLst/>
                    <a:latin typeface="Times New Roman" panose="02020603050405020304" pitchFamily="18" charset="0"/>
                  </a:rPr>
                  <a:t>+</a:t>
                </a:r>
              </a:p>
              <a:p>
                <a:pPr algn="ctr" eaLnBrk="1" hangingPunct="1">
                  <a:lnSpc>
                    <a:spcPct val="80000"/>
                  </a:lnSpc>
                </a:pPr>
                <a:r>
                  <a:rPr lang="en-US" altLang="en-US" sz="2000">
                    <a:effectLst/>
                    <a:latin typeface="Times New Roman" panose="02020603050405020304" pitchFamily="18" charset="0"/>
                  </a:rPr>
                  <a:t>A  B</a:t>
                </a:r>
              </a:p>
            </p:txBody>
          </p:sp>
          <p:sp>
            <p:nvSpPr>
              <p:cNvPr id="31768" name="Text Box 10">
                <a:extLst>
                  <a:ext uri="{FF2B5EF4-FFF2-40B4-BE49-F238E27FC236}">
                    <a16:creationId xmlns:a16="http://schemas.microsoft.com/office/drawing/2014/main" id="{89AB909A-7BBE-0579-924A-8590A583CF09}"/>
                  </a:ext>
                </a:extLst>
              </p:cNvPr>
              <p:cNvSpPr txBox="1">
                <a:spLocks noChangeArrowheads="1"/>
              </p:cNvSpPr>
              <p:nvPr/>
            </p:nvSpPr>
            <p:spPr bwMode="auto">
              <a:xfrm>
                <a:off x="432" y="2640"/>
                <a:ext cx="419"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80000"/>
                  </a:lnSpc>
                </a:pPr>
                <a:r>
                  <a:rPr lang="en-US" altLang="en-US" sz="2000">
                    <a:effectLst/>
                    <a:latin typeface="Times New Roman" panose="02020603050405020304" pitchFamily="18" charset="0"/>
                  </a:rPr>
                  <a:t>+</a:t>
                </a:r>
              </a:p>
              <a:p>
                <a:pPr algn="ctr" eaLnBrk="1" hangingPunct="1">
                  <a:lnSpc>
                    <a:spcPct val="80000"/>
                  </a:lnSpc>
                </a:pPr>
                <a:r>
                  <a:rPr lang="en-US" altLang="en-US" sz="2000">
                    <a:effectLst/>
                    <a:latin typeface="Times New Roman" panose="02020603050405020304" pitchFamily="18" charset="0"/>
                  </a:rPr>
                  <a:t>A  B</a:t>
                </a:r>
              </a:p>
              <a:p>
                <a:pPr algn="ctr" eaLnBrk="1" hangingPunct="1">
                  <a:lnSpc>
                    <a:spcPct val="80000"/>
                  </a:lnSpc>
                </a:pPr>
                <a:r>
                  <a:rPr lang="en-US" altLang="en-US" sz="2000">
                    <a:effectLst/>
                    <a:latin typeface="Times New Roman" panose="02020603050405020304" pitchFamily="18" charset="0"/>
                  </a:rPr>
                  <a:t>C  D</a:t>
                </a:r>
              </a:p>
            </p:txBody>
          </p:sp>
          <p:grpSp>
            <p:nvGrpSpPr>
              <p:cNvPr id="31769" name="Group 11">
                <a:extLst>
                  <a:ext uri="{FF2B5EF4-FFF2-40B4-BE49-F238E27FC236}">
                    <a16:creationId xmlns:a16="http://schemas.microsoft.com/office/drawing/2014/main" id="{ADBA28C0-04FE-F331-00CE-513CDE36CB79}"/>
                  </a:ext>
                </a:extLst>
              </p:cNvPr>
              <p:cNvGrpSpPr>
                <a:grpSpLocks/>
              </p:cNvGrpSpPr>
              <p:nvPr/>
            </p:nvGrpSpPr>
            <p:grpSpPr bwMode="auto">
              <a:xfrm>
                <a:off x="1488" y="1456"/>
                <a:ext cx="717" cy="250"/>
                <a:chOff x="1488" y="1456"/>
                <a:chExt cx="717" cy="250"/>
              </a:xfrm>
            </p:grpSpPr>
            <p:sp>
              <p:nvSpPr>
                <p:cNvPr id="12300" name="Line 12">
                  <a:extLst>
                    <a:ext uri="{FF2B5EF4-FFF2-40B4-BE49-F238E27FC236}">
                      <a16:creationId xmlns:a16="http://schemas.microsoft.com/office/drawing/2014/main" id="{CC938352-5425-242D-1E43-6E470DCF95E8}"/>
                    </a:ext>
                  </a:extLst>
                </p:cNvPr>
                <p:cNvSpPr>
                  <a:spLocks noChangeShapeType="1"/>
                </p:cNvSpPr>
                <p:nvPr/>
              </p:nvSpPr>
              <p:spPr bwMode="auto">
                <a:xfrm>
                  <a:off x="1488" y="1584"/>
                  <a:ext cx="288" cy="0"/>
                </a:xfrm>
                <a:prstGeom prst="line">
                  <a:avLst/>
                </a:prstGeom>
                <a:noFill/>
                <a:ln w="9525">
                  <a:solidFill>
                    <a:schemeClr val="tx1"/>
                  </a:solidFill>
                  <a:round/>
                  <a:headEnd/>
                  <a:tailEnd type="triangle" w="lg" len="lg"/>
                </a:ln>
                <a:effectLst/>
              </p:spPr>
              <p:txBody>
                <a:bodyPr/>
                <a:lstStyle/>
                <a:p>
                  <a:pPr>
                    <a:defRPr/>
                  </a:pPr>
                  <a:endParaRPr lang="en-US"/>
                </a:p>
              </p:txBody>
            </p:sp>
            <p:sp>
              <p:nvSpPr>
                <p:cNvPr id="31777" name="Text Box 13">
                  <a:extLst>
                    <a:ext uri="{FF2B5EF4-FFF2-40B4-BE49-F238E27FC236}">
                      <a16:creationId xmlns:a16="http://schemas.microsoft.com/office/drawing/2014/main" id="{8CCFB6C4-1DB3-E86B-9BC4-ED6A7FF99452}"/>
                    </a:ext>
                  </a:extLst>
                </p:cNvPr>
                <p:cNvSpPr txBox="1">
                  <a:spLocks noChangeArrowheads="1"/>
                </p:cNvSpPr>
                <p:nvPr/>
              </p:nvSpPr>
              <p:spPr bwMode="auto">
                <a:xfrm>
                  <a:off x="1776" y="1456"/>
                  <a:ext cx="4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effectLst/>
                      <a:latin typeface="Times New Roman" panose="02020603050405020304" pitchFamily="18" charset="0"/>
                    </a:rPr>
                    <a:t>A+B</a:t>
                  </a:r>
                </a:p>
              </p:txBody>
            </p:sp>
          </p:grpSp>
          <p:grpSp>
            <p:nvGrpSpPr>
              <p:cNvPr id="31770" name="Group 14">
                <a:extLst>
                  <a:ext uri="{FF2B5EF4-FFF2-40B4-BE49-F238E27FC236}">
                    <a16:creationId xmlns:a16="http://schemas.microsoft.com/office/drawing/2014/main" id="{1369E5C5-34E4-0F9B-7D12-2DE6CA0AA2C0}"/>
                  </a:ext>
                </a:extLst>
              </p:cNvPr>
              <p:cNvGrpSpPr>
                <a:grpSpLocks/>
              </p:cNvGrpSpPr>
              <p:nvPr/>
            </p:nvGrpSpPr>
            <p:grpSpPr bwMode="auto">
              <a:xfrm>
                <a:off x="1488" y="2640"/>
                <a:ext cx="717" cy="250"/>
                <a:chOff x="1488" y="1456"/>
                <a:chExt cx="717" cy="250"/>
              </a:xfrm>
            </p:grpSpPr>
            <p:sp>
              <p:nvSpPr>
                <p:cNvPr id="12303" name="Line 15">
                  <a:extLst>
                    <a:ext uri="{FF2B5EF4-FFF2-40B4-BE49-F238E27FC236}">
                      <a16:creationId xmlns:a16="http://schemas.microsoft.com/office/drawing/2014/main" id="{5B0E5A22-1648-821B-CF75-2100C75F1EAB}"/>
                    </a:ext>
                  </a:extLst>
                </p:cNvPr>
                <p:cNvSpPr>
                  <a:spLocks noChangeShapeType="1"/>
                </p:cNvSpPr>
                <p:nvPr/>
              </p:nvSpPr>
              <p:spPr bwMode="auto">
                <a:xfrm>
                  <a:off x="1488" y="1584"/>
                  <a:ext cx="288" cy="0"/>
                </a:xfrm>
                <a:prstGeom prst="line">
                  <a:avLst/>
                </a:prstGeom>
                <a:noFill/>
                <a:ln w="9525">
                  <a:solidFill>
                    <a:schemeClr val="tx1"/>
                  </a:solidFill>
                  <a:round/>
                  <a:headEnd/>
                  <a:tailEnd type="triangle" w="lg" len="lg"/>
                </a:ln>
                <a:effectLst/>
              </p:spPr>
              <p:txBody>
                <a:bodyPr/>
                <a:lstStyle/>
                <a:p>
                  <a:pPr>
                    <a:defRPr/>
                  </a:pPr>
                  <a:endParaRPr lang="en-US"/>
                </a:p>
              </p:txBody>
            </p:sp>
            <p:sp>
              <p:nvSpPr>
                <p:cNvPr id="31775" name="Text Box 16">
                  <a:extLst>
                    <a:ext uri="{FF2B5EF4-FFF2-40B4-BE49-F238E27FC236}">
                      <a16:creationId xmlns:a16="http://schemas.microsoft.com/office/drawing/2014/main" id="{DD3A0025-BB8E-93EC-D903-E44EFF1D0D76}"/>
                    </a:ext>
                  </a:extLst>
                </p:cNvPr>
                <p:cNvSpPr txBox="1">
                  <a:spLocks noChangeArrowheads="1"/>
                </p:cNvSpPr>
                <p:nvPr/>
              </p:nvSpPr>
              <p:spPr bwMode="auto">
                <a:xfrm>
                  <a:off x="1776" y="1456"/>
                  <a:ext cx="4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effectLst/>
                      <a:latin typeface="Times New Roman" panose="02020603050405020304" pitchFamily="18" charset="0"/>
                    </a:rPr>
                    <a:t>A+B</a:t>
                  </a:r>
                </a:p>
              </p:txBody>
            </p:sp>
          </p:grpSp>
          <p:grpSp>
            <p:nvGrpSpPr>
              <p:cNvPr id="31771" name="Group 17">
                <a:extLst>
                  <a:ext uri="{FF2B5EF4-FFF2-40B4-BE49-F238E27FC236}">
                    <a16:creationId xmlns:a16="http://schemas.microsoft.com/office/drawing/2014/main" id="{D87B49BF-7153-5C93-E427-8344854B73DE}"/>
                  </a:ext>
                </a:extLst>
              </p:cNvPr>
              <p:cNvGrpSpPr>
                <a:grpSpLocks/>
              </p:cNvGrpSpPr>
              <p:nvPr/>
            </p:nvGrpSpPr>
            <p:grpSpPr bwMode="auto">
              <a:xfrm>
                <a:off x="1488" y="2880"/>
                <a:ext cx="717" cy="250"/>
                <a:chOff x="1488" y="2880"/>
                <a:chExt cx="717" cy="250"/>
              </a:xfrm>
            </p:grpSpPr>
            <p:sp>
              <p:nvSpPr>
                <p:cNvPr id="12306" name="Line 18">
                  <a:extLst>
                    <a:ext uri="{FF2B5EF4-FFF2-40B4-BE49-F238E27FC236}">
                      <a16:creationId xmlns:a16="http://schemas.microsoft.com/office/drawing/2014/main" id="{24A0EC9B-40F4-0DF6-3F51-3E5B1E8FDB7C}"/>
                    </a:ext>
                  </a:extLst>
                </p:cNvPr>
                <p:cNvSpPr>
                  <a:spLocks noChangeShapeType="1"/>
                </p:cNvSpPr>
                <p:nvPr/>
              </p:nvSpPr>
              <p:spPr bwMode="auto">
                <a:xfrm>
                  <a:off x="1488" y="3008"/>
                  <a:ext cx="288" cy="0"/>
                </a:xfrm>
                <a:prstGeom prst="line">
                  <a:avLst/>
                </a:prstGeom>
                <a:noFill/>
                <a:ln w="9525">
                  <a:solidFill>
                    <a:schemeClr val="tx1"/>
                  </a:solidFill>
                  <a:round/>
                  <a:headEnd/>
                  <a:tailEnd type="triangle" w="lg" len="lg"/>
                </a:ln>
                <a:effectLst/>
              </p:spPr>
              <p:txBody>
                <a:bodyPr/>
                <a:lstStyle/>
                <a:p>
                  <a:pPr>
                    <a:defRPr/>
                  </a:pPr>
                  <a:endParaRPr lang="en-US"/>
                </a:p>
              </p:txBody>
            </p:sp>
            <p:sp>
              <p:nvSpPr>
                <p:cNvPr id="31773" name="Text Box 19">
                  <a:extLst>
                    <a:ext uri="{FF2B5EF4-FFF2-40B4-BE49-F238E27FC236}">
                      <a16:creationId xmlns:a16="http://schemas.microsoft.com/office/drawing/2014/main" id="{1A44CF19-C9DF-4FCF-BB6A-351CA08C1586}"/>
                    </a:ext>
                  </a:extLst>
                </p:cNvPr>
                <p:cNvSpPr txBox="1">
                  <a:spLocks noChangeArrowheads="1"/>
                </p:cNvSpPr>
                <p:nvPr/>
              </p:nvSpPr>
              <p:spPr bwMode="auto">
                <a:xfrm>
                  <a:off x="1776" y="2880"/>
                  <a:ext cx="4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effectLst/>
                      <a:latin typeface="Times New Roman" panose="02020603050405020304" pitchFamily="18" charset="0"/>
                    </a:rPr>
                    <a:t>C+D</a:t>
                  </a:r>
                </a:p>
              </p:txBody>
            </p:sp>
          </p:grpSp>
        </p:grpSp>
        <p:grpSp>
          <p:nvGrpSpPr>
            <p:cNvPr id="31750" name="Group 20">
              <a:extLst>
                <a:ext uri="{FF2B5EF4-FFF2-40B4-BE49-F238E27FC236}">
                  <a16:creationId xmlns:a16="http://schemas.microsoft.com/office/drawing/2014/main" id="{9B588F46-6E3E-9857-BA1E-8AA87CEAC954}"/>
                </a:ext>
              </a:extLst>
            </p:cNvPr>
            <p:cNvGrpSpPr>
              <a:grpSpLocks/>
            </p:cNvGrpSpPr>
            <p:nvPr/>
          </p:nvGrpSpPr>
          <p:grpSpPr bwMode="auto">
            <a:xfrm>
              <a:off x="2784" y="1296"/>
              <a:ext cx="1773" cy="1970"/>
              <a:chOff x="2784" y="1296"/>
              <a:chExt cx="1773" cy="1970"/>
            </a:xfrm>
          </p:grpSpPr>
          <p:sp>
            <p:nvSpPr>
              <p:cNvPr id="31751" name="Rectangle 21">
                <a:extLst>
                  <a:ext uri="{FF2B5EF4-FFF2-40B4-BE49-F238E27FC236}">
                    <a16:creationId xmlns:a16="http://schemas.microsoft.com/office/drawing/2014/main" id="{C9EF81F1-9CBB-1B5C-39EC-50806E83F0E0}"/>
                  </a:ext>
                </a:extLst>
              </p:cNvPr>
              <p:cNvSpPr>
                <a:spLocks noChangeArrowheads="1"/>
              </p:cNvSpPr>
              <p:nvPr/>
            </p:nvSpPr>
            <p:spPr bwMode="auto">
              <a:xfrm>
                <a:off x="3216" y="2592"/>
                <a:ext cx="624" cy="624"/>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effectLst/>
                    <a:latin typeface="Times New Roman" panose="02020603050405020304" pitchFamily="18" charset="0"/>
                  </a:rPr>
                  <a:t>MIMD</a:t>
                </a:r>
              </a:p>
            </p:txBody>
          </p:sp>
          <p:sp>
            <p:nvSpPr>
              <p:cNvPr id="31752" name="Rectangle 22">
                <a:extLst>
                  <a:ext uri="{FF2B5EF4-FFF2-40B4-BE49-F238E27FC236}">
                    <a16:creationId xmlns:a16="http://schemas.microsoft.com/office/drawing/2014/main" id="{48C83958-1D64-F27D-4BEB-67E93FFE3A9E}"/>
                  </a:ext>
                </a:extLst>
              </p:cNvPr>
              <p:cNvSpPr>
                <a:spLocks noChangeArrowheads="1"/>
              </p:cNvSpPr>
              <p:nvPr/>
            </p:nvSpPr>
            <p:spPr bwMode="auto">
              <a:xfrm>
                <a:off x="3216" y="1296"/>
                <a:ext cx="624" cy="624"/>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effectLst/>
                    <a:latin typeface="Times New Roman" panose="02020603050405020304" pitchFamily="18" charset="0"/>
                  </a:rPr>
                  <a:t>MISD</a:t>
                </a:r>
              </a:p>
            </p:txBody>
          </p:sp>
          <p:sp>
            <p:nvSpPr>
              <p:cNvPr id="31753" name="Text Box 23">
                <a:extLst>
                  <a:ext uri="{FF2B5EF4-FFF2-40B4-BE49-F238E27FC236}">
                    <a16:creationId xmlns:a16="http://schemas.microsoft.com/office/drawing/2014/main" id="{5F435E42-4D8B-C37A-6399-69CD3AF2C68E}"/>
                  </a:ext>
                </a:extLst>
              </p:cNvPr>
              <p:cNvSpPr txBox="1">
                <a:spLocks noChangeArrowheads="1"/>
              </p:cNvSpPr>
              <p:nvPr/>
            </p:nvSpPr>
            <p:spPr bwMode="auto">
              <a:xfrm>
                <a:off x="2784" y="1296"/>
                <a:ext cx="419"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80000"/>
                  </a:lnSpc>
                </a:pPr>
                <a:r>
                  <a:rPr lang="en-US" altLang="en-US" sz="2000">
                    <a:effectLst/>
                    <a:latin typeface="Times New Roman" panose="02020603050405020304" pitchFamily="18" charset="0"/>
                  </a:rPr>
                  <a:t>+</a:t>
                </a:r>
              </a:p>
              <a:p>
                <a:pPr algn="ctr" eaLnBrk="1" hangingPunct="1">
                  <a:lnSpc>
                    <a:spcPct val="80000"/>
                  </a:lnSpc>
                </a:pPr>
                <a:r>
                  <a:rPr lang="en-US" altLang="en-US" sz="2000">
                    <a:effectLst/>
                    <a:latin typeface="Times New Roman" panose="02020603050405020304" pitchFamily="18" charset="0"/>
                  </a:rPr>
                  <a:t>*</a:t>
                </a:r>
              </a:p>
              <a:p>
                <a:pPr algn="ctr" eaLnBrk="1" hangingPunct="1">
                  <a:lnSpc>
                    <a:spcPct val="80000"/>
                  </a:lnSpc>
                </a:pPr>
                <a:r>
                  <a:rPr lang="en-US" altLang="en-US" sz="2000">
                    <a:effectLst/>
                    <a:latin typeface="Times New Roman" panose="02020603050405020304" pitchFamily="18" charset="0"/>
                  </a:rPr>
                  <a:t>A  B</a:t>
                </a:r>
              </a:p>
            </p:txBody>
          </p:sp>
          <p:sp>
            <p:nvSpPr>
              <p:cNvPr id="31754" name="Text Box 24">
                <a:extLst>
                  <a:ext uri="{FF2B5EF4-FFF2-40B4-BE49-F238E27FC236}">
                    <a16:creationId xmlns:a16="http://schemas.microsoft.com/office/drawing/2014/main" id="{FFA3ABE4-5975-BD73-68C6-C25EE68BBABC}"/>
                  </a:ext>
                </a:extLst>
              </p:cNvPr>
              <p:cNvSpPr txBox="1">
                <a:spLocks noChangeArrowheads="1"/>
              </p:cNvSpPr>
              <p:nvPr/>
            </p:nvSpPr>
            <p:spPr bwMode="auto">
              <a:xfrm>
                <a:off x="2784" y="2592"/>
                <a:ext cx="419" cy="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80000"/>
                  </a:lnSpc>
                </a:pPr>
                <a:r>
                  <a:rPr lang="en-US" altLang="en-US" sz="2000">
                    <a:effectLst/>
                    <a:latin typeface="Times New Roman" panose="02020603050405020304" pitchFamily="18" charset="0"/>
                  </a:rPr>
                  <a:t>+</a:t>
                </a:r>
              </a:p>
              <a:p>
                <a:pPr algn="ctr" eaLnBrk="1" hangingPunct="1">
                  <a:lnSpc>
                    <a:spcPct val="80000"/>
                  </a:lnSpc>
                </a:pPr>
                <a:r>
                  <a:rPr lang="en-US" altLang="en-US" sz="2000">
                    <a:effectLst/>
                    <a:latin typeface="Times New Roman" panose="02020603050405020304" pitchFamily="18" charset="0"/>
                  </a:rPr>
                  <a:t>*</a:t>
                </a:r>
              </a:p>
              <a:p>
                <a:pPr algn="ctr" eaLnBrk="1" hangingPunct="1">
                  <a:lnSpc>
                    <a:spcPct val="80000"/>
                  </a:lnSpc>
                </a:pPr>
                <a:r>
                  <a:rPr lang="en-US" altLang="en-US" sz="2000">
                    <a:effectLst/>
                    <a:latin typeface="Times New Roman" panose="02020603050405020304" pitchFamily="18" charset="0"/>
                  </a:rPr>
                  <a:t>A  B</a:t>
                </a:r>
              </a:p>
              <a:p>
                <a:pPr algn="ctr" eaLnBrk="1" hangingPunct="1">
                  <a:lnSpc>
                    <a:spcPct val="80000"/>
                  </a:lnSpc>
                </a:pPr>
                <a:r>
                  <a:rPr lang="en-US" altLang="en-US" sz="2000">
                    <a:effectLst/>
                    <a:latin typeface="Times New Roman" panose="02020603050405020304" pitchFamily="18" charset="0"/>
                  </a:rPr>
                  <a:t>C  D</a:t>
                </a:r>
              </a:p>
            </p:txBody>
          </p:sp>
          <p:grpSp>
            <p:nvGrpSpPr>
              <p:cNvPr id="31755" name="Group 25">
                <a:extLst>
                  <a:ext uri="{FF2B5EF4-FFF2-40B4-BE49-F238E27FC236}">
                    <a16:creationId xmlns:a16="http://schemas.microsoft.com/office/drawing/2014/main" id="{D3FDAC19-5927-F0AD-F95E-B33C22639038}"/>
                  </a:ext>
                </a:extLst>
              </p:cNvPr>
              <p:cNvGrpSpPr>
                <a:grpSpLocks/>
              </p:cNvGrpSpPr>
              <p:nvPr/>
            </p:nvGrpSpPr>
            <p:grpSpPr bwMode="auto">
              <a:xfrm>
                <a:off x="3840" y="1344"/>
                <a:ext cx="717" cy="250"/>
                <a:chOff x="1488" y="1456"/>
                <a:chExt cx="717" cy="250"/>
              </a:xfrm>
            </p:grpSpPr>
            <p:sp>
              <p:nvSpPr>
                <p:cNvPr id="12314" name="Line 26">
                  <a:extLst>
                    <a:ext uri="{FF2B5EF4-FFF2-40B4-BE49-F238E27FC236}">
                      <a16:creationId xmlns:a16="http://schemas.microsoft.com/office/drawing/2014/main" id="{3A9C3616-5937-0444-BA75-59BAED33BE9C}"/>
                    </a:ext>
                  </a:extLst>
                </p:cNvPr>
                <p:cNvSpPr>
                  <a:spLocks noChangeShapeType="1"/>
                </p:cNvSpPr>
                <p:nvPr/>
              </p:nvSpPr>
              <p:spPr bwMode="auto">
                <a:xfrm>
                  <a:off x="1488" y="1584"/>
                  <a:ext cx="288" cy="0"/>
                </a:xfrm>
                <a:prstGeom prst="line">
                  <a:avLst/>
                </a:prstGeom>
                <a:noFill/>
                <a:ln w="9525">
                  <a:solidFill>
                    <a:schemeClr val="tx1"/>
                  </a:solidFill>
                  <a:round/>
                  <a:headEnd/>
                  <a:tailEnd type="triangle" w="lg" len="lg"/>
                </a:ln>
                <a:effectLst/>
              </p:spPr>
              <p:txBody>
                <a:bodyPr/>
                <a:lstStyle/>
                <a:p>
                  <a:pPr>
                    <a:defRPr/>
                  </a:pPr>
                  <a:endParaRPr lang="en-US"/>
                </a:p>
              </p:txBody>
            </p:sp>
            <p:sp>
              <p:nvSpPr>
                <p:cNvPr id="31764" name="Text Box 27">
                  <a:extLst>
                    <a:ext uri="{FF2B5EF4-FFF2-40B4-BE49-F238E27FC236}">
                      <a16:creationId xmlns:a16="http://schemas.microsoft.com/office/drawing/2014/main" id="{F4A89449-98A2-1480-2737-431B13BD1AF9}"/>
                    </a:ext>
                  </a:extLst>
                </p:cNvPr>
                <p:cNvSpPr txBox="1">
                  <a:spLocks noChangeArrowheads="1"/>
                </p:cNvSpPr>
                <p:nvPr/>
              </p:nvSpPr>
              <p:spPr bwMode="auto">
                <a:xfrm>
                  <a:off x="1776" y="1456"/>
                  <a:ext cx="4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effectLst/>
                      <a:latin typeface="Times New Roman" panose="02020603050405020304" pitchFamily="18" charset="0"/>
                    </a:rPr>
                    <a:t>A+B</a:t>
                  </a:r>
                </a:p>
              </p:txBody>
            </p:sp>
          </p:grpSp>
          <p:grpSp>
            <p:nvGrpSpPr>
              <p:cNvPr id="31756" name="Group 28">
                <a:extLst>
                  <a:ext uri="{FF2B5EF4-FFF2-40B4-BE49-F238E27FC236}">
                    <a16:creationId xmlns:a16="http://schemas.microsoft.com/office/drawing/2014/main" id="{7720270D-5F5E-4967-6951-B2CF560C4CF4}"/>
                  </a:ext>
                </a:extLst>
              </p:cNvPr>
              <p:cNvGrpSpPr>
                <a:grpSpLocks/>
              </p:cNvGrpSpPr>
              <p:nvPr/>
            </p:nvGrpSpPr>
            <p:grpSpPr bwMode="auto">
              <a:xfrm>
                <a:off x="3840" y="2640"/>
                <a:ext cx="717" cy="250"/>
                <a:chOff x="1488" y="1456"/>
                <a:chExt cx="717" cy="250"/>
              </a:xfrm>
            </p:grpSpPr>
            <p:sp>
              <p:nvSpPr>
                <p:cNvPr id="12317" name="Line 29">
                  <a:extLst>
                    <a:ext uri="{FF2B5EF4-FFF2-40B4-BE49-F238E27FC236}">
                      <a16:creationId xmlns:a16="http://schemas.microsoft.com/office/drawing/2014/main" id="{650B8552-6BEE-EF72-5EA1-D84E891BAB05}"/>
                    </a:ext>
                  </a:extLst>
                </p:cNvPr>
                <p:cNvSpPr>
                  <a:spLocks noChangeShapeType="1"/>
                </p:cNvSpPr>
                <p:nvPr/>
              </p:nvSpPr>
              <p:spPr bwMode="auto">
                <a:xfrm>
                  <a:off x="1488" y="1584"/>
                  <a:ext cx="288" cy="0"/>
                </a:xfrm>
                <a:prstGeom prst="line">
                  <a:avLst/>
                </a:prstGeom>
                <a:noFill/>
                <a:ln w="9525">
                  <a:solidFill>
                    <a:schemeClr val="tx1"/>
                  </a:solidFill>
                  <a:round/>
                  <a:headEnd/>
                  <a:tailEnd type="triangle" w="lg" len="lg"/>
                </a:ln>
                <a:effectLst/>
              </p:spPr>
              <p:txBody>
                <a:bodyPr/>
                <a:lstStyle/>
                <a:p>
                  <a:pPr>
                    <a:defRPr/>
                  </a:pPr>
                  <a:endParaRPr lang="en-US"/>
                </a:p>
              </p:txBody>
            </p:sp>
            <p:sp>
              <p:nvSpPr>
                <p:cNvPr id="31762" name="Text Box 30">
                  <a:extLst>
                    <a:ext uri="{FF2B5EF4-FFF2-40B4-BE49-F238E27FC236}">
                      <a16:creationId xmlns:a16="http://schemas.microsoft.com/office/drawing/2014/main" id="{588C0A4E-62D4-7083-4A6F-99EB1B519D8A}"/>
                    </a:ext>
                  </a:extLst>
                </p:cNvPr>
                <p:cNvSpPr txBox="1">
                  <a:spLocks noChangeArrowheads="1"/>
                </p:cNvSpPr>
                <p:nvPr/>
              </p:nvSpPr>
              <p:spPr bwMode="auto">
                <a:xfrm>
                  <a:off x="1776" y="1456"/>
                  <a:ext cx="4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effectLst/>
                      <a:latin typeface="Times New Roman" panose="02020603050405020304" pitchFamily="18" charset="0"/>
                    </a:rPr>
                    <a:t>A+B</a:t>
                  </a:r>
                </a:p>
              </p:txBody>
            </p:sp>
          </p:grpSp>
          <p:sp>
            <p:nvSpPr>
              <p:cNvPr id="12319" name="Line 31">
                <a:extLst>
                  <a:ext uri="{FF2B5EF4-FFF2-40B4-BE49-F238E27FC236}">
                    <a16:creationId xmlns:a16="http://schemas.microsoft.com/office/drawing/2014/main" id="{38C8F4E9-7256-1317-1233-380A127E4D0F}"/>
                  </a:ext>
                </a:extLst>
              </p:cNvPr>
              <p:cNvSpPr>
                <a:spLocks noChangeShapeType="1"/>
              </p:cNvSpPr>
              <p:nvPr/>
            </p:nvSpPr>
            <p:spPr bwMode="auto">
              <a:xfrm>
                <a:off x="3840" y="1712"/>
                <a:ext cx="288" cy="0"/>
              </a:xfrm>
              <a:prstGeom prst="line">
                <a:avLst/>
              </a:prstGeom>
              <a:noFill/>
              <a:ln w="9525">
                <a:solidFill>
                  <a:schemeClr val="tx1"/>
                </a:solidFill>
                <a:round/>
                <a:headEnd/>
                <a:tailEnd type="triangle" w="lg" len="lg"/>
              </a:ln>
              <a:effectLst/>
            </p:spPr>
            <p:txBody>
              <a:bodyPr/>
              <a:lstStyle/>
              <a:p>
                <a:pPr>
                  <a:defRPr/>
                </a:pPr>
                <a:endParaRPr lang="en-US"/>
              </a:p>
            </p:txBody>
          </p:sp>
          <p:sp>
            <p:nvSpPr>
              <p:cNvPr id="31758" name="Text Box 32">
                <a:extLst>
                  <a:ext uri="{FF2B5EF4-FFF2-40B4-BE49-F238E27FC236}">
                    <a16:creationId xmlns:a16="http://schemas.microsoft.com/office/drawing/2014/main" id="{A5E3DC92-A768-DC02-8291-4AE7555F7680}"/>
                  </a:ext>
                </a:extLst>
              </p:cNvPr>
              <p:cNvSpPr txBox="1">
                <a:spLocks noChangeArrowheads="1"/>
              </p:cNvSpPr>
              <p:nvPr/>
            </p:nvSpPr>
            <p:spPr bwMode="auto">
              <a:xfrm>
                <a:off x="4128" y="1584"/>
                <a:ext cx="41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effectLst/>
                    <a:latin typeface="Times New Roman" panose="02020603050405020304" pitchFamily="18" charset="0"/>
                  </a:rPr>
                  <a:t>A*B</a:t>
                </a:r>
              </a:p>
            </p:txBody>
          </p:sp>
          <p:sp>
            <p:nvSpPr>
              <p:cNvPr id="12321" name="Line 33">
                <a:extLst>
                  <a:ext uri="{FF2B5EF4-FFF2-40B4-BE49-F238E27FC236}">
                    <a16:creationId xmlns:a16="http://schemas.microsoft.com/office/drawing/2014/main" id="{6431F3B4-C75B-F37B-E123-8B03CEC0E3B5}"/>
                  </a:ext>
                </a:extLst>
              </p:cNvPr>
              <p:cNvSpPr>
                <a:spLocks noChangeShapeType="1"/>
              </p:cNvSpPr>
              <p:nvPr/>
            </p:nvSpPr>
            <p:spPr bwMode="auto">
              <a:xfrm>
                <a:off x="3840" y="3008"/>
                <a:ext cx="288" cy="0"/>
              </a:xfrm>
              <a:prstGeom prst="line">
                <a:avLst/>
              </a:prstGeom>
              <a:noFill/>
              <a:ln w="9525">
                <a:solidFill>
                  <a:schemeClr val="tx1"/>
                </a:solidFill>
                <a:round/>
                <a:headEnd/>
                <a:tailEnd type="triangle" w="lg" len="lg"/>
              </a:ln>
              <a:effectLst/>
            </p:spPr>
            <p:txBody>
              <a:bodyPr/>
              <a:lstStyle/>
              <a:p>
                <a:pPr>
                  <a:defRPr/>
                </a:pPr>
                <a:endParaRPr lang="en-US"/>
              </a:p>
            </p:txBody>
          </p:sp>
          <p:sp>
            <p:nvSpPr>
              <p:cNvPr id="31760" name="Text Box 34">
                <a:extLst>
                  <a:ext uri="{FF2B5EF4-FFF2-40B4-BE49-F238E27FC236}">
                    <a16:creationId xmlns:a16="http://schemas.microsoft.com/office/drawing/2014/main" id="{853D483F-6593-4BAC-B8F0-E66D87CC5CFD}"/>
                  </a:ext>
                </a:extLst>
              </p:cNvPr>
              <p:cNvSpPr txBox="1">
                <a:spLocks noChangeArrowheads="1"/>
              </p:cNvSpPr>
              <p:nvPr/>
            </p:nvSpPr>
            <p:spPr bwMode="auto">
              <a:xfrm>
                <a:off x="4128" y="2880"/>
                <a:ext cx="41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effectLst/>
                    <a:latin typeface="Times New Roman" panose="02020603050405020304" pitchFamily="18" charset="0"/>
                  </a:rPr>
                  <a:t>C*D</a:t>
                </a:r>
              </a:p>
            </p:txBody>
          </p:sp>
        </p:grpSp>
      </p:grpSp>
      <p:sp>
        <p:nvSpPr>
          <p:cNvPr id="31748" name="Rectangle 35">
            <a:extLst>
              <a:ext uri="{FF2B5EF4-FFF2-40B4-BE49-F238E27FC236}">
                <a16:creationId xmlns:a16="http://schemas.microsoft.com/office/drawing/2014/main" id="{0E906EA7-9C8F-FA1C-1DE8-114DB605A564}"/>
              </a:ext>
            </a:extLst>
          </p:cNvPr>
          <p:cNvSpPr>
            <a:spLocks noGrp="1" noChangeArrowheads="1"/>
          </p:cNvSpPr>
          <p:nvPr>
            <p:ph type="title"/>
          </p:nvPr>
        </p:nvSpPr>
        <p:spPr/>
        <p:txBody>
          <a:bodyPr/>
          <a:lstStyle/>
          <a:p>
            <a:r>
              <a:rPr kumimoji="0" lang="hr-HR" altLang="en-US">
                <a:effectLst/>
              </a:rPr>
              <a:t>Potencijali četiri klase računara</a:t>
            </a:r>
            <a:endParaRPr kumimoji="0" lang="en-US" altLang="en-US">
              <a:effectL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4" name="Rectangle 4">
            <a:extLst>
              <a:ext uri="{FF2B5EF4-FFF2-40B4-BE49-F238E27FC236}">
                <a16:creationId xmlns:a16="http://schemas.microsoft.com/office/drawing/2014/main" id="{1057D90A-CC15-56AF-F81A-355154857A5F}"/>
              </a:ext>
            </a:extLst>
          </p:cNvPr>
          <p:cNvSpPr>
            <a:spLocks noGrp="1" noChangeArrowheads="1"/>
          </p:cNvSpPr>
          <p:nvPr>
            <p:ph type="title"/>
          </p:nvPr>
        </p:nvSpPr>
        <p:spPr>
          <a:xfrm>
            <a:off x="0" y="0"/>
            <a:ext cx="9144000" cy="1066800"/>
          </a:xfrm>
        </p:spPr>
        <p:txBody>
          <a:bodyPr/>
          <a:lstStyle/>
          <a:p>
            <a:pPr>
              <a:defRPr/>
            </a:pPr>
            <a:r>
              <a:rPr lang="en-US" altLang="en-US" sz="3200"/>
              <a:t>Podela PS u odnosu na i</a:t>
            </a:r>
            <a:r>
              <a:rPr lang="hr-HR" altLang="en-US" sz="3200"/>
              <a:t>nterprocesorsk</a:t>
            </a:r>
            <a:r>
              <a:rPr lang="en-US" altLang="en-US" sz="3200"/>
              <a:t>u</a:t>
            </a:r>
            <a:r>
              <a:rPr lang="hr-HR" altLang="en-US" sz="3200"/>
              <a:t> komunikacij</a:t>
            </a:r>
            <a:r>
              <a:rPr lang="en-US" altLang="en-US" sz="3200"/>
              <a:t>u</a:t>
            </a:r>
          </a:p>
        </p:txBody>
      </p:sp>
      <p:sp>
        <p:nvSpPr>
          <p:cNvPr id="102405" name="Rectangle 5">
            <a:extLst>
              <a:ext uri="{FF2B5EF4-FFF2-40B4-BE49-F238E27FC236}">
                <a16:creationId xmlns:a16="http://schemas.microsoft.com/office/drawing/2014/main" id="{AFD08AAA-B19B-1200-5449-59DC0BB22611}"/>
              </a:ext>
            </a:extLst>
          </p:cNvPr>
          <p:cNvSpPr>
            <a:spLocks noGrp="1" noChangeArrowheads="1"/>
          </p:cNvSpPr>
          <p:nvPr>
            <p:ph type="body" idx="1"/>
          </p:nvPr>
        </p:nvSpPr>
        <p:spPr>
          <a:xfrm>
            <a:off x="0" y="1295400"/>
            <a:ext cx="9144000" cy="5562600"/>
          </a:xfrm>
        </p:spPr>
        <p:txBody>
          <a:bodyPr/>
          <a:lstStyle/>
          <a:p>
            <a:pPr>
              <a:defRPr/>
            </a:pPr>
            <a:r>
              <a:rPr lang="sr-Latn-CS" altLang="en-US"/>
              <a:t>Zajednička (deljiva) memorija </a:t>
            </a:r>
            <a:r>
              <a:rPr lang="en-US" altLang="en-US"/>
              <a:t> </a:t>
            </a:r>
          </a:p>
          <a:p>
            <a:pPr lvl="1">
              <a:defRPr/>
            </a:pPr>
            <a:r>
              <a:rPr lang="hr-HR" altLang="en-US"/>
              <a:t>Deljiva memorija se sastoji od globalnog adresnog prostora. Svi procesori mogu da čitaju i vrše upis u ovaj globalni adresni prostor.</a:t>
            </a:r>
            <a:r>
              <a:rPr lang="en-US" altLang="en-US"/>
              <a:t> </a:t>
            </a:r>
            <a:endParaRPr lang="sr-Latn-CS" altLang="en-US"/>
          </a:p>
          <a:p>
            <a:pPr lvl="1">
              <a:defRPr/>
            </a:pPr>
            <a:r>
              <a:rPr lang="sr-Latn-CS" altLang="en-US"/>
              <a:t>Memorija ne mora bi</a:t>
            </a:r>
            <a:r>
              <a:rPr lang="en-US" altLang="en-US"/>
              <a:t>t</a:t>
            </a:r>
            <a:r>
              <a:rPr lang="sr-Latn-CS" altLang="en-US"/>
              <a:t>i jedinstvena (može postojati više memorijskih banaka)</a:t>
            </a:r>
            <a:endParaRPr lang="en-US" altLang="en-US"/>
          </a:p>
          <a:p>
            <a:pPr lvl="1">
              <a:defRPr/>
            </a:pPr>
            <a:r>
              <a:rPr lang="en-US" altLang="en-US"/>
              <a:t>Procesor</a:t>
            </a:r>
            <a:r>
              <a:rPr lang="sr-Latn-CS" altLang="en-US"/>
              <a:t>i</a:t>
            </a:r>
            <a:r>
              <a:rPr lang="en-US" altLang="en-US"/>
              <a:t> </a:t>
            </a:r>
            <a:r>
              <a:rPr lang="sr-Latn-CS" altLang="en-US"/>
              <a:t>komuniciraju preko</a:t>
            </a:r>
            <a:r>
              <a:rPr lang="en-US" altLang="en-US"/>
              <a:t> read </a:t>
            </a:r>
            <a:r>
              <a:rPr lang="sr-Latn-CS" altLang="en-US"/>
              <a:t>i</a:t>
            </a:r>
            <a:r>
              <a:rPr lang="en-US" altLang="en-US"/>
              <a:t> write</a:t>
            </a:r>
            <a:r>
              <a:rPr lang="sr-Latn-CS" altLang="en-US"/>
              <a:t> operacija</a:t>
            </a:r>
            <a:endParaRPr lang="en-US" altLang="en-US"/>
          </a:p>
          <a:p>
            <a:pPr>
              <a:defRPr/>
            </a:pPr>
            <a:r>
              <a:rPr lang="sr-Latn-CS" altLang="en-US"/>
              <a:t>Sistemi sa razmenom poruka </a:t>
            </a:r>
          </a:p>
          <a:p>
            <a:pPr lvl="1">
              <a:defRPr/>
            </a:pPr>
            <a:r>
              <a:rPr lang="sr-Latn-CS" altLang="en-US"/>
              <a:t>Svaki procesor ima odvojeni (sopstveni) adresni prostor. </a:t>
            </a:r>
            <a:endParaRPr lang="en-US" altLang="en-US"/>
          </a:p>
          <a:p>
            <a:pPr lvl="1">
              <a:defRPr/>
            </a:pPr>
            <a:r>
              <a:rPr lang="sr-Latn-CS" altLang="en-US"/>
              <a:t>Procesor ne može pristupati adresnom prostoru drugog procesora. </a:t>
            </a:r>
          </a:p>
          <a:p>
            <a:pPr lvl="1">
              <a:defRPr/>
            </a:pPr>
            <a:r>
              <a:rPr lang="sr-Latn-CS" altLang="en-US"/>
              <a:t>Procesi komunicraju razmenjujući poruke</a:t>
            </a:r>
            <a:endParaRPr lang="en-US" altLang="en-US"/>
          </a:p>
          <a:p>
            <a:pPr>
              <a:defRPr/>
            </a:pPr>
            <a:endParaRPr lang="en-US" altLang="en-US"/>
          </a:p>
        </p:txBody>
      </p:sp>
    </p:spTree>
  </p:cSld>
  <p:clrMapOvr>
    <a:masterClrMapping/>
  </p:clrMapOvr>
  <p:transition>
    <p:pull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A3E322EF-FFBE-76C1-E7B7-C3D75D7FC7E3}"/>
              </a:ext>
            </a:extLst>
          </p:cNvPr>
          <p:cNvSpPr>
            <a:spLocks noGrp="1" noChangeArrowheads="1"/>
          </p:cNvSpPr>
          <p:nvPr>
            <p:ph type="title"/>
          </p:nvPr>
        </p:nvSpPr>
        <p:spPr/>
        <p:txBody>
          <a:bodyPr/>
          <a:lstStyle/>
          <a:p>
            <a:pPr>
              <a:defRPr/>
            </a:pPr>
            <a:r>
              <a:rPr lang="sr-Latn-CS" altLang="en-US"/>
              <a:t>Zajednička (delljiva) memorija</a:t>
            </a:r>
            <a:endParaRPr lang="en-US" altLang="en-US"/>
          </a:p>
        </p:txBody>
      </p:sp>
      <p:sp>
        <p:nvSpPr>
          <p:cNvPr id="103427" name="Rectangle 3">
            <a:extLst>
              <a:ext uri="{FF2B5EF4-FFF2-40B4-BE49-F238E27FC236}">
                <a16:creationId xmlns:a16="http://schemas.microsoft.com/office/drawing/2014/main" id="{75A7DA10-446E-ADDD-F01A-168C48692C14}"/>
              </a:ext>
            </a:extLst>
          </p:cNvPr>
          <p:cNvSpPr>
            <a:spLocks noGrp="1" noChangeArrowheads="1"/>
          </p:cNvSpPr>
          <p:nvPr>
            <p:ph type="body" idx="1"/>
          </p:nvPr>
        </p:nvSpPr>
        <p:spPr/>
        <p:txBody>
          <a:bodyPr/>
          <a:lstStyle/>
          <a:p>
            <a:pPr>
              <a:defRPr/>
            </a:pPr>
            <a:r>
              <a:rPr lang="sr-Latn-CS" altLang="en-US"/>
              <a:t>Interprocesorska komunikacija se obavlja preko read i write operacija. </a:t>
            </a:r>
            <a:endParaRPr lang="en-US" altLang="en-US"/>
          </a:p>
          <a:p>
            <a:pPr>
              <a:defRPr/>
            </a:pPr>
            <a:r>
              <a:rPr lang="sr-Latn-CS" altLang="en-US"/>
              <a:t>Zajednička memorija može biti centralizovana</a:t>
            </a:r>
          </a:p>
          <a:p>
            <a:pPr lvl="1">
              <a:defRPr/>
            </a:pPr>
            <a:r>
              <a:rPr lang="sr-Latn-CS" altLang="en-US"/>
              <a:t>Vreme potrebno za pristup memorijskoj lokaciji je isto za sve procesore (UMA sistemi – Uniform Memory Access)</a:t>
            </a:r>
            <a:endParaRPr lang="en-US" altLang="en-US"/>
          </a:p>
          <a:p>
            <a:pPr>
              <a:defRPr/>
            </a:pPr>
            <a:r>
              <a:rPr lang="sr-Latn-CS" altLang="en-US"/>
              <a:t>Ili distribuirana po procesorima</a:t>
            </a:r>
          </a:p>
          <a:p>
            <a:pPr lvl="1">
              <a:defRPr/>
            </a:pPr>
            <a:r>
              <a:rPr lang="sr-Latn-CS" altLang="en-US"/>
              <a:t>Vreme pristpa memorijskim lokacijama može biti različito (NUMA sistemi – Non Uniform Memory Access) </a:t>
            </a:r>
          </a:p>
          <a:p>
            <a:pPr lvl="2">
              <a:defRPr/>
            </a:pPr>
            <a:r>
              <a:rPr lang="sr-Latn-CS" altLang="en-US"/>
              <a:t>Vreme </a:t>
            </a:r>
            <a:r>
              <a:rPr lang="en-US" altLang="en-US"/>
              <a:t>p</a:t>
            </a:r>
            <a:r>
              <a:rPr lang="sr-Latn-CS" altLang="en-US"/>
              <a:t>ristupa lokalnoj memoriji je kraće od vremena pristupa memoriji drugog procesora. </a:t>
            </a:r>
            <a:endParaRPr lang="en-US" altLang="en-US"/>
          </a:p>
        </p:txBody>
      </p:sp>
    </p:spTree>
  </p:cSld>
  <p:clrMapOvr>
    <a:masterClrMapping/>
  </p:clrMapOvr>
  <p:transition>
    <p:pull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8" name="Group 58">
            <a:extLst>
              <a:ext uri="{FF2B5EF4-FFF2-40B4-BE49-F238E27FC236}">
                <a16:creationId xmlns:a16="http://schemas.microsoft.com/office/drawing/2014/main" id="{406D1A50-24EB-DDDE-6723-5B61761917B1}"/>
              </a:ext>
            </a:extLst>
          </p:cNvPr>
          <p:cNvGrpSpPr>
            <a:grpSpLocks/>
          </p:cNvGrpSpPr>
          <p:nvPr/>
        </p:nvGrpSpPr>
        <p:grpSpPr bwMode="auto">
          <a:xfrm>
            <a:off x="990600" y="2743200"/>
            <a:ext cx="6429375" cy="1960563"/>
            <a:chOff x="645" y="2165"/>
            <a:chExt cx="4050" cy="1235"/>
          </a:xfrm>
        </p:grpSpPr>
        <p:sp>
          <p:nvSpPr>
            <p:cNvPr id="105478" name="Rectangle 6">
              <a:extLst>
                <a:ext uri="{FF2B5EF4-FFF2-40B4-BE49-F238E27FC236}">
                  <a16:creationId xmlns:a16="http://schemas.microsoft.com/office/drawing/2014/main" id="{9BE70D55-848A-1528-ABF8-7D2D954569BA}"/>
                </a:ext>
              </a:extLst>
            </p:cNvPr>
            <p:cNvSpPr>
              <a:spLocks noChangeArrowheads="1"/>
            </p:cNvSpPr>
            <p:nvPr/>
          </p:nvSpPr>
          <p:spPr bwMode="auto">
            <a:xfrm>
              <a:off x="645" y="2582"/>
              <a:ext cx="1473" cy="288"/>
            </a:xfrm>
            <a:prstGeom prst="rect">
              <a:avLst/>
            </a:prstGeom>
            <a:solidFill>
              <a:srgbClr val="FFFFFF"/>
            </a:solidFill>
            <a:ln w="25400">
              <a:solidFill>
                <a:srgbClr val="000000"/>
              </a:solidFill>
              <a:miter lim="800000"/>
              <a:headEnd/>
              <a:tailEnd/>
            </a:ln>
            <a:effectLst/>
          </p:spPr>
          <p:txBody>
            <a:bodyPr wrap="none" anchor="ctr"/>
            <a:lstStyle/>
            <a:p>
              <a:pPr>
                <a:defRPr/>
              </a:pPr>
              <a:endParaRPr lang="en-US"/>
            </a:p>
          </p:txBody>
        </p:sp>
        <p:sp>
          <p:nvSpPr>
            <p:cNvPr id="34825" name="Rectangle 7">
              <a:extLst>
                <a:ext uri="{FF2B5EF4-FFF2-40B4-BE49-F238E27FC236}">
                  <a16:creationId xmlns:a16="http://schemas.microsoft.com/office/drawing/2014/main" id="{4BD14CEF-DE13-EC41-B393-89F809036C51}"/>
                </a:ext>
              </a:extLst>
            </p:cNvPr>
            <p:cNvSpPr>
              <a:spLocks noChangeArrowheads="1"/>
            </p:cNvSpPr>
            <p:nvPr/>
          </p:nvSpPr>
          <p:spPr bwMode="auto">
            <a:xfrm>
              <a:off x="864" y="2640"/>
              <a:ext cx="98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sr-Latn-CS" altLang="en-US" sz="1600">
                  <a:solidFill>
                    <a:srgbClr val="000000"/>
                  </a:solidFill>
                  <a:effectLst/>
                  <a:latin typeface="Geneva" charset="0"/>
                </a:rPr>
                <a:t>Sprežna mreža</a:t>
              </a:r>
              <a:endParaRPr lang="en-US" altLang="en-US" sz="1600">
                <a:solidFill>
                  <a:srgbClr val="000000"/>
                </a:solidFill>
                <a:effectLst/>
                <a:latin typeface="Geneva" charset="0"/>
              </a:endParaRPr>
            </a:p>
          </p:txBody>
        </p:sp>
        <p:sp>
          <p:nvSpPr>
            <p:cNvPr id="105480" name="Oval 8">
              <a:extLst>
                <a:ext uri="{FF2B5EF4-FFF2-40B4-BE49-F238E27FC236}">
                  <a16:creationId xmlns:a16="http://schemas.microsoft.com/office/drawing/2014/main" id="{0FF80E48-6F92-2E13-9198-2C4F837BF214}"/>
                </a:ext>
              </a:extLst>
            </p:cNvPr>
            <p:cNvSpPr>
              <a:spLocks noChangeArrowheads="1"/>
            </p:cNvSpPr>
            <p:nvPr/>
          </p:nvSpPr>
          <p:spPr bwMode="auto">
            <a:xfrm>
              <a:off x="658" y="2165"/>
              <a:ext cx="249" cy="249"/>
            </a:xfrm>
            <a:prstGeom prst="ellipse">
              <a:avLst/>
            </a:prstGeom>
            <a:solidFill>
              <a:srgbClr val="FFFFFF"/>
            </a:solidFill>
            <a:ln w="25400">
              <a:solidFill>
                <a:srgbClr val="000000"/>
              </a:solidFill>
              <a:round/>
              <a:headEnd/>
              <a:tailEnd/>
            </a:ln>
            <a:effectLst/>
          </p:spPr>
          <p:txBody>
            <a:bodyPr wrap="none" anchor="ctr"/>
            <a:lstStyle/>
            <a:p>
              <a:pPr>
                <a:defRPr/>
              </a:pPr>
              <a:endParaRPr lang="en-US"/>
            </a:p>
          </p:txBody>
        </p:sp>
        <p:sp>
          <p:nvSpPr>
            <p:cNvPr id="34827" name="Rectangle 9">
              <a:extLst>
                <a:ext uri="{FF2B5EF4-FFF2-40B4-BE49-F238E27FC236}">
                  <a16:creationId xmlns:a16="http://schemas.microsoft.com/office/drawing/2014/main" id="{EF432495-D602-AE18-F333-136F05B5AEEA}"/>
                </a:ext>
              </a:extLst>
            </p:cNvPr>
            <p:cNvSpPr>
              <a:spLocks noChangeArrowheads="1"/>
            </p:cNvSpPr>
            <p:nvPr/>
          </p:nvSpPr>
          <p:spPr bwMode="auto">
            <a:xfrm>
              <a:off x="689" y="2187"/>
              <a:ext cx="1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solidFill>
                    <a:srgbClr val="000000"/>
                  </a:solidFill>
                  <a:effectLst/>
                  <a:latin typeface="Geneva" charset="0"/>
                </a:rPr>
                <a:t>P</a:t>
              </a:r>
            </a:p>
          </p:txBody>
        </p:sp>
        <p:sp>
          <p:nvSpPr>
            <p:cNvPr id="105482" name="Oval 10">
              <a:extLst>
                <a:ext uri="{FF2B5EF4-FFF2-40B4-BE49-F238E27FC236}">
                  <a16:creationId xmlns:a16="http://schemas.microsoft.com/office/drawing/2014/main" id="{D92AB244-FE5A-51D3-8643-111107D80F17}"/>
                </a:ext>
              </a:extLst>
            </p:cNvPr>
            <p:cNvSpPr>
              <a:spLocks noChangeArrowheads="1"/>
            </p:cNvSpPr>
            <p:nvPr/>
          </p:nvSpPr>
          <p:spPr bwMode="auto">
            <a:xfrm>
              <a:off x="1075" y="2165"/>
              <a:ext cx="249" cy="249"/>
            </a:xfrm>
            <a:prstGeom prst="ellipse">
              <a:avLst/>
            </a:prstGeom>
            <a:solidFill>
              <a:srgbClr val="FFFFFF"/>
            </a:solidFill>
            <a:ln w="25400">
              <a:solidFill>
                <a:srgbClr val="000000"/>
              </a:solidFill>
              <a:round/>
              <a:headEnd/>
              <a:tailEnd/>
            </a:ln>
            <a:effectLst/>
          </p:spPr>
          <p:txBody>
            <a:bodyPr wrap="none" anchor="ctr"/>
            <a:lstStyle/>
            <a:p>
              <a:pPr>
                <a:defRPr/>
              </a:pPr>
              <a:endParaRPr lang="en-US"/>
            </a:p>
          </p:txBody>
        </p:sp>
        <p:sp>
          <p:nvSpPr>
            <p:cNvPr id="34829" name="Rectangle 11">
              <a:extLst>
                <a:ext uri="{FF2B5EF4-FFF2-40B4-BE49-F238E27FC236}">
                  <a16:creationId xmlns:a16="http://schemas.microsoft.com/office/drawing/2014/main" id="{597D90A2-4227-6AC2-FB6C-B9C0C10D2232}"/>
                </a:ext>
              </a:extLst>
            </p:cNvPr>
            <p:cNvSpPr>
              <a:spLocks noChangeArrowheads="1"/>
            </p:cNvSpPr>
            <p:nvPr/>
          </p:nvSpPr>
          <p:spPr bwMode="auto">
            <a:xfrm>
              <a:off x="1106" y="2187"/>
              <a:ext cx="1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solidFill>
                    <a:srgbClr val="000000"/>
                  </a:solidFill>
                  <a:effectLst/>
                  <a:latin typeface="Geneva" charset="0"/>
                </a:rPr>
                <a:t>P</a:t>
              </a:r>
            </a:p>
          </p:txBody>
        </p:sp>
        <p:sp>
          <p:nvSpPr>
            <p:cNvPr id="105484" name="Oval 12">
              <a:extLst>
                <a:ext uri="{FF2B5EF4-FFF2-40B4-BE49-F238E27FC236}">
                  <a16:creationId xmlns:a16="http://schemas.microsoft.com/office/drawing/2014/main" id="{A83BF5D8-D5C3-AA31-DEC1-247A4A1536A4}"/>
                </a:ext>
              </a:extLst>
            </p:cNvPr>
            <p:cNvSpPr>
              <a:spLocks noChangeArrowheads="1"/>
            </p:cNvSpPr>
            <p:nvPr/>
          </p:nvSpPr>
          <p:spPr bwMode="auto">
            <a:xfrm>
              <a:off x="1855" y="2165"/>
              <a:ext cx="250" cy="249"/>
            </a:xfrm>
            <a:prstGeom prst="ellipse">
              <a:avLst/>
            </a:prstGeom>
            <a:solidFill>
              <a:srgbClr val="FFFFFF"/>
            </a:solidFill>
            <a:ln w="25400">
              <a:solidFill>
                <a:srgbClr val="000000"/>
              </a:solidFill>
              <a:round/>
              <a:headEnd/>
              <a:tailEnd/>
            </a:ln>
            <a:effectLst/>
          </p:spPr>
          <p:txBody>
            <a:bodyPr wrap="none" anchor="ctr"/>
            <a:lstStyle/>
            <a:p>
              <a:pPr>
                <a:defRPr/>
              </a:pPr>
              <a:endParaRPr lang="en-US"/>
            </a:p>
          </p:txBody>
        </p:sp>
        <p:sp>
          <p:nvSpPr>
            <p:cNvPr id="34831" name="Rectangle 13">
              <a:extLst>
                <a:ext uri="{FF2B5EF4-FFF2-40B4-BE49-F238E27FC236}">
                  <a16:creationId xmlns:a16="http://schemas.microsoft.com/office/drawing/2014/main" id="{75C86844-67E2-C1AE-D851-DDBBA3183201}"/>
                </a:ext>
              </a:extLst>
            </p:cNvPr>
            <p:cNvSpPr>
              <a:spLocks noChangeArrowheads="1"/>
            </p:cNvSpPr>
            <p:nvPr/>
          </p:nvSpPr>
          <p:spPr bwMode="auto">
            <a:xfrm>
              <a:off x="1887" y="2187"/>
              <a:ext cx="1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solidFill>
                    <a:srgbClr val="000000"/>
                  </a:solidFill>
                  <a:effectLst/>
                  <a:latin typeface="Geneva" charset="0"/>
                </a:rPr>
                <a:t>P</a:t>
              </a:r>
            </a:p>
          </p:txBody>
        </p:sp>
        <p:sp>
          <p:nvSpPr>
            <p:cNvPr id="105486" name="Rectangle 14">
              <a:extLst>
                <a:ext uri="{FF2B5EF4-FFF2-40B4-BE49-F238E27FC236}">
                  <a16:creationId xmlns:a16="http://schemas.microsoft.com/office/drawing/2014/main" id="{F9A28FFD-E911-1B06-A6E1-AFDCA7932E9A}"/>
                </a:ext>
              </a:extLst>
            </p:cNvPr>
            <p:cNvSpPr>
              <a:spLocks noChangeArrowheads="1"/>
            </p:cNvSpPr>
            <p:nvPr/>
          </p:nvSpPr>
          <p:spPr bwMode="auto">
            <a:xfrm>
              <a:off x="645" y="3168"/>
              <a:ext cx="249" cy="210"/>
            </a:xfrm>
            <a:prstGeom prst="rect">
              <a:avLst/>
            </a:prstGeom>
            <a:solidFill>
              <a:srgbClr val="FFFFFF"/>
            </a:solidFill>
            <a:ln w="25400">
              <a:solidFill>
                <a:srgbClr val="000000"/>
              </a:solidFill>
              <a:miter lim="800000"/>
              <a:headEnd/>
              <a:tailEnd/>
            </a:ln>
            <a:effectLst/>
          </p:spPr>
          <p:txBody>
            <a:bodyPr wrap="none" anchor="ctr"/>
            <a:lstStyle/>
            <a:p>
              <a:pPr>
                <a:defRPr/>
              </a:pPr>
              <a:endParaRPr lang="en-US"/>
            </a:p>
          </p:txBody>
        </p:sp>
        <p:sp>
          <p:nvSpPr>
            <p:cNvPr id="34833" name="Rectangle 15">
              <a:extLst>
                <a:ext uri="{FF2B5EF4-FFF2-40B4-BE49-F238E27FC236}">
                  <a16:creationId xmlns:a16="http://schemas.microsoft.com/office/drawing/2014/main" id="{694A4B65-57CC-6D18-43B3-CF049E0F58B0}"/>
                </a:ext>
              </a:extLst>
            </p:cNvPr>
            <p:cNvSpPr>
              <a:spLocks noChangeArrowheads="1"/>
            </p:cNvSpPr>
            <p:nvPr/>
          </p:nvSpPr>
          <p:spPr bwMode="auto">
            <a:xfrm>
              <a:off x="676" y="3190"/>
              <a:ext cx="22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solidFill>
                    <a:srgbClr val="000000"/>
                  </a:solidFill>
                  <a:effectLst/>
                  <a:latin typeface="Geneva" charset="0"/>
                </a:rPr>
                <a:t>M</a:t>
              </a:r>
            </a:p>
          </p:txBody>
        </p:sp>
        <p:sp>
          <p:nvSpPr>
            <p:cNvPr id="105488" name="Rectangle 16">
              <a:extLst>
                <a:ext uri="{FF2B5EF4-FFF2-40B4-BE49-F238E27FC236}">
                  <a16:creationId xmlns:a16="http://schemas.microsoft.com/office/drawing/2014/main" id="{FABAC332-C8FC-E419-2529-06B068C4F4A9}"/>
                </a:ext>
              </a:extLst>
            </p:cNvPr>
            <p:cNvSpPr>
              <a:spLocks noChangeArrowheads="1"/>
            </p:cNvSpPr>
            <p:nvPr/>
          </p:nvSpPr>
          <p:spPr bwMode="auto">
            <a:xfrm>
              <a:off x="1035" y="3168"/>
              <a:ext cx="250" cy="210"/>
            </a:xfrm>
            <a:prstGeom prst="rect">
              <a:avLst/>
            </a:prstGeom>
            <a:solidFill>
              <a:srgbClr val="FFFFFF"/>
            </a:solidFill>
            <a:ln w="25400">
              <a:solidFill>
                <a:srgbClr val="000000"/>
              </a:solidFill>
              <a:miter lim="800000"/>
              <a:headEnd/>
              <a:tailEnd/>
            </a:ln>
            <a:effectLst/>
          </p:spPr>
          <p:txBody>
            <a:bodyPr wrap="none" anchor="ctr"/>
            <a:lstStyle/>
            <a:p>
              <a:pPr>
                <a:defRPr/>
              </a:pPr>
              <a:endParaRPr lang="en-US"/>
            </a:p>
          </p:txBody>
        </p:sp>
        <p:sp>
          <p:nvSpPr>
            <p:cNvPr id="34835" name="Rectangle 17">
              <a:extLst>
                <a:ext uri="{FF2B5EF4-FFF2-40B4-BE49-F238E27FC236}">
                  <a16:creationId xmlns:a16="http://schemas.microsoft.com/office/drawing/2014/main" id="{D07A5B13-4335-78CC-BFD0-7EDD6D254155}"/>
                </a:ext>
              </a:extLst>
            </p:cNvPr>
            <p:cNvSpPr>
              <a:spLocks noChangeArrowheads="1"/>
            </p:cNvSpPr>
            <p:nvPr/>
          </p:nvSpPr>
          <p:spPr bwMode="auto">
            <a:xfrm>
              <a:off x="1054" y="3177"/>
              <a:ext cx="22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solidFill>
                    <a:srgbClr val="000000"/>
                  </a:solidFill>
                  <a:effectLst/>
                  <a:latin typeface="Geneva" charset="0"/>
                </a:rPr>
                <a:t>M</a:t>
              </a:r>
            </a:p>
          </p:txBody>
        </p:sp>
        <p:sp>
          <p:nvSpPr>
            <p:cNvPr id="105490" name="Rectangle 18">
              <a:extLst>
                <a:ext uri="{FF2B5EF4-FFF2-40B4-BE49-F238E27FC236}">
                  <a16:creationId xmlns:a16="http://schemas.microsoft.com/office/drawing/2014/main" id="{BB8AC411-BBD4-2991-5D1C-ABA7E1AAE84A}"/>
                </a:ext>
              </a:extLst>
            </p:cNvPr>
            <p:cNvSpPr>
              <a:spLocks noChangeArrowheads="1"/>
            </p:cNvSpPr>
            <p:nvPr/>
          </p:nvSpPr>
          <p:spPr bwMode="auto">
            <a:xfrm>
              <a:off x="1855" y="3181"/>
              <a:ext cx="250" cy="210"/>
            </a:xfrm>
            <a:prstGeom prst="rect">
              <a:avLst/>
            </a:prstGeom>
            <a:solidFill>
              <a:srgbClr val="FFFFFF"/>
            </a:solidFill>
            <a:ln w="25400">
              <a:solidFill>
                <a:srgbClr val="000000"/>
              </a:solidFill>
              <a:miter lim="800000"/>
              <a:headEnd/>
              <a:tailEnd/>
            </a:ln>
            <a:effectLst/>
          </p:spPr>
          <p:txBody>
            <a:bodyPr wrap="none" anchor="ctr"/>
            <a:lstStyle/>
            <a:p>
              <a:pPr>
                <a:defRPr/>
              </a:pPr>
              <a:endParaRPr lang="en-US"/>
            </a:p>
          </p:txBody>
        </p:sp>
        <p:sp>
          <p:nvSpPr>
            <p:cNvPr id="34837" name="Rectangle 19">
              <a:extLst>
                <a:ext uri="{FF2B5EF4-FFF2-40B4-BE49-F238E27FC236}">
                  <a16:creationId xmlns:a16="http://schemas.microsoft.com/office/drawing/2014/main" id="{F3B29199-F2FA-D9A2-0CFB-96F44EAC19DF}"/>
                </a:ext>
              </a:extLst>
            </p:cNvPr>
            <p:cNvSpPr>
              <a:spLocks noChangeArrowheads="1"/>
            </p:cNvSpPr>
            <p:nvPr/>
          </p:nvSpPr>
          <p:spPr bwMode="auto">
            <a:xfrm>
              <a:off x="1861" y="3177"/>
              <a:ext cx="22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solidFill>
                    <a:srgbClr val="000000"/>
                  </a:solidFill>
                  <a:effectLst/>
                  <a:latin typeface="Geneva" charset="0"/>
                </a:rPr>
                <a:t>M</a:t>
              </a:r>
            </a:p>
          </p:txBody>
        </p:sp>
        <p:sp>
          <p:nvSpPr>
            <p:cNvPr id="105492" name="Line 20">
              <a:extLst>
                <a:ext uri="{FF2B5EF4-FFF2-40B4-BE49-F238E27FC236}">
                  <a16:creationId xmlns:a16="http://schemas.microsoft.com/office/drawing/2014/main" id="{AB470813-E254-AEFD-7F56-C7302CD73817}"/>
                </a:ext>
              </a:extLst>
            </p:cNvPr>
            <p:cNvSpPr>
              <a:spLocks noChangeShapeType="1"/>
            </p:cNvSpPr>
            <p:nvPr/>
          </p:nvSpPr>
          <p:spPr bwMode="auto">
            <a:xfrm>
              <a:off x="801" y="2430"/>
              <a:ext cx="0" cy="149"/>
            </a:xfrm>
            <a:prstGeom prst="line">
              <a:avLst/>
            </a:prstGeom>
            <a:noFill/>
            <a:ln w="25400">
              <a:solidFill>
                <a:srgbClr val="000000"/>
              </a:solidFill>
              <a:round/>
              <a:headEnd/>
              <a:tailEnd/>
            </a:ln>
            <a:effectLst/>
          </p:spPr>
          <p:txBody>
            <a:bodyPr/>
            <a:lstStyle/>
            <a:p>
              <a:pPr>
                <a:defRPr/>
              </a:pPr>
              <a:endParaRPr lang="en-US"/>
            </a:p>
          </p:txBody>
        </p:sp>
        <p:sp>
          <p:nvSpPr>
            <p:cNvPr id="105493" name="Line 21">
              <a:extLst>
                <a:ext uri="{FF2B5EF4-FFF2-40B4-BE49-F238E27FC236}">
                  <a16:creationId xmlns:a16="http://schemas.microsoft.com/office/drawing/2014/main" id="{5AE8D78C-BC27-95B8-9FE0-F98CD48167D6}"/>
                </a:ext>
              </a:extLst>
            </p:cNvPr>
            <p:cNvSpPr>
              <a:spLocks noChangeShapeType="1"/>
            </p:cNvSpPr>
            <p:nvPr/>
          </p:nvSpPr>
          <p:spPr bwMode="auto">
            <a:xfrm>
              <a:off x="801" y="2873"/>
              <a:ext cx="0" cy="292"/>
            </a:xfrm>
            <a:prstGeom prst="line">
              <a:avLst/>
            </a:prstGeom>
            <a:noFill/>
            <a:ln w="25400">
              <a:solidFill>
                <a:srgbClr val="000000"/>
              </a:solidFill>
              <a:round/>
              <a:headEnd/>
              <a:tailEnd/>
            </a:ln>
            <a:effectLst/>
          </p:spPr>
          <p:txBody>
            <a:bodyPr/>
            <a:lstStyle/>
            <a:p>
              <a:pPr>
                <a:defRPr/>
              </a:pPr>
              <a:endParaRPr lang="en-US"/>
            </a:p>
          </p:txBody>
        </p:sp>
        <p:sp>
          <p:nvSpPr>
            <p:cNvPr id="105494" name="Line 22">
              <a:extLst>
                <a:ext uri="{FF2B5EF4-FFF2-40B4-BE49-F238E27FC236}">
                  <a16:creationId xmlns:a16="http://schemas.microsoft.com/office/drawing/2014/main" id="{00F9950C-1AEA-A082-2D12-94808BE471C9}"/>
                </a:ext>
              </a:extLst>
            </p:cNvPr>
            <p:cNvSpPr>
              <a:spLocks noChangeShapeType="1"/>
            </p:cNvSpPr>
            <p:nvPr/>
          </p:nvSpPr>
          <p:spPr bwMode="auto">
            <a:xfrm>
              <a:off x="1205" y="2417"/>
              <a:ext cx="0" cy="162"/>
            </a:xfrm>
            <a:prstGeom prst="line">
              <a:avLst/>
            </a:prstGeom>
            <a:noFill/>
            <a:ln w="25400">
              <a:solidFill>
                <a:srgbClr val="000000"/>
              </a:solidFill>
              <a:round/>
              <a:headEnd/>
              <a:tailEnd/>
            </a:ln>
            <a:effectLst/>
          </p:spPr>
          <p:txBody>
            <a:bodyPr/>
            <a:lstStyle/>
            <a:p>
              <a:pPr>
                <a:defRPr/>
              </a:pPr>
              <a:endParaRPr lang="en-US"/>
            </a:p>
          </p:txBody>
        </p:sp>
        <p:sp>
          <p:nvSpPr>
            <p:cNvPr id="105495" name="Line 23">
              <a:extLst>
                <a:ext uri="{FF2B5EF4-FFF2-40B4-BE49-F238E27FC236}">
                  <a16:creationId xmlns:a16="http://schemas.microsoft.com/office/drawing/2014/main" id="{AEE54527-32D3-5E5E-103C-224EB68EA0F7}"/>
                </a:ext>
              </a:extLst>
            </p:cNvPr>
            <p:cNvSpPr>
              <a:spLocks noChangeShapeType="1"/>
            </p:cNvSpPr>
            <p:nvPr/>
          </p:nvSpPr>
          <p:spPr bwMode="auto">
            <a:xfrm>
              <a:off x="1192" y="2873"/>
              <a:ext cx="0" cy="279"/>
            </a:xfrm>
            <a:prstGeom prst="line">
              <a:avLst/>
            </a:prstGeom>
            <a:noFill/>
            <a:ln w="25400">
              <a:solidFill>
                <a:srgbClr val="000000"/>
              </a:solidFill>
              <a:round/>
              <a:headEnd/>
              <a:tailEnd/>
            </a:ln>
            <a:effectLst/>
          </p:spPr>
          <p:txBody>
            <a:bodyPr/>
            <a:lstStyle/>
            <a:p>
              <a:pPr>
                <a:defRPr/>
              </a:pPr>
              <a:endParaRPr lang="en-US"/>
            </a:p>
          </p:txBody>
        </p:sp>
        <p:sp>
          <p:nvSpPr>
            <p:cNvPr id="105496" name="Line 24">
              <a:extLst>
                <a:ext uri="{FF2B5EF4-FFF2-40B4-BE49-F238E27FC236}">
                  <a16:creationId xmlns:a16="http://schemas.microsoft.com/office/drawing/2014/main" id="{B8DE4D88-1F6B-B1C5-56EE-A878C7629737}"/>
                </a:ext>
              </a:extLst>
            </p:cNvPr>
            <p:cNvSpPr>
              <a:spLocks noChangeShapeType="1"/>
            </p:cNvSpPr>
            <p:nvPr/>
          </p:nvSpPr>
          <p:spPr bwMode="auto">
            <a:xfrm>
              <a:off x="1973" y="2417"/>
              <a:ext cx="0" cy="149"/>
            </a:xfrm>
            <a:prstGeom prst="line">
              <a:avLst/>
            </a:prstGeom>
            <a:noFill/>
            <a:ln w="25400">
              <a:solidFill>
                <a:srgbClr val="000000"/>
              </a:solidFill>
              <a:round/>
              <a:headEnd/>
              <a:tailEnd/>
            </a:ln>
            <a:effectLst/>
          </p:spPr>
          <p:txBody>
            <a:bodyPr/>
            <a:lstStyle/>
            <a:p>
              <a:pPr>
                <a:defRPr/>
              </a:pPr>
              <a:endParaRPr lang="en-US"/>
            </a:p>
          </p:txBody>
        </p:sp>
        <p:sp>
          <p:nvSpPr>
            <p:cNvPr id="105497" name="Line 25">
              <a:extLst>
                <a:ext uri="{FF2B5EF4-FFF2-40B4-BE49-F238E27FC236}">
                  <a16:creationId xmlns:a16="http://schemas.microsoft.com/office/drawing/2014/main" id="{543A1074-3663-B663-C450-4E5E982A70B1}"/>
                </a:ext>
              </a:extLst>
            </p:cNvPr>
            <p:cNvSpPr>
              <a:spLocks noChangeShapeType="1"/>
            </p:cNvSpPr>
            <p:nvPr/>
          </p:nvSpPr>
          <p:spPr bwMode="auto">
            <a:xfrm>
              <a:off x="1986" y="2886"/>
              <a:ext cx="0" cy="292"/>
            </a:xfrm>
            <a:prstGeom prst="line">
              <a:avLst/>
            </a:prstGeom>
            <a:noFill/>
            <a:ln w="25400">
              <a:solidFill>
                <a:srgbClr val="000000"/>
              </a:solidFill>
              <a:round/>
              <a:headEnd/>
              <a:tailEnd/>
            </a:ln>
            <a:effectLst/>
          </p:spPr>
          <p:txBody>
            <a:bodyPr/>
            <a:lstStyle/>
            <a:p>
              <a:pPr>
                <a:defRPr/>
              </a:pPr>
              <a:endParaRPr lang="en-US"/>
            </a:p>
          </p:txBody>
        </p:sp>
        <p:sp>
          <p:nvSpPr>
            <p:cNvPr id="105498" name="Line 26">
              <a:extLst>
                <a:ext uri="{FF2B5EF4-FFF2-40B4-BE49-F238E27FC236}">
                  <a16:creationId xmlns:a16="http://schemas.microsoft.com/office/drawing/2014/main" id="{2753941F-566F-EFFF-BC6E-8D2D1A5496FC}"/>
                </a:ext>
              </a:extLst>
            </p:cNvPr>
            <p:cNvSpPr>
              <a:spLocks noChangeShapeType="1"/>
            </p:cNvSpPr>
            <p:nvPr/>
          </p:nvSpPr>
          <p:spPr bwMode="auto">
            <a:xfrm>
              <a:off x="1379" y="2282"/>
              <a:ext cx="44" cy="0"/>
            </a:xfrm>
            <a:prstGeom prst="line">
              <a:avLst/>
            </a:prstGeom>
            <a:noFill/>
            <a:ln w="25400">
              <a:solidFill>
                <a:srgbClr val="000000"/>
              </a:solidFill>
              <a:round/>
              <a:headEnd/>
              <a:tailEnd/>
            </a:ln>
            <a:effectLst/>
          </p:spPr>
          <p:txBody>
            <a:bodyPr/>
            <a:lstStyle/>
            <a:p>
              <a:pPr>
                <a:defRPr/>
              </a:pPr>
              <a:endParaRPr lang="en-US"/>
            </a:p>
          </p:txBody>
        </p:sp>
        <p:sp>
          <p:nvSpPr>
            <p:cNvPr id="105499" name="Line 27">
              <a:extLst>
                <a:ext uri="{FF2B5EF4-FFF2-40B4-BE49-F238E27FC236}">
                  <a16:creationId xmlns:a16="http://schemas.microsoft.com/office/drawing/2014/main" id="{D5631AF2-11C3-94D8-DE71-57B13CB093FC}"/>
                </a:ext>
              </a:extLst>
            </p:cNvPr>
            <p:cNvSpPr>
              <a:spLocks noChangeShapeType="1"/>
            </p:cNvSpPr>
            <p:nvPr/>
          </p:nvSpPr>
          <p:spPr bwMode="auto">
            <a:xfrm>
              <a:off x="1457" y="2282"/>
              <a:ext cx="44" cy="0"/>
            </a:xfrm>
            <a:prstGeom prst="line">
              <a:avLst/>
            </a:prstGeom>
            <a:noFill/>
            <a:ln w="25400">
              <a:solidFill>
                <a:srgbClr val="000000"/>
              </a:solidFill>
              <a:round/>
              <a:headEnd/>
              <a:tailEnd/>
            </a:ln>
            <a:effectLst/>
          </p:spPr>
          <p:txBody>
            <a:bodyPr/>
            <a:lstStyle/>
            <a:p>
              <a:pPr>
                <a:defRPr/>
              </a:pPr>
              <a:endParaRPr lang="en-US"/>
            </a:p>
          </p:txBody>
        </p:sp>
        <p:sp>
          <p:nvSpPr>
            <p:cNvPr id="105500" name="Line 28">
              <a:extLst>
                <a:ext uri="{FF2B5EF4-FFF2-40B4-BE49-F238E27FC236}">
                  <a16:creationId xmlns:a16="http://schemas.microsoft.com/office/drawing/2014/main" id="{BBCC0391-CCD6-9BD2-7E21-761F7DF533BE}"/>
                </a:ext>
              </a:extLst>
            </p:cNvPr>
            <p:cNvSpPr>
              <a:spLocks noChangeShapeType="1"/>
            </p:cNvSpPr>
            <p:nvPr/>
          </p:nvSpPr>
          <p:spPr bwMode="auto">
            <a:xfrm>
              <a:off x="1535" y="2282"/>
              <a:ext cx="44" cy="0"/>
            </a:xfrm>
            <a:prstGeom prst="line">
              <a:avLst/>
            </a:prstGeom>
            <a:noFill/>
            <a:ln w="25400">
              <a:solidFill>
                <a:srgbClr val="000000"/>
              </a:solidFill>
              <a:round/>
              <a:headEnd/>
              <a:tailEnd/>
            </a:ln>
            <a:effectLst/>
          </p:spPr>
          <p:txBody>
            <a:bodyPr/>
            <a:lstStyle/>
            <a:p>
              <a:pPr>
                <a:defRPr/>
              </a:pPr>
              <a:endParaRPr lang="en-US"/>
            </a:p>
          </p:txBody>
        </p:sp>
        <p:sp>
          <p:nvSpPr>
            <p:cNvPr id="105501" name="Line 29">
              <a:extLst>
                <a:ext uri="{FF2B5EF4-FFF2-40B4-BE49-F238E27FC236}">
                  <a16:creationId xmlns:a16="http://schemas.microsoft.com/office/drawing/2014/main" id="{E42B0DE7-C2FB-B155-7EFA-CC57BE6EBC07}"/>
                </a:ext>
              </a:extLst>
            </p:cNvPr>
            <p:cNvSpPr>
              <a:spLocks noChangeShapeType="1"/>
            </p:cNvSpPr>
            <p:nvPr/>
          </p:nvSpPr>
          <p:spPr bwMode="auto">
            <a:xfrm>
              <a:off x="1613" y="2282"/>
              <a:ext cx="44" cy="0"/>
            </a:xfrm>
            <a:prstGeom prst="line">
              <a:avLst/>
            </a:prstGeom>
            <a:noFill/>
            <a:ln w="25400">
              <a:solidFill>
                <a:srgbClr val="000000"/>
              </a:solidFill>
              <a:round/>
              <a:headEnd/>
              <a:tailEnd/>
            </a:ln>
            <a:effectLst/>
          </p:spPr>
          <p:txBody>
            <a:bodyPr/>
            <a:lstStyle/>
            <a:p>
              <a:pPr>
                <a:defRPr/>
              </a:pPr>
              <a:endParaRPr lang="en-US"/>
            </a:p>
          </p:txBody>
        </p:sp>
        <p:sp>
          <p:nvSpPr>
            <p:cNvPr id="105502" name="Line 30">
              <a:extLst>
                <a:ext uri="{FF2B5EF4-FFF2-40B4-BE49-F238E27FC236}">
                  <a16:creationId xmlns:a16="http://schemas.microsoft.com/office/drawing/2014/main" id="{EA70DB08-25FF-A3D9-1FEC-8DBC67555309}"/>
                </a:ext>
              </a:extLst>
            </p:cNvPr>
            <p:cNvSpPr>
              <a:spLocks noChangeShapeType="1"/>
            </p:cNvSpPr>
            <p:nvPr/>
          </p:nvSpPr>
          <p:spPr bwMode="auto">
            <a:xfrm>
              <a:off x="1691" y="2282"/>
              <a:ext cx="44" cy="0"/>
            </a:xfrm>
            <a:prstGeom prst="line">
              <a:avLst/>
            </a:prstGeom>
            <a:noFill/>
            <a:ln w="25400">
              <a:solidFill>
                <a:srgbClr val="000000"/>
              </a:solidFill>
              <a:round/>
              <a:headEnd/>
              <a:tailEnd/>
            </a:ln>
            <a:effectLst/>
          </p:spPr>
          <p:txBody>
            <a:bodyPr/>
            <a:lstStyle/>
            <a:p>
              <a:pPr>
                <a:defRPr/>
              </a:pPr>
              <a:endParaRPr lang="en-US"/>
            </a:p>
          </p:txBody>
        </p:sp>
        <p:sp>
          <p:nvSpPr>
            <p:cNvPr id="105503" name="Line 31">
              <a:extLst>
                <a:ext uri="{FF2B5EF4-FFF2-40B4-BE49-F238E27FC236}">
                  <a16:creationId xmlns:a16="http://schemas.microsoft.com/office/drawing/2014/main" id="{60FD6166-020D-7030-810E-6FABE051E47B}"/>
                </a:ext>
              </a:extLst>
            </p:cNvPr>
            <p:cNvSpPr>
              <a:spLocks noChangeShapeType="1"/>
            </p:cNvSpPr>
            <p:nvPr/>
          </p:nvSpPr>
          <p:spPr bwMode="auto">
            <a:xfrm>
              <a:off x="1340" y="3285"/>
              <a:ext cx="44" cy="0"/>
            </a:xfrm>
            <a:prstGeom prst="line">
              <a:avLst/>
            </a:prstGeom>
            <a:noFill/>
            <a:ln w="25400">
              <a:solidFill>
                <a:srgbClr val="000000"/>
              </a:solidFill>
              <a:round/>
              <a:headEnd/>
              <a:tailEnd/>
            </a:ln>
            <a:effectLst/>
          </p:spPr>
          <p:txBody>
            <a:bodyPr/>
            <a:lstStyle/>
            <a:p>
              <a:pPr>
                <a:defRPr/>
              </a:pPr>
              <a:endParaRPr lang="en-US"/>
            </a:p>
          </p:txBody>
        </p:sp>
        <p:sp>
          <p:nvSpPr>
            <p:cNvPr id="105504" name="Line 32">
              <a:extLst>
                <a:ext uri="{FF2B5EF4-FFF2-40B4-BE49-F238E27FC236}">
                  <a16:creationId xmlns:a16="http://schemas.microsoft.com/office/drawing/2014/main" id="{99A772F5-8D4D-741F-7D7C-2DF73E018BCF}"/>
                </a:ext>
              </a:extLst>
            </p:cNvPr>
            <p:cNvSpPr>
              <a:spLocks noChangeShapeType="1"/>
            </p:cNvSpPr>
            <p:nvPr/>
          </p:nvSpPr>
          <p:spPr bwMode="auto">
            <a:xfrm>
              <a:off x="1418" y="3285"/>
              <a:ext cx="44" cy="0"/>
            </a:xfrm>
            <a:prstGeom prst="line">
              <a:avLst/>
            </a:prstGeom>
            <a:noFill/>
            <a:ln w="25400">
              <a:solidFill>
                <a:srgbClr val="000000"/>
              </a:solidFill>
              <a:round/>
              <a:headEnd/>
              <a:tailEnd/>
            </a:ln>
            <a:effectLst/>
          </p:spPr>
          <p:txBody>
            <a:bodyPr/>
            <a:lstStyle/>
            <a:p>
              <a:pPr>
                <a:defRPr/>
              </a:pPr>
              <a:endParaRPr lang="en-US"/>
            </a:p>
          </p:txBody>
        </p:sp>
        <p:sp>
          <p:nvSpPr>
            <p:cNvPr id="105505" name="Line 33">
              <a:extLst>
                <a:ext uri="{FF2B5EF4-FFF2-40B4-BE49-F238E27FC236}">
                  <a16:creationId xmlns:a16="http://schemas.microsoft.com/office/drawing/2014/main" id="{2CEF8D02-BB46-9E6C-2B6D-97B3C06DEA75}"/>
                </a:ext>
              </a:extLst>
            </p:cNvPr>
            <p:cNvSpPr>
              <a:spLocks noChangeShapeType="1"/>
            </p:cNvSpPr>
            <p:nvPr/>
          </p:nvSpPr>
          <p:spPr bwMode="auto">
            <a:xfrm>
              <a:off x="1496" y="3285"/>
              <a:ext cx="44" cy="0"/>
            </a:xfrm>
            <a:prstGeom prst="line">
              <a:avLst/>
            </a:prstGeom>
            <a:noFill/>
            <a:ln w="25400">
              <a:solidFill>
                <a:srgbClr val="000000"/>
              </a:solidFill>
              <a:round/>
              <a:headEnd/>
              <a:tailEnd/>
            </a:ln>
            <a:effectLst/>
          </p:spPr>
          <p:txBody>
            <a:bodyPr/>
            <a:lstStyle/>
            <a:p>
              <a:pPr>
                <a:defRPr/>
              </a:pPr>
              <a:endParaRPr lang="en-US"/>
            </a:p>
          </p:txBody>
        </p:sp>
        <p:sp>
          <p:nvSpPr>
            <p:cNvPr id="105506" name="Line 34">
              <a:extLst>
                <a:ext uri="{FF2B5EF4-FFF2-40B4-BE49-F238E27FC236}">
                  <a16:creationId xmlns:a16="http://schemas.microsoft.com/office/drawing/2014/main" id="{74EE320E-7FFA-C0F1-49DA-F7EF2EFC59AF}"/>
                </a:ext>
              </a:extLst>
            </p:cNvPr>
            <p:cNvSpPr>
              <a:spLocks noChangeShapeType="1"/>
            </p:cNvSpPr>
            <p:nvPr/>
          </p:nvSpPr>
          <p:spPr bwMode="auto">
            <a:xfrm>
              <a:off x="1574" y="3285"/>
              <a:ext cx="44" cy="0"/>
            </a:xfrm>
            <a:prstGeom prst="line">
              <a:avLst/>
            </a:prstGeom>
            <a:noFill/>
            <a:ln w="25400">
              <a:solidFill>
                <a:srgbClr val="000000"/>
              </a:solidFill>
              <a:round/>
              <a:headEnd/>
              <a:tailEnd/>
            </a:ln>
            <a:effectLst/>
          </p:spPr>
          <p:txBody>
            <a:bodyPr/>
            <a:lstStyle/>
            <a:p>
              <a:pPr>
                <a:defRPr/>
              </a:pPr>
              <a:endParaRPr lang="en-US"/>
            </a:p>
          </p:txBody>
        </p:sp>
        <p:sp>
          <p:nvSpPr>
            <p:cNvPr id="105507" name="Line 35">
              <a:extLst>
                <a:ext uri="{FF2B5EF4-FFF2-40B4-BE49-F238E27FC236}">
                  <a16:creationId xmlns:a16="http://schemas.microsoft.com/office/drawing/2014/main" id="{4C3BB9EC-FAC7-8C71-5AA8-38E73AAB94E1}"/>
                </a:ext>
              </a:extLst>
            </p:cNvPr>
            <p:cNvSpPr>
              <a:spLocks noChangeShapeType="1"/>
            </p:cNvSpPr>
            <p:nvPr/>
          </p:nvSpPr>
          <p:spPr bwMode="auto">
            <a:xfrm>
              <a:off x="1652" y="3285"/>
              <a:ext cx="44" cy="0"/>
            </a:xfrm>
            <a:prstGeom prst="line">
              <a:avLst/>
            </a:prstGeom>
            <a:noFill/>
            <a:ln w="25400">
              <a:solidFill>
                <a:srgbClr val="000000"/>
              </a:solidFill>
              <a:round/>
              <a:headEnd/>
              <a:tailEnd/>
            </a:ln>
            <a:effectLst/>
          </p:spPr>
          <p:txBody>
            <a:bodyPr/>
            <a:lstStyle/>
            <a:p>
              <a:pPr>
                <a:defRPr/>
              </a:pPr>
              <a:endParaRPr lang="en-US"/>
            </a:p>
          </p:txBody>
        </p:sp>
        <p:sp>
          <p:nvSpPr>
            <p:cNvPr id="105508" name="Line 36">
              <a:extLst>
                <a:ext uri="{FF2B5EF4-FFF2-40B4-BE49-F238E27FC236}">
                  <a16:creationId xmlns:a16="http://schemas.microsoft.com/office/drawing/2014/main" id="{4FF32296-8EA6-7408-D2C7-69AD03E251A3}"/>
                </a:ext>
              </a:extLst>
            </p:cNvPr>
            <p:cNvSpPr>
              <a:spLocks noChangeShapeType="1"/>
            </p:cNvSpPr>
            <p:nvPr/>
          </p:nvSpPr>
          <p:spPr bwMode="auto">
            <a:xfrm>
              <a:off x="1730" y="3285"/>
              <a:ext cx="44" cy="0"/>
            </a:xfrm>
            <a:prstGeom prst="line">
              <a:avLst/>
            </a:prstGeom>
            <a:noFill/>
            <a:ln w="25400">
              <a:solidFill>
                <a:srgbClr val="000000"/>
              </a:solidFill>
              <a:round/>
              <a:headEnd/>
              <a:tailEnd/>
            </a:ln>
            <a:effectLst/>
          </p:spPr>
          <p:txBody>
            <a:bodyPr/>
            <a:lstStyle/>
            <a:p>
              <a:pPr>
                <a:defRPr/>
              </a:pPr>
              <a:endParaRPr lang="en-US"/>
            </a:p>
          </p:txBody>
        </p:sp>
        <p:sp>
          <p:nvSpPr>
            <p:cNvPr id="105509" name="Rectangle 37">
              <a:extLst>
                <a:ext uri="{FF2B5EF4-FFF2-40B4-BE49-F238E27FC236}">
                  <a16:creationId xmlns:a16="http://schemas.microsoft.com/office/drawing/2014/main" id="{CB572A2F-74D5-7DA7-6539-BB563F84290B}"/>
                </a:ext>
              </a:extLst>
            </p:cNvPr>
            <p:cNvSpPr>
              <a:spLocks noChangeArrowheads="1"/>
            </p:cNvSpPr>
            <p:nvPr/>
          </p:nvSpPr>
          <p:spPr bwMode="auto">
            <a:xfrm>
              <a:off x="3053" y="2790"/>
              <a:ext cx="1434" cy="289"/>
            </a:xfrm>
            <a:prstGeom prst="rect">
              <a:avLst/>
            </a:prstGeom>
            <a:solidFill>
              <a:srgbClr val="FFFFFF"/>
            </a:solidFill>
            <a:ln w="25400">
              <a:solidFill>
                <a:srgbClr val="000000"/>
              </a:solidFill>
              <a:miter lim="800000"/>
              <a:headEnd/>
              <a:tailEnd/>
            </a:ln>
            <a:effectLst/>
          </p:spPr>
          <p:txBody>
            <a:bodyPr wrap="none" anchor="ctr"/>
            <a:lstStyle/>
            <a:p>
              <a:pPr>
                <a:defRPr/>
              </a:pPr>
              <a:endParaRPr lang="en-US"/>
            </a:p>
          </p:txBody>
        </p:sp>
        <p:sp>
          <p:nvSpPr>
            <p:cNvPr id="34856" name="Rectangle 38">
              <a:extLst>
                <a:ext uri="{FF2B5EF4-FFF2-40B4-BE49-F238E27FC236}">
                  <a16:creationId xmlns:a16="http://schemas.microsoft.com/office/drawing/2014/main" id="{603F0CF4-C988-C459-91FD-B70813F898F4}"/>
                </a:ext>
              </a:extLst>
            </p:cNvPr>
            <p:cNvSpPr>
              <a:spLocks noChangeArrowheads="1"/>
            </p:cNvSpPr>
            <p:nvPr/>
          </p:nvSpPr>
          <p:spPr bwMode="auto">
            <a:xfrm>
              <a:off x="3188" y="2838"/>
              <a:ext cx="1090"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sr-Latn-CS" altLang="en-US">
                  <a:solidFill>
                    <a:srgbClr val="000000"/>
                  </a:solidFill>
                  <a:effectLst/>
                </a:rPr>
                <a:t>Sprežna mreža</a:t>
              </a:r>
              <a:endParaRPr lang="en-US" altLang="en-US">
                <a:solidFill>
                  <a:srgbClr val="000000"/>
                </a:solidFill>
                <a:effectLst/>
              </a:endParaRPr>
            </a:p>
            <a:p>
              <a:endParaRPr lang="en-US" altLang="en-US" sz="1600">
                <a:solidFill>
                  <a:srgbClr val="000000"/>
                </a:solidFill>
                <a:effectLst/>
                <a:latin typeface="Geneva" charset="0"/>
              </a:endParaRPr>
            </a:p>
          </p:txBody>
        </p:sp>
        <p:sp>
          <p:nvSpPr>
            <p:cNvPr id="105511" name="Oval 39">
              <a:extLst>
                <a:ext uri="{FF2B5EF4-FFF2-40B4-BE49-F238E27FC236}">
                  <a16:creationId xmlns:a16="http://schemas.microsoft.com/office/drawing/2014/main" id="{FF909CA5-9B2A-F565-1A32-01497C71B669}"/>
                </a:ext>
              </a:extLst>
            </p:cNvPr>
            <p:cNvSpPr>
              <a:spLocks noChangeArrowheads="1"/>
            </p:cNvSpPr>
            <p:nvPr/>
          </p:nvSpPr>
          <p:spPr bwMode="auto">
            <a:xfrm>
              <a:off x="3040" y="2386"/>
              <a:ext cx="249" cy="250"/>
            </a:xfrm>
            <a:prstGeom prst="ellipse">
              <a:avLst/>
            </a:prstGeom>
            <a:solidFill>
              <a:srgbClr val="FFFFFF"/>
            </a:solidFill>
            <a:ln w="25400">
              <a:solidFill>
                <a:srgbClr val="000000"/>
              </a:solidFill>
              <a:round/>
              <a:headEnd/>
              <a:tailEnd/>
            </a:ln>
            <a:effectLst/>
          </p:spPr>
          <p:txBody>
            <a:bodyPr wrap="none" anchor="ctr"/>
            <a:lstStyle/>
            <a:p>
              <a:pPr>
                <a:defRPr/>
              </a:pPr>
              <a:endParaRPr lang="en-US"/>
            </a:p>
          </p:txBody>
        </p:sp>
        <p:sp>
          <p:nvSpPr>
            <p:cNvPr id="34858" name="Rectangle 40">
              <a:extLst>
                <a:ext uri="{FF2B5EF4-FFF2-40B4-BE49-F238E27FC236}">
                  <a16:creationId xmlns:a16="http://schemas.microsoft.com/office/drawing/2014/main" id="{F56F3E8A-A83C-8EEA-D909-B0B7BA9F994C}"/>
                </a:ext>
              </a:extLst>
            </p:cNvPr>
            <p:cNvSpPr>
              <a:spLocks noChangeArrowheads="1"/>
            </p:cNvSpPr>
            <p:nvPr/>
          </p:nvSpPr>
          <p:spPr bwMode="auto">
            <a:xfrm>
              <a:off x="3071" y="2409"/>
              <a:ext cx="1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solidFill>
                    <a:srgbClr val="000000"/>
                  </a:solidFill>
                  <a:effectLst/>
                  <a:latin typeface="Geneva" charset="0"/>
                </a:rPr>
                <a:t>P</a:t>
              </a:r>
            </a:p>
          </p:txBody>
        </p:sp>
        <p:sp>
          <p:nvSpPr>
            <p:cNvPr id="105513" name="Rectangle 41">
              <a:extLst>
                <a:ext uri="{FF2B5EF4-FFF2-40B4-BE49-F238E27FC236}">
                  <a16:creationId xmlns:a16="http://schemas.microsoft.com/office/drawing/2014/main" id="{8756BF85-9470-934F-EEFF-3CA56EAD4707}"/>
                </a:ext>
              </a:extLst>
            </p:cNvPr>
            <p:cNvSpPr>
              <a:spLocks noChangeArrowheads="1"/>
            </p:cNvSpPr>
            <p:nvPr/>
          </p:nvSpPr>
          <p:spPr bwMode="auto">
            <a:xfrm>
              <a:off x="4446" y="2386"/>
              <a:ext cx="249" cy="211"/>
            </a:xfrm>
            <a:prstGeom prst="rect">
              <a:avLst/>
            </a:prstGeom>
            <a:solidFill>
              <a:srgbClr val="FFFFFF"/>
            </a:solidFill>
            <a:ln w="25400">
              <a:solidFill>
                <a:srgbClr val="000000"/>
              </a:solidFill>
              <a:miter lim="800000"/>
              <a:headEnd/>
              <a:tailEnd/>
            </a:ln>
            <a:effectLst/>
          </p:spPr>
          <p:txBody>
            <a:bodyPr wrap="none" anchor="ctr"/>
            <a:lstStyle/>
            <a:p>
              <a:pPr>
                <a:defRPr/>
              </a:pPr>
              <a:endParaRPr lang="en-US"/>
            </a:p>
          </p:txBody>
        </p:sp>
        <p:sp>
          <p:nvSpPr>
            <p:cNvPr id="34860" name="Rectangle 42">
              <a:extLst>
                <a:ext uri="{FF2B5EF4-FFF2-40B4-BE49-F238E27FC236}">
                  <a16:creationId xmlns:a16="http://schemas.microsoft.com/office/drawing/2014/main" id="{07C0C6D4-11F5-1005-8D5D-2921088181E5}"/>
                </a:ext>
              </a:extLst>
            </p:cNvPr>
            <p:cNvSpPr>
              <a:spLocks noChangeArrowheads="1"/>
            </p:cNvSpPr>
            <p:nvPr/>
          </p:nvSpPr>
          <p:spPr bwMode="auto">
            <a:xfrm>
              <a:off x="4464" y="2383"/>
              <a:ext cx="22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solidFill>
                    <a:srgbClr val="000000"/>
                  </a:solidFill>
                  <a:effectLst/>
                  <a:latin typeface="Geneva" charset="0"/>
                </a:rPr>
                <a:t>M</a:t>
              </a:r>
            </a:p>
          </p:txBody>
        </p:sp>
        <p:sp>
          <p:nvSpPr>
            <p:cNvPr id="105515" name="Rectangle 43">
              <a:extLst>
                <a:ext uri="{FF2B5EF4-FFF2-40B4-BE49-F238E27FC236}">
                  <a16:creationId xmlns:a16="http://schemas.microsoft.com/office/drawing/2014/main" id="{8A60388E-4763-8575-1FE1-65774BD6EC12}"/>
                </a:ext>
              </a:extLst>
            </p:cNvPr>
            <p:cNvSpPr>
              <a:spLocks noChangeArrowheads="1"/>
            </p:cNvSpPr>
            <p:nvPr/>
          </p:nvSpPr>
          <p:spPr bwMode="auto">
            <a:xfrm>
              <a:off x="3456" y="2399"/>
              <a:ext cx="250" cy="211"/>
            </a:xfrm>
            <a:prstGeom prst="rect">
              <a:avLst/>
            </a:prstGeom>
            <a:solidFill>
              <a:srgbClr val="FFFFFF"/>
            </a:solidFill>
            <a:ln w="25400">
              <a:solidFill>
                <a:srgbClr val="000000"/>
              </a:solidFill>
              <a:miter lim="800000"/>
              <a:headEnd/>
              <a:tailEnd/>
            </a:ln>
            <a:effectLst/>
          </p:spPr>
          <p:txBody>
            <a:bodyPr wrap="none" anchor="ctr"/>
            <a:lstStyle/>
            <a:p>
              <a:pPr>
                <a:defRPr/>
              </a:pPr>
              <a:endParaRPr lang="en-US"/>
            </a:p>
          </p:txBody>
        </p:sp>
        <p:sp>
          <p:nvSpPr>
            <p:cNvPr id="34862" name="Rectangle 44">
              <a:extLst>
                <a:ext uri="{FF2B5EF4-FFF2-40B4-BE49-F238E27FC236}">
                  <a16:creationId xmlns:a16="http://schemas.microsoft.com/office/drawing/2014/main" id="{72E86DC2-94FE-136D-7EB5-70F93032F96F}"/>
                </a:ext>
              </a:extLst>
            </p:cNvPr>
            <p:cNvSpPr>
              <a:spLocks noChangeArrowheads="1"/>
            </p:cNvSpPr>
            <p:nvPr/>
          </p:nvSpPr>
          <p:spPr bwMode="auto">
            <a:xfrm>
              <a:off x="3475" y="2396"/>
              <a:ext cx="22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solidFill>
                    <a:srgbClr val="000000"/>
                  </a:solidFill>
                  <a:effectLst/>
                  <a:latin typeface="Geneva" charset="0"/>
                </a:rPr>
                <a:t>M</a:t>
              </a:r>
            </a:p>
          </p:txBody>
        </p:sp>
        <p:sp>
          <p:nvSpPr>
            <p:cNvPr id="105517" name="Oval 45">
              <a:extLst>
                <a:ext uri="{FF2B5EF4-FFF2-40B4-BE49-F238E27FC236}">
                  <a16:creationId xmlns:a16="http://schemas.microsoft.com/office/drawing/2014/main" id="{09196BC5-B3BF-2D7D-EFEA-01524F8D587D}"/>
                </a:ext>
              </a:extLst>
            </p:cNvPr>
            <p:cNvSpPr>
              <a:spLocks noChangeArrowheads="1"/>
            </p:cNvSpPr>
            <p:nvPr/>
          </p:nvSpPr>
          <p:spPr bwMode="auto">
            <a:xfrm>
              <a:off x="4016" y="2386"/>
              <a:ext cx="249" cy="250"/>
            </a:xfrm>
            <a:prstGeom prst="ellipse">
              <a:avLst/>
            </a:prstGeom>
            <a:solidFill>
              <a:srgbClr val="FFFFFF"/>
            </a:solidFill>
            <a:ln w="25400">
              <a:solidFill>
                <a:srgbClr val="000000"/>
              </a:solidFill>
              <a:round/>
              <a:headEnd/>
              <a:tailEnd/>
            </a:ln>
            <a:effectLst/>
          </p:spPr>
          <p:txBody>
            <a:bodyPr wrap="none" anchor="ctr"/>
            <a:lstStyle/>
            <a:p>
              <a:pPr>
                <a:defRPr/>
              </a:pPr>
              <a:endParaRPr lang="en-US"/>
            </a:p>
          </p:txBody>
        </p:sp>
        <p:sp>
          <p:nvSpPr>
            <p:cNvPr id="34864" name="Rectangle 46">
              <a:extLst>
                <a:ext uri="{FF2B5EF4-FFF2-40B4-BE49-F238E27FC236}">
                  <a16:creationId xmlns:a16="http://schemas.microsoft.com/office/drawing/2014/main" id="{183BBB22-9630-7930-E188-69A4A2168F1E}"/>
                </a:ext>
              </a:extLst>
            </p:cNvPr>
            <p:cNvSpPr>
              <a:spLocks noChangeArrowheads="1"/>
            </p:cNvSpPr>
            <p:nvPr/>
          </p:nvSpPr>
          <p:spPr bwMode="auto">
            <a:xfrm>
              <a:off x="4047" y="2409"/>
              <a:ext cx="19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solidFill>
                    <a:srgbClr val="000000"/>
                  </a:solidFill>
                  <a:effectLst/>
                  <a:latin typeface="Geneva" charset="0"/>
                </a:rPr>
                <a:t>P</a:t>
              </a:r>
            </a:p>
          </p:txBody>
        </p:sp>
        <p:sp>
          <p:nvSpPr>
            <p:cNvPr id="105519" name="Line 47">
              <a:extLst>
                <a:ext uri="{FF2B5EF4-FFF2-40B4-BE49-F238E27FC236}">
                  <a16:creationId xmlns:a16="http://schemas.microsoft.com/office/drawing/2014/main" id="{4FD56D44-40C1-A2ED-3C35-5D49DD907020}"/>
                </a:ext>
              </a:extLst>
            </p:cNvPr>
            <p:cNvSpPr>
              <a:spLocks noChangeShapeType="1"/>
            </p:cNvSpPr>
            <p:nvPr/>
          </p:nvSpPr>
          <p:spPr bwMode="auto">
            <a:xfrm>
              <a:off x="3305" y="2517"/>
              <a:ext cx="135" cy="0"/>
            </a:xfrm>
            <a:prstGeom prst="line">
              <a:avLst/>
            </a:prstGeom>
            <a:noFill/>
            <a:ln w="25400">
              <a:solidFill>
                <a:srgbClr val="000000"/>
              </a:solidFill>
              <a:round/>
              <a:headEnd/>
              <a:tailEnd/>
            </a:ln>
            <a:effectLst/>
          </p:spPr>
          <p:txBody>
            <a:bodyPr/>
            <a:lstStyle/>
            <a:p>
              <a:pPr>
                <a:defRPr/>
              </a:pPr>
              <a:endParaRPr lang="en-US"/>
            </a:p>
          </p:txBody>
        </p:sp>
        <p:sp>
          <p:nvSpPr>
            <p:cNvPr id="105520" name="Line 48">
              <a:extLst>
                <a:ext uri="{FF2B5EF4-FFF2-40B4-BE49-F238E27FC236}">
                  <a16:creationId xmlns:a16="http://schemas.microsoft.com/office/drawing/2014/main" id="{E4BD42A6-8FE8-F6AE-DCD8-AECC5B909613}"/>
                </a:ext>
              </a:extLst>
            </p:cNvPr>
            <p:cNvSpPr>
              <a:spLocks noChangeShapeType="1"/>
            </p:cNvSpPr>
            <p:nvPr/>
          </p:nvSpPr>
          <p:spPr bwMode="auto">
            <a:xfrm>
              <a:off x="4268" y="2491"/>
              <a:ext cx="149" cy="0"/>
            </a:xfrm>
            <a:prstGeom prst="line">
              <a:avLst/>
            </a:prstGeom>
            <a:noFill/>
            <a:ln w="25400">
              <a:solidFill>
                <a:srgbClr val="000000"/>
              </a:solidFill>
              <a:round/>
              <a:headEnd/>
              <a:tailEnd/>
            </a:ln>
            <a:effectLst/>
          </p:spPr>
          <p:txBody>
            <a:bodyPr/>
            <a:lstStyle/>
            <a:p>
              <a:pPr>
                <a:defRPr/>
              </a:pPr>
              <a:endParaRPr lang="en-US"/>
            </a:p>
          </p:txBody>
        </p:sp>
        <p:sp>
          <p:nvSpPr>
            <p:cNvPr id="105521" name="Line 49">
              <a:extLst>
                <a:ext uri="{FF2B5EF4-FFF2-40B4-BE49-F238E27FC236}">
                  <a16:creationId xmlns:a16="http://schemas.microsoft.com/office/drawing/2014/main" id="{FBB9078D-0103-943D-1E7B-D3A0F55BA077}"/>
                </a:ext>
              </a:extLst>
            </p:cNvPr>
            <p:cNvSpPr>
              <a:spLocks noChangeShapeType="1"/>
            </p:cNvSpPr>
            <p:nvPr/>
          </p:nvSpPr>
          <p:spPr bwMode="auto">
            <a:xfrm>
              <a:off x="3365" y="2509"/>
              <a:ext cx="0" cy="278"/>
            </a:xfrm>
            <a:prstGeom prst="line">
              <a:avLst/>
            </a:prstGeom>
            <a:noFill/>
            <a:ln w="25400">
              <a:solidFill>
                <a:srgbClr val="000000"/>
              </a:solidFill>
              <a:round/>
              <a:headEnd/>
              <a:tailEnd/>
            </a:ln>
            <a:effectLst/>
          </p:spPr>
          <p:txBody>
            <a:bodyPr/>
            <a:lstStyle/>
            <a:p>
              <a:pPr>
                <a:defRPr/>
              </a:pPr>
              <a:endParaRPr lang="en-US"/>
            </a:p>
          </p:txBody>
        </p:sp>
        <p:sp>
          <p:nvSpPr>
            <p:cNvPr id="105522" name="Line 50">
              <a:extLst>
                <a:ext uri="{FF2B5EF4-FFF2-40B4-BE49-F238E27FC236}">
                  <a16:creationId xmlns:a16="http://schemas.microsoft.com/office/drawing/2014/main" id="{EB05931B-64AA-151F-73EA-FF6E8C8A540F}"/>
                </a:ext>
              </a:extLst>
            </p:cNvPr>
            <p:cNvSpPr>
              <a:spLocks noChangeShapeType="1"/>
            </p:cNvSpPr>
            <p:nvPr/>
          </p:nvSpPr>
          <p:spPr bwMode="auto">
            <a:xfrm>
              <a:off x="4355" y="2483"/>
              <a:ext cx="0" cy="304"/>
            </a:xfrm>
            <a:prstGeom prst="line">
              <a:avLst/>
            </a:prstGeom>
            <a:noFill/>
            <a:ln w="25400">
              <a:solidFill>
                <a:srgbClr val="000000"/>
              </a:solidFill>
              <a:round/>
              <a:headEnd/>
              <a:tailEnd/>
            </a:ln>
            <a:effectLst/>
          </p:spPr>
          <p:txBody>
            <a:bodyPr/>
            <a:lstStyle/>
            <a:p>
              <a:pPr>
                <a:defRPr/>
              </a:pPr>
              <a:endParaRPr lang="en-US"/>
            </a:p>
          </p:txBody>
        </p:sp>
        <p:sp>
          <p:nvSpPr>
            <p:cNvPr id="105523" name="Line 51">
              <a:extLst>
                <a:ext uri="{FF2B5EF4-FFF2-40B4-BE49-F238E27FC236}">
                  <a16:creationId xmlns:a16="http://schemas.microsoft.com/office/drawing/2014/main" id="{68FF7EC4-AD34-45A2-27FA-F8B0075DD450}"/>
                </a:ext>
              </a:extLst>
            </p:cNvPr>
            <p:cNvSpPr>
              <a:spLocks noChangeShapeType="1"/>
            </p:cNvSpPr>
            <p:nvPr/>
          </p:nvSpPr>
          <p:spPr bwMode="auto">
            <a:xfrm>
              <a:off x="3748" y="2491"/>
              <a:ext cx="44" cy="0"/>
            </a:xfrm>
            <a:prstGeom prst="line">
              <a:avLst/>
            </a:prstGeom>
            <a:noFill/>
            <a:ln w="25400">
              <a:solidFill>
                <a:srgbClr val="000000"/>
              </a:solidFill>
              <a:round/>
              <a:headEnd/>
              <a:tailEnd/>
            </a:ln>
            <a:effectLst/>
          </p:spPr>
          <p:txBody>
            <a:bodyPr/>
            <a:lstStyle/>
            <a:p>
              <a:pPr>
                <a:defRPr/>
              </a:pPr>
              <a:endParaRPr lang="en-US"/>
            </a:p>
          </p:txBody>
        </p:sp>
        <p:sp>
          <p:nvSpPr>
            <p:cNvPr id="105524" name="Line 52">
              <a:extLst>
                <a:ext uri="{FF2B5EF4-FFF2-40B4-BE49-F238E27FC236}">
                  <a16:creationId xmlns:a16="http://schemas.microsoft.com/office/drawing/2014/main" id="{00E9183B-BB98-0BA6-0EE6-FB79845A6DAC}"/>
                </a:ext>
              </a:extLst>
            </p:cNvPr>
            <p:cNvSpPr>
              <a:spLocks noChangeShapeType="1"/>
            </p:cNvSpPr>
            <p:nvPr/>
          </p:nvSpPr>
          <p:spPr bwMode="auto">
            <a:xfrm>
              <a:off x="3826" y="2491"/>
              <a:ext cx="44" cy="0"/>
            </a:xfrm>
            <a:prstGeom prst="line">
              <a:avLst/>
            </a:prstGeom>
            <a:noFill/>
            <a:ln w="25400">
              <a:solidFill>
                <a:srgbClr val="000000"/>
              </a:solidFill>
              <a:round/>
              <a:headEnd/>
              <a:tailEnd/>
            </a:ln>
            <a:effectLst/>
          </p:spPr>
          <p:txBody>
            <a:bodyPr/>
            <a:lstStyle/>
            <a:p>
              <a:pPr>
                <a:defRPr/>
              </a:pPr>
              <a:endParaRPr lang="en-US"/>
            </a:p>
          </p:txBody>
        </p:sp>
        <p:sp>
          <p:nvSpPr>
            <p:cNvPr id="105525" name="Line 53">
              <a:extLst>
                <a:ext uri="{FF2B5EF4-FFF2-40B4-BE49-F238E27FC236}">
                  <a16:creationId xmlns:a16="http://schemas.microsoft.com/office/drawing/2014/main" id="{AC6762BD-1945-23D5-8BE6-12434F9B7E75}"/>
                </a:ext>
              </a:extLst>
            </p:cNvPr>
            <p:cNvSpPr>
              <a:spLocks noChangeShapeType="1"/>
            </p:cNvSpPr>
            <p:nvPr/>
          </p:nvSpPr>
          <p:spPr bwMode="auto">
            <a:xfrm>
              <a:off x="3904" y="2491"/>
              <a:ext cx="44" cy="0"/>
            </a:xfrm>
            <a:prstGeom prst="line">
              <a:avLst/>
            </a:prstGeom>
            <a:noFill/>
            <a:ln w="25400">
              <a:solidFill>
                <a:srgbClr val="000000"/>
              </a:solidFill>
              <a:round/>
              <a:headEnd/>
              <a:tailEnd/>
            </a:ln>
            <a:effectLst/>
          </p:spPr>
          <p:txBody>
            <a:bodyPr/>
            <a:lstStyle/>
            <a:p>
              <a:pPr>
                <a:defRPr/>
              </a:pPr>
              <a:endParaRPr lang="en-US"/>
            </a:p>
          </p:txBody>
        </p:sp>
      </p:grpSp>
      <p:sp>
        <p:nvSpPr>
          <p:cNvPr id="105528" name="Rectangle 56">
            <a:extLst>
              <a:ext uri="{FF2B5EF4-FFF2-40B4-BE49-F238E27FC236}">
                <a16:creationId xmlns:a16="http://schemas.microsoft.com/office/drawing/2014/main" id="{55267D2D-CE60-9487-D671-18574F618449}"/>
              </a:ext>
            </a:extLst>
          </p:cNvPr>
          <p:cNvSpPr>
            <a:spLocks noGrp="1" noChangeArrowheads="1"/>
          </p:cNvSpPr>
          <p:nvPr>
            <p:ph type="title"/>
          </p:nvPr>
        </p:nvSpPr>
        <p:spPr/>
        <p:txBody>
          <a:bodyPr/>
          <a:lstStyle/>
          <a:p>
            <a:pPr>
              <a:defRPr/>
            </a:pPr>
            <a:r>
              <a:rPr lang="sr-Latn-CS" altLang="en-US"/>
              <a:t>Arhitekture sa deljivom memorijom</a:t>
            </a:r>
            <a:endParaRPr lang="en-US" altLang="en-US"/>
          </a:p>
        </p:txBody>
      </p:sp>
      <p:sp>
        <p:nvSpPr>
          <p:cNvPr id="105529" name="Rectangle 57">
            <a:extLst>
              <a:ext uri="{FF2B5EF4-FFF2-40B4-BE49-F238E27FC236}">
                <a16:creationId xmlns:a16="http://schemas.microsoft.com/office/drawing/2014/main" id="{6C1E0556-962F-6FF4-421D-F7E327B4A711}"/>
              </a:ext>
            </a:extLst>
          </p:cNvPr>
          <p:cNvSpPr>
            <a:spLocks noGrp="1" noChangeArrowheads="1"/>
          </p:cNvSpPr>
          <p:nvPr>
            <p:ph type="body" idx="1"/>
          </p:nvPr>
        </p:nvSpPr>
        <p:spPr>
          <a:xfrm>
            <a:off x="0" y="708025"/>
            <a:ext cx="9144000" cy="2035175"/>
          </a:xfrm>
        </p:spPr>
        <p:txBody>
          <a:bodyPr/>
          <a:lstStyle/>
          <a:p>
            <a:pPr>
              <a:lnSpc>
                <a:spcPct val="90000"/>
              </a:lnSpc>
              <a:defRPr/>
            </a:pPr>
            <a:r>
              <a:rPr lang="sr-Latn-CS" altLang="en-US" sz="2400"/>
              <a:t>Ključna osobina: </a:t>
            </a:r>
          </a:p>
          <a:p>
            <a:pPr lvl="1">
              <a:lnSpc>
                <a:spcPct val="90000"/>
              </a:lnSpc>
              <a:defRPr/>
            </a:pPr>
            <a:r>
              <a:rPr lang="sr-Latn-CS" altLang="en-US" sz="2100"/>
              <a:t>svi procesori u sistemu mogu direktno pristupati svim memorijskim lokacijama</a:t>
            </a:r>
          </a:p>
          <a:p>
            <a:pPr lvl="1">
              <a:lnSpc>
                <a:spcPct val="90000"/>
              </a:lnSpc>
              <a:defRPr/>
            </a:pPr>
            <a:r>
              <a:rPr lang="sr-Latn-CS" altLang="en-US" sz="2100"/>
              <a:t>Jednostavan mehanizam interprocesorske komunikacije preko read/write operacija </a:t>
            </a:r>
            <a:endParaRPr lang="en-US" altLang="en-US" sz="2100"/>
          </a:p>
        </p:txBody>
      </p:sp>
      <p:sp>
        <p:nvSpPr>
          <p:cNvPr id="105531" name="Text Box 59">
            <a:extLst>
              <a:ext uri="{FF2B5EF4-FFF2-40B4-BE49-F238E27FC236}">
                <a16:creationId xmlns:a16="http://schemas.microsoft.com/office/drawing/2014/main" id="{925E04A7-1418-E125-A2CE-71FB2505E2A5}"/>
              </a:ext>
            </a:extLst>
          </p:cNvPr>
          <p:cNvSpPr txBox="1">
            <a:spLocks noChangeArrowheads="1"/>
          </p:cNvSpPr>
          <p:nvPr/>
        </p:nvSpPr>
        <p:spPr bwMode="auto">
          <a:xfrm>
            <a:off x="1431925" y="4913313"/>
            <a:ext cx="692150" cy="366712"/>
          </a:xfrm>
          <a:prstGeom prst="rect">
            <a:avLst/>
          </a:prstGeom>
          <a:noFill/>
          <a:ln>
            <a:noFill/>
          </a:ln>
          <a:effectLst/>
        </p:spPr>
        <p:txBody>
          <a:bodyPr wrap="none" anchor="b">
            <a:spAutoFit/>
          </a:bodyPr>
          <a:lstStyle/>
          <a:p>
            <a:pPr>
              <a:defRPr/>
            </a:pPr>
            <a:r>
              <a:rPr lang="sr-Latn-CS" altLang="en-US">
                <a:effectLst>
                  <a:outerShdw blurRad="38100" dist="38100" dir="2700000" algn="tl">
                    <a:srgbClr val="C0C0C0"/>
                  </a:outerShdw>
                </a:effectLst>
              </a:rPr>
              <a:t>UMA</a:t>
            </a:r>
            <a:endParaRPr lang="en-US" altLang="en-US">
              <a:effectLst>
                <a:outerShdw blurRad="38100" dist="38100" dir="2700000" algn="tl">
                  <a:srgbClr val="C0C0C0"/>
                </a:outerShdw>
              </a:effectLst>
            </a:endParaRPr>
          </a:p>
        </p:txBody>
      </p:sp>
      <p:sp>
        <p:nvSpPr>
          <p:cNvPr id="105532" name="Text Box 60">
            <a:extLst>
              <a:ext uri="{FF2B5EF4-FFF2-40B4-BE49-F238E27FC236}">
                <a16:creationId xmlns:a16="http://schemas.microsoft.com/office/drawing/2014/main" id="{BB44A333-EC97-C89C-3CD4-4E498979FE6A}"/>
              </a:ext>
            </a:extLst>
          </p:cNvPr>
          <p:cNvSpPr txBox="1">
            <a:spLocks noChangeArrowheads="1"/>
          </p:cNvSpPr>
          <p:nvPr/>
        </p:nvSpPr>
        <p:spPr bwMode="auto">
          <a:xfrm>
            <a:off x="5851525" y="4837113"/>
            <a:ext cx="857250" cy="366712"/>
          </a:xfrm>
          <a:prstGeom prst="rect">
            <a:avLst/>
          </a:prstGeom>
          <a:noFill/>
          <a:ln>
            <a:noFill/>
          </a:ln>
          <a:effectLst/>
        </p:spPr>
        <p:txBody>
          <a:bodyPr wrap="none" anchor="b">
            <a:spAutoFit/>
          </a:bodyPr>
          <a:lstStyle/>
          <a:p>
            <a:pPr>
              <a:defRPr/>
            </a:pPr>
            <a:r>
              <a:rPr lang="sr-Latn-CS" altLang="en-US">
                <a:effectLst>
                  <a:outerShdw blurRad="38100" dist="38100" dir="2700000" algn="tl">
                    <a:srgbClr val="C0C0C0"/>
                  </a:outerShdw>
                </a:effectLst>
              </a:rPr>
              <a:t>NUMA</a:t>
            </a:r>
            <a:endParaRPr lang="en-US" altLang="en-US">
              <a:effectLst>
                <a:outerShdw blurRad="38100" dist="38100" dir="2700000" algn="tl">
                  <a:srgbClr val="C0C0C0"/>
                </a:outerShdw>
              </a:effectLst>
            </a:endParaRPr>
          </a:p>
        </p:txBody>
      </p:sp>
      <p:sp>
        <p:nvSpPr>
          <p:cNvPr id="105533" name="Text Box 61">
            <a:extLst>
              <a:ext uri="{FF2B5EF4-FFF2-40B4-BE49-F238E27FC236}">
                <a16:creationId xmlns:a16="http://schemas.microsoft.com/office/drawing/2014/main" id="{CCBB758F-2E5E-11DA-3DF4-ECF5CEACF072}"/>
              </a:ext>
            </a:extLst>
          </p:cNvPr>
          <p:cNvSpPr txBox="1">
            <a:spLocks noChangeArrowheads="1"/>
          </p:cNvSpPr>
          <p:nvPr/>
        </p:nvSpPr>
        <p:spPr bwMode="auto">
          <a:xfrm>
            <a:off x="517525" y="5748338"/>
            <a:ext cx="7097713" cy="457200"/>
          </a:xfrm>
          <a:prstGeom prst="rect">
            <a:avLst/>
          </a:prstGeom>
          <a:noFill/>
          <a:ln>
            <a:noFill/>
          </a:ln>
          <a:effectLst/>
        </p:spPr>
        <p:txBody>
          <a:bodyPr wrap="none" anchor="b">
            <a:spAutoFit/>
          </a:bodyPr>
          <a:lstStyle/>
          <a:p>
            <a:pPr>
              <a:defRPr/>
            </a:pPr>
            <a:r>
              <a:rPr lang="sr-Latn-CS" altLang="en-US" sz="2400">
                <a:solidFill>
                  <a:schemeClr val="accent1"/>
                </a:solidFill>
                <a:effectLst>
                  <a:outerShdw blurRad="38100" dist="38100" dir="2700000" algn="tl">
                    <a:srgbClr val="C0C0C0"/>
                  </a:outerShdw>
                </a:effectLst>
                <a:latin typeface="Tahoma" pitchFamily="34" charset="0"/>
              </a:rPr>
              <a:t>Osnovni problem proširljivost sistema (skalabilnost)</a:t>
            </a:r>
            <a:endParaRPr lang="en-US" altLang="en-US" sz="2400">
              <a:solidFill>
                <a:schemeClr val="accent1"/>
              </a:solidFill>
              <a:effectLst>
                <a:outerShdw blurRad="38100" dist="38100" dir="2700000" algn="tl">
                  <a:srgbClr val="C0C0C0"/>
                </a:outerShdw>
              </a:effectLst>
              <a:latin typeface="Tahoma" pitchFamily="34" charset="0"/>
            </a:endParaRPr>
          </a:p>
        </p:txBody>
      </p:sp>
    </p:spTree>
  </p:cSld>
  <p:clrMapOvr>
    <a:masterClrMapping/>
  </p:clrMapOvr>
  <p:transition>
    <p:pull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24" name="Rectangle 28">
            <a:extLst>
              <a:ext uri="{FF2B5EF4-FFF2-40B4-BE49-F238E27FC236}">
                <a16:creationId xmlns:a16="http://schemas.microsoft.com/office/drawing/2014/main" id="{4FDD7B79-82C7-9010-2DA0-DA660DD6465E}"/>
              </a:ext>
            </a:extLst>
          </p:cNvPr>
          <p:cNvSpPr>
            <a:spLocks noChangeArrowheads="1"/>
          </p:cNvSpPr>
          <p:nvPr/>
        </p:nvSpPr>
        <p:spPr bwMode="auto">
          <a:xfrm>
            <a:off x="457200" y="838200"/>
            <a:ext cx="8432800" cy="5549900"/>
          </a:xfrm>
          <a:prstGeom prst="rect">
            <a:avLst/>
          </a:prstGeom>
          <a:noFill/>
          <a:ln>
            <a:noFill/>
          </a:ln>
          <a:effectLst/>
        </p:spPr>
        <p:txBody>
          <a:bodyPr lIns="90488" tIns="44450" rIns="90488" bIns="44450"/>
          <a:lstStyle>
            <a:lvl1pPr marL="342900" indent="-342900">
              <a:spcBef>
                <a:spcPct val="20000"/>
              </a:spcBef>
              <a:buClr>
                <a:schemeClr val="accent1"/>
              </a:buClr>
              <a:buSzPct val="85000"/>
              <a:buFont typeface="Wingdings 2" pitchFamily="18" charset="2"/>
              <a:buChar char="ã"/>
              <a:defRPr kumimoji="1" sz="2800">
                <a:solidFill>
                  <a:schemeClr val="accent1"/>
                </a:solidFill>
                <a:effectLst>
                  <a:outerShdw blurRad="38100" dist="38100" dir="2700000" algn="tl">
                    <a:srgbClr val="C0C0C0"/>
                  </a:outerShdw>
                </a:effectLst>
                <a:latin typeface="Tahoma" pitchFamily="34" charset="0"/>
              </a:defRPr>
            </a:lvl1pPr>
            <a:lvl2pPr marL="742950" indent="-285750">
              <a:spcBef>
                <a:spcPct val="20000"/>
              </a:spcBef>
              <a:buClr>
                <a:schemeClr val="hlink"/>
              </a:buClr>
              <a:buSzPct val="85000"/>
              <a:buFont typeface="Wingdings" pitchFamily="2" charset="2"/>
              <a:buChar char="l"/>
              <a:defRPr kumimoji="1" sz="2300">
                <a:solidFill>
                  <a:schemeClr val="hlink"/>
                </a:solidFill>
                <a:effectLst>
                  <a:outerShdw blurRad="38100" dist="38100" dir="2700000" algn="tl">
                    <a:srgbClr val="C0C0C0"/>
                  </a:outerShdw>
                </a:effectLst>
                <a:latin typeface="Tahoma" pitchFamily="34" charset="0"/>
              </a:defRPr>
            </a:lvl2pPr>
            <a:lvl3pPr marL="1143000" indent="-228600">
              <a:spcBef>
                <a:spcPct val="20000"/>
              </a:spcBef>
              <a:buClr>
                <a:schemeClr val="tx1"/>
              </a:buClr>
              <a:buFont typeface="Wingdings" pitchFamily="2" charset="2"/>
              <a:buChar char="Ø"/>
              <a:defRPr kumimoji="1" sz="2000">
                <a:solidFill>
                  <a:schemeClr val="tx1"/>
                </a:solidFill>
                <a:effectLst>
                  <a:outerShdw blurRad="38100" dist="38100" dir="2700000" algn="tl">
                    <a:srgbClr val="C0C0C0"/>
                  </a:outerShdw>
                </a:effectLst>
                <a:latin typeface="Tahoma" pitchFamily="34" charset="0"/>
              </a:defRPr>
            </a:lvl3pPr>
            <a:lvl4pPr marL="1600200" indent="-228600">
              <a:spcBef>
                <a:spcPct val="20000"/>
              </a:spcBef>
              <a:buChar char="–"/>
              <a:defRPr kumimoji="1">
                <a:solidFill>
                  <a:schemeClr val="tx1"/>
                </a:solidFill>
                <a:effectLst>
                  <a:outerShdw blurRad="38100" dist="38100" dir="2700000" algn="tl">
                    <a:srgbClr val="C0C0C0"/>
                  </a:outerShdw>
                </a:effectLst>
                <a:latin typeface="Tahoma" pitchFamily="34" charset="0"/>
              </a:defRPr>
            </a:lvl4pPr>
            <a:lvl5pPr marL="2057400" indent="-228600">
              <a:spcBef>
                <a:spcPct val="20000"/>
              </a:spcBef>
              <a:buChar char="»"/>
              <a:defRPr kumimoji="1">
                <a:solidFill>
                  <a:schemeClr val="tx1"/>
                </a:solidFill>
                <a:effectLst>
                  <a:outerShdw blurRad="38100" dist="38100" dir="2700000" algn="tl">
                    <a:srgbClr val="C0C0C0"/>
                  </a:outerShdw>
                </a:effectLst>
                <a:latin typeface="Tahoma" pitchFamily="34" charset="0"/>
              </a:defRPr>
            </a:lvl5pPr>
            <a:lvl6pPr marL="2514600" indent="-22860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Tahoma" pitchFamily="34" charset="0"/>
              </a:defRPr>
            </a:lvl6pPr>
            <a:lvl7pPr marL="2971800" indent="-22860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Tahoma" pitchFamily="34" charset="0"/>
              </a:defRPr>
            </a:lvl7pPr>
            <a:lvl8pPr marL="3429000" indent="-22860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Tahoma" pitchFamily="34" charset="0"/>
              </a:defRPr>
            </a:lvl8pPr>
            <a:lvl9pPr marL="3886200" indent="-22860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Tahoma" pitchFamily="34" charset="0"/>
              </a:defRPr>
            </a:lvl9pPr>
          </a:lstStyle>
          <a:p>
            <a:pPr lvl="1">
              <a:defRPr/>
            </a:pPr>
            <a:r>
              <a:rPr lang="sr-Latn-CS" altLang="en-US" sz="1800">
                <a:solidFill>
                  <a:srgbClr val="000000"/>
                </a:solidFill>
              </a:rPr>
              <a:t>Procesori mogu direktno pristupati samo svojoj lokalnoj memoriji (read/write operacije).</a:t>
            </a:r>
          </a:p>
          <a:p>
            <a:pPr lvl="1">
              <a:defRPr/>
            </a:pPr>
            <a:r>
              <a:rPr lang="sr-Latn-CS" altLang="en-US" sz="1800">
                <a:solidFill>
                  <a:srgbClr val="000000"/>
                </a:solidFill>
              </a:rPr>
              <a:t>Sv</a:t>
            </a:r>
            <a:r>
              <a:rPr lang="en-US" altLang="en-US" sz="1800">
                <a:solidFill>
                  <a:srgbClr val="000000"/>
                </a:solidFill>
              </a:rPr>
              <a:t>a</a:t>
            </a:r>
            <a:r>
              <a:rPr lang="sr-Latn-CS" altLang="en-US" sz="1800">
                <a:solidFill>
                  <a:srgbClr val="000000"/>
                </a:solidFill>
              </a:rPr>
              <a:t>ka komunikacija i sinhronizacija se obavlja slanjem poruka poreko send/receive operacija.</a:t>
            </a:r>
            <a:endParaRPr lang="en-US" altLang="en-US" sz="1800">
              <a:solidFill>
                <a:srgbClr val="000000"/>
              </a:solidFill>
            </a:endParaRPr>
          </a:p>
          <a:p>
            <a:pPr>
              <a:defRPr/>
            </a:pPr>
            <a:endParaRPr lang="en-US" altLang="en-US" sz="1800">
              <a:solidFill>
                <a:srgbClr val="474747"/>
              </a:solidFill>
            </a:endParaRPr>
          </a:p>
          <a:p>
            <a:pPr>
              <a:defRPr/>
            </a:pPr>
            <a:endParaRPr lang="en-US" altLang="en-US" sz="1800">
              <a:solidFill>
                <a:srgbClr val="474747"/>
              </a:solidFill>
            </a:endParaRPr>
          </a:p>
          <a:p>
            <a:pPr>
              <a:defRPr/>
            </a:pPr>
            <a:endParaRPr lang="en-US" altLang="en-US" sz="1800">
              <a:solidFill>
                <a:srgbClr val="474747"/>
              </a:solidFill>
            </a:endParaRPr>
          </a:p>
          <a:p>
            <a:pPr>
              <a:defRPr/>
            </a:pPr>
            <a:endParaRPr lang="en-US" altLang="en-US" sz="1800">
              <a:solidFill>
                <a:srgbClr val="474747"/>
              </a:solidFill>
            </a:endParaRPr>
          </a:p>
          <a:p>
            <a:pPr>
              <a:defRPr/>
            </a:pPr>
            <a:endParaRPr lang="sr-Latn-CS" altLang="en-US" sz="1800">
              <a:solidFill>
                <a:srgbClr val="474747"/>
              </a:solidFill>
            </a:endParaRPr>
          </a:p>
          <a:p>
            <a:pPr>
              <a:defRPr/>
            </a:pPr>
            <a:endParaRPr lang="sr-Latn-CS" altLang="en-US" sz="1800">
              <a:solidFill>
                <a:srgbClr val="474747"/>
              </a:solidFill>
            </a:endParaRPr>
          </a:p>
          <a:p>
            <a:pPr>
              <a:defRPr/>
            </a:pPr>
            <a:r>
              <a:rPr lang="sr-Latn-CS" altLang="en-US" sz="1800">
                <a:solidFill>
                  <a:srgbClr val="474747"/>
                </a:solidFill>
              </a:rPr>
              <a:t>Ključne osobine</a:t>
            </a:r>
            <a:r>
              <a:rPr lang="en-US" altLang="en-US" sz="1800">
                <a:solidFill>
                  <a:srgbClr val="474747"/>
                </a:solidFill>
              </a:rPr>
              <a:t>:</a:t>
            </a:r>
          </a:p>
          <a:p>
            <a:pPr lvl="1">
              <a:defRPr/>
            </a:pPr>
            <a:r>
              <a:rPr lang="sr-Latn-CS" altLang="en-US" sz="1800">
                <a:solidFill>
                  <a:srgbClr val="000000"/>
                </a:solidFill>
              </a:rPr>
              <a:t>Slanje poruke podrazumeva niz aktivnosti </a:t>
            </a:r>
            <a:r>
              <a:rPr lang="en-US" altLang="en-US" sz="1800">
                <a:solidFill>
                  <a:srgbClr val="000000"/>
                </a:solidFill>
              </a:rPr>
              <a:t>: </a:t>
            </a:r>
          </a:p>
          <a:p>
            <a:pPr lvl="2">
              <a:defRPr/>
            </a:pPr>
            <a:r>
              <a:rPr lang="sr-Latn-CS" altLang="en-US" sz="1800">
                <a:solidFill>
                  <a:srgbClr val="000000"/>
                </a:solidFill>
              </a:rPr>
              <a:t>Kreiranje zaglavlja poruke; </a:t>
            </a:r>
            <a:r>
              <a:rPr lang="en-US" altLang="en-US" sz="1800">
                <a:solidFill>
                  <a:srgbClr val="000000"/>
                </a:solidFill>
              </a:rPr>
              <a:t>k</a:t>
            </a:r>
            <a:r>
              <a:rPr lang="sr-Latn-CS" altLang="en-US" sz="1800">
                <a:solidFill>
                  <a:srgbClr val="000000"/>
                </a:solidFill>
              </a:rPr>
              <a:t>opiranje podataka u bafer za komunikaciju; slanje poruke; prihvatanje poruke u </a:t>
            </a:r>
            <a:r>
              <a:rPr lang="en-US" altLang="en-US" sz="1800">
                <a:solidFill>
                  <a:srgbClr val="000000"/>
                </a:solidFill>
              </a:rPr>
              <a:t>b</a:t>
            </a:r>
            <a:r>
              <a:rPr lang="sr-Latn-CS" altLang="en-US" sz="1800">
                <a:solidFill>
                  <a:srgbClr val="000000"/>
                </a:solidFill>
              </a:rPr>
              <a:t>afer; kopiranje poruke iz kernela u korisnički prostor</a:t>
            </a:r>
            <a:r>
              <a:rPr lang="en-US" altLang="en-US" sz="1800" b="1">
                <a:solidFill>
                  <a:srgbClr val="000000"/>
                </a:solidFill>
              </a:rPr>
              <a:t>.      </a:t>
            </a:r>
          </a:p>
          <a:p>
            <a:pPr lvl="3">
              <a:defRPr/>
            </a:pPr>
            <a:r>
              <a:rPr lang="sr-Latn-CS" altLang="en-US" b="1">
                <a:solidFill>
                  <a:srgbClr val="000000"/>
                </a:solidFill>
              </a:rPr>
              <a:t>Mn</a:t>
            </a:r>
            <a:r>
              <a:rPr lang="en-US" altLang="en-US" b="1">
                <a:solidFill>
                  <a:srgbClr val="000000"/>
                </a:solidFill>
              </a:rPr>
              <a:t>o</a:t>
            </a:r>
            <a:r>
              <a:rPr lang="sr-Latn-CS" altLang="en-US" b="1">
                <a:solidFill>
                  <a:srgbClr val="000000"/>
                </a:solidFill>
              </a:rPr>
              <a:t>gi od ovih koraka zahtevaju intervenciju OS</a:t>
            </a:r>
            <a:r>
              <a:rPr lang="en-US" altLang="en-US" b="1">
                <a:solidFill>
                  <a:srgbClr val="000000"/>
                </a:solidFill>
              </a:rPr>
              <a:t>.</a:t>
            </a:r>
            <a:endParaRPr lang="en-US" altLang="en-US">
              <a:solidFill>
                <a:srgbClr val="000000"/>
              </a:solidFill>
            </a:endParaRPr>
          </a:p>
          <a:p>
            <a:pPr lvl="1">
              <a:defRPr/>
            </a:pPr>
            <a:r>
              <a:rPr lang="sr-Latn-CS" altLang="en-US" sz="1800">
                <a:solidFill>
                  <a:srgbClr val="000000"/>
                </a:solidFill>
              </a:rPr>
              <a:t>Sinhronizacija se obavlja korišćenjem nekog </a:t>
            </a:r>
            <a:r>
              <a:rPr lang="en-US" altLang="en-US" sz="1800">
                <a:solidFill>
                  <a:srgbClr val="000000"/>
                </a:solidFill>
              </a:rPr>
              <a:t>handshake proto</a:t>
            </a:r>
            <a:r>
              <a:rPr lang="sr-Latn-CS" altLang="en-US" sz="1800">
                <a:solidFill>
                  <a:srgbClr val="000000"/>
                </a:solidFill>
              </a:rPr>
              <a:t>kola</a:t>
            </a:r>
            <a:r>
              <a:rPr lang="en-US" altLang="en-US" sz="1800">
                <a:solidFill>
                  <a:srgbClr val="000000"/>
                </a:solidFill>
              </a:rPr>
              <a:t>.</a:t>
            </a:r>
          </a:p>
          <a:p>
            <a:pPr lvl="1">
              <a:defRPr/>
            </a:pPr>
            <a:r>
              <a:rPr lang="sr-Latn-CS" altLang="en-US" sz="1800">
                <a:solidFill>
                  <a:srgbClr val="000000"/>
                </a:solidFill>
              </a:rPr>
              <a:t>Osnovan prednost: </a:t>
            </a:r>
            <a:r>
              <a:rPr lang="sr-Latn-CS" altLang="en-US" sz="1800">
                <a:solidFill>
                  <a:schemeClr val="accent1"/>
                </a:solidFill>
              </a:rPr>
              <a:t>Proširljivost sistema</a:t>
            </a:r>
            <a:r>
              <a:rPr lang="sr-Latn-CS" altLang="en-US" sz="1800">
                <a:solidFill>
                  <a:srgbClr val="000000"/>
                </a:solidFill>
              </a:rPr>
              <a:t>. </a:t>
            </a:r>
            <a:endParaRPr lang="en-US" altLang="en-US">
              <a:solidFill>
                <a:srgbClr val="000000"/>
              </a:solidFill>
            </a:endParaRPr>
          </a:p>
        </p:txBody>
      </p:sp>
      <p:sp>
        <p:nvSpPr>
          <p:cNvPr id="106525" name="Rectangle 29">
            <a:extLst>
              <a:ext uri="{FF2B5EF4-FFF2-40B4-BE49-F238E27FC236}">
                <a16:creationId xmlns:a16="http://schemas.microsoft.com/office/drawing/2014/main" id="{C97FE39D-0FAB-5DD7-982D-EE14F63167A1}"/>
              </a:ext>
            </a:extLst>
          </p:cNvPr>
          <p:cNvSpPr>
            <a:spLocks noChangeArrowheads="1"/>
          </p:cNvSpPr>
          <p:nvPr/>
        </p:nvSpPr>
        <p:spPr bwMode="auto">
          <a:xfrm>
            <a:off x="2359025" y="3184525"/>
            <a:ext cx="3851275" cy="434975"/>
          </a:xfrm>
          <a:prstGeom prst="rect">
            <a:avLst/>
          </a:prstGeom>
          <a:solidFill>
            <a:srgbClr val="FFFFFF"/>
          </a:solidFill>
          <a:ln w="12700">
            <a:solidFill>
              <a:srgbClr val="000000"/>
            </a:solidFill>
            <a:miter lim="800000"/>
            <a:headEnd/>
            <a:tailEnd/>
          </a:ln>
          <a:effectLst/>
        </p:spPr>
        <p:txBody>
          <a:bodyPr wrap="none" anchor="ctr"/>
          <a:lstStyle/>
          <a:p>
            <a:pPr>
              <a:defRPr/>
            </a:pPr>
            <a:endParaRPr lang="en-US"/>
          </a:p>
        </p:txBody>
      </p:sp>
      <p:sp>
        <p:nvSpPr>
          <p:cNvPr id="35844" name="Rectangle 30">
            <a:extLst>
              <a:ext uri="{FF2B5EF4-FFF2-40B4-BE49-F238E27FC236}">
                <a16:creationId xmlns:a16="http://schemas.microsoft.com/office/drawing/2014/main" id="{D5E6CC60-EF09-DB71-EC1D-5C168B0558A9}"/>
              </a:ext>
            </a:extLst>
          </p:cNvPr>
          <p:cNvSpPr>
            <a:spLocks noChangeArrowheads="1"/>
          </p:cNvSpPr>
          <p:nvPr/>
        </p:nvSpPr>
        <p:spPr bwMode="auto">
          <a:xfrm>
            <a:off x="3170238" y="3286125"/>
            <a:ext cx="13033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sr-Latn-CS" altLang="en-US" sz="1300">
                <a:solidFill>
                  <a:srgbClr val="000000"/>
                </a:solidFill>
                <a:effectLst/>
                <a:latin typeface="Geneva" charset="0"/>
              </a:rPr>
              <a:t>Sprežna mreža</a:t>
            </a:r>
            <a:endParaRPr lang="en-US" altLang="en-US" sz="1300">
              <a:solidFill>
                <a:srgbClr val="000000"/>
              </a:solidFill>
              <a:effectLst/>
              <a:latin typeface="Geneva" charset="0"/>
            </a:endParaRPr>
          </a:p>
        </p:txBody>
      </p:sp>
      <p:sp>
        <p:nvSpPr>
          <p:cNvPr id="106527" name="Oval 31">
            <a:extLst>
              <a:ext uri="{FF2B5EF4-FFF2-40B4-BE49-F238E27FC236}">
                <a16:creationId xmlns:a16="http://schemas.microsoft.com/office/drawing/2014/main" id="{D21AFFC6-B148-F842-A23E-F52A3AE5C600}"/>
              </a:ext>
            </a:extLst>
          </p:cNvPr>
          <p:cNvSpPr>
            <a:spLocks noChangeArrowheads="1"/>
          </p:cNvSpPr>
          <p:nvPr/>
        </p:nvSpPr>
        <p:spPr bwMode="auto">
          <a:xfrm>
            <a:off x="5562600" y="2444750"/>
            <a:ext cx="433388" cy="434975"/>
          </a:xfrm>
          <a:prstGeom prst="ellipse">
            <a:avLst/>
          </a:prstGeom>
          <a:solidFill>
            <a:srgbClr val="FFFFFF"/>
          </a:solidFill>
          <a:ln w="12700">
            <a:solidFill>
              <a:srgbClr val="000000"/>
            </a:solidFill>
            <a:round/>
            <a:headEnd/>
            <a:tailEnd/>
          </a:ln>
          <a:effectLst/>
        </p:spPr>
        <p:txBody>
          <a:bodyPr wrap="none" anchor="ctr"/>
          <a:lstStyle/>
          <a:p>
            <a:pPr>
              <a:defRPr/>
            </a:pPr>
            <a:endParaRPr lang="en-US"/>
          </a:p>
        </p:txBody>
      </p:sp>
      <p:sp>
        <p:nvSpPr>
          <p:cNvPr id="106528" name="Oval 32">
            <a:extLst>
              <a:ext uri="{FF2B5EF4-FFF2-40B4-BE49-F238E27FC236}">
                <a16:creationId xmlns:a16="http://schemas.microsoft.com/office/drawing/2014/main" id="{A096A1EC-2EF3-18E6-5759-B2912339B97B}"/>
              </a:ext>
            </a:extLst>
          </p:cNvPr>
          <p:cNvSpPr>
            <a:spLocks noChangeArrowheads="1"/>
          </p:cNvSpPr>
          <p:nvPr/>
        </p:nvSpPr>
        <p:spPr bwMode="auto">
          <a:xfrm>
            <a:off x="2178050" y="2444750"/>
            <a:ext cx="433388" cy="434975"/>
          </a:xfrm>
          <a:prstGeom prst="ellipse">
            <a:avLst/>
          </a:prstGeom>
          <a:solidFill>
            <a:srgbClr val="FFFFFF"/>
          </a:solidFill>
          <a:ln w="12700">
            <a:solidFill>
              <a:srgbClr val="000000"/>
            </a:solidFill>
            <a:round/>
            <a:headEnd/>
            <a:tailEnd/>
          </a:ln>
          <a:effectLst/>
        </p:spPr>
        <p:txBody>
          <a:bodyPr wrap="none" anchor="ctr"/>
          <a:lstStyle/>
          <a:p>
            <a:pPr>
              <a:defRPr/>
            </a:pPr>
            <a:endParaRPr lang="en-US"/>
          </a:p>
        </p:txBody>
      </p:sp>
      <p:sp>
        <p:nvSpPr>
          <p:cNvPr id="106529" name="Oval 33">
            <a:extLst>
              <a:ext uri="{FF2B5EF4-FFF2-40B4-BE49-F238E27FC236}">
                <a16:creationId xmlns:a16="http://schemas.microsoft.com/office/drawing/2014/main" id="{502EC736-C17D-7D2E-5E1B-D365C2C6434D}"/>
              </a:ext>
            </a:extLst>
          </p:cNvPr>
          <p:cNvSpPr>
            <a:spLocks noChangeArrowheads="1"/>
          </p:cNvSpPr>
          <p:nvPr/>
        </p:nvSpPr>
        <p:spPr bwMode="auto">
          <a:xfrm>
            <a:off x="3573463" y="2444750"/>
            <a:ext cx="434975" cy="434975"/>
          </a:xfrm>
          <a:prstGeom prst="ellipse">
            <a:avLst/>
          </a:prstGeom>
          <a:solidFill>
            <a:srgbClr val="FFFFFF"/>
          </a:solidFill>
          <a:ln w="12700">
            <a:solidFill>
              <a:srgbClr val="000000"/>
            </a:solidFill>
            <a:round/>
            <a:headEnd/>
            <a:tailEnd/>
          </a:ln>
          <a:effectLst/>
        </p:spPr>
        <p:txBody>
          <a:bodyPr wrap="none" anchor="ctr"/>
          <a:lstStyle/>
          <a:p>
            <a:pPr>
              <a:defRPr/>
            </a:pPr>
            <a:endParaRPr lang="en-US"/>
          </a:p>
        </p:txBody>
      </p:sp>
      <p:sp>
        <p:nvSpPr>
          <p:cNvPr id="106530" name="Rectangle 34">
            <a:extLst>
              <a:ext uri="{FF2B5EF4-FFF2-40B4-BE49-F238E27FC236}">
                <a16:creationId xmlns:a16="http://schemas.microsoft.com/office/drawing/2014/main" id="{E9C4EE59-C403-FA59-0FC3-BB22FA82FC39}"/>
              </a:ext>
            </a:extLst>
          </p:cNvPr>
          <p:cNvSpPr>
            <a:spLocks noChangeArrowheads="1"/>
          </p:cNvSpPr>
          <p:nvPr/>
        </p:nvSpPr>
        <p:spPr bwMode="auto">
          <a:xfrm>
            <a:off x="2801938" y="2444750"/>
            <a:ext cx="385762" cy="417513"/>
          </a:xfrm>
          <a:prstGeom prst="rect">
            <a:avLst/>
          </a:prstGeom>
          <a:solidFill>
            <a:srgbClr val="FFFFFF"/>
          </a:solidFill>
          <a:ln w="12700">
            <a:solidFill>
              <a:srgbClr val="000000"/>
            </a:solidFill>
            <a:miter lim="800000"/>
            <a:headEnd/>
            <a:tailEnd/>
          </a:ln>
          <a:effectLst/>
        </p:spPr>
        <p:txBody>
          <a:bodyPr wrap="none" anchor="ctr"/>
          <a:lstStyle/>
          <a:p>
            <a:pPr>
              <a:defRPr/>
            </a:pPr>
            <a:endParaRPr lang="en-US"/>
          </a:p>
        </p:txBody>
      </p:sp>
      <p:sp>
        <p:nvSpPr>
          <p:cNvPr id="106531" name="Rectangle 35">
            <a:extLst>
              <a:ext uri="{FF2B5EF4-FFF2-40B4-BE49-F238E27FC236}">
                <a16:creationId xmlns:a16="http://schemas.microsoft.com/office/drawing/2014/main" id="{5EF87325-F79A-47BB-9C10-9A792F3449AD}"/>
              </a:ext>
            </a:extLst>
          </p:cNvPr>
          <p:cNvSpPr>
            <a:spLocks noChangeArrowheads="1"/>
          </p:cNvSpPr>
          <p:nvPr/>
        </p:nvSpPr>
        <p:spPr bwMode="auto">
          <a:xfrm>
            <a:off x="6186488" y="2444750"/>
            <a:ext cx="385762" cy="417513"/>
          </a:xfrm>
          <a:prstGeom prst="rect">
            <a:avLst/>
          </a:prstGeom>
          <a:solidFill>
            <a:srgbClr val="FFFFFF"/>
          </a:solidFill>
          <a:ln w="12700">
            <a:solidFill>
              <a:srgbClr val="000000"/>
            </a:solidFill>
            <a:miter lim="800000"/>
            <a:headEnd/>
            <a:tailEnd/>
          </a:ln>
          <a:effectLst/>
        </p:spPr>
        <p:txBody>
          <a:bodyPr wrap="none" anchor="ctr"/>
          <a:lstStyle/>
          <a:p>
            <a:pPr>
              <a:defRPr/>
            </a:pPr>
            <a:endParaRPr lang="en-US"/>
          </a:p>
        </p:txBody>
      </p:sp>
      <p:sp>
        <p:nvSpPr>
          <p:cNvPr id="106532" name="Rectangle 36">
            <a:extLst>
              <a:ext uri="{FF2B5EF4-FFF2-40B4-BE49-F238E27FC236}">
                <a16:creationId xmlns:a16="http://schemas.microsoft.com/office/drawing/2014/main" id="{E7D06143-564A-22C5-8D34-B97811B49267}"/>
              </a:ext>
            </a:extLst>
          </p:cNvPr>
          <p:cNvSpPr>
            <a:spLocks noChangeArrowheads="1"/>
          </p:cNvSpPr>
          <p:nvPr/>
        </p:nvSpPr>
        <p:spPr bwMode="auto">
          <a:xfrm>
            <a:off x="4279900" y="2444750"/>
            <a:ext cx="385763" cy="417513"/>
          </a:xfrm>
          <a:prstGeom prst="rect">
            <a:avLst/>
          </a:prstGeom>
          <a:solidFill>
            <a:srgbClr val="FFFFFF"/>
          </a:solidFill>
          <a:ln w="12700">
            <a:solidFill>
              <a:srgbClr val="000000"/>
            </a:solidFill>
            <a:miter lim="800000"/>
            <a:headEnd/>
            <a:tailEnd/>
          </a:ln>
          <a:effectLst/>
        </p:spPr>
        <p:txBody>
          <a:bodyPr wrap="none" anchor="ctr"/>
          <a:lstStyle/>
          <a:p>
            <a:pPr>
              <a:defRPr/>
            </a:pPr>
            <a:endParaRPr lang="en-US"/>
          </a:p>
        </p:txBody>
      </p:sp>
      <p:sp>
        <p:nvSpPr>
          <p:cNvPr id="106533" name="Line 37">
            <a:extLst>
              <a:ext uri="{FF2B5EF4-FFF2-40B4-BE49-F238E27FC236}">
                <a16:creationId xmlns:a16="http://schemas.microsoft.com/office/drawing/2014/main" id="{90E1F4F5-5EAC-5D82-7580-267BE38F3264}"/>
              </a:ext>
            </a:extLst>
          </p:cNvPr>
          <p:cNvSpPr>
            <a:spLocks noChangeShapeType="1"/>
          </p:cNvSpPr>
          <p:nvPr/>
        </p:nvSpPr>
        <p:spPr bwMode="auto">
          <a:xfrm>
            <a:off x="2630488" y="2657475"/>
            <a:ext cx="168275" cy="0"/>
          </a:xfrm>
          <a:prstGeom prst="line">
            <a:avLst/>
          </a:prstGeom>
          <a:noFill/>
          <a:ln w="12700">
            <a:solidFill>
              <a:srgbClr val="000000"/>
            </a:solidFill>
            <a:round/>
            <a:headEnd/>
            <a:tailEnd/>
          </a:ln>
          <a:effectLst/>
        </p:spPr>
        <p:txBody>
          <a:bodyPr/>
          <a:lstStyle/>
          <a:p>
            <a:pPr>
              <a:defRPr/>
            </a:pPr>
            <a:endParaRPr lang="en-US"/>
          </a:p>
        </p:txBody>
      </p:sp>
      <p:sp>
        <p:nvSpPr>
          <p:cNvPr id="106534" name="Line 38">
            <a:extLst>
              <a:ext uri="{FF2B5EF4-FFF2-40B4-BE49-F238E27FC236}">
                <a16:creationId xmlns:a16="http://schemas.microsoft.com/office/drawing/2014/main" id="{882F8133-8DAD-7991-2161-B82C5A8AAB08}"/>
              </a:ext>
            </a:extLst>
          </p:cNvPr>
          <p:cNvSpPr>
            <a:spLocks noChangeShapeType="1"/>
          </p:cNvSpPr>
          <p:nvPr/>
        </p:nvSpPr>
        <p:spPr bwMode="auto">
          <a:xfrm>
            <a:off x="2703513" y="2668588"/>
            <a:ext cx="0" cy="512762"/>
          </a:xfrm>
          <a:prstGeom prst="line">
            <a:avLst/>
          </a:prstGeom>
          <a:noFill/>
          <a:ln w="12700">
            <a:solidFill>
              <a:srgbClr val="000000"/>
            </a:solidFill>
            <a:round/>
            <a:headEnd/>
            <a:tailEnd/>
          </a:ln>
          <a:effectLst/>
        </p:spPr>
        <p:txBody>
          <a:bodyPr/>
          <a:lstStyle/>
          <a:p>
            <a:pPr>
              <a:defRPr/>
            </a:pPr>
            <a:endParaRPr lang="en-US"/>
          </a:p>
        </p:txBody>
      </p:sp>
      <p:sp>
        <p:nvSpPr>
          <p:cNvPr id="106535" name="Line 39">
            <a:extLst>
              <a:ext uri="{FF2B5EF4-FFF2-40B4-BE49-F238E27FC236}">
                <a16:creationId xmlns:a16="http://schemas.microsoft.com/office/drawing/2014/main" id="{E64ADB65-B027-95ED-A0FB-B83141E1A12A}"/>
              </a:ext>
            </a:extLst>
          </p:cNvPr>
          <p:cNvSpPr>
            <a:spLocks noChangeShapeType="1"/>
          </p:cNvSpPr>
          <p:nvPr/>
        </p:nvSpPr>
        <p:spPr bwMode="auto">
          <a:xfrm>
            <a:off x="4027488" y="2674938"/>
            <a:ext cx="249237" cy="0"/>
          </a:xfrm>
          <a:prstGeom prst="line">
            <a:avLst/>
          </a:prstGeom>
          <a:noFill/>
          <a:ln w="12700">
            <a:solidFill>
              <a:srgbClr val="000000"/>
            </a:solidFill>
            <a:round/>
            <a:headEnd/>
            <a:tailEnd/>
          </a:ln>
          <a:effectLst/>
        </p:spPr>
        <p:txBody>
          <a:bodyPr/>
          <a:lstStyle/>
          <a:p>
            <a:pPr>
              <a:defRPr/>
            </a:pPr>
            <a:endParaRPr lang="en-US"/>
          </a:p>
        </p:txBody>
      </p:sp>
      <p:sp>
        <p:nvSpPr>
          <p:cNvPr id="106536" name="Line 40">
            <a:extLst>
              <a:ext uri="{FF2B5EF4-FFF2-40B4-BE49-F238E27FC236}">
                <a16:creationId xmlns:a16="http://schemas.microsoft.com/office/drawing/2014/main" id="{2E9C759F-68DC-5177-6CDE-717247B8034A}"/>
              </a:ext>
            </a:extLst>
          </p:cNvPr>
          <p:cNvSpPr>
            <a:spLocks noChangeShapeType="1"/>
          </p:cNvSpPr>
          <p:nvPr/>
        </p:nvSpPr>
        <p:spPr bwMode="auto">
          <a:xfrm>
            <a:off x="4132263" y="2668588"/>
            <a:ext cx="0" cy="512762"/>
          </a:xfrm>
          <a:prstGeom prst="line">
            <a:avLst/>
          </a:prstGeom>
          <a:noFill/>
          <a:ln w="12700">
            <a:solidFill>
              <a:srgbClr val="000000"/>
            </a:solidFill>
            <a:round/>
            <a:headEnd/>
            <a:tailEnd/>
          </a:ln>
          <a:effectLst/>
        </p:spPr>
        <p:txBody>
          <a:bodyPr/>
          <a:lstStyle/>
          <a:p>
            <a:pPr>
              <a:defRPr/>
            </a:pPr>
            <a:endParaRPr lang="en-US"/>
          </a:p>
        </p:txBody>
      </p:sp>
      <p:sp>
        <p:nvSpPr>
          <p:cNvPr id="106537" name="Line 41">
            <a:extLst>
              <a:ext uri="{FF2B5EF4-FFF2-40B4-BE49-F238E27FC236}">
                <a16:creationId xmlns:a16="http://schemas.microsoft.com/office/drawing/2014/main" id="{F50BD049-81DA-BB7E-9140-36331CAD0660}"/>
              </a:ext>
            </a:extLst>
          </p:cNvPr>
          <p:cNvSpPr>
            <a:spLocks noChangeShapeType="1"/>
          </p:cNvSpPr>
          <p:nvPr/>
        </p:nvSpPr>
        <p:spPr bwMode="auto">
          <a:xfrm>
            <a:off x="6015038" y="2674938"/>
            <a:ext cx="152400" cy="0"/>
          </a:xfrm>
          <a:prstGeom prst="line">
            <a:avLst/>
          </a:prstGeom>
          <a:noFill/>
          <a:ln w="12700">
            <a:solidFill>
              <a:srgbClr val="000000"/>
            </a:solidFill>
            <a:round/>
            <a:headEnd/>
            <a:tailEnd/>
          </a:ln>
          <a:effectLst/>
        </p:spPr>
        <p:txBody>
          <a:bodyPr/>
          <a:lstStyle/>
          <a:p>
            <a:pPr>
              <a:defRPr/>
            </a:pPr>
            <a:endParaRPr lang="en-US"/>
          </a:p>
        </p:txBody>
      </p:sp>
      <p:sp>
        <p:nvSpPr>
          <p:cNvPr id="106538" name="Line 42">
            <a:extLst>
              <a:ext uri="{FF2B5EF4-FFF2-40B4-BE49-F238E27FC236}">
                <a16:creationId xmlns:a16="http://schemas.microsoft.com/office/drawing/2014/main" id="{011E0FCB-5813-96C2-A169-C1520F06ED79}"/>
              </a:ext>
            </a:extLst>
          </p:cNvPr>
          <p:cNvSpPr>
            <a:spLocks noChangeShapeType="1"/>
          </p:cNvSpPr>
          <p:nvPr/>
        </p:nvSpPr>
        <p:spPr bwMode="auto">
          <a:xfrm>
            <a:off x="6088063" y="2668588"/>
            <a:ext cx="0" cy="512762"/>
          </a:xfrm>
          <a:prstGeom prst="line">
            <a:avLst/>
          </a:prstGeom>
          <a:noFill/>
          <a:ln w="12700">
            <a:solidFill>
              <a:srgbClr val="000000"/>
            </a:solidFill>
            <a:round/>
            <a:headEnd/>
            <a:tailEnd/>
          </a:ln>
          <a:effectLst/>
        </p:spPr>
        <p:txBody>
          <a:bodyPr/>
          <a:lstStyle/>
          <a:p>
            <a:pPr>
              <a:defRPr/>
            </a:pPr>
            <a:endParaRPr lang="en-US"/>
          </a:p>
        </p:txBody>
      </p:sp>
      <p:sp>
        <p:nvSpPr>
          <p:cNvPr id="35857" name="Rectangle 43">
            <a:extLst>
              <a:ext uri="{FF2B5EF4-FFF2-40B4-BE49-F238E27FC236}">
                <a16:creationId xmlns:a16="http://schemas.microsoft.com/office/drawing/2014/main" id="{A627A4CD-FD55-3836-A930-CE121D6255D9}"/>
              </a:ext>
            </a:extLst>
          </p:cNvPr>
          <p:cNvSpPr>
            <a:spLocks noChangeArrowheads="1"/>
          </p:cNvSpPr>
          <p:nvPr/>
        </p:nvSpPr>
        <p:spPr bwMode="auto">
          <a:xfrm>
            <a:off x="2266950" y="2546350"/>
            <a:ext cx="280988"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a:solidFill>
                  <a:srgbClr val="000000"/>
                </a:solidFill>
                <a:effectLst/>
                <a:latin typeface="Geneva" charset="0"/>
              </a:rPr>
              <a:t>P</a:t>
            </a:r>
          </a:p>
        </p:txBody>
      </p:sp>
      <p:sp>
        <p:nvSpPr>
          <p:cNvPr id="35858" name="Rectangle 44">
            <a:extLst>
              <a:ext uri="{FF2B5EF4-FFF2-40B4-BE49-F238E27FC236}">
                <a16:creationId xmlns:a16="http://schemas.microsoft.com/office/drawing/2014/main" id="{03CE33EC-10A7-E9B5-163E-14B607436C6E}"/>
              </a:ext>
            </a:extLst>
          </p:cNvPr>
          <p:cNvSpPr>
            <a:spLocks noChangeArrowheads="1"/>
          </p:cNvSpPr>
          <p:nvPr/>
        </p:nvSpPr>
        <p:spPr bwMode="auto">
          <a:xfrm>
            <a:off x="3663950" y="2546350"/>
            <a:ext cx="280988"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a:solidFill>
                  <a:srgbClr val="000000"/>
                </a:solidFill>
                <a:effectLst/>
                <a:latin typeface="Geneva" charset="0"/>
              </a:rPr>
              <a:t>P</a:t>
            </a:r>
          </a:p>
        </p:txBody>
      </p:sp>
      <p:sp>
        <p:nvSpPr>
          <p:cNvPr id="35859" name="Rectangle 45">
            <a:extLst>
              <a:ext uri="{FF2B5EF4-FFF2-40B4-BE49-F238E27FC236}">
                <a16:creationId xmlns:a16="http://schemas.microsoft.com/office/drawing/2014/main" id="{A59C991A-CF9C-8ECC-A902-D1F0FF74C6EE}"/>
              </a:ext>
            </a:extLst>
          </p:cNvPr>
          <p:cNvSpPr>
            <a:spLocks noChangeArrowheads="1"/>
          </p:cNvSpPr>
          <p:nvPr/>
        </p:nvSpPr>
        <p:spPr bwMode="auto">
          <a:xfrm>
            <a:off x="5651500" y="2546350"/>
            <a:ext cx="280988"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a:solidFill>
                  <a:srgbClr val="000000"/>
                </a:solidFill>
                <a:effectLst/>
                <a:latin typeface="Geneva" charset="0"/>
              </a:rPr>
              <a:t>P</a:t>
            </a:r>
          </a:p>
        </p:txBody>
      </p:sp>
      <p:sp>
        <p:nvSpPr>
          <p:cNvPr id="35860" name="Rectangle 46">
            <a:extLst>
              <a:ext uri="{FF2B5EF4-FFF2-40B4-BE49-F238E27FC236}">
                <a16:creationId xmlns:a16="http://schemas.microsoft.com/office/drawing/2014/main" id="{CA0A4AF5-15AF-3E6C-34F5-E877D4DE4CB8}"/>
              </a:ext>
            </a:extLst>
          </p:cNvPr>
          <p:cNvSpPr>
            <a:spLocks noChangeArrowheads="1"/>
          </p:cNvSpPr>
          <p:nvPr/>
        </p:nvSpPr>
        <p:spPr bwMode="auto">
          <a:xfrm>
            <a:off x="2841625" y="2546350"/>
            <a:ext cx="31432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a:solidFill>
                  <a:srgbClr val="000000"/>
                </a:solidFill>
                <a:effectLst/>
                <a:latin typeface="Geneva" charset="0"/>
              </a:rPr>
              <a:t>M</a:t>
            </a:r>
          </a:p>
        </p:txBody>
      </p:sp>
      <p:sp>
        <p:nvSpPr>
          <p:cNvPr id="35861" name="Rectangle 47">
            <a:extLst>
              <a:ext uri="{FF2B5EF4-FFF2-40B4-BE49-F238E27FC236}">
                <a16:creationId xmlns:a16="http://schemas.microsoft.com/office/drawing/2014/main" id="{DE0FFB72-8DD0-FCF0-CE80-51185D69BC1C}"/>
              </a:ext>
            </a:extLst>
          </p:cNvPr>
          <p:cNvSpPr>
            <a:spLocks noChangeArrowheads="1"/>
          </p:cNvSpPr>
          <p:nvPr/>
        </p:nvSpPr>
        <p:spPr bwMode="auto">
          <a:xfrm>
            <a:off x="4337050" y="2546350"/>
            <a:ext cx="31432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a:solidFill>
                  <a:srgbClr val="000000"/>
                </a:solidFill>
                <a:effectLst/>
                <a:latin typeface="Geneva" charset="0"/>
              </a:rPr>
              <a:t>M</a:t>
            </a:r>
          </a:p>
        </p:txBody>
      </p:sp>
      <p:sp>
        <p:nvSpPr>
          <p:cNvPr id="35862" name="Rectangle 48">
            <a:extLst>
              <a:ext uri="{FF2B5EF4-FFF2-40B4-BE49-F238E27FC236}">
                <a16:creationId xmlns:a16="http://schemas.microsoft.com/office/drawing/2014/main" id="{55E6A224-A28E-3636-E3BD-804F9F70DA13}"/>
              </a:ext>
            </a:extLst>
          </p:cNvPr>
          <p:cNvSpPr>
            <a:spLocks noChangeArrowheads="1"/>
          </p:cNvSpPr>
          <p:nvPr/>
        </p:nvSpPr>
        <p:spPr bwMode="auto">
          <a:xfrm>
            <a:off x="6226175" y="2546350"/>
            <a:ext cx="31432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a:solidFill>
                  <a:srgbClr val="000000"/>
                </a:solidFill>
                <a:effectLst/>
                <a:latin typeface="Geneva" charset="0"/>
              </a:rPr>
              <a:t>M</a:t>
            </a:r>
          </a:p>
        </p:txBody>
      </p:sp>
      <p:sp>
        <p:nvSpPr>
          <p:cNvPr id="106545" name="Line 49">
            <a:extLst>
              <a:ext uri="{FF2B5EF4-FFF2-40B4-BE49-F238E27FC236}">
                <a16:creationId xmlns:a16="http://schemas.microsoft.com/office/drawing/2014/main" id="{E3DFF775-C262-DA66-0E45-B70823C126DB}"/>
              </a:ext>
            </a:extLst>
          </p:cNvPr>
          <p:cNvSpPr>
            <a:spLocks noChangeShapeType="1"/>
          </p:cNvSpPr>
          <p:nvPr/>
        </p:nvSpPr>
        <p:spPr bwMode="auto">
          <a:xfrm>
            <a:off x="4733925" y="2674938"/>
            <a:ext cx="776288" cy="0"/>
          </a:xfrm>
          <a:prstGeom prst="line">
            <a:avLst/>
          </a:prstGeom>
          <a:noFill/>
          <a:ln w="12700">
            <a:solidFill>
              <a:srgbClr val="000000"/>
            </a:solidFill>
            <a:prstDash val="dash"/>
            <a:round/>
            <a:headEnd/>
            <a:tailEnd/>
          </a:ln>
          <a:effectLst/>
        </p:spPr>
        <p:txBody>
          <a:bodyPr/>
          <a:lstStyle/>
          <a:p>
            <a:pPr>
              <a:defRPr/>
            </a:pPr>
            <a:endParaRPr lang="en-US"/>
          </a:p>
        </p:txBody>
      </p:sp>
      <p:sp>
        <p:nvSpPr>
          <p:cNvPr id="106546" name="Rectangle 50">
            <a:extLst>
              <a:ext uri="{FF2B5EF4-FFF2-40B4-BE49-F238E27FC236}">
                <a16:creationId xmlns:a16="http://schemas.microsoft.com/office/drawing/2014/main" id="{814BF2BD-EE5C-4BB5-B4EF-CED099891218}"/>
              </a:ext>
            </a:extLst>
          </p:cNvPr>
          <p:cNvSpPr>
            <a:spLocks noGrp="1" noChangeArrowheads="1"/>
          </p:cNvSpPr>
          <p:nvPr>
            <p:ph type="title"/>
          </p:nvPr>
        </p:nvSpPr>
        <p:spPr/>
        <p:txBody>
          <a:bodyPr/>
          <a:lstStyle/>
          <a:p>
            <a:pPr>
              <a:defRPr/>
            </a:pPr>
            <a:r>
              <a:rPr lang="sr-Latn-CS" altLang="en-US"/>
              <a:t>Arhitekture sa slanjem poruka</a:t>
            </a:r>
            <a:endParaRPr lang="en-US" altLang="en-US"/>
          </a:p>
        </p:txBody>
      </p:sp>
    </p:spTree>
  </p:cSld>
  <p:clrMapOvr>
    <a:masterClrMapping/>
  </p:clrMapOvr>
  <p:transition>
    <p:pull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a:extLst>
              <a:ext uri="{FF2B5EF4-FFF2-40B4-BE49-F238E27FC236}">
                <a16:creationId xmlns:a16="http://schemas.microsoft.com/office/drawing/2014/main" id="{9B3A8F17-63CF-3905-B51A-DEC9D62969A2}"/>
              </a:ext>
            </a:extLst>
          </p:cNvPr>
          <p:cNvSpPr>
            <a:spLocks noGrp="1" noChangeArrowheads="1"/>
          </p:cNvSpPr>
          <p:nvPr>
            <p:ph type="title"/>
          </p:nvPr>
        </p:nvSpPr>
        <p:spPr/>
        <p:txBody>
          <a:bodyPr/>
          <a:lstStyle/>
          <a:p>
            <a:pPr>
              <a:defRPr/>
            </a:pPr>
            <a:r>
              <a:rPr lang="hr-HR" altLang="en-US"/>
              <a:t>Konflikti kod pristupa deljivoj memoriji</a:t>
            </a:r>
            <a:endParaRPr lang="en-US" altLang="en-US"/>
          </a:p>
        </p:txBody>
      </p:sp>
      <p:sp>
        <p:nvSpPr>
          <p:cNvPr id="19464" name="Rectangle 8">
            <a:extLst>
              <a:ext uri="{FF2B5EF4-FFF2-40B4-BE49-F238E27FC236}">
                <a16:creationId xmlns:a16="http://schemas.microsoft.com/office/drawing/2014/main" id="{41C284DD-8A1B-79CE-DB9A-AB724984D49A}"/>
              </a:ext>
            </a:extLst>
          </p:cNvPr>
          <p:cNvSpPr>
            <a:spLocks noGrp="1" noChangeArrowheads="1"/>
          </p:cNvSpPr>
          <p:nvPr>
            <p:ph type="body" idx="1"/>
          </p:nvPr>
        </p:nvSpPr>
        <p:spPr/>
        <p:txBody>
          <a:bodyPr/>
          <a:lstStyle/>
          <a:p>
            <a:pPr>
              <a:defRPr/>
            </a:pPr>
            <a:r>
              <a:rPr lang="hr-HR" altLang="en-US"/>
              <a:t>Komunikacija preko deljive memorije je brža od komunikacije slanjem poruka</a:t>
            </a:r>
          </a:p>
          <a:p>
            <a:pPr lvl="1">
              <a:defRPr/>
            </a:pPr>
            <a:r>
              <a:rPr lang="hr-HR" altLang="en-US"/>
              <a:t>Korišćenje deljive memorije za komunikaciju može dovesti do problema kada procesori simultano pristupaju istoj memorijskoj lokaciji</a:t>
            </a:r>
          </a:p>
          <a:p>
            <a:pPr>
              <a:defRPr/>
            </a:pPr>
            <a:r>
              <a:rPr lang="hr-HR" altLang="en-US"/>
              <a:t>Primer:</a:t>
            </a:r>
          </a:p>
          <a:p>
            <a:pPr lvl="1">
              <a:defRPr/>
            </a:pPr>
            <a:r>
              <a:rPr lang="hr-HR" altLang="en-US"/>
              <a:t>Pretpostavimo da se u deljivoj memoriji nalazi promenljiva x čija je inicijalna vrednost 0. </a:t>
            </a:r>
          </a:p>
          <a:p>
            <a:pPr lvl="1">
              <a:defRPr/>
            </a:pPr>
            <a:r>
              <a:rPr lang="en-US" altLang="en-US"/>
              <a:t>Procesor </a:t>
            </a:r>
            <a:r>
              <a:rPr lang="sr-Latn-CS" altLang="en-US"/>
              <a:t>P</a:t>
            </a:r>
            <a:r>
              <a:rPr lang="en-US" altLang="en-US"/>
              <a:t>1 </a:t>
            </a:r>
            <a:r>
              <a:rPr lang="hr-HR" altLang="en-US"/>
              <a:t>dodaje </a:t>
            </a:r>
            <a:r>
              <a:rPr lang="en-US" altLang="en-US"/>
              <a:t> 1  </a:t>
            </a:r>
            <a:r>
              <a:rPr lang="hr-HR" altLang="en-US"/>
              <a:t>promenljivoj </a:t>
            </a:r>
            <a:r>
              <a:rPr lang="en-US" altLang="en-US"/>
              <a:t>x</a:t>
            </a:r>
            <a:endParaRPr lang="sr-Latn-CS" altLang="en-US"/>
          </a:p>
          <a:p>
            <a:pPr lvl="1">
              <a:defRPr/>
            </a:pPr>
            <a:r>
              <a:rPr lang="sr-Latn-CS" altLang="en-US"/>
              <a:t>P</a:t>
            </a:r>
            <a:r>
              <a:rPr lang="en-US" altLang="en-US"/>
              <a:t>rocesor </a:t>
            </a:r>
            <a:r>
              <a:rPr lang="sr-Latn-CS" altLang="en-US"/>
              <a:t>P</a:t>
            </a:r>
            <a:r>
              <a:rPr lang="en-US" altLang="en-US"/>
              <a:t>2 </a:t>
            </a:r>
            <a:r>
              <a:rPr lang="hr-HR" altLang="en-US"/>
              <a:t>dodaje </a:t>
            </a:r>
            <a:r>
              <a:rPr lang="en-US" altLang="en-US"/>
              <a:t> 2 </a:t>
            </a:r>
            <a:r>
              <a:rPr lang="hr-HR" altLang="en-US"/>
              <a:t>promenljivoj x. </a:t>
            </a:r>
          </a:p>
          <a:p>
            <a:pPr lvl="1">
              <a:defRPr/>
            </a:pPr>
            <a:r>
              <a:rPr lang="hr-HR" altLang="en-US"/>
              <a:t>Koja je krajnja vrednost za x? </a:t>
            </a:r>
            <a:endParaRPr lang="en-US" altLang="en-US"/>
          </a:p>
          <a:p>
            <a:pPr>
              <a:defRPr/>
            </a:pPr>
            <a:endParaRPr lang="hr-HR" altLang="en-US"/>
          </a:p>
          <a:p>
            <a:pPr>
              <a:defRPr/>
            </a:pPr>
            <a:endParaRPr lang="en-US" altLang="en-US"/>
          </a:p>
          <a:p>
            <a:pPr>
              <a:defRPr/>
            </a:pPr>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A2B44275-68DA-1271-5D8B-3A611A3A46CB}"/>
              </a:ext>
            </a:extLst>
          </p:cNvPr>
          <p:cNvSpPr>
            <a:spLocks noChangeArrowheads="1"/>
          </p:cNvSpPr>
          <p:nvPr/>
        </p:nvSpPr>
        <p:spPr bwMode="auto">
          <a:xfrm>
            <a:off x="685800" y="3810000"/>
            <a:ext cx="77724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spcBef>
                <a:spcPct val="20000"/>
              </a:spcBef>
            </a:pPr>
            <a:r>
              <a:rPr lang="hr-HR" altLang="en-US" sz="2000">
                <a:effectLst/>
                <a:latin typeface="Times New Roman" panose="02020603050405020304" pitchFamily="18" charset="0"/>
              </a:rPr>
              <a:t>Moguće su sledeće vrednosti:</a:t>
            </a:r>
            <a:endParaRPr lang="en-US" altLang="en-US" sz="2000">
              <a:effectLst/>
              <a:latin typeface="Times New Roman" panose="02020603050405020304" pitchFamily="18" charset="0"/>
            </a:endParaRPr>
          </a:p>
          <a:p>
            <a:pPr eaLnBrk="1" hangingPunct="1">
              <a:lnSpc>
                <a:spcPct val="90000"/>
              </a:lnSpc>
              <a:spcBef>
                <a:spcPct val="20000"/>
              </a:spcBef>
              <a:buFontTx/>
              <a:buAutoNum type="arabicPeriod"/>
            </a:pPr>
            <a:r>
              <a:rPr lang="hr-HR" altLang="en-US" sz="2000">
                <a:effectLst/>
                <a:latin typeface="Times New Roman" panose="02020603050405020304" pitchFamily="18" charset="0"/>
              </a:rPr>
              <a:t>Ako P1 obavi </a:t>
            </a:r>
            <a:r>
              <a:rPr lang="en-US" altLang="en-US" sz="2000">
                <a:effectLst/>
                <a:latin typeface="Times New Roman" panose="02020603050405020304" pitchFamily="18" charset="0"/>
              </a:rPr>
              <a:t>x=x+1 </a:t>
            </a:r>
            <a:r>
              <a:rPr lang="hr-HR" altLang="en-US" sz="2000">
                <a:effectLst/>
                <a:latin typeface="Times New Roman" panose="02020603050405020304" pitchFamily="18" charset="0"/>
              </a:rPr>
              <a:t>pre nego što </a:t>
            </a:r>
            <a:r>
              <a:rPr lang="en-US" altLang="en-US" sz="2000">
                <a:effectLst/>
                <a:latin typeface="Times New Roman" panose="02020603050405020304" pitchFamily="18" charset="0"/>
              </a:rPr>
              <a:t>P2 </a:t>
            </a:r>
            <a:r>
              <a:rPr lang="hr-HR" altLang="en-US" sz="2000">
                <a:effectLst/>
                <a:latin typeface="Times New Roman" panose="02020603050405020304" pitchFamily="18" charset="0"/>
              </a:rPr>
              <a:t>pročita vrednost x izmemorije, tada je krajnja vrednost za x</a:t>
            </a:r>
            <a:r>
              <a:rPr lang="en-US" altLang="en-US" sz="2000">
                <a:effectLst/>
                <a:latin typeface="Times New Roman" panose="02020603050405020304" pitchFamily="18" charset="0"/>
              </a:rPr>
              <a:t>,</a:t>
            </a:r>
            <a:r>
              <a:rPr lang="hr-HR" altLang="en-US" sz="2000">
                <a:effectLst/>
                <a:latin typeface="Times New Roman" panose="02020603050405020304" pitchFamily="18" charset="0"/>
              </a:rPr>
              <a:t> 3.Slično, ako P2 obavi x+2 pre nego što P1 pročita x, krajnja vrednost za x je 3.</a:t>
            </a:r>
            <a:endParaRPr lang="en-US" altLang="en-US" sz="2000">
              <a:effectLst/>
              <a:latin typeface="Times New Roman" panose="02020603050405020304" pitchFamily="18" charset="0"/>
            </a:endParaRPr>
          </a:p>
          <a:p>
            <a:pPr eaLnBrk="1" hangingPunct="1">
              <a:lnSpc>
                <a:spcPct val="90000"/>
              </a:lnSpc>
              <a:spcBef>
                <a:spcPct val="20000"/>
              </a:spcBef>
              <a:buFontTx/>
              <a:buAutoNum type="arabicPeriod"/>
            </a:pPr>
            <a:r>
              <a:rPr lang="hr-HR" altLang="en-US" sz="2000">
                <a:effectLst/>
                <a:latin typeface="Times New Roman" panose="02020603050405020304" pitchFamily="18" charset="0"/>
              </a:rPr>
              <a:t>Ako P1 ili P2 pročita x iz memorije pre nego što drugi procesor obavi upis, tada krajnja vrednost x zavisi od toga koji je procesor poslednji izvršio upis </a:t>
            </a:r>
          </a:p>
          <a:p>
            <a:pPr lvl="1" eaLnBrk="1" hangingPunct="1">
              <a:lnSpc>
                <a:spcPct val="90000"/>
              </a:lnSpc>
              <a:spcBef>
                <a:spcPct val="20000"/>
              </a:spcBef>
            </a:pPr>
            <a:r>
              <a:rPr lang="hr-HR" altLang="en-US" sz="2000">
                <a:effectLst/>
                <a:latin typeface="Times New Roman" panose="02020603050405020304" pitchFamily="18" charset="0"/>
              </a:rPr>
              <a:t>- Ako P1 obavi poslednji upis, vrednost x je 1</a:t>
            </a:r>
            <a:endParaRPr lang="en-US" altLang="en-US" sz="2000">
              <a:effectLst/>
              <a:latin typeface="Times New Roman" panose="02020603050405020304" pitchFamily="18" charset="0"/>
            </a:endParaRPr>
          </a:p>
          <a:p>
            <a:pPr lvl="1" eaLnBrk="1" hangingPunct="1">
              <a:lnSpc>
                <a:spcPct val="90000"/>
              </a:lnSpc>
              <a:spcBef>
                <a:spcPct val="20000"/>
              </a:spcBef>
              <a:buFontTx/>
              <a:buChar char="–"/>
            </a:pPr>
            <a:r>
              <a:rPr lang="hr-HR" altLang="en-US" sz="2000">
                <a:effectLst/>
                <a:latin typeface="Times New Roman" panose="02020603050405020304" pitchFamily="18" charset="0"/>
              </a:rPr>
              <a:t>Ako P2 obavi poslednji upis , vrednost x je 2</a:t>
            </a:r>
            <a:endParaRPr lang="en-US" altLang="en-US" sz="2000">
              <a:effectLst/>
              <a:latin typeface="Times New Roman" panose="02020603050405020304" pitchFamily="18" charset="0"/>
            </a:endParaRPr>
          </a:p>
        </p:txBody>
      </p:sp>
      <p:sp>
        <p:nvSpPr>
          <p:cNvPr id="20484" name="Line 4">
            <a:extLst>
              <a:ext uri="{FF2B5EF4-FFF2-40B4-BE49-F238E27FC236}">
                <a16:creationId xmlns:a16="http://schemas.microsoft.com/office/drawing/2014/main" id="{6742A73F-E790-4E6D-5105-59466B16ED84}"/>
              </a:ext>
            </a:extLst>
          </p:cNvPr>
          <p:cNvSpPr>
            <a:spLocks noChangeShapeType="1"/>
          </p:cNvSpPr>
          <p:nvPr/>
        </p:nvSpPr>
        <p:spPr bwMode="auto">
          <a:xfrm flipH="1">
            <a:off x="1462088" y="1905000"/>
            <a:ext cx="1600200" cy="1295400"/>
          </a:xfrm>
          <a:prstGeom prst="line">
            <a:avLst/>
          </a:prstGeom>
          <a:noFill/>
          <a:ln w="22225">
            <a:solidFill>
              <a:schemeClr val="tx1"/>
            </a:solidFill>
            <a:round/>
            <a:headEnd/>
            <a:tailEnd/>
          </a:ln>
          <a:effectLst/>
        </p:spPr>
        <p:txBody>
          <a:bodyPr/>
          <a:lstStyle/>
          <a:p>
            <a:pPr>
              <a:defRPr/>
            </a:pPr>
            <a:endParaRPr lang="en-US"/>
          </a:p>
        </p:txBody>
      </p:sp>
      <p:sp>
        <p:nvSpPr>
          <p:cNvPr id="20485" name="Line 5">
            <a:extLst>
              <a:ext uri="{FF2B5EF4-FFF2-40B4-BE49-F238E27FC236}">
                <a16:creationId xmlns:a16="http://schemas.microsoft.com/office/drawing/2014/main" id="{947F0C70-2897-1F8C-DA4A-DF483001E3D1}"/>
              </a:ext>
            </a:extLst>
          </p:cNvPr>
          <p:cNvSpPr>
            <a:spLocks noChangeShapeType="1"/>
          </p:cNvSpPr>
          <p:nvPr/>
        </p:nvSpPr>
        <p:spPr bwMode="auto">
          <a:xfrm>
            <a:off x="3062288" y="1905000"/>
            <a:ext cx="1752600" cy="1371600"/>
          </a:xfrm>
          <a:prstGeom prst="line">
            <a:avLst/>
          </a:prstGeom>
          <a:noFill/>
          <a:ln w="22225">
            <a:solidFill>
              <a:schemeClr val="tx1"/>
            </a:solidFill>
            <a:round/>
            <a:headEnd/>
            <a:tailEnd/>
          </a:ln>
          <a:effectLst/>
        </p:spPr>
        <p:txBody>
          <a:bodyPr/>
          <a:lstStyle/>
          <a:p>
            <a:pPr>
              <a:defRPr/>
            </a:pPr>
            <a:endParaRPr lang="en-US"/>
          </a:p>
        </p:txBody>
      </p:sp>
      <p:sp>
        <p:nvSpPr>
          <p:cNvPr id="37893" name="Oval 6">
            <a:extLst>
              <a:ext uri="{FF2B5EF4-FFF2-40B4-BE49-F238E27FC236}">
                <a16:creationId xmlns:a16="http://schemas.microsoft.com/office/drawing/2014/main" id="{A086D2D7-76A7-11F8-2678-B9E33822360B}"/>
              </a:ext>
            </a:extLst>
          </p:cNvPr>
          <p:cNvSpPr>
            <a:spLocks noChangeArrowheads="1"/>
          </p:cNvSpPr>
          <p:nvPr/>
        </p:nvSpPr>
        <p:spPr bwMode="auto">
          <a:xfrm>
            <a:off x="2071688" y="1371600"/>
            <a:ext cx="2286000" cy="11430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hr-HR" altLang="en-US" sz="2400">
                <a:solidFill>
                  <a:schemeClr val="tx2"/>
                </a:solidFill>
                <a:effectLst/>
                <a:latin typeface="Times New Roman" panose="02020603050405020304" pitchFamily="18" charset="0"/>
              </a:rPr>
              <a:t>Deljiva</a:t>
            </a:r>
            <a:r>
              <a:rPr lang="hr-HR" altLang="en-US" sz="2400">
                <a:effectLst/>
                <a:latin typeface="Times New Roman" panose="02020603050405020304" pitchFamily="18" charset="0"/>
              </a:rPr>
              <a:t> </a:t>
            </a:r>
            <a:r>
              <a:rPr lang="hr-HR" altLang="en-US" sz="2400">
                <a:solidFill>
                  <a:schemeClr val="tx2"/>
                </a:solidFill>
                <a:effectLst/>
                <a:latin typeface="Times New Roman" panose="02020603050405020304" pitchFamily="18" charset="0"/>
              </a:rPr>
              <a:t>memorija</a:t>
            </a:r>
            <a:endParaRPr lang="en-US" altLang="en-US" sz="2400">
              <a:solidFill>
                <a:schemeClr val="tx2"/>
              </a:solidFill>
              <a:effectLst/>
              <a:latin typeface="Times New Roman" panose="02020603050405020304" pitchFamily="18" charset="0"/>
            </a:endParaRPr>
          </a:p>
          <a:p>
            <a:pPr algn="ctr" eaLnBrk="1" hangingPunct="1"/>
            <a:r>
              <a:rPr lang="en-US" altLang="en-US" sz="2400">
                <a:solidFill>
                  <a:schemeClr val="tx2"/>
                </a:solidFill>
                <a:effectLst/>
                <a:latin typeface="Times New Roman" panose="02020603050405020304" pitchFamily="18" charset="0"/>
              </a:rPr>
              <a:t>X = 0</a:t>
            </a:r>
          </a:p>
        </p:txBody>
      </p:sp>
      <p:sp>
        <p:nvSpPr>
          <p:cNvPr id="37894" name="Oval 7">
            <a:extLst>
              <a:ext uri="{FF2B5EF4-FFF2-40B4-BE49-F238E27FC236}">
                <a16:creationId xmlns:a16="http://schemas.microsoft.com/office/drawing/2014/main" id="{9665331B-D4ED-1ECA-B2AB-B502EB568DFF}"/>
              </a:ext>
            </a:extLst>
          </p:cNvPr>
          <p:cNvSpPr>
            <a:spLocks noChangeArrowheads="1"/>
          </p:cNvSpPr>
          <p:nvPr/>
        </p:nvSpPr>
        <p:spPr bwMode="auto">
          <a:xfrm>
            <a:off x="679450" y="2641600"/>
            <a:ext cx="1719263" cy="965200"/>
          </a:xfrm>
          <a:prstGeom prst="ellipse">
            <a:avLst/>
          </a:prstGeom>
          <a:solidFill>
            <a:schemeClr val="accent1"/>
          </a:solidFill>
          <a:ln w="9525">
            <a:solidFill>
              <a:schemeClr val="tx1"/>
            </a:solidFill>
            <a:round/>
            <a:headEnd/>
            <a:tailEnd/>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a:solidFill>
                  <a:schemeClr val="tx2"/>
                </a:solidFill>
                <a:effectLst/>
                <a:latin typeface="Times New Roman" panose="02020603050405020304" pitchFamily="18" charset="0"/>
              </a:rPr>
              <a:t>Procesor 1</a:t>
            </a:r>
          </a:p>
          <a:p>
            <a:pPr algn="ctr" eaLnBrk="1" hangingPunct="1"/>
            <a:r>
              <a:rPr lang="en-US" altLang="en-US" sz="2000">
                <a:solidFill>
                  <a:schemeClr val="tx2"/>
                </a:solidFill>
                <a:effectLst/>
                <a:latin typeface="Times New Roman" panose="02020603050405020304" pitchFamily="18" charset="0"/>
              </a:rPr>
              <a:t>X = X + 1</a:t>
            </a:r>
          </a:p>
        </p:txBody>
      </p:sp>
      <p:sp>
        <p:nvSpPr>
          <p:cNvPr id="37895" name="Oval 8">
            <a:extLst>
              <a:ext uri="{FF2B5EF4-FFF2-40B4-BE49-F238E27FC236}">
                <a16:creationId xmlns:a16="http://schemas.microsoft.com/office/drawing/2014/main" id="{4306F8FE-F717-9A0C-CF4C-04448A6680BA}"/>
              </a:ext>
            </a:extLst>
          </p:cNvPr>
          <p:cNvSpPr>
            <a:spLocks noChangeArrowheads="1"/>
          </p:cNvSpPr>
          <p:nvPr/>
        </p:nvSpPr>
        <p:spPr bwMode="auto">
          <a:xfrm>
            <a:off x="3894138" y="2643188"/>
            <a:ext cx="1719262" cy="965200"/>
          </a:xfrm>
          <a:prstGeom prst="ellipse">
            <a:avLst/>
          </a:prstGeom>
          <a:solidFill>
            <a:schemeClr val="accent1"/>
          </a:solidFill>
          <a:ln w="9525">
            <a:solidFill>
              <a:schemeClr val="tx1"/>
            </a:solidFill>
            <a:round/>
            <a:headEnd/>
            <a:tailEnd/>
          </a:ln>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a:solidFill>
                  <a:schemeClr val="tx2"/>
                </a:solidFill>
                <a:effectLst/>
                <a:latin typeface="Times New Roman" panose="02020603050405020304" pitchFamily="18" charset="0"/>
              </a:rPr>
              <a:t>Procesor 2</a:t>
            </a:r>
          </a:p>
          <a:p>
            <a:pPr algn="ctr" eaLnBrk="1" hangingPunct="1"/>
            <a:r>
              <a:rPr lang="en-US" altLang="en-US" sz="2000">
                <a:solidFill>
                  <a:schemeClr val="tx2"/>
                </a:solidFill>
                <a:effectLst/>
                <a:latin typeface="Times New Roman" panose="02020603050405020304" pitchFamily="18" charset="0"/>
              </a:rPr>
              <a:t>X = X + 2</a:t>
            </a:r>
          </a:p>
        </p:txBody>
      </p:sp>
      <p:sp>
        <p:nvSpPr>
          <p:cNvPr id="20489" name="Text Box 9">
            <a:extLst>
              <a:ext uri="{FF2B5EF4-FFF2-40B4-BE49-F238E27FC236}">
                <a16:creationId xmlns:a16="http://schemas.microsoft.com/office/drawing/2014/main" id="{0BFB4D7D-B09E-FAA7-E125-68E0C0682DD3}"/>
              </a:ext>
            </a:extLst>
          </p:cNvPr>
          <p:cNvSpPr txBox="1">
            <a:spLocks noChangeArrowheads="1"/>
          </p:cNvSpPr>
          <p:nvPr/>
        </p:nvSpPr>
        <p:spPr bwMode="auto">
          <a:xfrm>
            <a:off x="5943600" y="1676400"/>
            <a:ext cx="2743200" cy="1196975"/>
          </a:xfrm>
          <a:prstGeom prst="rect">
            <a:avLst/>
          </a:prstGeom>
          <a:solidFill>
            <a:srgbClr val="CCFFCC"/>
          </a:solidFill>
          <a:ln w="9525">
            <a:solidFill>
              <a:schemeClr val="tx1"/>
            </a:solidFill>
            <a:miter lim="800000"/>
            <a:headEnd/>
            <a:tailEnd/>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hr-HR" altLang="en-US" sz="2400">
                <a:effectLst/>
                <a:latin typeface="Times New Roman" panose="02020603050405020304" pitchFamily="18" charset="0"/>
              </a:rPr>
              <a:t>Ovo je primer nedeterminisanosti u izvršenju</a:t>
            </a:r>
            <a:endParaRPr lang="en-US" altLang="en-US" sz="2400">
              <a:effectLst/>
              <a:latin typeface="Times New Roman" panose="02020603050405020304" pitchFamily="18" charset="0"/>
            </a:endParaRPr>
          </a:p>
        </p:txBody>
      </p:sp>
      <p:sp>
        <p:nvSpPr>
          <p:cNvPr id="37897" name="Rectangle 10">
            <a:extLst>
              <a:ext uri="{FF2B5EF4-FFF2-40B4-BE49-F238E27FC236}">
                <a16:creationId xmlns:a16="http://schemas.microsoft.com/office/drawing/2014/main" id="{751A6763-9EC0-7823-9031-EAC12E95C829}"/>
              </a:ext>
            </a:extLst>
          </p:cNvPr>
          <p:cNvSpPr>
            <a:spLocks noGrp="1" noChangeArrowheads="1"/>
          </p:cNvSpPr>
          <p:nvPr>
            <p:ph type="title"/>
          </p:nvPr>
        </p:nvSpPr>
        <p:spPr>
          <a:xfrm>
            <a:off x="0" y="0"/>
            <a:ext cx="9144000" cy="579438"/>
          </a:xfrm>
        </p:spPr>
        <p:txBody>
          <a:bodyPr/>
          <a:lstStyle/>
          <a:p>
            <a:r>
              <a:rPr kumimoji="0" lang="hr-HR" altLang="en-US" sz="3200">
                <a:effectLst/>
              </a:rPr>
              <a:t>Konflikti kod pristupa deljivoj mem. (nastavak)</a:t>
            </a:r>
            <a:endParaRPr kumimoji="0" lang="en-US" altLang="en-US" sz="3200">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Effect transition="in" filter="blinds(horizontal)">
                                      <p:cBhvr>
                                        <p:cTn id="7" dur="500"/>
                                        <p:tgtEl>
                                          <p:spTgt spid="2048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483">
                                            <p:txEl>
                                              <p:pRg st="2" end="2"/>
                                            </p:txEl>
                                          </p:spTgt>
                                        </p:tgtEl>
                                        <p:attrNameLst>
                                          <p:attrName>style.visibility</p:attrName>
                                        </p:attrNameLst>
                                      </p:cBhvr>
                                      <p:to>
                                        <p:strVal val="visible"/>
                                      </p:to>
                                    </p:set>
                                    <p:animEffect transition="in" filter="blinds(horizontal)">
                                      <p:cBhvr>
                                        <p:cTn id="12" dur="500"/>
                                        <p:tgtEl>
                                          <p:spTgt spid="2048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0483">
                                            <p:txEl>
                                              <p:pRg st="3" end="3"/>
                                            </p:txEl>
                                          </p:spTgt>
                                        </p:tgtEl>
                                        <p:attrNameLst>
                                          <p:attrName>style.visibility</p:attrName>
                                        </p:attrNameLst>
                                      </p:cBhvr>
                                      <p:to>
                                        <p:strVal val="visible"/>
                                      </p:to>
                                    </p:set>
                                    <p:animEffect transition="in" filter="box(in)">
                                      <p:cBhvr>
                                        <p:cTn id="17" dur="500"/>
                                        <p:tgtEl>
                                          <p:spTgt spid="2048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20483">
                                            <p:txEl>
                                              <p:pRg st="4" end="4"/>
                                            </p:txEl>
                                          </p:spTgt>
                                        </p:tgtEl>
                                        <p:attrNameLst>
                                          <p:attrName>style.visibility</p:attrName>
                                        </p:attrNameLst>
                                      </p:cBhvr>
                                      <p:to>
                                        <p:strVal val="visible"/>
                                      </p:to>
                                    </p:set>
                                    <p:animEffect transition="in" filter="box(in)">
                                      <p:cBhvr>
                                        <p:cTn id="22" dur="500"/>
                                        <p:tgtEl>
                                          <p:spTgt spid="2048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04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9"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2" name="Rectangle 8">
            <a:extLst>
              <a:ext uri="{FF2B5EF4-FFF2-40B4-BE49-F238E27FC236}">
                <a16:creationId xmlns:a16="http://schemas.microsoft.com/office/drawing/2014/main" id="{D214ACD4-96CB-E835-21B9-FC868B532179}"/>
              </a:ext>
            </a:extLst>
          </p:cNvPr>
          <p:cNvSpPr>
            <a:spLocks noGrp="1" noChangeArrowheads="1"/>
          </p:cNvSpPr>
          <p:nvPr>
            <p:ph type="title"/>
          </p:nvPr>
        </p:nvSpPr>
        <p:spPr/>
        <p:txBody>
          <a:bodyPr/>
          <a:lstStyle/>
          <a:p>
            <a:pPr>
              <a:defRPr/>
            </a:pPr>
            <a:r>
              <a:rPr lang="hr-HR" altLang="en-US"/>
              <a:t>Nedeterminisanost</a:t>
            </a:r>
            <a:endParaRPr lang="en-US" altLang="en-US"/>
          </a:p>
        </p:txBody>
      </p:sp>
      <p:sp>
        <p:nvSpPr>
          <p:cNvPr id="21513" name="Rectangle 9">
            <a:extLst>
              <a:ext uri="{FF2B5EF4-FFF2-40B4-BE49-F238E27FC236}">
                <a16:creationId xmlns:a16="http://schemas.microsoft.com/office/drawing/2014/main" id="{51EAA117-013D-DED0-5DBA-743392FD439F}"/>
              </a:ext>
            </a:extLst>
          </p:cNvPr>
          <p:cNvSpPr>
            <a:spLocks noGrp="1" noChangeArrowheads="1"/>
          </p:cNvSpPr>
          <p:nvPr>
            <p:ph type="body" idx="1"/>
          </p:nvPr>
        </p:nvSpPr>
        <p:spPr/>
        <p:txBody>
          <a:bodyPr/>
          <a:lstStyle/>
          <a:p>
            <a:pPr>
              <a:defRPr/>
            </a:pPr>
            <a:r>
              <a:rPr lang="hr-HR" altLang="en-US"/>
              <a:t>Nedeterminisanost je uzrokovana trkom</a:t>
            </a:r>
            <a:r>
              <a:rPr lang="en-US" altLang="en-US"/>
              <a:t>.</a:t>
            </a:r>
          </a:p>
          <a:p>
            <a:pPr lvl="1">
              <a:defRPr/>
            </a:pPr>
            <a:r>
              <a:rPr lang="hr-HR" altLang="en-US"/>
              <a:t>Do trke dolazi kada dve naredbe u konkurentnim taskovima (zadacima) pristupaju istoj memorijskoj lokaciji, pri čemu je bar jedna od naredbi upis u memoriju i pri tome nema nikakvih garancija o redosledu pristupa memoriji. </a:t>
            </a:r>
            <a:endParaRPr lang="en-US" altLang="en-US"/>
          </a:p>
          <a:p>
            <a:pPr>
              <a:defRPr/>
            </a:pPr>
            <a:r>
              <a:rPr lang="hr-HR" altLang="en-US"/>
              <a:t>Problem nedeterminisanosti se može rešiti sinhronizacijom pristupa deljivim podacima. </a:t>
            </a:r>
          </a:p>
          <a:p>
            <a:pPr lvl="1">
              <a:defRPr/>
            </a:pPr>
            <a:r>
              <a:rPr lang="hr-HR" altLang="en-US"/>
              <a:t>Ako su naredbe x+1 i x+2 uzajamno isključive, tada će vrednost x uvek biti 3. </a:t>
            </a:r>
          </a:p>
          <a:p>
            <a:pPr>
              <a:defRPr/>
            </a:pPr>
            <a:r>
              <a:rPr lang="hr-HR" altLang="en-US"/>
              <a:t>Delovi paralelnog programa koji zahtevaju sinhronizaciju da bi se izbegla nedeterminisanost zovu se </a:t>
            </a:r>
            <a:r>
              <a:rPr lang="hr-HR" altLang="en-US" i="1">
                <a:solidFill>
                  <a:schemeClr val="tx1"/>
                </a:solidFill>
              </a:rPr>
              <a:t>kritične sekcije</a:t>
            </a:r>
            <a:r>
              <a:rPr lang="hr-HR" altLang="en-US"/>
              <a:t>. </a:t>
            </a:r>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a:extLst>
              <a:ext uri="{FF2B5EF4-FFF2-40B4-BE49-F238E27FC236}">
                <a16:creationId xmlns:a16="http://schemas.microsoft.com/office/drawing/2014/main" id="{A3F7B447-DB79-7FCB-EF84-696D7F993675}"/>
              </a:ext>
            </a:extLst>
          </p:cNvPr>
          <p:cNvSpPr>
            <a:spLocks noChangeArrowheads="1"/>
          </p:cNvSpPr>
          <p:nvPr/>
        </p:nvSpPr>
        <p:spPr bwMode="auto">
          <a:xfrm>
            <a:off x="685800" y="1981200"/>
            <a:ext cx="77724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hr-HR" altLang="en-US" sz="3200">
                <a:effectLst/>
                <a:latin typeface="Times New Roman" panose="02020603050405020304" pitchFamily="18" charset="0"/>
              </a:rPr>
              <a:t>U sistemima koji koriste deljivu memoriju može se koristiti mehanizam zaključavanja (lock) da bi se obezbedilo uzajamno isključivo pravo pristupa deljivim podacima.</a:t>
            </a:r>
            <a:endParaRPr lang="en-US" altLang="en-US" sz="3200">
              <a:effectLst/>
              <a:latin typeface="Times New Roman" panose="02020603050405020304" pitchFamily="18" charset="0"/>
            </a:endParaRPr>
          </a:p>
        </p:txBody>
      </p:sp>
      <p:sp>
        <p:nvSpPr>
          <p:cNvPr id="39939" name="Text Box 4">
            <a:extLst>
              <a:ext uri="{FF2B5EF4-FFF2-40B4-BE49-F238E27FC236}">
                <a16:creationId xmlns:a16="http://schemas.microsoft.com/office/drawing/2014/main" id="{1491F2ED-1D6A-822B-F090-4E8736A7908D}"/>
              </a:ext>
            </a:extLst>
          </p:cNvPr>
          <p:cNvSpPr txBox="1">
            <a:spLocks noChangeArrowheads="1"/>
          </p:cNvSpPr>
          <p:nvPr/>
        </p:nvSpPr>
        <p:spPr bwMode="auto">
          <a:xfrm>
            <a:off x="838200" y="4298950"/>
            <a:ext cx="3270250" cy="1568450"/>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effectLst/>
                <a:latin typeface="Times New Roman" panose="02020603050405020304" pitchFamily="18" charset="0"/>
              </a:rPr>
              <a:t>Processor 1:</a:t>
            </a:r>
          </a:p>
          <a:p>
            <a:pPr eaLnBrk="1" hangingPunct="1"/>
            <a:r>
              <a:rPr lang="en-US" altLang="en-US" sz="2400">
                <a:effectLst/>
                <a:latin typeface="Times New Roman" panose="02020603050405020304" pitchFamily="18" charset="0"/>
              </a:rPr>
              <a:t>	LOCK (X)</a:t>
            </a:r>
          </a:p>
          <a:p>
            <a:pPr eaLnBrk="1" hangingPunct="1"/>
            <a:r>
              <a:rPr lang="en-US" altLang="en-US" sz="2400">
                <a:effectLst/>
                <a:latin typeface="Times New Roman" panose="02020603050405020304" pitchFamily="18" charset="0"/>
              </a:rPr>
              <a:t>		X = X + 1</a:t>
            </a:r>
          </a:p>
          <a:p>
            <a:pPr eaLnBrk="1" hangingPunct="1"/>
            <a:r>
              <a:rPr lang="en-US" altLang="en-US" sz="2400">
                <a:effectLst/>
                <a:latin typeface="Times New Roman" panose="02020603050405020304" pitchFamily="18" charset="0"/>
              </a:rPr>
              <a:t>	UNLOCK (X)</a:t>
            </a:r>
          </a:p>
        </p:txBody>
      </p:sp>
      <p:sp>
        <p:nvSpPr>
          <p:cNvPr id="39940" name="Text Box 5">
            <a:extLst>
              <a:ext uri="{FF2B5EF4-FFF2-40B4-BE49-F238E27FC236}">
                <a16:creationId xmlns:a16="http://schemas.microsoft.com/office/drawing/2014/main" id="{87F885CE-F09E-C3E8-8909-EC1A84FC0F10}"/>
              </a:ext>
            </a:extLst>
          </p:cNvPr>
          <p:cNvSpPr txBox="1">
            <a:spLocks noChangeArrowheads="1"/>
          </p:cNvSpPr>
          <p:nvPr/>
        </p:nvSpPr>
        <p:spPr bwMode="auto">
          <a:xfrm>
            <a:off x="4800600" y="4298950"/>
            <a:ext cx="3270250" cy="1568450"/>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effectLst/>
                <a:latin typeface="Times New Roman" panose="02020603050405020304" pitchFamily="18" charset="0"/>
              </a:rPr>
              <a:t>Processor 2:</a:t>
            </a:r>
          </a:p>
          <a:p>
            <a:pPr eaLnBrk="1" hangingPunct="1"/>
            <a:r>
              <a:rPr lang="en-US" altLang="en-US" sz="2400">
                <a:effectLst/>
                <a:latin typeface="Times New Roman" panose="02020603050405020304" pitchFamily="18" charset="0"/>
              </a:rPr>
              <a:t>	LOCK (X)</a:t>
            </a:r>
          </a:p>
          <a:p>
            <a:pPr eaLnBrk="1" hangingPunct="1"/>
            <a:r>
              <a:rPr lang="en-US" altLang="en-US" sz="2400">
                <a:effectLst/>
                <a:latin typeface="Times New Roman" panose="02020603050405020304" pitchFamily="18" charset="0"/>
              </a:rPr>
              <a:t>		X = X + 2</a:t>
            </a:r>
          </a:p>
          <a:p>
            <a:pPr eaLnBrk="1" hangingPunct="1"/>
            <a:r>
              <a:rPr lang="en-US" altLang="en-US" sz="2400">
                <a:effectLst/>
                <a:latin typeface="Times New Roman" panose="02020603050405020304" pitchFamily="18" charset="0"/>
              </a:rPr>
              <a:t>	UNLOCK (X)</a:t>
            </a:r>
          </a:p>
        </p:txBody>
      </p:sp>
      <p:sp>
        <p:nvSpPr>
          <p:cNvPr id="39941" name="Rectangle 6">
            <a:extLst>
              <a:ext uri="{FF2B5EF4-FFF2-40B4-BE49-F238E27FC236}">
                <a16:creationId xmlns:a16="http://schemas.microsoft.com/office/drawing/2014/main" id="{32BE1977-7B55-832F-B62F-472FD08CB08F}"/>
              </a:ext>
            </a:extLst>
          </p:cNvPr>
          <p:cNvSpPr>
            <a:spLocks noGrp="1" noChangeArrowheads="1"/>
          </p:cNvSpPr>
          <p:nvPr>
            <p:ph type="title"/>
          </p:nvPr>
        </p:nvSpPr>
        <p:spPr/>
        <p:txBody>
          <a:bodyPr/>
          <a:lstStyle/>
          <a:p>
            <a:r>
              <a:rPr kumimoji="0" lang="hr-HR" altLang="en-US">
                <a:effectLst/>
              </a:rPr>
              <a:t>Zaključavanje i uzajamno isključivanje</a:t>
            </a:r>
            <a:endParaRPr kumimoji="0" lang="en-US" altLang="en-US">
              <a:effectLs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4" name="Rectangle 4">
            <a:extLst>
              <a:ext uri="{FF2B5EF4-FFF2-40B4-BE49-F238E27FC236}">
                <a16:creationId xmlns:a16="http://schemas.microsoft.com/office/drawing/2014/main" id="{00316977-AEB8-68E7-25E3-1CF798976F7C}"/>
              </a:ext>
            </a:extLst>
          </p:cNvPr>
          <p:cNvSpPr>
            <a:spLocks noGrp="1" noChangeArrowheads="1"/>
          </p:cNvSpPr>
          <p:nvPr>
            <p:ph type="title"/>
          </p:nvPr>
        </p:nvSpPr>
        <p:spPr/>
        <p:txBody>
          <a:bodyPr/>
          <a:lstStyle/>
          <a:p>
            <a:pPr>
              <a:defRPr/>
            </a:pPr>
            <a:r>
              <a:rPr lang="sr-Latn-CS" altLang="en-US"/>
              <a:t>Šta je programeru na raspolaganju?</a:t>
            </a:r>
            <a:endParaRPr lang="en-US" altLang="en-US"/>
          </a:p>
        </p:txBody>
      </p:sp>
      <p:sp>
        <p:nvSpPr>
          <p:cNvPr id="117765" name="Rectangle 5">
            <a:extLst>
              <a:ext uri="{FF2B5EF4-FFF2-40B4-BE49-F238E27FC236}">
                <a16:creationId xmlns:a16="http://schemas.microsoft.com/office/drawing/2014/main" id="{EDB36F2A-1BC0-19D2-AEA8-349EBBC98EC6}"/>
              </a:ext>
            </a:extLst>
          </p:cNvPr>
          <p:cNvSpPr>
            <a:spLocks noGrp="1" noChangeArrowheads="1"/>
          </p:cNvSpPr>
          <p:nvPr>
            <p:ph type="body" idx="1"/>
          </p:nvPr>
        </p:nvSpPr>
        <p:spPr/>
        <p:txBody>
          <a:bodyPr/>
          <a:lstStyle/>
          <a:p>
            <a:pPr>
              <a:lnSpc>
                <a:spcPct val="80000"/>
              </a:lnSpc>
              <a:defRPr/>
            </a:pPr>
            <a:r>
              <a:rPr lang="sr-Latn-CS" altLang="en-US" sz="2000" dirty="0"/>
              <a:t>Sekvencijalni programski jezici – od paralalizirajućeg kompajlera se traži da konvertuje program u paralelni i generiše izvršni kod </a:t>
            </a:r>
          </a:p>
          <a:p>
            <a:pPr lvl="1">
              <a:lnSpc>
                <a:spcPct val="80000"/>
              </a:lnSpc>
              <a:defRPr/>
            </a:pPr>
            <a:r>
              <a:rPr lang="sr-Latn-CS" altLang="en-US" sz="1800" dirty="0"/>
              <a:t>prilaz koji se dans retko koristi</a:t>
            </a:r>
          </a:p>
          <a:p>
            <a:pPr>
              <a:lnSpc>
                <a:spcPct val="80000"/>
              </a:lnSpc>
              <a:defRPr/>
            </a:pPr>
            <a:r>
              <a:rPr lang="sr-Latn-CS" altLang="en-US" sz="2000" dirty="0"/>
              <a:t>Sekvencijalni programski jezici dopunjeni konstrukcijama za deklaraciju deljivih promenljivih i paralelizma</a:t>
            </a:r>
            <a:endParaRPr lang="en-US" altLang="en-US" sz="2000" dirty="0"/>
          </a:p>
          <a:p>
            <a:pPr lvl="1">
              <a:lnSpc>
                <a:spcPct val="80000"/>
              </a:lnSpc>
              <a:defRPr/>
            </a:pPr>
            <a:r>
              <a:rPr lang="sr-Latn-CS" altLang="en-US" sz="1800" dirty="0"/>
              <a:t>Npr</a:t>
            </a:r>
            <a:r>
              <a:rPr lang="en-US" altLang="en-US" sz="1800" dirty="0"/>
              <a:t> UPC (Unified Parallel C) – </a:t>
            </a:r>
            <a:r>
              <a:rPr lang="sr-Latn-CS" altLang="en-US" sz="1800" dirty="0"/>
              <a:t>zahteva </a:t>
            </a:r>
            <a:r>
              <a:rPr lang="en-US" altLang="en-US" sz="1800" dirty="0"/>
              <a:t> UPC </a:t>
            </a:r>
            <a:r>
              <a:rPr lang="sr-Latn-CS" altLang="en-US" sz="1800" dirty="0"/>
              <a:t>k</a:t>
            </a:r>
            <a:r>
              <a:rPr lang="en-US" altLang="en-US" sz="1800" dirty="0" err="1"/>
              <a:t>omp</a:t>
            </a:r>
            <a:r>
              <a:rPr lang="sr-Latn-CS" altLang="en-US" sz="1800" dirty="0"/>
              <a:t>ajler, ACTUS</a:t>
            </a:r>
            <a:r>
              <a:rPr lang="en-US" altLang="en-US" sz="1800" dirty="0"/>
              <a:t>.</a:t>
            </a:r>
            <a:endParaRPr lang="sr-Latn-CS" altLang="en-US" sz="1800" dirty="0"/>
          </a:p>
          <a:p>
            <a:pPr>
              <a:lnSpc>
                <a:spcPct val="80000"/>
              </a:lnSpc>
              <a:defRPr/>
            </a:pPr>
            <a:r>
              <a:rPr lang="sr-Latn-CS" altLang="en-US" sz="2000" dirty="0"/>
              <a:t>Sekvencijalni PJ sa preprocesorskim kompajlerskim direktivama za deklaraciju deljivih promenljivih i paralelizma</a:t>
            </a:r>
            <a:endParaRPr lang="en-US" altLang="en-US" sz="2000" dirty="0"/>
          </a:p>
          <a:p>
            <a:pPr lvl="1">
              <a:lnSpc>
                <a:spcPct val="80000"/>
              </a:lnSpc>
              <a:defRPr/>
            </a:pPr>
            <a:r>
              <a:rPr lang="sr-Latn-CS" altLang="en-US" sz="1800" dirty="0"/>
              <a:t>Npr.</a:t>
            </a:r>
            <a:r>
              <a:rPr lang="en-US" altLang="en-US" sz="1800" dirty="0"/>
              <a:t> OpenMP – </a:t>
            </a:r>
            <a:r>
              <a:rPr lang="en-US" altLang="en-US" sz="1800" dirty="0" err="1"/>
              <a:t>industr</a:t>
            </a:r>
            <a:r>
              <a:rPr lang="sr-Latn-CS" altLang="en-US" sz="1800" dirty="0"/>
              <a:t>ijski </a:t>
            </a:r>
            <a:r>
              <a:rPr lang="en-US" altLang="en-US" sz="1800" dirty="0"/>
              <a:t>standard - </a:t>
            </a:r>
            <a:r>
              <a:rPr lang="sr-Latn-CS" altLang="en-US" sz="1800" dirty="0"/>
              <a:t>potreban</a:t>
            </a:r>
            <a:r>
              <a:rPr lang="en-US" altLang="en-US" sz="1800" dirty="0"/>
              <a:t> OpenMP </a:t>
            </a:r>
            <a:r>
              <a:rPr lang="sr-Latn-CS" altLang="en-US" sz="1800" dirty="0"/>
              <a:t>k</a:t>
            </a:r>
            <a:r>
              <a:rPr lang="en-US" altLang="en-US" sz="1800" dirty="0" err="1"/>
              <a:t>omp</a:t>
            </a:r>
            <a:r>
              <a:rPr lang="sr-Latn-CS" altLang="en-US" sz="1800" dirty="0"/>
              <a:t>ajler</a:t>
            </a:r>
          </a:p>
          <a:p>
            <a:pPr>
              <a:lnSpc>
                <a:spcPct val="80000"/>
              </a:lnSpc>
              <a:defRPr/>
            </a:pPr>
            <a:r>
              <a:rPr lang="sr-Latn-CS" altLang="en-US" sz="2000" dirty="0"/>
              <a:t> Niti (</a:t>
            </a:r>
            <a:r>
              <a:rPr lang="en-US" altLang="en-US" sz="2000" dirty="0"/>
              <a:t>Threads </a:t>
            </a:r>
            <a:r>
              <a:rPr lang="sr-Latn-CS" altLang="en-US" sz="2000" dirty="0"/>
              <a:t>)</a:t>
            </a:r>
            <a:r>
              <a:rPr lang="en-US" altLang="en-US" sz="2000" dirty="0"/>
              <a:t>- </a:t>
            </a:r>
            <a:r>
              <a:rPr lang="en-US" altLang="en-US" sz="2000" dirty="0" err="1"/>
              <a:t>programer</a:t>
            </a:r>
            <a:r>
              <a:rPr lang="en-US" altLang="en-US" sz="2000" dirty="0"/>
              <a:t> </a:t>
            </a:r>
            <a:r>
              <a:rPr lang="sr-Latn-CS" altLang="en-US" sz="2000" dirty="0"/>
              <a:t>vrši dekompoziciju programa na paralelne sekvence (niti) pri čemu svaka nit može da pristupa globalnim promenljivim</a:t>
            </a:r>
            <a:endParaRPr lang="en-US" altLang="en-US" sz="2000" dirty="0"/>
          </a:p>
          <a:p>
            <a:pPr lvl="1">
              <a:lnSpc>
                <a:spcPct val="80000"/>
              </a:lnSpc>
              <a:defRPr/>
            </a:pPr>
            <a:r>
              <a:rPr lang="sr-Latn-CS" altLang="en-US" sz="1800" dirty="0"/>
              <a:t>Npr.</a:t>
            </a:r>
            <a:r>
              <a:rPr lang="en-US" altLang="en-US" sz="1800" dirty="0"/>
              <a:t> </a:t>
            </a:r>
            <a:r>
              <a:rPr lang="en-US" altLang="en-US" sz="1800" dirty="0" err="1"/>
              <a:t>Pthreads</a:t>
            </a:r>
            <a:endParaRPr lang="en-US" altLang="en-US" sz="1800" dirty="0"/>
          </a:p>
          <a:p>
            <a:pPr>
              <a:lnSpc>
                <a:spcPct val="80000"/>
              </a:lnSpc>
              <a:defRPr/>
            </a:pPr>
            <a:r>
              <a:rPr lang="en-US" altLang="en-US" sz="2000" dirty="0"/>
              <a:t>Paral</a:t>
            </a:r>
            <a:r>
              <a:rPr lang="sr-Latn-CS" altLang="en-US" sz="2000" dirty="0"/>
              <a:t>elni programski jezici   </a:t>
            </a:r>
            <a:r>
              <a:rPr lang="en-US" altLang="en-US" sz="2000" dirty="0"/>
              <a:t>-  </a:t>
            </a:r>
            <a:r>
              <a:rPr lang="sr-Latn-CS" altLang="en-US" sz="2000" dirty="0"/>
              <a:t>kompajler kreira izvršni kod za svaki procesor </a:t>
            </a:r>
          </a:p>
          <a:p>
            <a:pPr lvl="1">
              <a:lnSpc>
                <a:spcPct val="80000"/>
              </a:lnSpc>
              <a:defRPr/>
            </a:pPr>
            <a:r>
              <a:rPr lang="sr-Latn-CS" altLang="en-US" sz="1800" dirty="0"/>
              <a:t>Npr. Ada</a:t>
            </a:r>
            <a:endParaRPr lang="en-US" altLang="en-US" sz="1800" dirty="0"/>
          </a:p>
          <a:p>
            <a:pPr>
              <a:lnSpc>
                <a:spcPct val="80000"/>
              </a:lnSpc>
              <a:defRPr/>
            </a:pPr>
            <a:r>
              <a:rPr lang="sr-Latn-CS" altLang="en-US" sz="2000" dirty="0"/>
              <a:t>Biblioteka funkcija za interprocesorsku komunikaciju koje se mogu pozivati iz različitih programskih jezika (C, C++, Fortan, ...)</a:t>
            </a:r>
          </a:p>
          <a:p>
            <a:pPr lvl="1">
              <a:lnSpc>
                <a:spcPct val="80000"/>
              </a:lnSpc>
              <a:defRPr/>
            </a:pPr>
            <a:r>
              <a:rPr lang="sr-Latn-CS" altLang="en-US" sz="1800" dirty="0"/>
              <a:t>MPI (</a:t>
            </a:r>
            <a:r>
              <a:rPr lang="en-US" altLang="en-US" sz="1800" dirty="0"/>
              <a:t>Message-Passing Interface</a:t>
            </a:r>
            <a:r>
              <a:rPr lang="sr-Latn-CS" altLang="en-US" sz="1800" dirty="0"/>
              <a:t>) standard definisan 1990ih.</a:t>
            </a:r>
          </a:p>
          <a:p>
            <a:pPr lvl="1">
              <a:lnSpc>
                <a:spcPct val="80000"/>
              </a:lnSpc>
              <a:defRPr/>
            </a:pPr>
            <a:r>
              <a:rPr lang="en-US" altLang="en-US" sz="1800" dirty="0"/>
              <a:t>P</a:t>
            </a:r>
            <a:r>
              <a:rPr lang="sr-Latn-CS" altLang="en-US" sz="1800" dirty="0"/>
              <a:t>VM (</a:t>
            </a:r>
            <a:r>
              <a:rPr lang="en-US" altLang="en-US" sz="1800" dirty="0"/>
              <a:t>Parallel Virtual Machine</a:t>
            </a:r>
            <a:r>
              <a:rPr lang="sr-Latn-CS" altLang="en-US" sz="1800" dirty="0"/>
              <a:t>) – razvijen krajem 1980-ih</a:t>
            </a:r>
            <a:r>
              <a:rPr lang="en-US" altLang="en-US" sz="1800" dirty="0"/>
              <a:t> </a:t>
            </a:r>
          </a:p>
        </p:txBody>
      </p:sp>
    </p:spTree>
  </p:cSld>
  <p:clrMapOvr>
    <a:masterClrMapping/>
  </p:clrMapOvr>
  <p:transition>
    <p:pull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Rectangle 4">
            <a:extLst>
              <a:ext uri="{FF2B5EF4-FFF2-40B4-BE49-F238E27FC236}">
                <a16:creationId xmlns:a16="http://schemas.microsoft.com/office/drawing/2014/main" id="{E6217115-FD08-B41B-998D-6AE3F455DE88}"/>
              </a:ext>
            </a:extLst>
          </p:cNvPr>
          <p:cNvSpPr>
            <a:spLocks noGrp="1" noChangeArrowheads="1"/>
          </p:cNvSpPr>
          <p:nvPr>
            <p:ph type="ctrTitle"/>
          </p:nvPr>
        </p:nvSpPr>
        <p:spPr/>
        <p:txBody>
          <a:bodyPr/>
          <a:lstStyle/>
          <a:p>
            <a:pPr>
              <a:defRPr/>
            </a:pPr>
            <a:r>
              <a:rPr lang="sr-Latn-CS" altLang="en-US"/>
              <a:t>Performanse paralelnih sistema</a:t>
            </a:r>
            <a:endParaRPr lang="en-US" altLang="en-US"/>
          </a:p>
        </p:txBody>
      </p:sp>
      <p:sp>
        <p:nvSpPr>
          <p:cNvPr id="92165" name="Rectangle 5">
            <a:extLst>
              <a:ext uri="{FF2B5EF4-FFF2-40B4-BE49-F238E27FC236}">
                <a16:creationId xmlns:a16="http://schemas.microsoft.com/office/drawing/2014/main" id="{F87CABB7-40ED-0CC6-CBED-E510B2C5ACE1}"/>
              </a:ext>
            </a:extLst>
          </p:cNvPr>
          <p:cNvSpPr>
            <a:spLocks noGrp="1" noChangeArrowheads="1"/>
          </p:cNvSpPr>
          <p:nvPr>
            <p:ph type="subTitle" idx="1"/>
          </p:nvPr>
        </p:nvSpPr>
        <p:spPr/>
        <p:txBody>
          <a:bodyPr/>
          <a:lstStyle/>
          <a:p>
            <a:pPr>
              <a:defRPr/>
            </a:pPr>
            <a:r>
              <a:rPr lang="sr-Latn-CS" altLang="en-US"/>
              <a:t>Ubrzanje, Efikasnost</a:t>
            </a:r>
            <a:endParaRPr lang="en-US" altLang="en-US"/>
          </a:p>
        </p:txBody>
      </p:sp>
    </p:spTree>
  </p:cSld>
  <p:clrMapOvr>
    <a:masterClrMapping/>
  </p:clrMapOvr>
  <p:transition>
    <p:pull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C13E57B5-95C0-11EB-F23D-2CEEC5546FF4}"/>
              </a:ext>
            </a:extLst>
          </p:cNvPr>
          <p:cNvSpPr>
            <a:spLocks noGrp="1" noChangeArrowheads="1"/>
          </p:cNvSpPr>
          <p:nvPr>
            <p:ph type="title"/>
          </p:nvPr>
        </p:nvSpPr>
        <p:spPr/>
        <p:txBody>
          <a:bodyPr/>
          <a:lstStyle/>
          <a:p>
            <a:pPr>
              <a:defRPr/>
            </a:pPr>
            <a:r>
              <a:rPr lang="hr-HR" altLang="en-US"/>
              <a:t>Ubrzanje sistema</a:t>
            </a:r>
            <a:endParaRPr lang="en-US" altLang="en-US"/>
          </a:p>
        </p:txBody>
      </p:sp>
      <p:sp>
        <p:nvSpPr>
          <p:cNvPr id="75779" name="Rectangle 3">
            <a:extLst>
              <a:ext uri="{FF2B5EF4-FFF2-40B4-BE49-F238E27FC236}">
                <a16:creationId xmlns:a16="http://schemas.microsoft.com/office/drawing/2014/main" id="{030BA103-D4D7-90C4-734E-004A1C94C1C7}"/>
              </a:ext>
            </a:extLst>
          </p:cNvPr>
          <p:cNvSpPr>
            <a:spLocks noGrp="1" noChangeArrowheads="1"/>
          </p:cNvSpPr>
          <p:nvPr>
            <p:ph type="body" idx="1"/>
          </p:nvPr>
        </p:nvSpPr>
        <p:spPr/>
        <p:txBody>
          <a:bodyPr/>
          <a:lstStyle/>
          <a:p>
            <a:pPr>
              <a:defRPr/>
            </a:pPr>
            <a:r>
              <a:rPr lang="hr-HR" altLang="en-US"/>
              <a:t>Kod arhitektura kod kojih je uveden bilo koji vid pobol</a:t>
            </a:r>
            <a:r>
              <a:rPr lang="en-US" altLang="en-US"/>
              <a:t>j</a:t>
            </a:r>
            <a:r>
              <a:rPr lang="hr-HR" altLang="en-US"/>
              <a:t>šanja, može se dati ocena o dobijenom poboljšanju sa stanovišta performansi korišćenjem mere UBRZANJE</a:t>
            </a:r>
          </a:p>
          <a:p>
            <a:pPr lvl="1">
              <a:defRPr/>
            </a:pPr>
            <a:endParaRPr lang="hr-HR" altLang="en-US"/>
          </a:p>
          <a:p>
            <a:pPr lvl="1">
              <a:defRPr/>
            </a:pPr>
            <a:r>
              <a:rPr lang="hr-HR" altLang="en-US"/>
              <a:t>S=</a:t>
            </a:r>
          </a:p>
          <a:p>
            <a:pPr lvl="1">
              <a:defRPr/>
            </a:pPr>
            <a:endParaRPr lang="hr-HR" altLang="en-US"/>
          </a:p>
          <a:p>
            <a:pPr lvl="1">
              <a:defRPr/>
            </a:pPr>
            <a:r>
              <a:rPr lang="hr-HR" altLang="en-US"/>
              <a:t>Za paralelni sistem sa n procesora</a:t>
            </a:r>
          </a:p>
          <a:p>
            <a:pPr lvl="2">
              <a:defRPr/>
            </a:pPr>
            <a:endParaRPr lang="hr-HR" altLang="en-US"/>
          </a:p>
          <a:p>
            <a:pPr lvl="2">
              <a:defRPr/>
            </a:pPr>
            <a:r>
              <a:rPr lang="hr-HR" altLang="en-US"/>
              <a:t>S(n)=</a:t>
            </a:r>
          </a:p>
          <a:p>
            <a:pPr lvl="2">
              <a:defRPr/>
            </a:pPr>
            <a:endParaRPr lang="hr-HR" altLang="en-US"/>
          </a:p>
          <a:p>
            <a:pPr lvl="3">
              <a:defRPr/>
            </a:pPr>
            <a:r>
              <a:rPr lang="hr-HR" altLang="en-US"/>
              <a:t>T(1) vreme izvršenja programa na jednoprocesorskom sistemu</a:t>
            </a:r>
          </a:p>
          <a:p>
            <a:pPr lvl="3">
              <a:defRPr/>
            </a:pPr>
            <a:r>
              <a:rPr lang="hr-HR" altLang="en-US"/>
              <a:t>T(n) vreme izvršenja programa na n-procesorskom sistemu</a:t>
            </a:r>
            <a:endParaRPr lang="en-US" altLang="en-US"/>
          </a:p>
        </p:txBody>
      </p:sp>
      <p:sp>
        <p:nvSpPr>
          <p:cNvPr id="75780" name="Line 4">
            <a:extLst>
              <a:ext uri="{FF2B5EF4-FFF2-40B4-BE49-F238E27FC236}">
                <a16:creationId xmlns:a16="http://schemas.microsoft.com/office/drawing/2014/main" id="{F59066F0-53B4-BE38-0DDC-DEBAFC3CE8B1}"/>
              </a:ext>
            </a:extLst>
          </p:cNvPr>
          <p:cNvSpPr>
            <a:spLocks noChangeShapeType="1"/>
          </p:cNvSpPr>
          <p:nvPr/>
        </p:nvSpPr>
        <p:spPr bwMode="auto">
          <a:xfrm>
            <a:off x="1524000" y="3276600"/>
            <a:ext cx="6324600" cy="0"/>
          </a:xfrm>
          <a:prstGeom prst="line">
            <a:avLst/>
          </a:prstGeom>
          <a:noFill/>
          <a:ln w="9525">
            <a:solidFill>
              <a:schemeClr val="tx1"/>
            </a:solidFill>
            <a:round/>
            <a:headEnd/>
            <a:tailEnd/>
          </a:ln>
          <a:effectLst/>
        </p:spPr>
        <p:txBody>
          <a:bodyPr anchor="b">
            <a:spAutoFit/>
          </a:bodyPr>
          <a:lstStyle/>
          <a:p>
            <a:pPr>
              <a:defRPr/>
            </a:pPr>
            <a:endParaRPr lang="en-US"/>
          </a:p>
        </p:txBody>
      </p:sp>
      <p:sp>
        <p:nvSpPr>
          <p:cNvPr id="52229" name="Text Box 5">
            <a:extLst>
              <a:ext uri="{FF2B5EF4-FFF2-40B4-BE49-F238E27FC236}">
                <a16:creationId xmlns:a16="http://schemas.microsoft.com/office/drawing/2014/main" id="{1D951095-6BDB-CF17-CD70-29A6FD1CBD3B}"/>
              </a:ext>
            </a:extLst>
          </p:cNvPr>
          <p:cNvSpPr txBox="1">
            <a:spLocks noChangeArrowheads="1"/>
          </p:cNvSpPr>
          <p:nvPr/>
        </p:nvSpPr>
        <p:spPr bwMode="auto">
          <a:xfrm>
            <a:off x="1508125" y="2855913"/>
            <a:ext cx="5899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effectLst/>
              </a:rPr>
              <a:t>Vreme izvršenja programa na arhitetkuri bez poboljšanja</a:t>
            </a:r>
            <a:endParaRPr lang="en-US" altLang="en-US">
              <a:effectLst/>
            </a:endParaRPr>
          </a:p>
        </p:txBody>
      </p:sp>
      <p:sp>
        <p:nvSpPr>
          <p:cNvPr id="52230" name="Text Box 6">
            <a:extLst>
              <a:ext uri="{FF2B5EF4-FFF2-40B4-BE49-F238E27FC236}">
                <a16:creationId xmlns:a16="http://schemas.microsoft.com/office/drawing/2014/main" id="{A9DB475A-A2A6-CEB4-F4E9-573CF16F3B87}"/>
              </a:ext>
            </a:extLst>
          </p:cNvPr>
          <p:cNvSpPr txBox="1">
            <a:spLocks noChangeArrowheads="1"/>
          </p:cNvSpPr>
          <p:nvPr/>
        </p:nvSpPr>
        <p:spPr bwMode="auto">
          <a:xfrm>
            <a:off x="1584325" y="3290888"/>
            <a:ext cx="6445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effectLst/>
              </a:rPr>
              <a:t>Vreme izvršenja programa na arh. sa izvedenim poboljšanjem</a:t>
            </a:r>
            <a:endParaRPr lang="en-US" altLang="en-US">
              <a:effectLst/>
            </a:endParaRPr>
          </a:p>
        </p:txBody>
      </p:sp>
      <p:sp>
        <p:nvSpPr>
          <p:cNvPr id="75783" name="Line 7">
            <a:extLst>
              <a:ext uri="{FF2B5EF4-FFF2-40B4-BE49-F238E27FC236}">
                <a16:creationId xmlns:a16="http://schemas.microsoft.com/office/drawing/2014/main" id="{2F6ECE88-B5AB-8630-A6C7-253B07BCB9CF}"/>
              </a:ext>
            </a:extLst>
          </p:cNvPr>
          <p:cNvSpPr>
            <a:spLocks noChangeShapeType="1"/>
          </p:cNvSpPr>
          <p:nvPr/>
        </p:nvSpPr>
        <p:spPr bwMode="auto">
          <a:xfrm>
            <a:off x="2057400" y="4876800"/>
            <a:ext cx="838200" cy="0"/>
          </a:xfrm>
          <a:prstGeom prst="line">
            <a:avLst/>
          </a:prstGeom>
          <a:noFill/>
          <a:ln w="9525">
            <a:solidFill>
              <a:schemeClr val="tx1"/>
            </a:solidFill>
            <a:round/>
            <a:headEnd/>
            <a:tailEnd/>
          </a:ln>
          <a:effectLst/>
        </p:spPr>
        <p:txBody>
          <a:bodyPr wrap="none" anchor="b">
            <a:spAutoFit/>
          </a:bodyPr>
          <a:lstStyle/>
          <a:p>
            <a:pPr>
              <a:defRPr/>
            </a:pPr>
            <a:endParaRPr lang="en-US"/>
          </a:p>
        </p:txBody>
      </p:sp>
      <p:sp>
        <p:nvSpPr>
          <p:cNvPr id="52232" name="Text Box 8">
            <a:extLst>
              <a:ext uri="{FF2B5EF4-FFF2-40B4-BE49-F238E27FC236}">
                <a16:creationId xmlns:a16="http://schemas.microsoft.com/office/drawing/2014/main" id="{A71D4F09-7B3D-133C-64F4-8528A9BC23C6}"/>
              </a:ext>
            </a:extLst>
          </p:cNvPr>
          <p:cNvSpPr txBox="1">
            <a:spLocks noChangeArrowheads="1"/>
          </p:cNvSpPr>
          <p:nvPr/>
        </p:nvSpPr>
        <p:spPr bwMode="auto">
          <a:xfrm>
            <a:off x="2117725" y="4532313"/>
            <a:ext cx="603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effectLst/>
              </a:rPr>
              <a:t>T(1)</a:t>
            </a:r>
            <a:endParaRPr lang="en-US" altLang="en-US">
              <a:effectLst/>
            </a:endParaRPr>
          </a:p>
        </p:txBody>
      </p:sp>
      <p:sp>
        <p:nvSpPr>
          <p:cNvPr id="52233" name="Text Box 9">
            <a:extLst>
              <a:ext uri="{FF2B5EF4-FFF2-40B4-BE49-F238E27FC236}">
                <a16:creationId xmlns:a16="http://schemas.microsoft.com/office/drawing/2014/main" id="{C2554CAB-54BB-F5EA-D36D-48C74CC0DBD3}"/>
              </a:ext>
            </a:extLst>
          </p:cNvPr>
          <p:cNvSpPr txBox="1">
            <a:spLocks noChangeArrowheads="1"/>
          </p:cNvSpPr>
          <p:nvPr/>
        </p:nvSpPr>
        <p:spPr bwMode="auto">
          <a:xfrm>
            <a:off x="2133600" y="4837113"/>
            <a:ext cx="603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effectLst/>
              </a:rPr>
              <a:t>T(n)</a:t>
            </a:r>
            <a:endParaRPr lang="en-US" altLang="en-US">
              <a:effectLst/>
            </a:endParaRPr>
          </a:p>
        </p:txBody>
      </p:sp>
    </p:spTree>
  </p:cSld>
  <p:clrMapOvr>
    <a:masterClrMapping/>
  </p:clrMapOvr>
  <p:transition>
    <p:pull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BB1D2AA0-684F-C676-446F-A2602A2CF6A8}"/>
              </a:ext>
            </a:extLst>
          </p:cNvPr>
          <p:cNvSpPr>
            <a:spLocks noGrp="1" noChangeArrowheads="1"/>
          </p:cNvSpPr>
          <p:nvPr>
            <p:ph type="title"/>
          </p:nvPr>
        </p:nvSpPr>
        <p:spPr/>
        <p:txBody>
          <a:bodyPr/>
          <a:lstStyle/>
          <a:p>
            <a:pPr>
              <a:defRPr/>
            </a:pPr>
            <a:r>
              <a:rPr lang="hr-HR" altLang="en-US"/>
              <a:t>Ubrzanje (nast.)</a:t>
            </a:r>
            <a:endParaRPr lang="en-US" altLang="en-US"/>
          </a:p>
        </p:txBody>
      </p:sp>
      <p:sp>
        <p:nvSpPr>
          <p:cNvPr id="76803" name="Rectangle 3">
            <a:extLst>
              <a:ext uri="{FF2B5EF4-FFF2-40B4-BE49-F238E27FC236}">
                <a16:creationId xmlns:a16="http://schemas.microsoft.com/office/drawing/2014/main" id="{33B64CC4-C686-5FEA-294F-611A99D7A951}"/>
              </a:ext>
            </a:extLst>
          </p:cNvPr>
          <p:cNvSpPr>
            <a:spLocks noGrp="1" noChangeArrowheads="1"/>
          </p:cNvSpPr>
          <p:nvPr>
            <p:ph type="body" idx="1"/>
          </p:nvPr>
        </p:nvSpPr>
        <p:spPr/>
        <p:txBody>
          <a:bodyPr/>
          <a:lstStyle/>
          <a:p>
            <a:pPr>
              <a:defRPr/>
            </a:pPr>
            <a:endParaRPr lang="hr-HR" altLang="en-US"/>
          </a:p>
          <a:p>
            <a:pPr>
              <a:defRPr/>
            </a:pPr>
            <a:endParaRPr lang="hr-HR" altLang="en-US"/>
          </a:p>
          <a:p>
            <a:pPr>
              <a:defRPr/>
            </a:pPr>
            <a:endParaRPr lang="hr-HR" altLang="en-US"/>
          </a:p>
          <a:p>
            <a:pPr>
              <a:defRPr/>
            </a:pPr>
            <a:endParaRPr lang="hr-HR" altLang="en-US"/>
          </a:p>
          <a:p>
            <a:pPr>
              <a:defRPr/>
            </a:pPr>
            <a:r>
              <a:rPr lang="hr-HR" altLang="en-US"/>
              <a:t>Amdahl-ov zakon (krajem 60-ih god. 20.v)</a:t>
            </a:r>
          </a:p>
          <a:p>
            <a:pPr lvl="1">
              <a:defRPr/>
            </a:pPr>
            <a:r>
              <a:rPr lang="hr-HR" altLang="en-US"/>
              <a:t>Postavlja gornju granicu ubrzanja koje se može postići paralelnom obradom</a:t>
            </a:r>
          </a:p>
          <a:p>
            <a:pPr lvl="1">
              <a:defRPr/>
            </a:pPr>
            <a:endParaRPr lang="en-US" altLang="en-US"/>
          </a:p>
        </p:txBody>
      </p:sp>
      <p:graphicFrame>
        <p:nvGraphicFramePr>
          <p:cNvPr id="1026" name="Object 4">
            <a:extLst>
              <a:ext uri="{FF2B5EF4-FFF2-40B4-BE49-F238E27FC236}">
                <a16:creationId xmlns:a16="http://schemas.microsoft.com/office/drawing/2014/main" id="{A13A8FC6-8057-EF84-AE86-1493CCD86855}"/>
              </a:ext>
            </a:extLst>
          </p:cNvPr>
          <p:cNvGraphicFramePr>
            <a:graphicFrameLocks noChangeAspect="1"/>
          </p:cNvGraphicFramePr>
          <p:nvPr/>
        </p:nvGraphicFramePr>
        <p:xfrm>
          <a:off x="2438400" y="1219200"/>
          <a:ext cx="2895600" cy="1385888"/>
        </p:xfrm>
        <a:graphic>
          <a:graphicData uri="http://schemas.openxmlformats.org/presentationml/2006/ole">
            <mc:AlternateContent xmlns:mc="http://schemas.openxmlformats.org/markup-compatibility/2006">
              <mc:Choice xmlns:v="urn:schemas-microsoft-com:vml" Requires="v">
                <p:oleObj name="Equation" r:id="rId2" imgW="1193800" imgH="571500" progId="Equation.3">
                  <p:embed/>
                </p:oleObj>
              </mc:Choice>
              <mc:Fallback>
                <p:oleObj name="Equation" r:id="rId2" imgW="1193800" imgH="5715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219200"/>
                        <a:ext cx="2895600" cy="1385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7" name="Object 5">
            <a:extLst>
              <a:ext uri="{FF2B5EF4-FFF2-40B4-BE49-F238E27FC236}">
                <a16:creationId xmlns:a16="http://schemas.microsoft.com/office/drawing/2014/main" id="{8FEF3F40-1C4C-CC7D-3805-2E4F873A9890}"/>
              </a:ext>
            </a:extLst>
          </p:cNvPr>
          <p:cNvGraphicFramePr>
            <a:graphicFrameLocks noChangeAspect="1"/>
          </p:cNvGraphicFramePr>
          <p:nvPr/>
        </p:nvGraphicFramePr>
        <p:xfrm>
          <a:off x="914400" y="4267200"/>
          <a:ext cx="3733800" cy="2389188"/>
        </p:xfrm>
        <a:graphic>
          <a:graphicData uri="http://schemas.openxmlformats.org/presentationml/2006/ole">
            <mc:AlternateContent xmlns:mc="http://schemas.openxmlformats.org/markup-compatibility/2006">
              <mc:Choice xmlns:v="urn:schemas-microsoft-com:vml" Requires="v">
                <p:oleObj name="Equation" r:id="rId4" imgW="2006600" imgH="1282700" progId="Equation.3">
                  <p:embed/>
                </p:oleObj>
              </mc:Choice>
              <mc:Fallback>
                <p:oleObj name="Equation" r:id="rId4" imgW="2006600" imgH="12827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4267200"/>
                        <a:ext cx="3733800" cy="2389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06" name="AutoShape 6">
            <a:extLst>
              <a:ext uri="{FF2B5EF4-FFF2-40B4-BE49-F238E27FC236}">
                <a16:creationId xmlns:a16="http://schemas.microsoft.com/office/drawing/2014/main" id="{25AFFEBE-6EDC-D8D9-9520-B4A33DAED765}"/>
              </a:ext>
            </a:extLst>
          </p:cNvPr>
          <p:cNvSpPr>
            <a:spLocks noChangeArrowheads="1"/>
          </p:cNvSpPr>
          <p:nvPr/>
        </p:nvSpPr>
        <p:spPr bwMode="auto">
          <a:xfrm>
            <a:off x="4267200" y="5638800"/>
            <a:ext cx="3124200" cy="685800"/>
          </a:xfrm>
          <a:prstGeom prst="wedgeRectCallout">
            <a:avLst>
              <a:gd name="adj1" fmla="val -101370"/>
              <a:gd name="adj2" fmla="val 50000"/>
            </a:avLst>
          </a:prstGeom>
          <a:solidFill>
            <a:schemeClr val="accent1"/>
          </a:solidFill>
          <a:ln w="9525">
            <a:solidFill>
              <a:schemeClr val="tx1"/>
            </a:solidFill>
            <a:miter lim="800000"/>
            <a:headEnd/>
            <a:tailEnd/>
          </a:ln>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hr-HR" altLang="en-US">
                <a:solidFill>
                  <a:schemeClr val="tx2"/>
                </a:solidFill>
                <a:effectLst/>
              </a:rPr>
              <a:t>Npr .</a:t>
            </a:r>
            <a:r>
              <a:rPr lang="hr-HR" altLang="en-US">
                <a:solidFill>
                  <a:schemeClr val="tx2"/>
                </a:solidFill>
                <a:effectLst/>
                <a:sym typeface="Symbol" panose="05050102010706020507" pitchFamily="18" charset="2"/>
              </a:rPr>
              <a:t>=1/20 (5%), S(n)=20</a:t>
            </a:r>
            <a:endParaRPr lang="en-US" altLang="en-US">
              <a:solidFill>
                <a:schemeClr val="tx2"/>
              </a:solidFill>
              <a:effectLst/>
            </a:endParaRPr>
          </a:p>
          <a:p>
            <a:pPr algn="ctr"/>
            <a:endParaRPr lang="en-US" altLang="en-US">
              <a:effectLst/>
            </a:endParaRPr>
          </a:p>
        </p:txBody>
      </p:sp>
    </p:spTree>
  </p:cSld>
  <p:clrMapOvr>
    <a:masterClrMapping/>
  </p:clrMapOvr>
  <p:transition>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68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6"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0" name="Rectangle 4">
            <a:extLst>
              <a:ext uri="{FF2B5EF4-FFF2-40B4-BE49-F238E27FC236}">
                <a16:creationId xmlns:a16="http://schemas.microsoft.com/office/drawing/2014/main" id="{D94E634F-970B-749C-A1F2-CD9E3784FA12}"/>
              </a:ext>
            </a:extLst>
          </p:cNvPr>
          <p:cNvSpPr>
            <a:spLocks noChangeArrowheads="1"/>
          </p:cNvSpPr>
          <p:nvPr/>
        </p:nvSpPr>
        <p:spPr bwMode="auto">
          <a:xfrm>
            <a:off x="685800" y="228600"/>
            <a:ext cx="7772400" cy="1143000"/>
          </a:xfrm>
          <a:prstGeom prst="rect">
            <a:avLst/>
          </a:prstGeom>
          <a:noFill/>
          <a:ln>
            <a:noFill/>
          </a:ln>
          <a:effectLst/>
        </p:spPr>
        <p:txBody>
          <a:bodyPr anchor="ctr"/>
          <a:lstStyle>
            <a:lvl1pPr>
              <a:defRPr kumimoji="1" sz="4000">
                <a:solidFill>
                  <a:schemeClr val="tx2"/>
                </a:solidFill>
                <a:effectLst>
                  <a:outerShdw blurRad="38100" dist="38100" dir="2700000" algn="tl">
                    <a:srgbClr val="C0C0C0"/>
                  </a:outerShdw>
                </a:effectLst>
                <a:latin typeface="Tahoma" pitchFamily="34" charset="0"/>
              </a:defRPr>
            </a:lvl1pPr>
            <a:lvl2pPr>
              <a:defRPr kumimoji="1" sz="4000">
                <a:solidFill>
                  <a:schemeClr val="tx2"/>
                </a:solidFill>
                <a:effectLst>
                  <a:outerShdw blurRad="38100" dist="38100" dir="2700000" algn="tl">
                    <a:srgbClr val="C0C0C0"/>
                  </a:outerShdw>
                </a:effectLst>
                <a:latin typeface="Tahoma" pitchFamily="34" charset="0"/>
              </a:defRPr>
            </a:lvl2pPr>
            <a:lvl3pPr>
              <a:defRPr kumimoji="1" sz="4000">
                <a:solidFill>
                  <a:schemeClr val="tx2"/>
                </a:solidFill>
                <a:effectLst>
                  <a:outerShdw blurRad="38100" dist="38100" dir="2700000" algn="tl">
                    <a:srgbClr val="C0C0C0"/>
                  </a:outerShdw>
                </a:effectLst>
                <a:latin typeface="Tahoma" pitchFamily="34" charset="0"/>
              </a:defRPr>
            </a:lvl3pPr>
            <a:lvl4pPr>
              <a:defRPr kumimoji="1" sz="4000">
                <a:solidFill>
                  <a:schemeClr val="tx2"/>
                </a:solidFill>
                <a:effectLst>
                  <a:outerShdw blurRad="38100" dist="38100" dir="2700000" algn="tl">
                    <a:srgbClr val="C0C0C0"/>
                  </a:outerShdw>
                </a:effectLst>
                <a:latin typeface="Tahoma" pitchFamily="34" charset="0"/>
              </a:defRPr>
            </a:lvl4pPr>
            <a:lvl5pPr>
              <a:defRPr kumimoji="1" sz="4000">
                <a:solidFill>
                  <a:schemeClr val="tx2"/>
                </a:solidFill>
                <a:effectLst>
                  <a:outerShdw blurRad="38100" dist="38100" dir="2700000" algn="tl">
                    <a:srgbClr val="C0C0C0"/>
                  </a:outerShdw>
                </a:effectLst>
                <a:latin typeface="Tahoma" pitchFamily="34" charset="0"/>
              </a:defRPr>
            </a:lvl5pPr>
            <a:lvl6pPr marL="45720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Tahoma" pitchFamily="34" charset="0"/>
              </a:defRPr>
            </a:lvl6pPr>
            <a:lvl7pPr marL="91440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Tahoma" pitchFamily="34" charset="0"/>
              </a:defRPr>
            </a:lvl7pPr>
            <a:lvl8pPr marL="137160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Tahoma" pitchFamily="34" charset="0"/>
              </a:defRPr>
            </a:lvl8pPr>
            <a:lvl9pPr marL="182880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Tahoma" pitchFamily="34" charset="0"/>
              </a:defRPr>
            </a:lvl9pPr>
          </a:lstStyle>
          <a:p>
            <a:pPr>
              <a:defRPr/>
            </a:pPr>
            <a:r>
              <a:rPr lang="en-US" altLang="en-US" sz="3200">
                <a:solidFill>
                  <a:schemeClr val="tx1"/>
                </a:solidFill>
              </a:rPr>
              <a:t>Amdalov zakon</a:t>
            </a:r>
            <a:endParaRPr lang="en-US" altLang="en-US">
              <a:solidFill>
                <a:schemeClr val="tx1"/>
              </a:solidFill>
            </a:endParaRPr>
          </a:p>
        </p:txBody>
      </p:sp>
      <p:sp>
        <p:nvSpPr>
          <p:cNvPr id="116741" name="Line 5">
            <a:extLst>
              <a:ext uri="{FF2B5EF4-FFF2-40B4-BE49-F238E27FC236}">
                <a16:creationId xmlns:a16="http://schemas.microsoft.com/office/drawing/2014/main" id="{16DE1940-3DF5-AB27-F8F7-56DF4DC782A6}"/>
              </a:ext>
            </a:extLst>
          </p:cNvPr>
          <p:cNvSpPr>
            <a:spLocks noChangeShapeType="1"/>
          </p:cNvSpPr>
          <p:nvPr/>
        </p:nvSpPr>
        <p:spPr bwMode="auto">
          <a:xfrm>
            <a:off x="2362200" y="2852738"/>
            <a:ext cx="6165850" cy="1587"/>
          </a:xfrm>
          <a:prstGeom prst="line">
            <a:avLst/>
          </a:prstGeom>
          <a:noFill/>
          <a:ln w="17463">
            <a:solidFill>
              <a:srgbClr val="000000"/>
            </a:solidFill>
            <a:round/>
            <a:headEnd/>
            <a:tailEnd/>
          </a:ln>
        </p:spPr>
        <p:txBody>
          <a:bodyPr/>
          <a:lstStyle/>
          <a:p>
            <a:pPr>
              <a:defRPr/>
            </a:pPr>
            <a:endParaRPr lang="en-US"/>
          </a:p>
        </p:txBody>
      </p:sp>
      <p:sp>
        <p:nvSpPr>
          <p:cNvPr id="116742" name="Line 6">
            <a:extLst>
              <a:ext uri="{FF2B5EF4-FFF2-40B4-BE49-F238E27FC236}">
                <a16:creationId xmlns:a16="http://schemas.microsoft.com/office/drawing/2014/main" id="{8EB1846E-CEAD-BC6E-AC9D-87D908FB4384}"/>
              </a:ext>
            </a:extLst>
          </p:cNvPr>
          <p:cNvSpPr>
            <a:spLocks noChangeShapeType="1"/>
          </p:cNvSpPr>
          <p:nvPr/>
        </p:nvSpPr>
        <p:spPr bwMode="auto">
          <a:xfrm>
            <a:off x="2362200" y="3173413"/>
            <a:ext cx="6165850" cy="1587"/>
          </a:xfrm>
          <a:prstGeom prst="line">
            <a:avLst/>
          </a:prstGeom>
          <a:noFill/>
          <a:ln w="17463">
            <a:solidFill>
              <a:srgbClr val="000000"/>
            </a:solidFill>
            <a:round/>
            <a:headEnd/>
            <a:tailEnd/>
          </a:ln>
        </p:spPr>
        <p:txBody>
          <a:bodyPr/>
          <a:lstStyle/>
          <a:p>
            <a:pPr>
              <a:defRPr/>
            </a:pPr>
            <a:endParaRPr lang="en-US"/>
          </a:p>
        </p:txBody>
      </p:sp>
      <p:sp>
        <p:nvSpPr>
          <p:cNvPr id="116743" name="Line 7">
            <a:extLst>
              <a:ext uri="{FF2B5EF4-FFF2-40B4-BE49-F238E27FC236}">
                <a16:creationId xmlns:a16="http://schemas.microsoft.com/office/drawing/2014/main" id="{920DD160-A3CE-9298-C3FF-BBC3D3C6888F}"/>
              </a:ext>
            </a:extLst>
          </p:cNvPr>
          <p:cNvSpPr>
            <a:spLocks noChangeShapeType="1"/>
          </p:cNvSpPr>
          <p:nvPr/>
        </p:nvSpPr>
        <p:spPr bwMode="auto">
          <a:xfrm>
            <a:off x="2362200" y="2852738"/>
            <a:ext cx="1588" cy="320675"/>
          </a:xfrm>
          <a:prstGeom prst="line">
            <a:avLst/>
          </a:prstGeom>
          <a:noFill/>
          <a:ln w="17463">
            <a:solidFill>
              <a:srgbClr val="000000"/>
            </a:solidFill>
            <a:round/>
            <a:headEnd/>
            <a:tailEnd/>
          </a:ln>
        </p:spPr>
        <p:txBody>
          <a:bodyPr/>
          <a:lstStyle/>
          <a:p>
            <a:pPr>
              <a:defRPr/>
            </a:pPr>
            <a:endParaRPr lang="en-US"/>
          </a:p>
        </p:txBody>
      </p:sp>
      <p:sp>
        <p:nvSpPr>
          <p:cNvPr id="116744" name="Line 8">
            <a:extLst>
              <a:ext uri="{FF2B5EF4-FFF2-40B4-BE49-F238E27FC236}">
                <a16:creationId xmlns:a16="http://schemas.microsoft.com/office/drawing/2014/main" id="{CE99D4A0-5DB2-56BE-0CC7-99F1B5CB5FA3}"/>
              </a:ext>
            </a:extLst>
          </p:cNvPr>
          <p:cNvSpPr>
            <a:spLocks noChangeShapeType="1"/>
          </p:cNvSpPr>
          <p:nvPr/>
        </p:nvSpPr>
        <p:spPr bwMode="auto">
          <a:xfrm>
            <a:off x="8528050" y="2852738"/>
            <a:ext cx="1588" cy="320675"/>
          </a:xfrm>
          <a:prstGeom prst="line">
            <a:avLst/>
          </a:prstGeom>
          <a:noFill/>
          <a:ln w="17463">
            <a:solidFill>
              <a:srgbClr val="000000"/>
            </a:solidFill>
            <a:round/>
            <a:headEnd/>
            <a:tailEnd/>
          </a:ln>
        </p:spPr>
        <p:txBody>
          <a:bodyPr/>
          <a:lstStyle/>
          <a:p>
            <a:pPr>
              <a:defRPr/>
            </a:pPr>
            <a:endParaRPr lang="en-US"/>
          </a:p>
        </p:txBody>
      </p:sp>
      <p:sp>
        <p:nvSpPr>
          <p:cNvPr id="116745" name="Line 9">
            <a:extLst>
              <a:ext uri="{FF2B5EF4-FFF2-40B4-BE49-F238E27FC236}">
                <a16:creationId xmlns:a16="http://schemas.microsoft.com/office/drawing/2014/main" id="{31193725-B1FC-2C5E-74E6-2D29909995AC}"/>
              </a:ext>
            </a:extLst>
          </p:cNvPr>
          <p:cNvSpPr>
            <a:spLocks noChangeShapeType="1"/>
          </p:cNvSpPr>
          <p:nvPr/>
        </p:nvSpPr>
        <p:spPr bwMode="auto">
          <a:xfrm>
            <a:off x="3913188" y="2852738"/>
            <a:ext cx="1587" cy="320675"/>
          </a:xfrm>
          <a:prstGeom prst="line">
            <a:avLst/>
          </a:prstGeom>
          <a:noFill/>
          <a:ln w="17463">
            <a:solidFill>
              <a:srgbClr val="000000"/>
            </a:solidFill>
            <a:round/>
            <a:headEnd/>
            <a:tailEnd/>
          </a:ln>
        </p:spPr>
        <p:txBody>
          <a:bodyPr/>
          <a:lstStyle/>
          <a:p>
            <a:pPr>
              <a:defRPr/>
            </a:pPr>
            <a:endParaRPr lang="en-US"/>
          </a:p>
        </p:txBody>
      </p:sp>
      <p:sp>
        <p:nvSpPr>
          <p:cNvPr id="116746" name="Line 10">
            <a:extLst>
              <a:ext uri="{FF2B5EF4-FFF2-40B4-BE49-F238E27FC236}">
                <a16:creationId xmlns:a16="http://schemas.microsoft.com/office/drawing/2014/main" id="{2827BCDC-FCA8-5BF0-03B7-737224A90443}"/>
              </a:ext>
            </a:extLst>
          </p:cNvPr>
          <p:cNvSpPr>
            <a:spLocks noChangeShapeType="1"/>
          </p:cNvSpPr>
          <p:nvPr/>
        </p:nvSpPr>
        <p:spPr bwMode="auto">
          <a:xfrm>
            <a:off x="4678363" y="2852738"/>
            <a:ext cx="1587" cy="320675"/>
          </a:xfrm>
          <a:prstGeom prst="line">
            <a:avLst/>
          </a:prstGeom>
          <a:noFill/>
          <a:ln w="17463">
            <a:solidFill>
              <a:srgbClr val="000000"/>
            </a:solidFill>
            <a:round/>
            <a:headEnd/>
            <a:tailEnd/>
          </a:ln>
        </p:spPr>
        <p:txBody>
          <a:bodyPr/>
          <a:lstStyle/>
          <a:p>
            <a:pPr>
              <a:defRPr/>
            </a:pPr>
            <a:endParaRPr lang="en-US"/>
          </a:p>
        </p:txBody>
      </p:sp>
      <p:sp>
        <p:nvSpPr>
          <p:cNvPr id="116747" name="Line 11">
            <a:extLst>
              <a:ext uri="{FF2B5EF4-FFF2-40B4-BE49-F238E27FC236}">
                <a16:creationId xmlns:a16="http://schemas.microsoft.com/office/drawing/2014/main" id="{7B643D50-DAA9-6E64-4F6A-E11BA5216073}"/>
              </a:ext>
            </a:extLst>
          </p:cNvPr>
          <p:cNvSpPr>
            <a:spLocks noChangeShapeType="1"/>
          </p:cNvSpPr>
          <p:nvPr/>
        </p:nvSpPr>
        <p:spPr bwMode="auto">
          <a:xfrm>
            <a:off x="5445125" y="2852738"/>
            <a:ext cx="1588" cy="320675"/>
          </a:xfrm>
          <a:prstGeom prst="line">
            <a:avLst/>
          </a:prstGeom>
          <a:noFill/>
          <a:ln w="17463">
            <a:solidFill>
              <a:srgbClr val="000000"/>
            </a:solidFill>
            <a:round/>
            <a:headEnd/>
            <a:tailEnd/>
          </a:ln>
        </p:spPr>
        <p:txBody>
          <a:bodyPr/>
          <a:lstStyle/>
          <a:p>
            <a:pPr>
              <a:defRPr/>
            </a:pPr>
            <a:endParaRPr lang="en-US"/>
          </a:p>
        </p:txBody>
      </p:sp>
      <p:sp>
        <p:nvSpPr>
          <p:cNvPr id="116748" name="Line 12">
            <a:extLst>
              <a:ext uri="{FF2B5EF4-FFF2-40B4-BE49-F238E27FC236}">
                <a16:creationId xmlns:a16="http://schemas.microsoft.com/office/drawing/2014/main" id="{6CA0D28A-A7C1-F897-5CDB-C530DE05A8B1}"/>
              </a:ext>
            </a:extLst>
          </p:cNvPr>
          <p:cNvSpPr>
            <a:spLocks noChangeShapeType="1"/>
          </p:cNvSpPr>
          <p:nvPr/>
        </p:nvSpPr>
        <p:spPr bwMode="auto">
          <a:xfrm>
            <a:off x="6977063" y="2852738"/>
            <a:ext cx="1587" cy="320675"/>
          </a:xfrm>
          <a:prstGeom prst="line">
            <a:avLst/>
          </a:prstGeom>
          <a:noFill/>
          <a:ln w="17463">
            <a:solidFill>
              <a:srgbClr val="000000"/>
            </a:solidFill>
            <a:round/>
            <a:headEnd/>
            <a:tailEnd/>
          </a:ln>
        </p:spPr>
        <p:txBody>
          <a:bodyPr/>
          <a:lstStyle/>
          <a:p>
            <a:pPr>
              <a:defRPr/>
            </a:pPr>
            <a:endParaRPr lang="en-US"/>
          </a:p>
        </p:txBody>
      </p:sp>
      <p:sp>
        <p:nvSpPr>
          <p:cNvPr id="116749" name="Line 13">
            <a:extLst>
              <a:ext uri="{FF2B5EF4-FFF2-40B4-BE49-F238E27FC236}">
                <a16:creationId xmlns:a16="http://schemas.microsoft.com/office/drawing/2014/main" id="{F14E057B-DBAF-1C1A-2D71-749152579A06}"/>
              </a:ext>
            </a:extLst>
          </p:cNvPr>
          <p:cNvSpPr>
            <a:spLocks noChangeShapeType="1"/>
          </p:cNvSpPr>
          <p:nvPr/>
        </p:nvSpPr>
        <p:spPr bwMode="auto">
          <a:xfrm>
            <a:off x="7761288" y="2852738"/>
            <a:ext cx="1587" cy="320675"/>
          </a:xfrm>
          <a:prstGeom prst="line">
            <a:avLst/>
          </a:prstGeom>
          <a:noFill/>
          <a:ln w="17463">
            <a:solidFill>
              <a:srgbClr val="000000"/>
            </a:solidFill>
            <a:round/>
            <a:headEnd/>
            <a:tailEnd/>
          </a:ln>
        </p:spPr>
        <p:txBody>
          <a:bodyPr/>
          <a:lstStyle/>
          <a:p>
            <a:pPr>
              <a:defRPr/>
            </a:pPr>
            <a:endParaRPr lang="en-US"/>
          </a:p>
        </p:txBody>
      </p:sp>
      <p:sp>
        <p:nvSpPr>
          <p:cNvPr id="2065" name="Rectangle 14">
            <a:extLst>
              <a:ext uri="{FF2B5EF4-FFF2-40B4-BE49-F238E27FC236}">
                <a16:creationId xmlns:a16="http://schemas.microsoft.com/office/drawing/2014/main" id="{23EA333C-B411-27F5-DF5D-F0A41A3D1583}"/>
              </a:ext>
            </a:extLst>
          </p:cNvPr>
          <p:cNvSpPr>
            <a:spLocks noChangeArrowheads="1"/>
          </p:cNvSpPr>
          <p:nvPr/>
        </p:nvSpPr>
        <p:spPr bwMode="auto">
          <a:xfrm>
            <a:off x="2413000" y="2514600"/>
            <a:ext cx="13970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solidFill>
                  <a:srgbClr val="000000"/>
                </a:solidFill>
                <a:effectLst/>
              </a:rPr>
              <a:t>Serijska sekcija</a:t>
            </a:r>
            <a:endParaRPr lang="en-US" altLang="en-US" sz="1600">
              <a:effectLst/>
            </a:endParaRPr>
          </a:p>
        </p:txBody>
      </p:sp>
      <p:sp>
        <p:nvSpPr>
          <p:cNvPr id="116751" name="Rectangle 15">
            <a:extLst>
              <a:ext uri="{FF2B5EF4-FFF2-40B4-BE49-F238E27FC236}">
                <a16:creationId xmlns:a16="http://schemas.microsoft.com/office/drawing/2014/main" id="{B22A7528-579D-475F-9312-B5A5D85E2734}"/>
              </a:ext>
            </a:extLst>
          </p:cNvPr>
          <p:cNvSpPr>
            <a:spLocks noChangeArrowheads="1"/>
          </p:cNvSpPr>
          <p:nvPr/>
        </p:nvSpPr>
        <p:spPr bwMode="auto">
          <a:xfrm>
            <a:off x="3921125" y="3625850"/>
            <a:ext cx="768350" cy="2247900"/>
          </a:xfrm>
          <a:prstGeom prst="rect">
            <a:avLst/>
          </a:prstGeom>
          <a:noFill/>
          <a:ln w="17463">
            <a:solidFill>
              <a:srgbClr val="000000"/>
            </a:solidFill>
            <a:miter lim="800000"/>
            <a:headEnd/>
            <a:tailEnd/>
          </a:ln>
        </p:spPr>
        <p:txBody>
          <a:bodyPr/>
          <a:lstStyle/>
          <a:p>
            <a:pPr>
              <a:defRPr/>
            </a:pPr>
            <a:endParaRPr lang="en-US"/>
          </a:p>
        </p:txBody>
      </p:sp>
      <p:sp>
        <p:nvSpPr>
          <p:cNvPr id="116752" name="Line 16">
            <a:extLst>
              <a:ext uri="{FF2B5EF4-FFF2-40B4-BE49-F238E27FC236}">
                <a16:creationId xmlns:a16="http://schemas.microsoft.com/office/drawing/2014/main" id="{D2EA19A1-7D12-B36C-33A6-815C9BC3F909}"/>
              </a:ext>
            </a:extLst>
          </p:cNvPr>
          <p:cNvSpPr>
            <a:spLocks noChangeShapeType="1"/>
          </p:cNvSpPr>
          <p:nvPr/>
        </p:nvSpPr>
        <p:spPr bwMode="auto">
          <a:xfrm>
            <a:off x="2362200" y="3617913"/>
            <a:ext cx="1550988" cy="1587"/>
          </a:xfrm>
          <a:prstGeom prst="line">
            <a:avLst/>
          </a:prstGeom>
          <a:noFill/>
          <a:ln w="17463">
            <a:solidFill>
              <a:srgbClr val="000000"/>
            </a:solidFill>
            <a:round/>
            <a:headEnd/>
            <a:tailEnd/>
          </a:ln>
        </p:spPr>
        <p:txBody>
          <a:bodyPr/>
          <a:lstStyle/>
          <a:p>
            <a:pPr>
              <a:defRPr/>
            </a:pPr>
            <a:endParaRPr lang="en-US"/>
          </a:p>
        </p:txBody>
      </p:sp>
      <p:sp>
        <p:nvSpPr>
          <p:cNvPr id="116753" name="Line 17">
            <a:extLst>
              <a:ext uri="{FF2B5EF4-FFF2-40B4-BE49-F238E27FC236}">
                <a16:creationId xmlns:a16="http://schemas.microsoft.com/office/drawing/2014/main" id="{6D7177D6-25C6-B28E-8DEB-2F3B088E7780}"/>
              </a:ext>
            </a:extLst>
          </p:cNvPr>
          <p:cNvSpPr>
            <a:spLocks noChangeShapeType="1"/>
          </p:cNvSpPr>
          <p:nvPr/>
        </p:nvSpPr>
        <p:spPr bwMode="auto">
          <a:xfrm>
            <a:off x="2362200" y="3940175"/>
            <a:ext cx="1550988" cy="1588"/>
          </a:xfrm>
          <a:prstGeom prst="line">
            <a:avLst/>
          </a:prstGeom>
          <a:noFill/>
          <a:ln w="17463">
            <a:solidFill>
              <a:srgbClr val="000000"/>
            </a:solidFill>
            <a:round/>
            <a:headEnd/>
            <a:tailEnd/>
          </a:ln>
        </p:spPr>
        <p:txBody>
          <a:bodyPr/>
          <a:lstStyle/>
          <a:p>
            <a:pPr>
              <a:defRPr/>
            </a:pPr>
            <a:endParaRPr lang="en-US"/>
          </a:p>
        </p:txBody>
      </p:sp>
      <p:sp>
        <p:nvSpPr>
          <p:cNvPr id="116754" name="Line 18">
            <a:extLst>
              <a:ext uri="{FF2B5EF4-FFF2-40B4-BE49-F238E27FC236}">
                <a16:creationId xmlns:a16="http://schemas.microsoft.com/office/drawing/2014/main" id="{FDEC55D7-9353-1C76-83F5-D57916A6085B}"/>
              </a:ext>
            </a:extLst>
          </p:cNvPr>
          <p:cNvSpPr>
            <a:spLocks noChangeShapeType="1"/>
          </p:cNvSpPr>
          <p:nvPr/>
        </p:nvSpPr>
        <p:spPr bwMode="auto">
          <a:xfrm>
            <a:off x="3841750" y="3940175"/>
            <a:ext cx="836613" cy="1588"/>
          </a:xfrm>
          <a:prstGeom prst="line">
            <a:avLst/>
          </a:prstGeom>
          <a:noFill/>
          <a:ln w="17463">
            <a:solidFill>
              <a:srgbClr val="000000"/>
            </a:solidFill>
            <a:round/>
            <a:headEnd/>
            <a:tailEnd/>
          </a:ln>
        </p:spPr>
        <p:txBody>
          <a:bodyPr/>
          <a:lstStyle/>
          <a:p>
            <a:pPr>
              <a:defRPr/>
            </a:pPr>
            <a:endParaRPr lang="en-US"/>
          </a:p>
        </p:txBody>
      </p:sp>
      <p:sp>
        <p:nvSpPr>
          <p:cNvPr id="116755" name="Line 19">
            <a:extLst>
              <a:ext uri="{FF2B5EF4-FFF2-40B4-BE49-F238E27FC236}">
                <a16:creationId xmlns:a16="http://schemas.microsoft.com/office/drawing/2014/main" id="{DBE0FFBA-2080-0C1D-EA2E-66743E653650}"/>
              </a:ext>
            </a:extLst>
          </p:cNvPr>
          <p:cNvSpPr>
            <a:spLocks noChangeShapeType="1"/>
          </p:cNvSpPr>
          <p:nvPr/>
        </p:nvSpPr>
        <p:spPr bwMode="auto">
          <a:xfrm>
            <a:off x="3913188" y="4260850"/>
            <a:ext cx="765175" cy="1588"/>
          </a:xfrm>
          <a:prstGeom prst="line">
            <a:avLst/>
          </a:prstGeom>
          <a:noFill/>
          <a:ln w="17463">
            <a:solidFill>
              <a:srgbClr val="000000"/>
            </a:solidFill>
            <a:round/>
            <a:headEnd/>
            <a:tailEnd/>
          </a:ln>
        </p:spPr>
        <p:txBody>
          <a:bodyPr/>
          <a:lstStyle/>
          <a:p>
            <a:pPr>
              <a:defRPr/>
            </a:pPr>
            <a:endParaRPr lang="en-US"/>
          </a:p>
        </p:txBody>
      </p:sp>
      <p:sp>
        <p:nvSpPr>
          <p:cNvPr id="116756" name="Line 20">
            <a:extLst>
              <a:ext uri="{FF2B5EF4-FFF2-40B4-BE49-F238E27FC236}">
                <a16:creationId xmlns:a16="http://schemas.microsoft.com/office/drawing/2014/main" id="{6B289063-5442-7466-3848-7EBAEA2E6B8B}"/>
              </a:ext>
            </a:extLst>
          </p:cNvPr>
          <p:cNvSpPr>
            <a:spLocks noChangeShapeType="1"/>
          </p:cNvSpPr>
          <p:nvPr/>
        </p:nvSpPr>
        <p:spPr bwMode="auto">
          <a:xfrm>
            <a:off x="5445125" y="2976563"/>
            <a:ext cx="17463" cy="1587"/>
          </a:xfrm>
          <a:prstGeom prst="line">
            <a:avLst/>
          </a:prstGeom>
          <a:noFill/>
          <a:ln w="17463">
            <a:solidFill>
              <a:srgbClr val="000000"/>
            </a:solidFill>
            <a:round/>
            <a:headEnd/>
            <a:tailEnd/>
          </a:ln>
        </p:spPr>
        <p:txBody>
          <a:bodyPr/>
          <a:lstStyle/>
          <a:p>
            <a:pPr>
              <a:defRPr/>
            </a:pPr>
            <a:endParaRPr lang="en-US"/>
          </a:p>
        </p:txBody>
      </p:sp>
      <p:sp>
        <p:nvSpPr>
          <p:cNvPr id="116757" name="Line 21">
            <a:extLst>
              <a:ext uri="{FF2B5EF4-FFF2-40B4-BE49-F238E27FC236}">
                <a16:creationId xmlns:a16="http://schemas.microsoft.com/office/drawing/2014/main" id="{6660A6C1-3042-61CC-AA3B-747AC877D23C}"/>
              </a:ext>
            </a:extLst>
          </p:cNvPr>
          <p:cNvSpPr>
            <a:spLocks noChangeShapeType="1"/>
          </p:cNvSpPr>
          <p:nvPr/>
        </p:nvSpPr>
        <p:spPr bwMode="auto">
          <a:xfrm>
            <a:off x="5534025" y="2976563"/>
            <a:ext cx="36513" cy="1587"/>
          </a:xfrm>
          <a:prstGeom prst="line">
            <a:avLst/>
          </a:prstGeom>
          <a:noFill/>
          <a:ln w="17463">
            <a:solidFill>
              <a:srgbClr val="000000"/>
            </a:solidFill>
            <a:round/>
            <a:headEnd/>
            <a:tailEnd/>
          </a:ln>
        </p:spPr>
        <p:txBody>
          <a:bodyPr/>
          <a:lstStyle/>
          <a:p>
            <a:pPr>
              <a:defRPr/>
            </a:pPr>
            <a:endParaRPr lang="en-US"/>
          </a:p>
        </p:txBody>
      </p:sp>
      <p:sp>
        <p:nvSpPr>
          <p:cNvPr id="116758" name="Line 22">
            <a:extLst>
              <a:ext uri="{FF2B5EF4-FFF2-40B4-BE49-F238E27FC236}">
                <a16:creationId xmlns:a16="http://schemas.microsoft.com/office/drawing/2014/main" id="{9129302C-E0ED-42E9-CA1C-8416D319E52C}"/>
              </a:ext>
            </a:extLst>
          </p:cNvPr>
          <p:cNvSpPr>
            <a:spLocks noChangeShapeType="1"/>
          </p:cNvSpPr>
          <p:nvPr/>
        </p:nvSpPr>
        <p:spPr bwMode="auto">
          <a:xfrm>
            <a:off x="5640388" y="2976563"/>
            <a:ext cx="19050" cy="1587"/>
          </a:xfrm>
          <a:prstGeom prst="line">
            <a:avLst/>
          </a:prstGeom>
          <a:noFill/>
          <a:ln w="17463">
            <a:solidFill>
              <a:srgbClr val="000000"/>
            </a:solidFill>
            <a:round/>
            <a:headEnd/>
            <a:tailEnd/>
          </a:ln>
        </p:spPr>
        <p:txBody>
          <a:bodyPr/>
          <a:lstStyle/>
          <a:p>
            <a:pPr>
              <a:defRPr/>
            </a:pPr>
            <a:endParaRPr lang="en-US"/>
          </a:p>
        </p:txBody>
      </p:sp>
      <p:sp>
        <p:nvSpPr>
          <p:cNvPr id="116759" name="Line 23">
            <a:extLst>
              <a:ext uri="{FF2B5EF4-FFF2-40B4-BE49-F238E27FC236}">
                <a16:creationId xmlns:a16="http://schemas.microsoft.com/office/drawing/2014/main" id="{7B3FB011-16F7-29E5-F75A-3E0E5D272122}"/>
              </a:ext>
            </a:extLst>
          </p:cNvPr>
          <p:cNvSpPr>
            <a:spLocks noChangeShapeType="1"/>
          </p:cNvSpPr>
          <p:nvPr/>
        </p:nvSpPr>
        <p:spPr bwMode="auto">
          <a:xfrm>
            <a:off x="5748338" y="2976563"/>
            <a:ext cx="17462" cy="1587"/>
          </a:xfrm>
          <a:prstGeom prst="line">
            <a:avLst/>
          </a:prstGeom>
          <a:noFill/>
          <a:ln w="17463">
            <a:solidFill>
              <a:srgbClr val="000000"/>
            </a:solidFill>
            <a:round/>
            <a:headEnd/>
            <a:tailEnd/>
          </a:ln>
        </p:spPr>
        <p:txBody>
          <a:bodyPr/>
          <a:lstStyle/>
          <a:p>
            <a:pPr>
              <a:defRPr/>
            </a:pPr>
            <a:endParaRPr lang="en-US"/>
          </a:p>
        </p:txBody>
      </p:sp>
      <p:sp>
        <p:nvSpPr>
          <p:cNvPr id="116760" name="Line 24">
            <a:extLst>
              <a:ext uri="{FF2B5EF4-FFF2-40B4-BE49-F238E27FC236}">
                <a16:creationId xmlns:a16="http://schemas.microsoft.com/office/drawing/2014/main" id="{631C0A3B-518A-9AC3-639C-9177E4CB156F}"/>
              </a:ext>
            </a:extLst>
          </p:cNvPr>
          <p:cNvSpPr>
            <a:spLocks noChangeShapeType="1"/>
          </p:cNvSpPr>
          <p:nvPr/>
        </p:nvSpPr>
        <p:spPr bwMode="auto">
          <a:xfrm>
            <a:off x="5837238" y="2976563"/>
            <a:ext cx="34925" cy="1587"/>
          </a:xfrm>
          <a:prstGeom prst="line">
            <a:avLst/>
          </a:prstGeom>
          <a:noFill/>
          <a:ln w="17463">
            <a:solidFill>
              <a:srgbClr val="000000"/>
            </a:solidFill>
            <a:round/>
            <a:headEnd/>
            <a:tailEnd/>
          </a:ln>
        </p:spPr>
        <p:txBody>
          <a:bodyPr/>
          <a:lstStyle/>
          <a:p>
            <a:pPr>
              <a:defRPr/>
            </a:pPr>
            <a:endParaRPr lang="en-US"/>
          </a:p>
        </p:txBody>
      </p:sp>
      <p:sp>
        <p:nvSpPr>
          <p:cNvPr id="116761" name="Line 25">
            <a:extLst>
              <a:ext uri="{FF2B5EF4-FFF2-40B4-BE49-F238E27FC236}">
                <a16:creationId xmlns:a16="http://schemas.microsoft.com/office/drawing/2014/main" id="{526F99F5-2416-7D9A-6480-3C9B51D495DB}"/>
              </a:ext>
            </a:extLst>
          </p:cNvPr>
          <p:cNvSpPr>
            <a:spLocks noChangeShapeType="1"/>
          </p:cNvSpPr>
          <p:nvPr/>
        </p:nvSpPr>
        <p:spPr bwMode="auto">
          <a:xfrm>
            <a:off x="5943600" y="2976563"/>
            <a:ext cx="36513" cy="1587"/>
          </a:xfrm>
          <a:prstGeom prst="line">
            <a:avLst/>
          </a:prstGeom>
          <a:noFill/>
          <a:ln w="17463">
            <a:solidFill>
              <a:srgbClr val="000000"/>
            </a:solidFill>
            <a:round/>
            <a:headEnd/>
            <a:tailEnd/>
          </a:ln>
        </p:spPr>
        <p:txBody>
          <a:bodyPr/>
          <a:lstStyle/>
          <a:p>
            <a:pPr>
              <a:defRPr/>
            </a:pPr>
            <a:endParaRPr lang="en-US"/>
          </a:p>
        </p:txBody>
      </p:sp>
      <p:sp>
        <p:nvSpPr>
          <p:cNvPr id="116762" name="Line 26">
            <a:extLst>
              <a:ext uri="{FF2B5EF4-FFF2-40B4-BE49-F238E27FC236}">
                <a16:creationId xmlns:a16="http://schemas.microsoft.com/office/drawing/2014/main" id="{4EE32886-AAC5-E494-B2AF-7684C8C63A8A}"/>
              </a:ext>
            </a:extLst>
          </p:cNvPr>
          <p:cNvSpPr>
            <a:spLocks noChangeShapeType="1"/>
          </p:cNvSpPr>
          <p:nvPr/>
        </p:nvSpPr>
        <p:spPr bwMode="auto">
          <a:xfrm>
            <a:off x="6051550" y="2976563"/>
            <a:ext cx="17463" cy="1587"/>
          </a:xfrm>
          <a:prstGeom prst="line">
            <a:avLst/>
          </a:prstGeom>
          <a:noFill/>
          <a:ln w="17463">
            <a:solidFill>
              <a:srgbClr val="000000"/>
            </a:solidFill>
            <a:round/>
            <a:headEnd/>
            <a:tailEnd/>
          </a:ln>
        </p:spPr>
        <p:txBody>
          <a:bodyPr/>
          <a:lstStyle/>
          <a:p>
            <a:pPr>
              <a:defRPr/>
            </a:pPr>
            <a:endParaRPr lang="en-US"/>
          </a:p>
        </p:txBody>
      </p:sp>
      <p:sp>
        <p:nvSpPr>
          <p:cNvPr id="116763" name="Line 27">
            <a:extLst>
              <a:ext uri="{FF2B5EF4-FFF2-40B4-BE49-F238E27FC236}">
                <a16:creationId xmlns:a16="http://schemas.microsoft.com/office/drawing/2014/main" id="{2667B8D7-1FE6-3A6C-5036-8ABAF61D12C3}"/>
              </a:ext>
            </a:extLst>
          </p:cNvPr>
          <p:cNvSpPr>
            <a:spLocks noChangeShapeType="1"/>
          </p:cNvSpPr>
          <p:nvPr/>
        </p:nvSpPr>
        <p:spPr bwMode="auto">
          <a:xfrm>
            <a:off x="6157913" y="2976563"/>
            <a:ext cx="17462" cy="1587"/>
          </a:xfrm>
          <a:prstGeom prst="line">
            <a:avLst/>
          </a:prstGeom>
          <a:noFill/>
          <a:ln w="17463">
            <a:solidFill>
              <a:srgbClr val="000000"/>
            </a:solidFill>
            <a:round/>
            <a:headEnd/>
            <a:tailEnd/>
          </a:ln>
        </p:spPr>
        <p:txBody>
          <a:bodyPr/>
          <a:lstStyle/>
          <a:p>
            <a:pPr>
              <a:defRPr/>
            </a:pPr>
            <a:endParaRPr lang="en-US"/>
          </a:p>
        </p:txBody>
      </p:sp>
      <p:sp>
        <p:nvSpPr>
          <p:cNvPr id="116764" name="Line 28">
            <a:extLst>
              <a:ext uri="{FF2B5EF4-FFF2-40B4-BE49-F238E27FC236}">
                <a16:creationId xmlns:a16="http://schemas.microsoft.com/office/drawing/2014/main" id="{7B52A83F-586A-3D42-BC77-4A4D902092C6}"/>
              </a:ext>
            </a:extLst>
          </p:cNvPr>
          <p:cNvSpPr>
            <a:spLocks noChangeShapeType="1"/>
          </p:cNvSpPr>
          <p:nvPr/>
        </p:nvSpPr>
        <p:spPr bwMode="auto">
          <a:xfrm>
            <a:off x="6246813" y="2976563"/>
            <a:ext cx="36512" cy="1587"/>
          </a:xfrm>
          <a:prstGeom prst="line">
            <a:avLst/>
          </a:prstGeom>
          <a:noFill/>
          <a:ln w="17463">
            <a:solidFill>
              <a:srgbClr val="000000"/>
            </a:solidFill>
            <a:round/>
            <a:headEnd/>
            <a:tailEnd/>
          </a:ln>
        </p:spPr>
        <p:txBody>
          <a:bodyPr/>
          <a:lstStyle/>
          <a:p>
            <a:pPr>
              <a:defRPr/>
            </a:pPr>
            <a:endParaRPr lang="en-US"/>
          </a:p>
        </p:txBody>
      </p:sp>
      <p:sp>
        <p:nvSpPr>
          <p:cNvPr id="116765" name="Line 29">
            <a:extLst>
              <a:ext uri="{FF2B5EF4-FFF2-40B4-BE49-F238E27FC236}">
                <a16:creationId xmlns:a16="http://schemas.microsoft.com/office/drawing/2014/main" id="{4987790B-1027-731D-F936-CE384153994A}"/>
              </a:ext>
            </a:extLst>
          </p:cNvPr>
          <p:cNvSpPr>
            <a:spLocks noChangeShapeType="1"/>
          </p:cNvSpPr>
          <p:nvPr/>
        </p:nvSpPr>
        <p:spPr bwMode="auto">
          <a:xfrm>
            <a:off x="6353175" y="2976563"/>
            <a:ext cx="36513" cy="1587"/>
          </a:xfrm>
          <a:prstGeom prst="line">
            <a:avLst/>
          </a:prstGeom>
          <a:noFill/>
          <a:ln w="17463">
            <a:solidFill>
              <a:srgbClr val="000000"/>
            </a:solidFill>
            <a:round/>
            <a:headEnd/>
            <a:tailEnd/>
          </a:ln>
        </p:spPr>
        <p:txBody>
          <a:bodyPr/>
          <a:lstStyle/>
          <a:p>
            <a:pPr>
              <a:defRPr/>
            </a:pPr>
            <a:endParaRPr lang="en-US"/>
          </a:p>
        </p:txBody>
      </p:sp>
      <p:sp>
        <p:nvSpPr>
          <p:cNvPr id="116766" name="Line 30">
            <a:extLst>
              <a:ext uri="{FF2B5EF4-FFF2-40B4-BE49-F238E27FC236}">
                <a16:creationId xmlns:a16="http://schemas.microsoft.com/office/drawing/2014/main" id="{FE28F22E-760F-0F86-E393-288CB62DDA9F}"/>
              </a:ext>
            </a:extLst>
          </p:cNvPr>
          <p:cNvSpPr>
            <a:spLocks noChangeShapeType="1"/>
          </p:cNvSpPr>
          <p:nvPr/>
        </p:nvSpPr>
        <p:spPr bwMode="auto">
          <a:xfrm>
            <a:off x="6461125" y="2976563"/>
            <a:ext cx="17463" cy="1587"/>
          </a:xfrm>
          <a:prstGeom prst="line">
            <a:avLst/>
          </a:prstGeom>
          <a:noFill/>
          <a:ln w="17463">
            <a:solidFill>
              <a:srgbClr val="000000"/>
            </a:solidFill>
            <a:round/>
            <a:headEnd/>
            <a:tailEnd/>
          </a:ln>
        </p:spPr>
        <p:txBody>
          <a:bodyPr/>
          <a:lstStyle/>
          <a:p>
            <a:pPr>
              <a:defRPr/>
            </a:pPr>
            <a:endParaRPr lang="en-US"/>
          </a:p>
        </p:txBody>
      </p:sp>
      <p:sp>
        <p:nvSpPr>
          <p:cNvPr id="116767" name="Line 31">
            <a:extLst>
              <a:ext uri="{FF2B5EF4-FFF2-40B4-BE49-F238E27FC236}">
                <a16:creationId xmlns:a16="http://schemas.microsoft.com/office/drawing/2014/main" id="{64047539-1136-4BD4-D2A6-C28BD4F6EE98}"/>
              </a:ext>
            </a:extLst>
          </p:cNvPr>
          <p:cNvSpPr>
            <a:spLocks noChangeShapeType="1"/>
          </p:cNvSpPr>
          <p:nvPr/>
        </p:nvSpPr>
        <p:spPr bwMode="auto">
          <a:xfrm>
            <a:off x="6567488" y="2976563"/>
            <a:ext cx="17462" cy="1587"/>
          </a:xfrm>
          <a:prstGeom prst="line">
            <a:avLst/>
          </a:prstGeom>
          <a:noFill/>
          <a:ln w="17463">
            <a:solidFill>
              <a:srgbClr val="000000"/>
            </a:solidFill>
            <a:round/>
            <a:headEnd/>
            <a:tailEnd/>
          </a:ln>
        </p:spPr>
        <p:txBody>
          <a:bodyPr/>
          <a:lstStyle/>
          <a:p>
            <a:pPr>
              <a:defRPr/>
            </a:pPr>
            <a:endParaRPr lang="en-US"/>
          </a:p>
        </p:txBody>
      </p:sp>
      <p:sp>
        <p:nvSpPr>
          <p:cNvPr id="116768" name="Line 32">
            <a:extLst>
              <a:ext uri="{FF2B5EF4-FFF2-40B4-BE49-F238E27FC236}">
                <a16:creationId xmlns:a16="http://schemas.microsoft.com/office/drawing/2014/main" id="{B046F2D4-71F3-1C60-923D-94979ADD7FD4}"/>
              </a:ext>
            </a:extLst>
          </p:cNvPr>
          <p:cNvSpPr>
            <a:spLocks noChangeShapeType="1"/>
          </p:cNvSpPr>
          <p:nvPr/>
        </p:nvSpPr>
        <p:spPr bwMode="auto">
          <a:xfrm>
            <a:off x="6656388" y="2976563"/>
            <a:ext cx="36512" cy="1587"/>
          </a:xfrm>
          <a:prstGeom prst="line">
            <a:avLst/>
          </a:prstGeom>
          <a:noFill/>
          <a:ln w="17463">
            <a:solidFill>
              <a:srgbClr val="000000"/>
            </a:solidFill>
            <a:round/>
            <a:headEnd/>
            <a:tailEnd/>
          </a:ln>
        </p:spPr>
        <p:txBody>
          <a:bodyPr/>
          <a:lstStyle/>
          <a:p>
            <a:pPr>
              <a:defRPr/>
            </a:pPr>
            <a:endParaRPr lang="en-US"/>
          </a:p>
        </p:txBody>
      </p:sp>
      <p:sp>
        <p:nvSpPr>
          <p:cNvPr id="116769" name="Line 33">
            <a:extLst>
              <a:ext uri="{FF2B5EF4-FFF2-40B4-BE49-F238E27FC236}">
                <a16:creationId xmlns:a16="http://schemas.microsoft.com/office/drawing/2014/main" id="{C7F3CEEA-74FE-F9D8-84EC-035639FF0D1C}"/>
              </a:ext>
            </a:extLst>
          </p:cNvPr>
          <p:cNvSpPr>
            <a:spLocks noChangeShapeType="1"/>
          </p:cNvSpPr>
          <p:nvPr/>
        </p:nvSpPr>
        <p:spPr bwMode="auto">
          <a:xfrm>
            <a:off x="6764338" y="2976563"/>
            <a:ext cx="34925" cy="1587"/>
          </a:xfrm>
          <a:prstGeom prst="line">
            <a:avLst/>
          </a:prstGeom>
          <a:noFill/>
          <a:ln w="17463">
            <a:solidFill>
              <a:srgbClr val="000000"/>
            </a:solidFill>
            <a:round/>
            <a:headEnd/>
            <a:tailEnd/>
          </a:ln>
        </p:spPr>
        <p:txBody>
          <a:bodyPr/>
          <a:lstStyle/>
          <a:p>
            <a:pPr>
              <a:defRPr/>
            </a:pPr>
            <a:endParaRPr lang="en-US"/>
          </a:p>
        </p:txBody>
      </p:sp>
      <p:sp>
        <p:nvSpPr>
          <p:cNvPr id="116770" name="Line 34">
            <a:extLst>
              <a:ext uri="{FF2B5EF4-FFF2-40B4-BE49-F238E27FC236}">
                <a16:creationId xmlns:a16="http://schemas.microsoft.com/office/drawing/2014/main" id="{7793B903-EC2C-DDC0-C2F1-46F8F481F46F}"/>
              </a:ext>
            </a:extLst>
          </p:cNvPr>
          <p:cNvSpPr>
            <a:spLocks noChangeShapeType="1"/>
          </p:cNvSpPr>
          <p:nvPr/>
        </p:nvSpPr>
        <p:spPr bwMode="auto">
          <a:xfrm>
            <a:off x="6870700" y="2976563"/>
            <a:ext cx="17463" cy="1587"/>
          </a:xfrm>
          <a:prstGeom prst="line">
            <a:avLst/>
          </a:prstGeom>
          <a:noFill/>
          <a:ln w="17463">
            <a:solidFill>
              <a:srgbClr val="000000"/>
            </a:solidFill>
            <a:round/>
            <a:headEnd/>
            <a:tailEnd/>
          </a:ln>
        </p:spPr>
        <p:txBody>
          <a:bodyPr/>
          <a:lstStyle/>
          <a:p>
            <a:pPr>
              <a:defRPr/>
            </a:pPr>
            <a:endParaRPr lang="en-US"/>
          </a:p>
        </p:txBody>
      </p:sp>
      <p:sp>
        <p:nvSpPr>
          <p:cNvPr id="116771" name="Line 35">
            <a:extLst>
              <a:ext uri="{FF2B5EF4-FFF2-40B4-BE49-F238E27FC236}">
                <a16:creationId xmlns:a16="http://schemas.microsoft.com/office/drawing/2014/main" id="{3997FE52-6628-D878-1F5F-0FDDF9348903}"/>
              </a:ext>
            </a:extLst>
          </p:cNvPr>
          <p:cNvSpPr>
            <a:spLocks noChangeShapeType="1"/>
          </p:cNvSpPr>
          <p:nvPr/>
        </p:nvSpPr>
        <p:spPr bwMode="auto">
          <a:xfrm>
            <a:off x="6977063" y="2976563"/>
            <a:ext cx="1587" cy="1587"/>
          </a:xfrm>
          <a:prstGeom prst="line">
            <a:avLst/>
          </a:prstGeom>
          <a:noFill/>
          <a:ln w="17463">
            <a:solidFill>
              <a:srgbClr val="000000"/>
            </a:solidFill>
            <a:round/>
            <a:headEnd/>
            <a:tailEnd/>
          </a:ln>
        </p:spPr>
        <p:txBody>
          <a:bodyPr/>
          <a:lstStyle/>
          <a:p>
            <a:pPr>
              <a:defRPr/>
            </a:pPr>
            <a:endParaRPr lang="en-US"/>
          </a:p>
        </p:txBody>
      </p:sp>
      <p:sp>
        <p:nvSpPr>
          <p:cNvPr id="116772" name="Line 36">
            <a:extLst>
              <a:ext uri="{FF2B5EF4-FFF2-40B4-BE49-F238E27FC236}">
                <a16:creationId xmlns:a16="http://schemas.microsoft.com/office/drawing/2014/main" id="{0E5EDAD0-0DDA-E216-9302-54AC6102E663}"/>
              </a:ext>
            </a:extLst>
          </p:cNvPr>
          <p:cNvSpPr>
            <a:spLocks noChangeShapeType="1"/>
          </p:cNvSpPr>
          <p:nvPr/>
        </p:nvSpPr>
        <p:spPr bwMode="auto">
          <a:xfrm>
            <a:off x="3913188" y="5222875"/>
            <a:ext cx="765175" cy="1588"/>
          </a:xfrm>
          <a:prstGeom prst="line">
            <a:avLst/>
          </a:prstGeom>
          <a:noFill/>
          <a:ln w="17463">
            <a:solidFill>
              <a:srgbClr val="000000"/>
            </a:solidFill>
            <a:round/>
            <a:headEnd/>
            <a:tailEnd/>
          </a:ln>
        </p:spPr>
        <p:txBody>
          <a:bodyPr/>
          <a:lstStyle/>
          <a:p>
            <a:pPr>
              <a:defRPr/>
            </a:pPr>
            <a:endParaRPr lang="en-US"/>
          </a:p>
        </p:txBody>
      </p:sp>
      <p:sp>
        <p:nvSpPr>
          <p:cNvPr id="116773" name="Line 37">
            <a:extLst>
              <a:ext uri="{FF2B5EF4-FFF2-40B4-BE49-F238E27FC236}">
                <a16:creationId xmlns:a16="http://schemas.microsoft.com/office/drawing/2014/main" id="{07616274-07A2-1E48-94F1-F5CE203A3581}"/>
              </a:ext>
            </a:extLst>
          </p:cNvPr>
          <p:cNvSpPr>
            <a:spLocks noChangeShapeType="1"/>
          </p:cNvSpPr>
          <p:nvPr/>
        </p:nvSpPr>
        <p:spPr bwMode="auto">
          <a:xfrm>
            <a:off x="3913188" y="5543550"/>
            <a:ext cx="765175" cy="1588"/>
          </a:xfrm>
          <a:prstGeom prst="line">
            <a:avLst/>
          </a:prstGeom>
          <a:noFill/>
          <a:ln w="17463">
            <a:solidFill>
              <a:srgbClr val="000000"/>
            </a:solidFill>
            <a:round/>
            <a:headEnd/>
            <a:tailEnd/>
          </a:ln>
        </p:spPr>
        <p:txBody>
          <a:bodyPr/>
          <a:lstStyle/>
          <a:p>
            <a:pPr>
              <a:defRPr/>
            </a:pPr>
            <a:endParaRPr lang="en-US"/>
          </a:p>
        </p:txBody>
      </p:sp>
      <p:sp>
        <p:nvSpPr>
          <p:cNvPr id="116774" name="Line 38">
            <a:extLst>
              <a:ext uri="{FF2B5EF4-FFF2-40B4-BE49-F238E27FC236}">
                <a16:creationId xmlns:a16="http://schemas.microsoft.com/office/drawing/2014/main" id="{B2C85373-4650-9C83-F299-80D02424622F}"/>
              </a:ext>
            </a:extLst>
          </p:cNvPr>
          <p:cNvSpPr>
            <a:spLocks noChangeShapeType="1"/>
          </p:cNvSpPr>
          <p:nvPr/>
        </p:nvSpPr>
        <p:spPr bwMode="auto">
          <a:xfrm>
            <a:off x="2362200" y="3617913"/>
            <a:ext cx="1588" cy="322262"/>
          </a:xfrm>
          <a:prstGeom prst="line">
            <a:avLst/>
          </a:prstGeom>
          <a:noFill/>
          <a:ln w="17463">
            <a:solidFill>
              <a:srgbClr val="000000"/>
            </a:solidFill>
            <a:round/>
            <a:headEnd/>
            <a:tailEnd/>
          </a:ln>
        </p:spPr>
        <p:txBody>
          <a:bodyPr/>
          <a:lstStyle/>
          <a:p>
            <a:pPr>
              <a:defRPr/>
            </a:pPr>
            <a:endParaRPr lang="en-US"/>
          </a:p>
        </p:txBody>
      </p:sp>
      <p:sp>
        <p:nvSpPr>
          <p:cNvPr id="116775" name="Line 39">
            <a:extLst>
              <a:ext uri="{FF2B5EF4-FFF2-40B4-BE49-F238E27FC236}">
                <a16:creationId xmlns:a16="http://schemas.microsoft.com/office/drawing/2014/main" id="{142FB1E4-B0D1-C98C-34E6-CBE0B8961335}"/>
              </a:ext>
            </a:extLst>
          </p:cNvPr>
          <p:cNvSpPr>
            <a:spLocks noChangeShapeType="1"/>
          </p:cNvSpPr>
          <p:nvPr/>
        </p:nvSpPr>
        <p:spPr bwMode="auto">
          <a:xfrm flipH="1">
            <a:off x="4749800" y="4064000"/>
            <a:ext cx="36513" cy="1588"/>
          </a:xfrm>
          <a:prstGeom prst="line">
            <a:avLst/>
          </a:prstGeom>
          <a:noFill/>
          <a:ln w="17463">
            <a:solidFill>
              <a:srgbClr val="000000"/>
            </a:solidFill>
            <a:round/>
            <a:headEnd/>
            <a:tailEnd/>
          </a:ln>
        </p:spPr>
        <p:txBody>
          <a:bodyPr/>
          <a:lstStyle/>
          <a:p>
            <a:pPr>
              <a:defRPr/>
            </a:pPr>
            <a:endParaRPr lang="en-US"/>
          </a:p>
        </p:txBody>
      </p:sp>
      <p:sp>
        <p:nvSpPr>
          <p:cNvPr id="116776" name="Freeform 40">
            <a:extLst>
              <a:ext uri="{FF2B5EF4-FFF2-40B4-BE49-F238E27FC236}">
                <a16:creationId xmlns:a16="http://schemas.microsoft.com/office/drawing/2014/main" id="{F4D54495-AE72-055D-42CA-D99436DC7F3D}"/>
              </a:ext>
            </a:extLst>
          </p:cNvPr>
          <p:cNvSpPr>
            <a:spLocks/>
          </p:cNvSpPr>
          <p:nvPr/>
        </p:nvSpPr>
        <p:spPr bwMode="auto">
          <a:xfrm>
            <a:off x="4714875" y="4046538"/>
            <a:ext cx="71438" cy="34925"/>
          </a:xfrm>
          <a:custGeom>
            <a:avLst/>
            <a:gdLst>
              <a:gd name="T0" fmla="*/ 22 w 45"/>
              <a:gd name="T1" fmla="*/ 11 h 22"/>
              <a:gd name="T2" fmla="*/ 45 w 45"/>
              <a:gd name="T3" fmla="*/ 22 h 22"/>
              <a:gd name="T4" fmla="*/ 0 w 45"/>
              <a:gd name="T5" fmla="*/ 22 h 22"/>
              <a:gd name="T6" fmla="*/ 33 w 45"/>
              <a:gd name="T7" fmla="*/ 0 h 22"/>
              <a:gd name="T8" fmla="*/ 22 w 45"/>
              <a:gd name="T9" fmla="*/ 11 h 22"/>
            </a:gdLst>
            <a:ahLst/>
            <a:cxnLst>
              <a:cxn ang="0">
                <a:pos x="T0" y="T1"/>
              </a:cxn>
              <a:cxn ang="0">
                <a:pos x="T2" y="T3"/>
              </a:cxn>
              <a:cxn ang="0">
                <a:pos x="T4" y="T5"/>
              </a:cxn>
              <a:cxn ang="0">
                <a:pos x="T6" y="T7"/>
              </a:cxn>
              <a:cxn ang="0">
                <a:pos x="T8" y="T9"/>
              </a:cxn>
            </a:cxnLst>
            <a:rect l="0" t="0" r="r" b="b"/>
            <a:pathLst>
              <a:path w="45" h="22">
                <a:moveTo>
                  <a:pt x="22" y="11"/>
                </a:moveTo>
                <a:lnTo>
                  <a:pt x="45" y="22"/>
                </a:lnTo>
                <a:lnTo>
                  <a:pt x="0" y="22"/>
                </a:lnTo>
                <a:lnTo>
                  <a:pt x="33" y="0"/>
                </a:lnTo>
                <a:lnTo>
                  <a:pt x="22" y="11"/>
                </a:lnTo>
                <a:close/>
              </a:path>
            </a:pathLst>
          </a:custGeom>
          <a:noFill/>
          <a:ln w="17463">
            <a:solidFill>
              <a:srgbClr val="000000"/>
            </a:solidFill>
            <a:prstDash val="solid"/>
            <a:round/>
            <a:headEnd/>
            <a:tailEnd/>
          </a:ln>
        </p:spPr>
        <p:txBody>
          <a:bodyPr/>
          <a:lstStyle/>
          <a:p>
            <a:pPr>
              <a:defRPr/>
            </a:pPr>
            <a:endParaRPr lang="en-US"/>
          </a:p>
        </p:txBody>
      </p:sp>
      <p:sp>
        <p:nvSpPr>
          <p:cNvPr id="116777" name="Freeform 41">
            <a:extLst>
              <a:ext uri="{FF2B5EF4-FFF2-40B4-BE49-F238E27FC236}">
                <a16:creationId xmlns:a16="http://schemas.microsoft.com/office/drawing/2014/main" id="{A6B9FEC9-48FC-C65C-0D32-06A731AFF065}"/>
              </a:ext>
            </a:extLst>
          </p:cNvPr>
          <p:cNvSpPr>
            <a:spLocks/>
          </p:cNvSpPr>
          <p:nvPr/>
        </p:nvSpPr>
        <p:spPr bwMode="auto">
          <a:xfrm>
            <a:off x="4714875" y="4046538"/>
            <a:ext cx="71438" cy="34925"/>
          </a:xfrm>
          <a:custGeom>
            <a:avLst/>
            <a:gdLst>
              <a:gd name="T0" fmla="*/ 22 w 45"/>
              <a:gd name="T1" fmla="*/ 11 h 22"/>
              <a:gd name="T2" fmla="*/ 45 w 45"/>
              <a:gd name="T3" fmla="*/ 22 h 22"/>
              <a:gd name="T4" fmla="*/ 0 w 45"/>
              <a:gd name="T5" fmla="*/ 22 h 22"/>
              <a:gd name="T6" fmla="*/ 33 w 45"/>
              <a:gd name="T7" fmla="*/ 0 h 22"/>
              <a:gd name="T8" fmla="*/ 22 w 45"/>
              <a:gd name="T9" fmla="*/ 11 h 22"/>
            </a:gdLst>
            <a:ahLst/>
            <a:cxnLst>
              <a:cxn ang="0">
                <a:pos x="T0" y="T1"/>
              </a:cxn>
              <a:cxn ang="0">
                <a:pos x="T2" y="T3"/>
              </a:cxn>
              <a:cxn ang="0">
                <a:pos x="T4" y="T5"/>
              </a:cxn>
              <a:cxn ang="0">
                <a:pos x="T6" y="T7"/>
              </a:cxn>
              <a:cxn ang="0">
                <a:pos x="T8" y="T9"/>
              </a:cxn>
            </a:cxnLst>
            <a:rect l="0" t="0" r="r" b="b"/>
            <a:pathLst>
              <a:path w="45" h="22">
                <a:moveTo>
                  <a:pt x="22" y="11"/>
                </a:moveTo>
                <a:lnTo>
                  <a:pt x="45" y="22"/>
                </a:lnTo>
                <a:lnTo>
                  <a:pt x="0" y="22"/>
                </a:lnTo>
                <a:lnTo>
                  <a:pt x="33" y="0"/>
                </a:lnTo>
                <a:lnTo>
                  <a:pt x="22" y="11"/>
                </a:lnTo>
                <a:close/>
              </a:path>
            </a:pathLst>
          </a:custGeom>
          <a:solidFill>
            <a:srgbClr val="000000"/>
          </a:solidFill>
          <a:ln>
            <a:noFill/>
          </a:ln>
        </p:spPr>
        <p:txBody>
          <a:bodyPr/>
          <a:lstStyle/>
          <a:p>
            <a:pPr>
              <a:defRPr/>
            </a:pPr>
            <a:endParaRPr lang="en-US"/>
          </a:p>
        </p:txBody>
      </p:sp>
      <p:sp>
        <p:nvSpPr>
          <p:cNvPr id="116778" name="Freeform 42">
            <a:extLst>
              <a:ext uri="{FF2B5EF4-FFF2-40B4-BE49-F238E27FC236}">
                <a16:creationId xmlns:a16="http://schemas.microsoft.com/office/drawing/2014/main" id="{8AE6459A-2D8F-CEEE-DE5C-EAA960CB9DFF}"/>
              </a:ext>
            </a:extLst>
          </p:cNvPr>
          <p:cNvSpPr>
            <a:spLocks/>
          </p:cNvSpPr>
          <p:nvPr/>
        </p:nvSpPr>
        <p:spPr bwMode="auto">
          <a:xfrm>
            <a:off x="4786313" y="3173413"/>
            <a:ext cx="266700" cy="890587"/>
          </a:xfrm>
          <a:custGeom>
            <a:avLst/>
            <a:gdLst>
              <a:gd name="T0" fmla="*/ 168 w 168"/>
              <a:gd name="T1" fmla="*/ 0 h 561"/>
              <a:gd name="T2" fmla="*/ 168 w 168"/>
              <a:gd name="T3" fmla="*/ 191 h 561"/>
              <a:gd name="T4" fmla="*/ 134 w 168"/>
              <a:gd name="T5" fmla="*/ 359 h 561"/>
              <a:gd name="T6" fmla="*/ 78 w 168"/>
              <a:gd name="T7" fmla="*/ 494 h 561"/>
              <a:gd name="T8" fmla="*/ 45 w 168"/>
              <a:gd name="T9" fmla="*/ 539 h 561"/>
              <a:gd name="T10" fmla="*/ 0 w 168"/>
              <a:gd name="T11" fmla="*/ 561 h 561"/>
            </a:gdLst>
            <a:ahLst/>
            <a:cxnLst>
              <a:cxn ang="0">
                <a:pos x="T0" y="T1"/>
              </a:cxn>
              <a:cxn ang="0">
                <a:pos x="T2" y="T3"/>
              </a:cxn>
              <a:cxn ang="0">
                <a:pos x="T4" y="T5"/>
              </a:cxn>
              <a:cxn ang="0">
                <a:pos x="T6" y="T7"/>
              </a:cxn>
              <a:cxn ang="0">
                <a:pos x="T8" y="T9"/>
              </a:cxn>
              <a:cxn ang="0">
                <a:pos x="T10" y="T11"/>
              </a:cxn>
            </a:cxnLst>
            <a:rect l="0" t="0" r="r" b="b"/>
            <a:pathLst>
              <a:path w="168" h="561">
                <a:moveTo>
                  <a:pt x="168" y="0"/>
                </a:moveTo>
                <a:lnTo>
                  <a:pt x="168" y="191"/>
                </a:lnTo>
                <a:lnTo>
                  <a:pt x="134" y="359"/>
                </a:lnTo>
                <a:lnTo>
                  <a:pt x="78" y="494"/>
                </a:lnTo>
                <a:lnTo>
                  <a:pt x="45" y="539"/>
                </a:lnTo>
                <a:lnTo>
                  <a:pt x="0" y="561"/>
                </a:lnTo>
              </a:path>
            </a:pathLst>
          </a:custGeom>
          <a:noFill/>
          <a:ln w="17463">
            <a:solidFill>
              <a:srgbClr val="000000"/>
            </a:solidFill>
            <a:prstDash val="solid"/>
            <a:round/>
            <a:headEnd/>
            <a:tailEnd/>
          </a:ln>
        </p:spPr>
        <p:txBody>
          <a:bodyPr/>
          <a:lstStyle/>
          <a:p>
            <a:pPr>
              <a:defRPr/>
            </a:pPr>
            <a:endParaRPr lang="en-US"/>
          </a:p>
        </p:txBody>
      </p:sp>
      <p:sp>
        <p:nvSpPr>
          <p:cNvPr id="116779" name="Line 43">
            <a:extLst>
              <a:ext uri="{FF2B5EF4-FFF2-40B4-BE49-F238E27FC236}">
                <a16:creationId xmlns:a16="http://schemas.microsoft.com/office/drawing/2014/main" id="{E4118E9E-BE29-C37C-9996-09CCB849369B}"/>
              </a:ext>
            </a:extLst>
          </p:cNvPr>
          <p:cNvSpPr>
            <a:spLocks noChangeShapeType="1"/>
          </p:cNvSpPr>
          <p:nvPr/>
        </p:nvSpPr>
        <p:spPr bwMode="auto">
          <a:xfrm flipH="1">
            <a:off x="4767263" y="5383213"/>
            <a:ext cx="36512" cy="1587"/>
          </a:xfrm>
          <a:prstGeom prst="line">
            <a:avLst/>
          </a:prstGeom>
          <a:noFill/>
          <a:ln w="17463">
            <a:solidFill>
              <a:srgbClr val="000000"/>
            </a:solidFill>
            <a:round/>
            <a:headEnd/>
            <a:tailEnd/>
          </a:ln>
        </p:spPr>
        <p:txBody>
          <a:bodyPr/>
          <a:lstStyle/>
          <a:p>
            <a:pPr>
              <a:defRPr/>
            </a:pPr>
            <a:endParaRPr lang="en-US"/>
          </a:p>
        </p:txBody>
      </p:sp>
      <p:sp>
        <p:nvSpPr>
          <p:cNvPr id="116780" name="Freeform 44">
            <a:extLst>
              <a:ext uri="{FF2B5EF4-FFF2-40B4-BE49-F238E27FC236}">
                <a16:creationId xmlns:a16="http://schemas.microsoft.com/office/drawing/2014/main" id="{58A4E4BD-1EBD-FC48-EE96-713AABB3148C}"/>
              </a:ext>
            </a:extLst>
          </p:cNvPr>
          <p:cNvSpPr>
            <a:spLocks/>
          </p:cNvSpPr>
          <p:nvPr/>
        </p:nvSpPr>
        <p:spPr bwMode="auto">
          <a:xfrm>
            <a:off x="4714875" y="5365750"/>
            <a:ext cx="71438" cy="34925"/>
          </a:xfrm>
          <a:custGeom>
            <a:avLst/>
            <a:gdLst>
              <a:gd name="T0" fmla="*/ 33 w 45"/>
              <a:gd name="T1" fmla="*/ 11 h 22"/>
              <a:gd name="T2" fmla="*/ 45 w 45"/>
              <a:gd name="T3" fmla="*/ 22 h 22"/>
              <a:gd name="T4" fmla="*/ 0 w 45"/>
              <a:gd name="T5" fmla="*/ 11 h 22"/>
              <a:gd name="T6" fmla="*/ 45 w 45"/>
              <a:gd name="T7" fmla="*/ 0 h 22"/>
              <a:gd name="T8" fmla="*/ 33 w 45"/>
              <a:gd name="T9" fmla="*/ 11 h 22"/>
            </a:gdLst>
            <a:ahLst/>
            <a:cxnLst>
              <a:cxn ang="0">
                <a:pos x="T0" y="T1"/>
              </a:cxn>
              <a:cxn ang="0">
                <a:pos x="T2" y="T3"/>
              </a:cxn>
              <a:cxn ang="0">
                <a:pos x="T4" y="T5"/>
              </a:cxn>
              <a:cxn ang="0">
                <a:pos x="T6" y="T7"/>
              </a:cxn>
              <a:cxn ang="0">
                <a:pos x="T8" y="T9"/>
              </a:cxn>
            </a:cxnLst>
            <a:rect l="0" t="0" r="r" b="b"/>
            <a:pathLst>
              <a:path w="45" h="22">
                <a:moveTo>
                  <a:pt x="33" y="11"/>
                </a:moveTo>
                <a:lnTo>
                  <a:pt x="45" y="22"/>
                </a:lnTo>
                <a:lnTo>
                  <a:pt x="0" y="11"/>
                </a:lnTo>
                <a:lnTo>
                  <a:pt x="45" y="0"/>
                </a:lnTo>
                <a:lnTo>
                  <a:pt x="33" y="11"/>
                </a:lnTo>
                <a:close/>
              </a:path>
            </a:pathLst>
          </a:custGeom>
          <a:noFill/>
          <a:ln w="17463">
            <a:solidFill>
              <a:srgbClr val="000000"/>
            </a:solidFill>
            <a:prstDash val="solid"/>
            <a:round/>
            <a:headEnd/>
            <a:tailEnd/>
          </a:ln>
        </p:spPr>
        <p:txBody>
          <a:bodyPr/>
          <a:lstStyle/>
          <a:p>
            <a:pPr>
              <a:defRPr/>
            </a:pPr>
            <a:endParaRPr lang="en-US"/>
          </a:p>
        </p:txBody>
      </p:sp>
      <p:sp>
        <p:nvSpPr>
          <p:cNvPr id="116781" name="Freeform 45">
            <a:extLst>
              <a:ext uri="{FF2B5EF4-FFF2-40B4-BE49-F238E27FC236}">
                <a16:creationId xmlns:a16="http://schemas.microsoft.com/office/drawing/2014/main" id="{15962231-BA3B-842B-D86E-6E225E372771}"/>
              </a:ext>
            </a:extLst>
          </p:cNvPr>
          <p:cNvSpPr>
            <a:spLocks/>
          </p:cNvSpPr>
          <p:nvPr/>
        </p:nvSpPr>
        <p:spPr bwMode="auto">
          <a:xfrm>
            <a:off x="4714875" y="5365750"/>
            <a:ext cx="71438" cy="34925"/>
          </a:xfrm>
          <a:custGeom>
            <a:avLst/>
            <a:gdLst>
              <a:gd name="T0" fmla="*/ 33 w 45"/>
              <a:gd name="T1" fmla="*/ 11 h 22"/>
              <a:gd name="T2" fmla="*/ 45 w 45"/>
              <a:gd name="T3" fmla="*/ 22 h 22"/>
              <a:gd name="T4" fmla="*/ 0 w 45"/>
              <a:gd name="T5" fmla="*/ 11 h 22"/>
              <a:gd name="T6" fmla="*/ 45 w 45"/>
              <a:gd name="T7" fmla="*/ 0 h 22"/>
              <a:gd name="T8" fmla="*/ 33 w 45"/>
              <a:gd name="T9" fmla="*/ 11 h 22"/>
            </a:gdLst>
            <a:ahLst/>
            <a:cxnLst>
              <a:cxn ang="0">
                <a:pos x="T0" y="T1"/>
              </a:cxn>
              <a:cxn ang="0">
                <a:pos x="T2" y="T3"/>
              </a:cxn>
              <a:cxn ang="0">
                <a:pos x="T4" y="T5"/>
              </a:cxn>
              <a:cxn ang="0">
                <a:pos x="T6" y="T7"/>
              </a:cxn>
              <a:cxn ang="0">
                <a:pos x="T8" y="T9"/>
              </a:cxn>
            </a:cxnLst>
            <a:rect l="0" t="0" r="r" b="b"/>
            <a:pathLst>
              <a:path w="45" h="22">
                <a:moveTo>
                  <a:pt x="33" y="11"/>
                </a:moveTo>
                <a:lnTo>
                  <a:pt x="45" y="22"/>
                </a:lnTo>
                <a:lnTo>
                  <a:pt x="0" y="11"/>
                </a:lnTo>
                <a:lnTo>
                  <a:pt x="45" y="0"/>
                </a:lnTo>
                <a:lnTo>
                  <a:pt x="33" y="11"/>
                </a:lnTo>
                <a:close/>
              </a:path>
            </a:pathLst>
          </a:custGeom>
          <a:solidFill>
            <a:srgbClr val="000000"/>
          </a:solidFill>
          <a:ln>
            <a:noFill/>
          </a:ln>
        </p:spPr>
        <p:txBody>
          <a:bodyPr/>
          <a:lstStyle/>
          <a:p>
            <a:pPr>
              <a:defRPr/>
            </a:pPr>
            <a:endParaRPr lang="en-US"/>
          </a:p>
        </p:txBody>
      </p:sp>
      <p:sp>
        <p:nvSpPr>
          <p:cNvPr id="116782" name="Freeform 46">
            <a:extLst>
              <a:ext uri="{FF2B5EF4-FFF2-40B4-BE49-F238E27FC236}">
                <a16:creationId xmlns:a16="http://schemas.microsoft.com/office/drawing/2014/main" id="{7AF4E227-B1A6-BC95-8400-209E2F84CB95}"/>
              </a:ext>
            </a:extLst>
          </p:cNvPr>
          <p:cNvSpPr>
            <a:spLocks/>
          </p:cNvSpPr>
          <p:nvPr/>
        </p:nvSpPr>
        <p:spPr bwMode="auto">
          <a:xfrm>
            <a:off x="4803775" y="3173413"/>
            <a:ext cx="2565400" cy="2209800"/>
          </a:xfrm>
          <a:custGeom>
            <a:avLst/>
            <a:gdLst>
              <a:gd name="T0" fmla="*/ 1616 w 1616"/>
              <a:gd name="T1" fmla="*/ 0 h 1392"/>
              <a:gd name="T2" fmla="*/ 1583 w 1616"/>
              <a:gd name="T3" fmla="*/ 269 h 1392"/>
              <a:gd name="T4" fmla="*/ 1493 w 1616"/>
              <a:gd name="T5" fmla="*/ 527 h 1392"/>
              <a:gd name="T6" fmla="*/ 1347 w 1616"/>
              <a:gd name="T7" fmla="*/ 763 h 1392"/>
              <a:gd name="T8" fmla="*/ 1145 w 1616"/>
              <a:gd name="T9" fmla="*/ 965 h 1392"/>
              <a:gd name="T10" fmla="*/ 909 w 1616"/>
              <a:gd name="T11" fmla="*/ 1145 h 1392"/>
              <a:gd name="T12" fmla="*/ 629 w 1616"/>
              <a:gd name="T13" fmla="*/ 1268 h 1392"/>
              <a:gd name="T14" fmla="*/ 325 w 1616"/>
              <a:gd name="T15" fmla="*/ 1358 h 1392"/>
              <a:gd name="T16" fmla="*/ 0 w 1616"/>
              <a:gd name="T17" fmla="*/ 1392 h 1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16" h="1392">
                <a:moveTo>
                  <a:pt x="1616" y="0"/>
                </a:moveTo>
                <a:lnTo>
                  <a:pt x="1583" y="269"/>
                </a:lnTo>
                <a:lnTo>
                  <a:pt x="1493" y="527"/>
                </a:lnTo>
                <a:lnTo>
                  <a:pt x="1347" y="763"/>
                </a:lnTo>
                <a:lnTo>
                  <a:pt x="1145" y="965"/>
                </a:lnTo>
                <a:lnTo>
                  <a:pt x="909" y="1145"/>
                </a:lnTo>
                <a:lnTo>
                  <a:pt x="629" y="1268"/>
                </a:lnTo>
                <a:lnTo>
                  <a:pt x="325" y="1358"/>
                </a:lnTo>
                <a:lnTo>
                  <a:pt x="0" y="1392"/>
                </a:lnTo>
              </a:path>
            </a:pathLst>
          </a:custGeom>
          <a:noFill/>
          <a:ln w="17463">
            <a:solidFill>
              <a:srgbClr val="000000"/>
            </a:solidFill>
            <a:prstDash val="solid"/>
            <a:round/>
            <a:headEnd/>
            <a:tailEnd/>
          </a:ln>
        </p:spPr>
        <p:txBody>
          <a:bodyPr/>
          <a:lstStyle/>
          <a:p>
            <a:pPr>
              <a:defRPr/>
            </a:pPr>
            <a:endParaRPr lang="en-US"/>
          </a:p>
        </p:txBody>
      </p:sp>
      <p:sp>
        <p:nvSpPr>
          <p:cNvPr id="116783" name="Line 47">
            <a:extLst>
              <a:ext uri="{FF2B5EF4-FFF2-40B4-BE49-F238E27FC236}">
                <a16:creationId xmlns:a16="http://schemas.microsoft.com/office/drawing/2014/main" id="{00DA614A-5F55-FCF3-CF7A-7984257F791F}"/>
              </a:ext>
            </a:extLst>
          </p:cNvPr>
          <p:cNvSpPr>
            <a:spLocks noChangeShapeType="1"/>
          </p:cNvSpPr>
          <p:nvPr/>
        </p:nvSpPr>
        <p:spPr bwMode="auto">
          <a:xfrm flipH="1">
            <a:off x="4767263" y="5703888"/>
            <a:ext cx="36512" cy="1587"/>
          </a:xfrm>
          <a:prstGeom prst="line">
            <a:avLst/>
          </a:prstGeom>
          <a:noFill/>
          <a:ln w="17463">
            <a:solidFill>
              <a:srgbClr val="000000"/>
            </a:solidFill>
            <a:round/>
            <a:headEnd/>
            <a:tailEnd/>
          </a:ln>
        </p:spPr>
        <p:txBody>
          <a:bodyPr/>
          <a:lstStyle/>
          <a:p>
            <a:pPr>
              <a:defRPr/>
            </a:pPr>
            <a:endParaRPr lang="en-US"/>
          </a:p>
        </p:txBody>
      </p:sp>
      <p:sp>
        <p:nvSpPr>
          <p:cNvPr id="116784" name="Freeform 48">
            <a:extLst>
              <a:ext uri="{FF2B5EF4-FFF2-40B4-BE49-F238E27FC236}">
                <a16:creationId xmlns:a16="http://schemas.microsoft.com/office/drawing/2014/main" id="{03CED32D-EF24-C4BB-ECE7-54173B8177F3}"/>
              </a:ext>
            </a:extLst>
          </p:cNvPr>
          <p:cNvSpPr>
            <a:spLocks/>
          </p:cNvSpPr>
          <p:nvPr/>
        </p:nvSpPr>
        <p:spPr bwMode="auto">
          <a:xfrm>
            <a:off x="4714875" y="5686425"/>
            <a:ext cx="71438" cy="34925"/>
          </a:xfrm>
          <a:custGeom>
            <a:avLst/>
            <a:gdLst>
              <a:gd name="T0" fmla="*/ 33 w 45"/>
              <a:gd name="T1" fmla="*/ 11 h 22"/>
              <a:gd name="T2" fmla="*/ 45 w 45"/>
              <a:gd name="T3" fmla="*/ 22 h 22"/>
              <a:gd name="T4" fmla="*/ 0 w 45"/>
              <a:gd name="T5" fmla="*/ 11 h 22"/>
              <a:gd name="T6" fmla="*/ 45 w 45"/>
              <a:gd name="T7" fmla="*/ 0 h 22"/>
              <a:gd name="T8" fmla="*/ 33 w 45"/>
              <a:gd name="T9" fmla="*/ 11 h 22"/>
            </a:gdLst>
            <a:ahLst/>
            <a:cxnLst>
              <a:cxn ang="0">
                <a:pos x="T0" y="T1"/>
              </a:cxn>
              <a:cxn ang="0">
                <a:pos x="T2" y="T3"/>
              </a:cxn>
              <a:cxn ang="0">
                <a:pos x="T4" y="T5"/>
              </a:cxn>
              <a:cxn ang="0">
                <a:pos x="T6" y="T7"/>
              </a:cxn>
              <a:cxn ang="0">
                <a:pos x="T8" y="T9"/>
              </a:cxn>
            </a:cxnLst>
            <a:rect l="0" t="0" r="r" b="b"/>
            <a:pathLst>
              <a:path w="45" h="22">
                <a:moveTo>
                  <a:pt x="33" y="11"/>
                </a:moveTo>
                <a:lnTo>
                  <a:pt x="45" y="22"/>
                </a:lnTo>
                <a:lnTo>
                  <a:pt x="0" y="11"/>
                </a:lnTo>
                <a:lnTo>
                  <a:pt x="45" y="0"/>
                </a:lnTo>
                <a:lnTo>
                  <a:pt x="33" y="11"/>
                </a:lnTo>
                <a:close/>
              </a:path>
            </a:pathLst>
          </a:custGeom>
          <a:noFill/>
          <a:ln w="17463">
            <a:solidFill>
              <a:srgbClr val="000000"/>
            </a:solidFill>
            <a:prstDash val="solid"/>
            <a:round/>
            <a:headEnd/>
            <a:tailEnd/>
          </a:ln>
        </p:spPr>
        <p:txBody>
          <a:bodyPr/>
          <a:lstStyle/>
          <a:p>
            <a:pPr>
              <a:defRPr/>
            </a:pPr>
            <a:endParaRPr lang="en-US"/>
          </a:p>
        </p:txBody>
      </p:sp>
      <p:sp>
        <p:nvSpPr>
          <p:cNvPr id="116785" name="Freeform 49">
            <a:extLst>
              <a:ext uri="{FF2B5EF4-FFF2-40B4-BE49-F238E27FC236}">
                <a16:creationId xmlns:a16="http://schemas.microsoft.com/office/drawing/2014/main" id="{4CEF8467-EC08-2D9F-BAEB-BF5CA428D15B}"/>
              </a:ext>
            </a:extLst>
          </p:cNvPr>
          <p:cNvSpPr>
            <a:spLocks/>
          </p:cNvSpPr>
          <p:nvPr/>
        </p:nvSpPr>
        <p:spPr bwMode="auto">
          <a:xfrm>
            <a:off x="4714875" y="5686425"/>
            <a:ext cx="71438" cy="34925"/>
          </a:xfrm>
          <a:custGeom>
            <a:avLst/>
            <a:gdLst>
              <a:gd name="T0" fmla="*/ 33 w 45"/>
              <a:gd name="T1" fmla="*/ 11 h 22"/>
              <a:gd name="T2" fmla="*/ 45 w 45"/>
              <a:gd name="T3" fmla="*/ 22 h 22"/>
              <a:gd name="T4" fmla="*/ 0 w 45"/>
              <a:gd name="T5" fmla="*/ 11 h 22"/>
              <a:gd name="T6" fmla="*/ 45 w 45"/>
              <a:gd name="T7" fmla="*/ 0 h 22"/>
              <a:gd name="T8" fmla="*/ 33 w 45"/>
              <a:gd name="T9" fmla="*/ 11 h 22"/>
            </a:gdLst>
            <a:ahLst/>
            <a:cxnLst>
              <a:cxn ang="0">
                <a:pos x="T0" y="T1"/>
              </a:cxn>
              <a:cxn ang="0">
                <a:pos x="T2" y="T3"/>
              </a:cxn>
              <a:cxn ang="0">
                <a:pos x="T4" y="T5"/>
              </a:cxn>
              <a:cxn ang="0">
                <a:pos x="T6" y="T7"/>
              </a:cxn>
              <a:cxn ang="0">
                <a:pos x="T8" y="T9"/>
              </a:cxn>
            </a:cxnLst>
            <a:rect l="0" t="0" r="r" b="b"/>
            <a:pathLst>
              <a:path w="45" h="22">
                <a:moveTo>
                  <a:pt x="33" y="11"/>
                </a:moveTo>
                <a:lnTo>
                  <a:pt x="45" y="22"/>
                </a:lnTo>
                <a:lnTo>
                  <a:pt x="0" y="11"/>
                </a:lnTo>
                <a:lnTo>
                  <a:pt x="45" y="0"/>
                </a:lnTo>
                <a:lnTo>
                  <a:pt x="33" y="11"/>
                </a:lnTo>
                <a:close/>
              </a:path>
            </a:pathLst>
          </a:custGeom>
          <a:solidFill>
            <a:srgbClr val="000000"/>
          </a:solidFill>
          <a:ln>
            <a:noFill/>
          </a:ln>
        </p:spPr>
        <p:txBody>
          <a:bodyPr/>
          <a:lstStyle/>
          <a:p>
            <a:pPr>
              <a:defRPr/>
            </a:pPr>
            <a:endParaRPr lang="en-US"/>
          </a:p>
        </p:txBody>
      </p:sp>
      <p:sp>
        <p:nvSpPr>
          <p:cNvPr id="116786" name="Freeform 50">
            <a:extLst>
              <a:ext uri="{FF2B5EF4-FFF2-40B4-BE49-F238E27FC236}">
                <a16:creationId xmlns:a16="http://schemas.microsoft.com/office/drawing/2014/main" id="{3162A658-1888-5CE8-3297-4BB41B5F7B75}"/>
              </a:ext>
            </a:extLst>
          </p:cNvPr>
          <p:cNvSpPr>
            <a:spLocks/>
          </p:cNvSpPr>
          <p:nvPr/>
        </p:nvSpPr>
        <p:spPr bwMode="auto">
          <a:xfrm>
            <a:off x="4803775" y="3173413"/>
            <a:ext cx="3332163" cy="2530475"/>
          </a:xfrm>
          <a:custGeom>
            <a:avLst/>
            <a:gdLst>
              <a:gd name="T0" fmla="*/ 2099 w 2099"/>
              <a:gd name="T1" fmla="*/ 0 h 1594"/>
              <a:gd name="T2" fmla="*/ 2054 w 2099"/>
              <a:gd name="T3" fmla="*/ 314 h 1594"/>
              <a:gd name="T4" fmla="*/ 1942 w 2099"/>
              <a:gd name="T5" fmla="*/ 606 h 1594"/>
              <a:gd name="T6" fmla="*/ 1740 w 2099"/>
              <a:gd name="T7" fmla="*/ 875 h 1594"/>
              <a:gd name="T8" fmla="*/ 1627 w 2099"/>
              <a:gd name="T9" fmla="*/ 999 h 1594"/>
              <a:gd name="T10" fmla="*/ 1493 w 2099"/>
              <a:gd name="T11" fmla="*/ 1111 h 1594"/>
              <a:gd name="T12" fmla="*/ 1179 w 2099"/>
              <a:gd name="T13" fmla="*/ 1313 h 1594"/>
              <a:gd name="T14" fmla="*/ 819 w 2099"/>
              <a:gd name="T15" fmla="*/ 1459 h 1594"/>
              <a:gd name="T16" fmla="*/ 426 w 2099"/>
              <a:gd name="T17" fmla="*/ 1560 h 1594"/>
              <a:gd name="T18" fmla="*/ 0 w 2099"/>
              <a:gd name="T19" fmla="*/ 1594 h 1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9" h="1594">
                <a:moveTo>
                  <a:pt x="2099" y="0"/>
                </a:moveTo>
                <a:lnTo>
                  <a:pt x="2054" y="314"/>
                </a:lnTo>
                <a:lnTo>
                  <a:pt x="1942" y="606"/>
                </a:lnTo>
                <a:lnTo>
                  <a:pt x="1740" y="875"/>
                </a:lnTo>
                <a:lnTo>
                  <a:pt x="1627" y="999"/>
                </a:lnTo>
                <a:lnTo>
                  <a:pt x="1493" y="1111"/>
                </a:lnTo>
                <a:lnTo>
                  <a:pt x="1179" y="1313"/>
                </a:lnTo>
                <a:lnTo>
                  <a:pt x="819" y="1459"/>
                </a:lnTo>
                <a:lnTo>
                  <a:pt x="426" y="1560"/>
                </a:lnTo>
                <a:lnTo>
                  <a:pt x="0" y="1594"/>
                </a:lnTo>
              </a:path>
            </a:pathLst>
          </a:custGeom>
          <a:noFill/>
          <a:ln w="17463">
            <a:solidFill>
              <a:srgbClr val="000000"/>
            </a:solidFill>
            <a:prstDash val="solid"/>
            <a:round/>
            <a:headEnd/>
            <a:tailEnd/>
          </a:ln>
        </p:spPr>
        <p:txBody>
          <a:bodyPr/>
          <a:lstStyle/>
          <a:p>
            <a:pPr>
              <a:defRPr/>
            </a:pPr>
            <a:endParaRPr lang="en-US"/>
          </a:p>
        </p:txBody>
      </p:sp>
      <p:sp>
        <p:nvSpPr>
          <p:cNvPr id="116787" name="Line 51">
            <a:extLst>
              <a:ext uri="{FF2B5EF4-FFF2-40B4-BE49-F238E27FC236}">
                <a16:creationId xmlns:a16="http://schemas.microsoft.com/office/drawing/2014/main" id="{62345A90-1101-882B-7DC5-F372C1534CB4}"/>
              </a:ext>
            </a:extLst>
          </p:cNvPr>
          <p:cNvSpPr>
            <a:spLocks noChangeShapeType="1"/>
          </p:cNvSpPr>
          <p:nvPr/>
        </p:nvSpPr>
        <p:spPr bwMode="auto">
          <a:xfrm>
            <a:off x="4286250" y="3494088"/>
            <a:ext cx="1588" cy="34925"/>
          </a:xfrm>
          <a:prstGeom prst="line">
            <a:avLst/>
          </a:prstGeom>
          <a:noFill/>
          <a:ln w="17463">
            <a:solidFill>
              <a:srgbClr val="000000"/>
            </a:solidFill>
            <a:round/>
            <a:headEnd/>
            <a:tailEnd/>
          </a:ln>
        </p:spPr>
        <p:txBody>
          <a:bodyPr/>
          <a:lstStyle/>
          <a:p>
            <a:pPr>
              <a:defRPr/>
            </a:pPr>
            <a:endParaRPr lang="en-US"/>
          </a:p>
        </p:txBody>
      </p:sp>
      <p:sp>
        <p:nvSpPr>
          <p:cNvPr id="116788" name="Freeform 52">
            <a:extLst>
              <a:ext uri="{FF2B5EF4-FFF2-40B4-BE49-F238E27FC236}">
                <a16:creationId xmlns:a16="http://schemas.microsoft.com/office/drawing/2014/main" id="{0C284B5F-6D02-62E2-D661-A1E4E94F12F4}"/>
              </a:ext>
            </a:extLst>
          </p:cNvPr>
          <p:cNvSpPr>
            <a:spLocks/>
          </p:cNvSpPr>
          <p:nvPr/>
        </p:nvSpPr>
        <p:spPr bwMode="auto">
          <a:xfrm>
            <a:off x="4268788" y="3511550"/>
            <a:ext cx="53975" cy="71438"/>
          </a:xfrm>
          <a:custGeom>
            <a:avLst/>
            <a:gdLst>
              <a:gd name="T0" fmla="*/ 11 w 34"/>
              <a:gd name="T1" fmla="*/ 11 h 45"/>
              <a:gd name="T2" fmla="*/ 34 w 34"/>
              <a:gd name="T3" fmla="*/ 0 h 45"/>
              <a:gd name="T4" fmla="*/ 11 w 34"/>
              <a:gd name="T5" fmla="*/ 45 h 45"/>
              <a:gd name="T6" fmla="*/ 0 w 34"/>
              <a:gd name="T7" fmla="*/ 0 h 45"/>
              <a:gd name="T8" fmla="*/ 11 w 34"/>
              <a:gd name="T9" fmla="*/ 11 h 45"/>
            </a:gdLst>
            <a:ahLst/>
            <a:cxnLst>
              <a:cxn ang="0">
                <a:pos x="T0" y="T1"/>
              </a:cxn>
              <a:cxn ang="0">
                <a:pos x="T2" y="T3"/>
              </a:cxn>
              <a:cxn ang="0">
                <a:pos x="T4" y="T5"/>
              </a:cxn>
              <a:cxn ang="0">
                <a:pos x="T6" y="T7"/>
              </a:cxn>
              <a:cxn ang="0">
                <a:pos x="T8" y="T9"/>
              </a:cxn>
            </a:cxnLst>
            <a:rect l="0" t="0" r="r" b="b"/>
            <a:pathLst>
              <a:path w="34" h="45">
                <a:moveTo>
                  <a:pt x="11" y="11"/>
                </a:moveTo>
                <a:lnTo>
                  <a:pt x="34" y="0"/>
                </a:lnTo>
                <a:lnTo>
                  <a:pt x="11" y="45"/>
                </a:lnTo>
                <a:lnTo>
                  <a:pt x="0" y="0"/>
                </a:lnTo>
                <a:lnTo>
                  <a:pt x="11" y="11"/>
                </a:lnTo>
                <a:close/>
              </a:path>
            </a:pathLst>
          </a:custGeom>
          <a:noFill/>
          <a:ln w="17463">
            <a:solidFill>
              <a:srgbClr val="000000"/>
            </a:solidFill>
            <a:prstDash val="solid"/>
            <a:round/>
            <a:headEnd/>
            <a:tailEnd/>
          </a:ln>
        </p:spPr>
        <p:txBody>
          <a:bodyPr/>
          <a:lstStyle/>
          <a:p>
            <a:pPr>
              <a:defRPr/>
            </a:pPr>
            <a:endParaRPr lang="en-US"/>
          </a:p>
        </p:txBody>
      </p:sp>
      <p:sp>
        <p:nvSpPr>
          <p:cNvPr id="116789" name="Freeform 53">
            <a:extLst>
              <a:ext uri="{FF2B5EF4-FFF2-40B4-BE49-F238E27FC236}">
                <a16:creationId xmlns:a16="http://schemas.microsoft.com/office/drawing/2014/main" id="{52D3D67F-2249-A012-30C0-F4C672F7E7B3}"/>
              </a:ext>
            </a:extLst>
          </p:cNvPr>
          <p:cNvSpPr>
            <a:spLocks/>
          </p:cNvSpPr>
          <p:nvPr/>
        </p:nvSpPr>
        <p:spPr bwMode="auto">
          <a:xfrm>
            <a:off x="4268788" y="3511550"/>
            <a:ext cx="53975" cy="71438"/>
          </a:xfrm>
          <a:custGeom>
            <a:avLst/>
            <a:gdLst>
              <a:gd name="T0" fmla="*/ 11 w 34"/>
              <a:gd name="T1" fmla="*/ 11 h 45"/>
              <a:gd name="T2" fmla="*/ 34 w 34"/>
              <a:gd name="T3" fmla="*/ 0 h 45"/>
              <a:gd name="T4" fmla="*/ 11 w 34"/>
              <a:gd name="T5" fmla="*/ 45 h 45"/>
              <a:gd name="T6" fmla="*/ 0 w 34"/>
              <a:gd name="T7" fmla="*/ 0 h 45"/>
              <a:gd name="T8" fmla="*/ 11 w 34"/>
              <a:gd name="T9" fmla="*/ 11 h 45"/>
            </a:gdLst>
            <a:ahLst/>
            <a:cxnLst>
              <a:cxn ang="0">
                <a:pos x="T0" y="T1"/>
              </a:cxn>
              <a:cxn ang="0">
                <a:pos x="T2" y="T3"/>
              </a:cxn>
              <a:cxn ang="0">
                <a:pos x="T4" y="T5"/>
              </a:cxn>
              <a:cxn ang="0">
                <a:pos x="T6" y="T7"/>
              </a:cxn>
              <a:cxn ang="0">
                <a:pos x="T8" y="T9"/>
              </a:cxn>
            </a:cxnLst>
            <a:rect l="0" t="0" r="r" b="b"/>
            <a:pathLst>
              <a:path w="34" h="45">
                <a:moveTo>
                  <a:pt x="11" y="11"/>
                </a:moveTo>
                <a:lnTo>
                  <a:pt x="34" y="0"/>
                </a:lnTo>
                <a:lnTo>
                  <a:pt x="11" y="45"/>
                </a:lnTo>
                <a:lnTo>
                  <a:pt x="0" y="0"/>
                </a:lnTo>
                <a:lnTo>
                  <a:pt x="11" y="11"/>
                </a:lnTo>
                <a:close/>
              </a:path>
            </a:pathLst>
          </a:custGeom>
          <a:solidFill>
            <a:srgbClr val="000000"/>
          </a:solidFill>
          <a:ln>
            <a:noFill/>
          </a:ln>
        </p:spPr>
        <p:txBody>
          <a:bodyPr/>
          <a:lstStyle/>
          <a:p>
            <a:pPr>
              <a:defRPr/>
            </a:pPr>
            <a:endParaRPr lang="en-US"/>
          </a:p>
        </p:txBody>
      </p:sp>
      <p:sp>
        <p:nvSpPr>
          <p:cNvPr id="116790" name="Line 54">
            <a:extLst>
              <a:ext uri="{FF2B5EF4-FFF2-40B4-BE49-F238E27FC236}">
                <a16:creationId xmlns:a16="http://schemas.microsoft.com/office/drawing/2014/main" id="{C6D4CDA7-2868-2AD9-C968-E443EFF7F49F}"/>
              </a:ext>
            </a:extLst>
          </p:cNvPr>
          <p:cNvSpPr>
            <a:spLocks noChangeShapeType="1"/>
          </p:cNvSpPr>
          <p:nvPr/>
        </p:nvSpPr>
        <p:spPr bwMode="auto">
          <a:xfrm>
            <a:off x="4286250" y="3173413"/>
            <a:ext cx="1588" cy="320675"/>
          </a:xfrm>
          <a:prstGeom prst="line">
            <a:avLst/>
          </a:prstGeom>
          <a:noFill/>
          <a:ln w="17463">
            <a:solidFill>
              <a:srgbClr val="000000"/>
            </a:solidFill>
            <a:round/>
            <a:headEnd/>
            <a:tailEnd/>
          </a:ln>
        </p:spPr>
        <p:txBody>
          <a:bodyPr/>
          <a:lstStyle/>
          <a:p>
            <a:pPr>
              <a:defRPr/>
            </a:pPr>
            <a:endParaRPr lang="en-US"/>
          </a:p>
        </p:txBody>
      </p:sp>
      <p:sp>
        <p:nvSpPr>
          <p:cNvPr id="2106" name="Rectangle 55">
            <a:extLst>
              <a:ext uri="{FF2B5EF4-FFF2-40B4-BE49-F238E27FC236}">
                <a16:creationId xmlns:a16="http://schemas.microsoft.com/office/drawing/2014/main" id="{E822AF69-6165-4341-CCA9-08EB42040D4C}"/>
              </a:ext>
            </a:extLst>
          </p:cNvPr>
          <p:cNvSpPr>
            <a:spLocks noChangeArrowheads="1"/>
          </p:cNvSpPr>
          <p:nvPr/>
        </p:nvSpPr>
        <p:spPr bwMode="auto">
          <a:xfrm>
            <a:off x="4419600" y="2514600"/>
            <a:ext cx="31464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solidFill>
                  <a:srgbClr val="000000"/>
                </a:solidFill>
                <a:effectLst/>
              </a:rPr>
              <a:t>Sekcija koja se može paralelizovati</a:t>
            </a:r>
            <a:endParaRPr lang="en-US" altLang="en-US" sz="1600">
              <a:effectLst/>
            </a:endParaRPr>
          </a:p>
        </p:txBody>
      </p:sp>
      <p:sp>
        <p:nvSpPr>
          <p:cNvPr id="2107" name="Rectangle 56">
            <a:extLst>
              <a:ext uri="{FF2B5EF4-FFF2-40B4-BE49-F238E27FC236}">
                <a16:creationId xmlns:a16="http://schemas.microsoft.com/office/drawing/2014/main" id="{FDEB4DEF-541F-4771-E8F2-F65B14CB65CF}"/>
              </a:ext>
            </a:extLst>
          </p:cNvPr>
          <p:cNvSpPr>
            <a:spLocks noChangeArrowheads="1"/>
          </p:cNvSpPr>
          <p:nvPr/>
        </p:nvSpPr>
        <p:spPr bwMode="auto">
          <a:xfrm>
            <a:off x="598488" y="2905125"/>
            <a:ext cx="1649412"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solidFill>
                  <a:srgbClr val="000000"/>
                </a:solidFill>
                <a:effectLst/>
              </a:rPr>
              <a:t>(a) jedan procesor</a:t>
            </a:r>
            <a:endParaRPr lang="en-US" altLang="en-US" sz="1600">
              <a:effectLst/>
            </a:endParaRPr>
          </a:p>
        </p:txBody>
      </p:sp>
      <p:sp>
        <p:nvSpPr>
          <p:cNvPr id="2108" name="Rectangle 57">
            <a:extLst>
              <a:ext uri="{FF2B5EF4-FFF2-40B4-BE49-F238E27FC236}">
                <a16:creationId xmlns:a16="http://schemas.microsoft.com/office/drawing/2014/main" id="{0CBFDCD1-1ADB-BD36-5D4A-CD894A032AAA}"/>
              </a:ext>
            </a:extLst>
          </p:cNvPr>
          <p:cNvSpPr>
            <a:spLocks noChangeArrowheads="1"/>
          </p:cNvSpPr>
          <p:nvPr/>
        </p:nvSpPr>
        <p:spPr bwMode="auto">
          <a:xfrm>
            <a:off x="598488" y="3546475"/>
            <a:ext cx="7080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a:solidFill>
                  <a:srgbClr val="000000"/>
                </a:solidFill>
                <a:effectLst/>
              </a:rPr>
              <a:t>(b) više</a:t>
            </a:r>
            <a:endParaRPr lang="en-US" altLang="en-US" sz="2400">
              <a:effectLst/>
            </a:endParaRPr>
          </a:p>
        </p:txBody>
      </p:sp>
      <p:sp>
        <p:nvSpPr>
          <p:cNvPr id="2109" name="Rectangle 58">
            <a:extLst>
              <a:ext uri="{FF2B5EF4-FFF2-40B4-BE49-F238E27FC236}">
                <a16:creationId xmlns:a16="http://schemas.microsoft.com/office/drawing/2014/main" id="{49D3FDD7-2637-D2BA-A248-AC61F153F571}"/>
              </a:ext>
            </a:extLst>
          </p:cNvPr>
          <p:cNvSpPr>
            <a:spLocks noChangeArrowheads="1"/>
          </p:cNvSpPr>
          <p:nvPr/>
        </p:nvSpPr>
        <p:spPr bwMode="auto">
          <a:xfrm>
            <a:off x="847725" y="3743325"/>
            <a:ext cx="9620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a:solidFill>
                  <a:srgbClr val="000000"/>
                </a:solidFill>
                <a:effectLst/>
              </a:rPr>
              <a:t>procesora</a:t>
            </a:r>
            <a:endParaRPr lang="en-US" altLang="en-US" sz="2400">
              <a:effectLst/>
            </a:endParaRPr>
          </a:p>
        </p:txBody>
      </p:sp>
      <p:sp>
        <p:nvSpPr>
          <p:cNvPr id="116795" name="Line 59">
            <a:extLst>
              <a:ext uri="{FF2B5EF4-FFF2-40B4-BE49-F238E27FC236}">
                <a16:creationId xmlns:a16="http://schemas.microsoft.com/office/drawing/2014/main" id="{86D5A3A8-DE77-61A7-17BA-87912834D9F8}"/>
              </a:ext>
            </a:extLst>
          </p:cNvPr>
          <p:cNvSpPr>
            <a:spLocks noChangeShapeType="1"/>
          </p:cNvSpPr>
          <p:nvPr/>
        </p:nvSpPr>
        <p:spPr bwMode="auto">
          <a:xfrm flipH="1">
            <a:off x="2451100" y="2014538"/>
            <a:ext cx="36513" cy="1587"/>
          </a:xfrm>
          <a:prstGeom prst="line">
            <a:avLst/>
          </a:prstGeom>
          <a:noFill/>
          <a:ln w="17463">
            <a:solidFill>
              <a:srgbClr val="000000"/>
            </a:solidFill>
            <a:round/>
            <a:headEnd/>
            <a:tailEnd/>
          </a:ln>
        </p:spPr>
        <p:txBody>
          <a:bodyPr/>
          <a:lstStyle/>
          <a:p>
            <a:pPr>
              <a:defRPr/>
            </a:pPr>
            <a:endParaRPr lang="en-US"/>
          </a:p>
        </p:txBody>
      </p:sp>
      <p:sp>
        <p:nvSpPr>
          <p:cNvPr id="116796" name="Freeform 60">
            <a:extLst>
              <a:ext uri="{FF2B5EF4-FFF2-40B4-BE49-F238E27FC236}">
                <a16:creationId xmlns:a16="http://schemas.microsoft.com/office/drawing/2014/main" id="{851074C8-526F-4098-5918-4B85CF292000}"/>
              </a:ext>
            </a:extLst>
          </p:cNvPr>
          <p:cNvSpPr>
            <a:spLocks/>
          </p:cNvSpPr>
          <p:nvPr/>
        </p:nvSpPr>
        <p:spPr bwMode="auto">
          <a:xfrm>
            <a:off x="2398713" y="1997075"/>
            <a:ext cx="69850" cy="34925"/>
          </a:xfrm>
          <a:custGeom>
            <a:avLst/>
            <a:gdLst>
              <a:gd name="T0" fmla="*/ 33 w 44"/>
              <a:gd name="T1" fmla="*/ 11 h 22"/>
              <a:gd name="T2" fmla="*/ 44 w 44"/>
              <a:gd name="T3" fmla="*/ 22 h 22"/>
              <a:gd name="T4" fmla="*/ 0 w 44"/>
              <a:gd name="T5" fmla="*/ 11 h 22"/>
              <a:gd name="T6" fmla="*/ 44 w 44"/>
              <a:gd name="T7" fmla="*/ 0 h 22"/>
              <a:gd name="T8" fmla="*/ 33 w 44"/>
              <a:gd name="T9" fmla="*/ 11 h 22"/>
            </a:gdLst>
            <a:ahLst/>
            <a:cxnLst>
              <a:cxn ang="0">
                <a:pos x="T0" y="T1"/>
              </a:cxn>
              <a:cxn ang="0">
                <a:pos x="T2" y="T3"/>
              </a:cxn>
              <a:cxn ang="0">
                <a:pos x="T4" y="T5"/>
              </a:cxn>
              <a:cxn ang="0">
                <a:pos x="T6" y="T7"/>
              </a:cxn>
              <a:cxn ang="0">
                <a:pos x="T8" y="T9"/>
              </a:cxn>
            </a:cxnLst>
            <a:rect l="0" t="0" r="r" b="b"/>
            <a:pathLst>
              <a:path w="44" h="22">
                <a:moveTo>
                  <a:pt x="33" y="11"/>
                </a:moveTo>
                <a:lnTo>
                  <a:pt x="44" y="22"/>
                </a:lnTo>
                <a:lnTo>
                  <a:pt x="0" y="11"/>
                </a:lnTo>
                <a:lnTo>
                  <a:pt x="44" y="0"/>
                </a:lnTo>
                <a:lnTo>
                  <a:pt x="33" y="11"/>
                </a:lnTo>
                <a:close/>
              </a:path>
            </a:pathLst>
          </a:custGeom>
          <a:noFill/>
          <a:ln w="17463">
            <a:solidFill>
              <a:srgbClr val="000000"/>
            </a:solidFill>
            <a:prstDash val="solid"/>
            <a:round/>
            <a:headEnd/>
            <a:tailEnd/>
          </a:ln>
        </p:spPr>
        <p:txBody>
          <a:bodyPr/>
          <a:lstStyle/>
          <a:p>
            <a:pPr>
              <a:defRPr/>
            </a:pPr>
            <a:endParaRPr lang="en-US"/>
          </a:p>
        </p:txBody>
      </p:sp>
      <p:sp>
        <p:nvSpPr>
          <p:cNvPr id="116797" name="Freeform 61">
            <a:extLst>
              <a:ext uri="{FF2B5EF4-FFF2-40B4-BE49-F238E27FC236}">
                <a16:creationId xmlns:a16="http://schemas.microsoft.com/office/drawing/2014/main" id="{88947FA7-8433-F418-2770-37CE83A7F65E}"/>
              </a:ext>
            </a:extLst>
          </p:cNvPr>
          <p:cNvSpPr>
            <a:spLocks/>
          </p:cNvSpPr>
          <p:nvPr/>
        </p:nvSpPr>
        <p:spPr bwMode="auto">
          <a:xfrm>
            <a:off x="2398713" y="1997075"/>
            <a:ext cx="69850" cy="34925"/>
          </a:xfrm>
          <a:custGeom>
            <a:avLst/>
            <a:gdLst>
              <a:gd name="T0" fmla="*/ 33 w 44"/>
              <a:gd name="T1" fmla="*/ 11 h 22"/>
              <a:gd name="T2" fmla="*/ 44 w 44"/>
              <a:gd name="T3" fmla="*/ 22 h 22"/>
              <a:gd name="T4" fmla="*/ 0 w 44"/>
              <a:gd name="T5" fmla="*/ 11 h 22"/>
              <a:gd name="T6" fmla="*/ 44 w 44"/>
              <a:gd name="T7" fmla="*/ 0 h 22"/>
              <a:gd name="T8" fmla="*/ 33 w 44"/>
              <a:gd name="T9" fmla="*/ 11 h 22"/>
            </a:gdLst>
            <a:ahLst/>
            <a:cxnLst>
              <a:cxn ang="0">
                <a:pos x="T0" y="T1"/>
              </a:cxn>
              <a:cxn ang="0">
                <a:pos x="T2" y="T3"/>
              </a:cxn>
              <a:cxn ang="0">
                <a:pos x="T4" y="T5"/>
              </a:cxn>
              <a:cxn ang="0">
                <a:pos x="T6" y="T7"/>
              </a:cxn>
              <a:cxn ang="0">
                <a:pos x="T8" y="T9"/>
              </a:cxn>
            </a:cxnLst>
            <a:rect l="0" t="0" r="r" b="b"/>
            <a:pathLst>
              <a:path w="44" h="22">
                <a:moveTo>
                  <a:pt x="33" y="11"/>
                </a:moveTo>
                <a:lnTo>
                  <a:pt x="44" y="22"/>
                </a:lnTo>
                <a:lnTo>
                  <a:pt x="0" y="11"/>
                </a:lnTo>
                <a:lnTo>
                  <a:pt x="44" y="0"/>
                </a:lnTo>
                <a:lnTo>
                  <a:pt x="33" y="11"/>
                </a:lnTo>
                <a:close/>
              </a:path>
            </a:pathLst>
          </a:custGeom>
          <a:solidFill>
            <a:srgbClr val="000000"/>
          </a:solidFill>
          <a:ln>
            <a:noFill/>
          </a:ln>
        </p:spPr>
        <p:txBody>
          <a:bodyPr/>
          <a:lstStyle/>
          <a:p>
            <a:pPr>
              <a:defRPr/>
            </a:pPr>
            <a:endParaRPr lang="en-US"/>
          </a:p>
        </p:txBody>
      </p:sp>
      <p:sp>
        <p:nvSpPr>
          <p:cNvPr id="116798" name="Line 62">
            <a:extLst>
              <a:ext uri="{FF2B5EF4-FFF2-40B4-BE49-F238E27FC236}">
                <a16:creationId xmlns:a16="http://schemas.microsoft.com/office/drawing/2014/main" id="{D0DFB6A8-F6E5-0800-D288-E0570D326112}"/>
              </a:ext>
            </a:extLst>
          </p:cNvPr>
          <p:cNvSpPr>
            <a:spLocks noChangeShapeType="1"/>
          </p:cNvSpPr>
          <p:nvPr/>
        </p:nvSpPr>
        <p:spPr bwMode="auto">
          <a:xfrm>
            <a:off x="8402638" y="2014538"/>
            <a:ext cx="36512" cy="1587"/>
          </a:xfrm>
          <a:prstGeom prst="line">
            <a:avLst/>
          </a:prstGeom>
          <a:noFill/>
          <a:ln w="17463">
            <a:solidFill>
              <a:srgbClr val="000000"/>
            </a:solidFill>
            <a:round/>
            <a:headEnd/>
            <a:tailEnd/>
          </a:ln>
        </p:spPr>
        <p:txBody>
          <a:bodyPr/>
          <a:lstStyle/>
          <a:p>
            <a:pPr>
              <a:defRPr/>
            </a:pPr>
            <a:endParaRPr lang="en-US"/>
          </a:p>
        </p:txBody>
      </p:sp>
      <p:sp>
        <p:nvSpPr>
          <p:cNvPr id="116799" name="Freeform 63">
            <a:extLst>
              <a:ext uri="{FF2B5EF4-FFF2-40B4-BE49-F238E27FC236}">
                <a16:creationId xmlns:a16="http://schemas.microsoft.com/office/drawing/2014/main" id="{E2D8CDAA-0198-269B-3B60-E83B117EB632}"/>
              </a:ext>
            </a:extLst>
          </p:cNvPr>
          <p:cNvSpPr>
            <a:spLocks/>
          </p:cNvSpPr>
          <p:nvPr/>
        </p:nvSpPr>
        <p:spPr bwMode="auto">
          <a:xfrm>
            <a:off x="8421688" y="1997075"/>
            <a:ext cx="69850" cy="34925"/>
          </a:xfrm>
          <a:custGeom>
            <a:avLst/>
            <a:gdLst>
              <a:gd name="T0" fmla="*/ 11 w 44"/>
              <a:gd name="T1" fmla="*/ 11 h 22"/>
              <a:gd name="T2" fmla="*/ 0 w 44"/>
              <a:gd name="T3" fmla="*/ 0 h 22"/>
              <a:gd name="T4" fmla="*/ 44 w 44"/>
              <a:gd name="T5" fmla="*/ 11 h 22"/>
              <a:gd name="T6" fmla="*/ 0 w 44"/>
              <a:gd name="T7" fmla="*/ 22 h 22"/>
              <a:gd name="T8" fmla="*/ 11 w 44"/>
              <a:gd name="T9" fmla="*/ 11 h 22"/>
            </a:gdLst>
            <a:ahLst/>
            <a:cxnLst>
              <a:cxn ang="0">
                <a:pos x="T0" y="T1"/>
              </a:cxn>
              <a:cxn ang="0">
                <a:pos x="T2" y="T3"/>
              </a:cxn>
              <a:cxn ang="0">
                <a:pos x="T4" y="T5"/>
              </a:cxn>
              <a:cxn ang="0">
                <a:pos x="T6" y="T7"/>
              </a:cxn>
              <a:cxn ang="0">
                <a:pos x="T8" y="T9"/>
              </a:cxn>
            </a:cxnLst>
            <a:rect l="0" t="0" r="r" b="b"/>
            <a:pathLst>
              <a:path w="44" h="22">
                <a:moveTo>
                  <a:pt x="11" y="11"/>
                </a:moveTo>
                <a:lnTo>
                  <a:pt x="0" y="0"/>
                </a:lnTo>
                <a:lnTo>
                  <a:pt x="44" y="11"/>
                </a:lnTo>
                <a:lnTo>
                  <a:pt x="0" y="22"/>
                </a:lnTo>
                <a:lnTo>
                  <a:pt x="11" y="11"/>
                </a:lnTo>
                <a:close/>
              </a:path>
            </a:pathLst>
          </a:custGeom>
          <a:noFill/>
          <a:ln w="17463">
            <a:solidFill>
              <a:srgbClr val="000000"/>
            </a:solidFill>
            <a:prstDash val="solid"/>
            <a:round/>
            <a:headEnd/>
            <a:tailEnd/>
          </a:ln>
        </p:spPr>
        <p:txBody>
          <a:bodyPr/>
          <a:lstStyle/>
          <a:p>
            <a:pPr>
              <a:defRPr/>
            </a:pPr>
            <a:endParaRPr lang="en-US"/>
          </a:p>
        </p:txBody>
      </p:sp>
      <p:sp>
        <p:nvSpPr>
          <p:cNvPr id="116800" name="Freeform 64">
            <a:extLst>
              <a:ext uri="{FF2B5EF4-FFF2-40B4-BE49-F238E27FC236}">
                <a16:creationId xmlns:a16="http://schemas.microsoft.com/office/drawing/2014/main" id="{F8566578-7B36-5F9E-C651-BDBA93DA1BFA}"/>
              </a:ext>
            </a:extLst>
          </p:cNvPr>
          <p:cNvSpPr>
            <a:spLocks/>
          </p:cNvSpPr>
          <p:nvPr/>
        </p:nvSpPr>
        <p:spPr bwMode="auto">
          <a:xfrm>
            <a:off x="8421688" y="1997075"/>
            <a:ext cx="69850" cy="34925"/>
          </a:xfrm>
          <a:custGeom>
            <a:avLst/>
            <a:gdLst>
              <a:gd name="T0" fmla="*/ 11 w 44"/>
              <a:gd name="T1" fmla="*/ 11 h 22"/>
              <a:gd name="T2" fmla="*/ 0 w 44"/>
              <a:gd name="T3" fmla="*/ 0 h 22"/>
              <a:gd name="T4" fmla="*/ 44 w 44"/>
              <a:gd name="T5" fmla="*/ 11 h 22"/>
              <a:gd name="T6" fmla="*/ 0 w 44"/>
              <a:gd name="T7" fmla="*/ 22 h 22"/>
              <a:gd name="T8" fmla="*/ 11 w 44"/>
              <a:gd name="T9" fmla="*/ 11 h 22"/>
            </a:gdLst>
            <a:ahLst/>
            <a:cxnLst>
              <a:cxn ang="0">
                <a:pos x="T0" y="T1"/>
              </a:cxn>
              <a:cxn ang="0">
                <a:pos x="T2" y="T3"/>
              </a:cxn>
              <a:cxn ang="0">
                <a:pos x="T4" y="T5"/>
              </a:cxn>
              <a:cxn ang="0">
                <a:pos x="T6" y="T7"/>
              </a:cxn>
              <a:cxn ang="0">
                <a:pos x="T8" y="T9"/>
              </a:cxn>
            </a:cxnLst>
            <a:rect l="0" t="0" r="r" b="b"/>
            <a:pathLst>
              <a:path w="44" h="22">
                <a:moveTo>
                  <a:pt x="11" y="11"/>
                </a:moveTo>
                <a:lnTo>
                  <a:pt x="0" y="0"/>
                </a:lnTo>
                <a:lnTo>
                  <a:pt x="44" y="11"/>
                </a:lnTo>
                <a:lnTo>
                  <a:pt x="0" y="22"/>
                </a:lnTo>
                <a:lnTo>
                  <a:pt x="11" y="11"/>
                </a:lnTo>
                <a:close/>
              </a:path>
            </a:pathLst>
          </a:custGeom>
          <a:solidFill>
            <a:srgbClr val="000000"/>
          </a:solidFill>
          <a:ln>
            <a:noFill/>
          </a:ln>
        </p:spPr>
        <p:txBody>
          <a:bodyPr/>
          <a:lstStyle/>
          <a:p>
            <a:pPr>
              <a:defRPr/>
            </a:pPr>
            <a:endParaRPr lang="en-US"/>
          </a:p>
        </p:txBody>
      </p:sp>
      <p:sp>
        <p:nvSpPr>
          <p:cNvPr id="116801" name="Line 65">
            <a:extLst>
              <a:ext uri="{FF2B5EF4-FFF2-40B4-BE49-F238E27FC236}">
                <a16:creationId xmlns:a16="http://schemas.microsoft.com/office/drawing/2014/main" id="{2949F873-4736-CA30-C6C1-5C2F77FF0D84}"/>
              </a:ext>
            </a:extLst>
          </p:cNvPr>
          <p:cNvSpPr>
            <a:spLocks noChangeShapeType="1"/>
          </p:cNvSpPr>
          <p:nvPr/>
        </p:nvSpPr>
        <p:spPr bwMode="auto">
          <a:xfrm>
            <a:off x="2487613" y="2014538"/>
            <a:ext cx="5915025" cy="1587"/>
          </a:xfrm>
          <a:prstGeom prst="line">
            <a:avLst/>
          </a:prstGeom>
          <a:noFill/>
          <a:ln w="17463">
            <a:solidFill>
              <a:srgbClr val="000000"/>
            </a:solidFill>
            <a:round/>
            <a:headEnd/>
            <a:tailEnd/>
          </a:ln>
        </p:spPr>
        <p:txBody>
          <a:bodyPr/>
          <a:lstStyle/>
          <a:p>
            <a:pPr>
              <a:defRPr/>
            </a:pPr>
            <a:endParaRPr lang="en-US"/>
          </a:p>
        </p:txBody>
      </p:sp>
      <p:sp>
        <p:nvSpPr>
          <p:cNvPr id="116802" name="Line 66">
            <a:extLst>
              <a:ext uri="{FF2B5EF4-FFF2-40B4-BE49-F238E27FC236}">
                <a16:creationId xmlns:a16="http://schemas.microsoft.com/office/drawing/2014/main" id="{D7104C88-EB86-A4CD-F5E7-F856C72D6733}"/>
              </a:ext>
            </a:extLst>
          </p:cNvPr>
          <p:cNvSpPr>
            <a:spLocks noChangeShapeType="1"/>
          </p:cNvSpPr>
          <p:nvPr/>
        </p:nvSpPr>
        <p:spPr bwMode="auto">
          <a:xfrm>
            <a:off x="2362200" y="1943100"/>
            <a:ext cx="1588" cy="838200"/>
          </a:xfrm>
          <a:prstGeom prst="line">
            <a:avLst/>
          </a:prstGeom>
          <a:noFill/>
          <a:ln w="17463">
            <a:solidFill>
              <a:srgbClr val="000000"/>
            </a:solidFill>
            <a:round/>
            <a:headEnd/>
            <a:tailEnd/>
          </a:ln>
        </p:spPr>
        <p:txBody>
          <a:bodyPr/>
          <a:lstStyle/>
          <a:p>
            <a:pPr>
              <a:defRPr/>
            </a:pPr>
            <a:endParaRPr lang="en-US"/>
          </a:p>
        </p:txBody>
      </p:sp>
      <p:sp>
        <p:nvSpPr>
          <p:cNvPr id="116803" name="Line 67">
            <a:extLst>
              <a:ext uri="{FF2B5EF4-FFF2-40B4-BE49-F238E27FC236}">
                <a16:creationId xmlns:a16="http://schemas.microsoft.com/office/drawing/2014/main" id="{37D52986-1CF5-D15F-680E-AD11ED537E6E}"/>
              </a:ext>
            </a:extLst>
          </p:cNvPr>
          <p:cNvSpPr>
            <a:spLocks noChangeShapeType="1"/>
          </p:cNvSpPr>
          <p:nvPr/>
        </p:nvSpPr>
        <p:spPr bwMode="auto">
          <a:xfrm>
            <a:off x="8528050" y="1943100"/>
            <a:ext cx="1588" cy="838200"/>
          </a:xfrm>
          <a:prstGeom prst="line">
            <a:avLst/>
          </a:prstGeom>
          <a:noFill/>
          <a:ln w="17463">
            <a:solidFill>
              <a:srgbClr val="000000"/>
            </a:solidFill>
            <a:round/>
            <a:headEnd/>
            <a:tailEnd/>
          </a:ln>
        </p:spPr>
        <p:txBody>
          <a:bodyPr/>
          <a:lstStyle/>
          <a:p>
            <a:pPr>
              <a:defRPr/>
            </a:pPr>
            <a:endParaRPr lang="en-US"/>
          </a:p>
        </p:txBody>
      </p:sp>
      <p:sp>
        <p:nvSpPr>
          <p:cNvPr id="116804" name="Line 68">
            <a:extLst>
              <a:ext uri="{FF2B5EF4-FFF2-40B4-BE49-F238E27FC236}">
                <a16:creationId xmlns:a16="http://schemas.microsoft.com/office/drawing/2014/main" id="{AB1F5BBF-3682-2207-6483-B4A842DAC92A}"/>
              </a:ext>
            </a:extLst>
          </p:cNvPr>
          <p:cNvSpPr>
            <a:spLocks noChangeShapeType="1"/>
          </p:cNvSpPr>
          <p:nvPr/>
        </p:nvSpPr>
        <p:spPr bwMode="auto">
          <a:xfrm>
            <a:off x="3913188" y="2211388"/>
            <a:ext cx="1587" cy="569912"/>
          </a:xfrm>
          <a:prstGeom prst="line">
            <a:avLst/>
          </a:prstGeom>
          <a:noFill/>
          <a:ln w="17463">
            <a:solidFill>
              <a:srgbClr val="000000"/>
            </a:solidFill>
            <a:round/>
            <a:headEnd/>
            <a:tailEnd/>
          </a:ln>
        </p:spPr>
        <p:txBody>
          <a:bodyPr/>
          <a:lstStyle/>
          <a:p>
            <a:pPr>
              <a:defRPr/>
            </a:pPr>
            <a:endParaRPr lang="en-US"/>
          </a:p>
        </p:txBody>
      </p:sp>
      <p:sp>
        <p:nvSpPr>
          <p:cNvPr id="116805" name="Line 69">
            <a:extLst>
              <a:ext uri="{FF2B5EF4-FFF2-40B4-BE49-F238E27FC236}">
                <a16:creationId xmlns:a16="http://schemas.microsoft.com/office/drawing/2014/main" id="{84C732DA-6502-CAE4-DF10-F0DB138DA319}"/>
              </a:ext>
            </a:extLst>
          </p:cNvPr>
          <p:cNvSpPr>
            <a:spLocks noChangeShapeType="1"/>
          </p:cNvSpPr>
          <p:nvPr/>
        </p:nvSpPr>
        <p:spPr bwMode="auto">
          <a:xfrm flipH="1">
            <a:off x="2451100" y="2335213"/>
            <a:ext cx="36513" cy="1587"/>
          </a:xfrm>
          <a:prstGeom prst="line">
            <a:avLst/>
          </a:prstGeom>
          <a:noFill/>
          <a:ln w="17463">
            <a:solidFill>
              <a:srgbClr val="000000"/>
            </a:solidFill>
            <a:round/>
            <a:headEnd/>
            <a:tailEnd/>
          </a:ln>
        </p:spPr>
        <p:txBody>
          <a:bodyPr/>
          <a:lstStyle/>
          <a:p>
            <a:pPr>
              <a:defRPr/>
            </a:pPr>
            <a:endParaRPr lang="en-US"/>
          </a:p>
        </p:txBody>
      </p:sp>
      <p:sp>
        <p:nvSpPr>
          <p:cNvPr id="116806" name="Freeform 70">
            <a:extLst>
              <a:ext uri="{FF2B5EF4-FFF2-40B4-BE49-F238E27FC236}">
                <a16:creationId xmlns:a16="http://schemas.microsoft.com/office/drawing/2014/main" id="{E9431C0A-F61A-CC75-2DE3-EAEC45BD0067}"/>
              </a:ext>
            </a:extLst>
          </p:cNvPr>
          <p:cNvSpPr>
            <a:spLocks/>
          </p:cNvSpPr>
          <p:nvPr/>
        </p:nvSpPr>
        <p:spPr bwMode="auto">
          <a:xfrm>
            <a:off x="2398713" y="2317750"/>
            <a:ext cx="69850" cy="36513"/>
          </a:xfrm>
          <a:custGeom>
            <a:avLst/>
            <a:gdLst>
              <a:gd name="T0" fmla="*/ 33 w 44"/>
              <a:gd name="T1" fmla="*/ 11 h 23"/>
              <a:gd name="T2" fmla="*/ 44 w 44"/>
              <a:gd name="T3" fmla="*/ 23 h 23"/>
              <a:gd name="T4" fmla="*/ 0 w 44"/>
              <a:gd name="T5" fmla="*/ 11 h 23"/>
              <a:gd name="T6" fmla="*/ 44 w 44"/>
              <a:gd name="T7" fmla="*/ 0 h 23"/>
              <a:gd name="T8" fmla="*/ 33 w 44"/>
              <a:gd name="T9" fmla="*/ 11 h 23"/>
            </a:gdLst>
            <a:ahLst/>
            <a:cxnLst>
              <a:cxn ang="0">
                <a:pos x="T0" y="T1"/>
              </a:cxn>
              <a:cxn ang="0">
                <a:pos x="T2" y="T3"/>
              </a:cxn>
              <a:cxn ang="0">
                <a:pos x="T4" y="T5"/>
              </a:cxn>
              <a:cxn ang="0">
                <a:pos x="T6" y="T7"/>
              </a:cxn>
              <a:cxn ang="0">
                <a:pos x="T8" y="T9"/>
              </a:cxn>
            </a:cxnLst>
            <a:rect l="0" t="0" r="r" b="b"/>
            <a:pathLst>
              <a:path w="44" h="23">
                <a:moveTo>
                  <a:pt x="33" y="11"/>
                </a:moveTo>
                <a:lnTo>
                  <a:pt x="44" y="23"/>
                </a:lnTo>
                <a:lnTo>
                  <a:pt x="0" y="11"/>
                </a:lnTo>
                <a:lnTo>
                  <a:pt x="44" y="0"/>
                </a:lnTo>
                <a:lnTo>
                  <a:pt x="33" y="11"/>
                </a:lnTo>
                <a:close/>
              </a:path>
            </a:pathLst>
          </a:custGeom>
          <a:noFill/>
          <a:ln w="17463">
            <a:solidFill>
              <a:srgbClr val="000000"/>
            </a:solidFill>
            <a:prstDash val="solid"/>
            <a:round/>
            <a:headEnd/>
            <a:tailEnd/>
          </a:ln>
        </p:spPr>
        <p:txBody>
          <a:bodyPr/>
          <a:lstStyle/>
          <a:p>
            <a:pPr>
              <a:defRPr/>
            </a:pPr>
            <a:endParaRPr lang="en-US"/>
          </a:p>
        </p:txBody>
      </p:sp>
      <p:sp>
        <p:nvSpPr>
          <p:cNvPr id="116807" name="Freeform 71">
            <a:extLst>
              <a:ext uri="{FF2B5EF4-FFF2-40B4-BE49-F238E27FC236}">
                <a16:creationId xmlns:a16="http://schemas.microsoft.com/office/drawing/2014/main" id="{9CB0344E-9E90-A247-3FC9-C26FE4255129}"/>
              </a:ext>
            </a:extLst>
          </p:cNvPr>
          <p:cNvSpPr>
            <a:spLocks/>
          </p:cNvSpPr>
          <p:nvPr/>
        </p:nvSpPr>
        <p:spPr bwMode="auto">
          <a:xfrm>
            <a:off x="2398713" y="2317750"/>
            <a:ext cx="69850" cy="36513"/>
          </a:xfrm>
          <a:custGeom>
            <a:avLst/>
            <a:gdLst>
              <a:gd name="T0" fmla="*/ 33 w 44"/>
              <a:gd name="T1" fmla="*/ 11 h 23"/>
              <a:gd name="T2" fmla="*/ 44 w 44"/>
              <a:gd name="T3" fmla="*/ 23 h 23"/>
              <a:gd name="T4" fmla="*/ 0 w 44"/>
              <a:gd name="T5" fmla="*/ 11 h 23"/>
              <a:gd name="T6" fmla="*/ 44 w 44"/>
              <a:gd name="T7" fmla="*/ 0 h 23"/>
              <a:gd name="T8" fmla="*/ 33 w 44"/>
              <a:gd name="T9" fmla="*/ 11 h 23"/>
            </a:gdLst>
            <a:ahLst/>
            <a:cxnLst>
              <a:cxn ang="0">
                <a:pos x="T0" y="T1"/>
              </a:cxn>
              <a:cxn ang="0">
                <a:pos x="T2" y="T3"/>
              </a:cxn>
              <a:cxn ang="0">
                <a:pos x="T4" y="T5"/>
              </a:cxn>
              <a:cxn ang="0">
                <a:pos x="T6" y="T7"/>
              </a:cxn>
              <a:cxn ang="0">
                <a:pos x="T8" y="T9"/>
              </a:cxn>
            </a:cxnLst>
            <a:rect l="0" t="0" r="r" b="b"/>
            <a:pathLst>
              <a:path w="44" h="23">
                <a:moveTo>
                  <a:pt x="33" y="11"/>
                </a:moveTo>
                <a:lnTo>
                  <a:pt x="44" y="23"/>
                </a:lnTo>
                <a:lnTo>
                  <a:pt x="0" y="11"/>
                </a:lnTo>
                <a:lnTo>
                  <a:pt x="44" y="0"/>
                </a:lnTo>
                <a:lnTo>
                  <a:pt x="33" y="11"/>
                </a:lnTo>
                <a:close/>
              </a:path>
            </a:pathLst>
          </a:custGeom>
          <a:solidFill>
            <a:srgbClr val="000000"/>
          </a:solidFill>
          <a:ln>
            <a:noFill/>
          </a:ln>
        </p:spPr>
        <p:txBody>
          <a:bodyPr/>
          <a:lstStyle/>
          <a:p>
            <a:pPr>
              <a:defRPr/>
            </a:pPr>
            <a:endParaRPr lang="en-US"/>
          </a:p>
        </p:txBody>
      </p:sp>
      <p:sp>
        <p:nvSpPr>
          <p:cNvPr id="116808" name="Line 72">
            <a:extLst>
              <a:ext uri="{FF2B5EF4-FFF2-40B4-BE49-F238E27FC236}">
                <a16:creationId xmlns:a16="http://schemas.microsoft.com/office/drawing/2014/main" id="{95867C67-CA4B-DE8D-9941-D523DE769BE4}"/>
              </a:ext>
            </a:extLst>
          </p:cNvPr>
          <p:cNvSpPr>
            <a:spLocks noChangeShapeType="1"/>
          </p:cNvSpPr>
          <p:nvPr/>
        </p:nvSpPr>
        <p:spPr bwMode="auto">
          <a:xfrm>
            <a:off x="3787775" y="2335213"/>
            <a:ext cx="36513" cy="1587"/>
          </a:xfrm>
          <a:prstGeom prst="line">
            <a:avLst/>
          </a:prstGeom>
          <a:noFill/>
          <a:ln w="17463">
            <a:solidFill>
              <a:srgbClr val="000000"/>
            </a:solidFill>
            <a:round/>
            <a:headEnd/>
            <a:tailEnd/>
          </a:ln>
        </p:spPr>
        <p:txBody>
          <a:bodyPr/>
          <a:lstStyle/>
          <a:p>
            <a:pPr>
              <a:defRPr/>
            </a:pPr>
            <a:endParaRPr lang="en-US"/>
          </a:p>
        </p:txBody>
      </p:sp>
      <p:sp>
        <p:nvSpPr>
          <p:cNvPr id="116809" name="Freeform 73">
            <a:extLst>
              <a:ext uri="{FF2B5EF4-FFF2-40B4-BE49-F238E27FC236}">
                <a16:creationId xmlns:a16="http://schemas.microsoft.com/office/drawing/2014/main" id="{6DCC849C-69CB-15D7-186F-6BC1D85BDE64}"/>
              </a:ext>
            </a:extLst>
          </p:cNvPr>
          <p:cNvSpPr>
            <a:spLocks/>
          </p:cNvSpPr>
          <p:nvPr/>
        </p:nvSpPr>
        <p:spPr bwMode="auto">
          <a:xfrm>
            <a:off x="3787775" y="2317750"/>
            <a:ext cx="88900" cy="36513"/>
          </a:xfrm>
          <a:custGeom>
            <a:avLst/>
            <a:gdLst>
              <a:gd name="T0" fmla="*/ 23 w 56"/>
              <a:gd name="T1" fmla="*/ 11 h 23"/>
              <a:gd name="T2" fmla="*/ 0 w 56"/>
              <a:gd name="T3" fmla="*/ 0 h 23"/>
              <a:gd name="T4" fmla="*/ 56 w 56"/>
              <a:gd name="T5" fmla="*/ 11 h 23"/>
              <a:gd name="T6" fmla="*/ 0 w 56"/>
              <a:gd name="T7" fmla="*/ 23 h 23"/>
              <a:gd name="T8" fmla="*/ 23 w 56"/>
              <a:gd name="T9" fmla="*/ 11 h 23"/>
            </a:gdLst>
            <a:ahLst/>
            <a:cxnLst>
              <a:cxn ang="0">
                <a:pos x="T0" y="T1"/>
              </a:cxn>
              <a:cxn ang="0">
                <a:pos x="T2" y="T3"/>
              </a:cxn>
              <a:cxn ang="0">
                <a:pos x="T4" y="T5"/>
              </a:cxn>
              <a:cxn ang="0">
                <a:pos x="T6" y="T7"/>
              </a:cxn>
              <a:cxn ang="0">
                <a:pos x="T8" y="T9"/>
              </a:cxn>
            </a:cxnLst>
            <a:rect l="0" t="0" r="r" b="b"/>
            <a:pathLst>
              <a:path w="56" h="23">
                <a:moveTo>
                  <a:pt x="23" y="11"/>
                </a:moveTo>
                <a:lnTo>
                  <a:pt x="0" y="0"/>
                </a:lnTo>
                <a:lnTo>
                  <a:pt x="56" y="11"/>
                </a:lnTo>
                <a:lnTo>
                  <a:pt x="0" y="23"/>
                </a:lnTo>
                <a:lnTo>
                  <a:pt x="23" y="11"/>
                </a:lnTo>
                <a:close/>
              </a:path>
            </a:pathLst>
          </a:custGeom>
          <a:noFill/>
          <a:ln w="17463">
            <a:solidFill>
              <a:srgbClr val="000000"/>
            </a:solidFill>
            <a:prstDash val="solid"/>
            <a:round/>
            <a:headEnd/>
            <a:tailEnd/>
          </a:ln>
        </p:spPr>
        <p:txBody>
          <a:bodyPr/>
          <a:lstStyle/>
          <a:p>
            <a:pPr>
              <a:defRPr/>
            </a:pPr>
            <a:endParaRPr lang="en-US"/>
          </a:p>
        </p:txBody>
      </p:sp>
      <p:sp>
        <p:nvSpPr>
          <p:cNvPr id="116810" name="Freeform 74">
            <a:extLst>
              <a:ext uri="{FF2B5EF4-FFF2-40B4-BE49-F238E27FC236}">
                <a16:creationId xmlns:a16="http://schemas.microsoft.com/office/drawing/2014/main" id="{D689055E-E152-8621-4E28-A1A2C8926505}"/>
              </a:ext>
            </a:extLst>
          </p:cNvPr>
          <p:cNvSpPr>
            <a:spLocks/>
          </p:cNvSpPr>
          <p:nvPr/>
        </p:nvSpPr>
        <p:spPr bwMode="auto">
          <a:xfrm>
            <a:off x="3787775" y="2317750"/>
            <a:ext cx="88900" cy="36513"/>
          </a:xfrm>
          <a:custGeom>
            <a:avLst/>
            <a:gdLst>
              <a:gd name="T0" fmla="*/ 23 w 56"/>
              <a:gd name="T1" fmla="*/ 11 h 23"/>
              <a:gd name="T2" fmla="*/ 0 w 56"/>
              <a:gd name="T3" fmla="*/ 0 h 23"/>
              <a:gd name="T4" fmla="*/ 56 w 56"/>
              <a:gd name="T5" fmla="*/ 11 h 23"/>
              <a:gd name="T6" fmla="*/ 0 w 56"/>
              <a:gd name="T7" fmla="*/ 23 h 23"/>
              <a:gd name="T8" fmla="*/ 23 w 56"/>
              <a:gd name="T9" fmla="*/ 11 h 23"/>
            </a:gdLst>
            <a:ahLst/>
            <a:cxnLst>
              <a:cxn ang="0">
                <a:pos x="T0" y="T1"/>
              </a:cxn>
              <a:cxn ang="0">
                <a:pos x="T2" y="T3"/>
              </a:cxn>
              <a:cxn ang="0">
                <a:pos x="T4" y="T5"/>
              </a:cxn>
              <a:cxn ang="0">
                <a:pos x="T6" y="T7"/>
              </a:cxn>
              <a:cxn ang="0">
                <a:pos x="T8" y="T9"/>
              </a:cxn>
            </a:cxnLst>
            <a:rect l="0" t="0" r="r" b="b"/>
            <a:pathLst>
              <a:path w="56" h="23">
                <a:moveTo>
                  <a:pt x="23" y="11"/>
                </a:moveTo>
                <a:lnTo>
                  <a:pt x="0" y="0"/>
                </a:lnTo>
                <a:lnTo>
                  <a:pt x="56" y="11"/>
                </a:lnTo>
                <a:lnTo>
                  <a:pt x="0" y="23"/>
                </a:lnTo>
                <a:lnTo>
                  <a:pt x="23" y="11"/>
                </a:lnTo>
                <a:close/>
              </a:path>
            </a:pathLst>
          </a:custGeom>
          <a:solidFill>
            <a:srgbClr val="000000"/>
          </a:solidFill>
          <a:ln>
            <a:noFill/>
          </a:ln>
        </p:spPr>
        <p:txBody>
          <a:bodyPr/>
          <a:lstStyle/>
          <a:p>
            <a:pPr>
              <a:defRPr/>
            </a:pPr>
            <a:endParaRPr lang="en-US"/>
          </a:p>
        </p:txBody>
      </p:sp>
      <p:sp>
        <p:nvSpPr>
          <p:cNvPr id="116811" name="Line 75">
            <a:extLst>
              <a:ext uri="{FF2B5EF4-FFF2-40B4-BE49-F238E27FC236}">
                <a16:creationId xmlns:a16="http://schemas.microsoft.com/office/drawing/2014/main" id="{47BCF5D0-6128-D9F3-E9A2-C97C84244133}"/>
              </a:ext>
            </a:extLst>
          </p:cNvPr>
          <p:cNvSpPr>
            <a:spLocks noChangeShapeType="1"/>
          </p:cNvSpPr>
          <p:nvPr/>
        </p:nvSpPr>
        <p:spPr bwMode="auto">
          <a:xfrm>
            <a:off x="2487613" y="2335213"/>
            <a:ext cx="1300162" cy="1587"/>
          </a:xfrm>
          <a:prstGeom prst="line">
            <a:avLst/>
          </a:prstGeom>
          <a:noFill/>
          <a:ln w="17463">
            <a:solidFill>
              <a:srgbClr val="000000"/>
            </a:solidFill>
            <a:round/>
            <a:headEnd/>
            <a:tailEnd/>
          </a:ln>
        </p:spPr>
        <p:txBody>
          <a:bodyPr/>
          <a:lstStyle/>
          <a:p>
            <a:pPr>
              <a:defRPr/>
            </a:pPr>
            <a:endParaRPr lang="en-US"/>
          </a:p>
        </p:txBody>
      </p:sp>
      <p:sp>
        <p:nvSpPr>
          <p:cNvPr id="116812" name="Line 76">
            <a:extLst>
              <a:ext uri="{FF2B5EF4-FFF2-40B4-BE49-F238E27FC236}">
                <a16:creationId xmlns:a16="http://schemas.microsoft.com/office/drawing/2014/main" id="{6CF99A1C-2AC7-3476-4BAD-DEDECC18C242}"/>
              </a:ext>
            </a:extLst>
          </p:cNvPr>
          <p:cNvSpPr>
            <a:spLocks noChangeShapeType="1"/>
          </p:cNvSpPr>
          <p:nvPr/>
        </p:nvSpPr>
        <p:spPr bwMode="auto">
          <a:xfrm flipH="1">
            <a:off x="4002088" y="2335213"/>
            <a:ext cx="17462" cy="1587"/>
          </a:xfrm>
          <a:prstGeom prst="line">
            <a:avLst/>
          </a:prstGeom>
          <a:noFill/>
          <a:ln w="17463">
            <a:solidFill>
              <a:srgbClr val="000000"/>
            </a:solidFill>
            <a:round/>
            <a:headEnd/>
            <a:tailEnd/>
          </a:ln>
        </p:spPr>
        <p:txBody>
          <a:bodyPr/>
          <a:lstStyle/>
          <a:p>
            <a:pPr>
              <a:defRPr/>
            </a:pPr>
            <a:endParaRPr lang="en-US"/>
          </a:p>
        </p:txBody>
      </p:sp>
      <p:sp>
        <p:nvSpPr>
          <p:cNvPr id="116813" name="Freeform 77">
            <a:extLst>
              <a:ext uri="{FF2B5EF4-FFF2-40B4-BE49-F238E27FC236}">
                <a16:creationId xmlns:a16="http://schemas.microsoft.com/office/drawing/2014/main" id="{D023C974-B023-6537-3349-7C0917256D61}"/>
              </a:ext>
            </a:extLst>
          </p:cNvPr>
          <p:cNvSpPr>
            <a:spLocks/>
          </p:cNvSpPr>
          <p:nvPr/>
        </p:nvSpPr>
        <p:spPr bwMode="auto">
          <a:xfrm>
            <a:off x="3930650" y="2317750"/>
            <a:ext cx="88900" cy="36513"/>
          </a:xfrm>
          <a:custGeom>
            <a:avLst/>
            <a:gdLst>
              <a:gd name="T0" fmla="*/ 45 w 56"/>
              <a:gd name="T1" fmla="*/ 11 h 23"/>
              <a:gd name="T2" fmla="*/ 56 w 56"/>
              <a:gd name="T3" fmla="*/ 23 h 23"/>
              <a:gd name="T4" fmla="*/ 0 w 56"/>
              <a:gd name="T5" fmla="*/ 11 h 23"/>
              <a:gd name="T6" fmla="*/ 56 w 56"/>
              <a:gd name="T7" fmla="*/ 0 h 23"/>
              <a:gd name="T8" fmla="*/ 45 w 56"/>
              <a:gd name="T9" fmla="*/ 11 h 23"/>
            </a:gdLst>
            <a:ahLst/>
            <a:cxnLst>
              <a:cxn ang="0">
                <a:pos x="T0" y="T1"/>
              </a:cxn>
              <a:cxn ang="0">
                <a:pos x="T2" y="T3"/>
              </a:cxn>
              <a:cxn ang="0">
                <a:pos x="T4" y="T5"/>
              </a:cxn>
              <a:cxn ang="0">
                <a:pos x="T6" y="T7"/>
              </a:cxn>
              <a:cxn ang="0">
                <a:pos x="T8" y="T9"/>
              </a:cxn>
            </a:cxnLst>
            <a:rect l="0" t="0" r="r" b="b"/>
            <a:pathLst>
              <a:path w="56" h="23">
                <a:moveTo>
                  <a:pt x="45" y="11"/>
                </a:moveTo>
                <a:lnTo>
                  <a:pt x="56" y="23"/>
                </a:lnTo>
                <a:lnTo>
                  <a:pt x="0" y="11"/>
                </a:lnTo>
                <a:lnTo>
                  <a:pt x="56" y="0"/>
                </a:lnTo>
                <a:lnTo>
                  <a:pt x="45" y="11"/>
                </a:lnTo>
                <a:close/>
              </a:path>
            </a:pathLst>
          </a:custGeom>
          <a:noFill/>
          <a:ln w="17463">
            <a:solidFill>
              <a:srgbClr val="000000"/>
            </a:solidFill>
            <a:prstDash val="solid"/>
            <a:round/>
            <a:headEnd/>
            <a:tailEnd/>
          </a:ln>
        </p:spPr>
        <p:txBody>
          <a:bodyPr/>
          <a:lstStyle/>
          <a:p>
            <a:pPr>
              <a:defRPr/>
            </a:pPr>
            <a:endParaRPr lang="en-US"/>
          </a:p>
        </p:txBody>
      </p:sp>
      <p:sp>
        <p:nvSpPr>
          <p:cNvPr id="116814" name="Freeform 78">
            <a:extLst>
              <a:ext uri="{FF2B5EF4-FFF2-40B4-BE49-F238E27FC236}">
                <a16:creationId xmlns:a16="http://schemas.microsoft.com/office/drawing/2014/main" id="{B95D59D1-4D9A-992F-10C3-B51188FD6D4C}"/>
              </a:ext>
            </a:extLst>
          </p:cNvPr>
          <p:cNvSpPr>
            <a:spLocks/>
          </p:cNvSpPr>
          <p:nvPr/>
        </p:nvSpPr>
        <p:spPr bwMode="auto">
          <a:xfrm>
            <a:off x="3930650" y="2317750"/>
            <a:ext cx="88900" cy="36513"/>
          </a:xfrm>
          <a:custGeom>
            <a:avLst/>
            <a:gdLst>
              <a:gd name="T0" fmla="*/ 45 w 56"/>
              <a:gd name="T1" fmla="*/ 11 h 23"/>
              <a:gd name="T2" fmla="*/ 56 w 56"/>
              <a:gd name="T3" fmla="*/ 23 h 23"/>
              <a:gd name="T4" fmla="*/ 0 w 56"/>
              <a:gd name="T5" fmla="*/ 11 h 23"/>
              <a:gd name="T6" fmla="*/ 56 w 56"/>
              <a:gd name="T7" fmla="*/ 0 h 23"/>
              <a:gd name="T8" fmla="*/ 45 w 56"/>
              <a:gd name="T9" fmla="*/ 11 h 23"/>
            </a:gdLst>
            <a:ahLst/>
            <a:cxnLst>
              <a:cxn ang="0">
                <a:pos x="T0" y="T1"/>
              </a:cxn>
              <a:cxn ang="0">
                <a:pos x="T2" y="T3"/>
              </a:cxn>
              <a:cxn ang="0">
                <a:pos x="T4" y="T5"/>
              </a:cxn>
              <a:cxn ang="0">
                <a:pos x="T6" y="T7"/>
              </a:cxn>
              <a:cxn ang="0">
                <a:pos x="T8" y="T9"/>
              </a:cxn>
            </a:cxnLst>
            <a:rect l="0" t="0" r="r" b="b"/>
            <a:pathLst>
              <a:path w="56" h="23">
                <a:moveTo>
                  <a:pt x="45" y="11"/>
                </a:moveTo>
                <a:lnTo>
                  <a:pt x="56" y="23"/>
                </a:lnTo>
                <a:lnTo>
                  <a:pt x="0" y="11"/>
                </a:lnTo>
                <a:lnTo>
                  <a:pt x="56" y="0"/>
                </a:lnTo>
                <a:lnTo>
                  <a:pt x="45" y="11"/>
                </a:lnTo>
                <a:close/>
              </a:path>
            </a:pathLst>
          </a:custGeom>
          <a:solidFill>
            <a:srgbClr val="000000"/>
          </a:solidFill>
          <a:ln>
            <a:noFill/>
          </a:ln>
        </p:spPr>
        <p:txBody>
          <a:bodyPr/>
          <a:lstStyle/>
          <a:p>
            <a:pPr>
              <a:defRPr/>
            </a:pPr>
            <a:endParaRPr lang="en-US"/>
          </a:p>
        </p:txBody>
      </p:sp>
      <p:sp>
        <p:nvSpPr>
          <p:cNvPr id="116815" name="Line 79">
            <a:extLst>
              <a:ext uri="{FF2B5EF4-FFF2-40B4-BE49-F238E27FC236}">
                <a16:creationId xmlns:a16="http://schemas.microsoft.com/office/drawing/2014/main" id="{48BEB032-BE74-67C0-2905-664B911E6241}"/>
              </a:ext>
            </a:extLst>
          </p:cNvPr>
          <p:cNvSpPr>
            <a:spLocks noChangeShapeType="1"/>
          </p:cNvSpPr>
          <p:nvPr/>
        </p:nvSpPr>
        <p:spPr bwMode="auto">
          <a:xfrm>
            <a:off x="8402638" y="2335213"/>
            <a:ext cx="36512" cy="1587"/>
          </a:xfrm>
          <a:prstGeom prst="line">
            <a:avLst/>
          </a:prstGeom>
          <a:noFill/>
          <a:ln w="17463">
            <a:solidFill>
              <a:srgbClr val="000000"/>
            </a:solidFill>
            <a:round/>
            <a:headEnd/>
            <a:tailEnd/>
          </a:ln>
        </p:spPr>
        <p:txBody>
          <a:bodyPr/>
          <a:lstStyle/>
          <a:p>
            <a:pPr>
              <a:defRPr/>
            </a:pPr>
            <a:endParaRPr lang="en-US"/>
          </a:p>
        </p:txBody>
      </p:sp>
      <p:sp>
        <p:nvSpPr>
          <p:cNvPr id="116816" name="Freeform 80">
            <a:extLst>
              <a:ext uri="{FF2B5EF4-FFF2-40B4-BE49-F238E27FC236}">
                <a16:creationId xmlns:a16="http://schemas.microsoft.com/office/drawing/2014/main" id="{066A5528-118F-1CB3-5141-52CAB5A13352}"/>
              </a:ext>
            </a:extLst>
          </p:cNvPr>
          <p:cNvSpPr>
            <a:spLocks/>
          </p:cNvSpPr>
          <p:nvPr/>
        </p:nvSpPr>
        <p:spPr bwMode="auto">
          <a:xfrm>
            <a:off x="8421688" y="2317750"/>
            <a:ext cx="69850" cy="36513"/>
          </a:xfrm>
          <a:custGeom>
            <a:avLst/>
            <a:gdLst>
              <a:gd name="T0" fmla="*/ 11 w 44"/>
              <a:gd name="T1" fmla="*/ 11 h 23"/>
              <a:gd name="T2" fmla="*/ 0 w 44"/>
              <a:gd name="T3" fmla="*/ 0 h 23"/>
              <a:gd name="T4" fmla="*/ 44 w 44"/>
              <a:gd name="T5" fmla="*/ 11 h 23"/>
              <a:gd name="T6" fmla="*/ 0 w 44"/>
              <a:gd name="T7" fmla="*/ 23 h 23"/>
              <a:gd name="T8" fmla="*/ 11 w 44"/>
              <a:gd name="T9" fmla="*/ 11 h 23"/>
            </a:gdLst>
            <a:ahLst/>
            <a:cxnLst>
              <a:cxn ang="0">
                <a:pos x="T0" y="T1"/>
              </a:cxn>
              <a:cxn ang="0">
                <a:pos x="T2" y="T3"/>
              </a:cxn>
              <a:cxn ang="0">
                <a:pos x="T4" y="T5"/>
              </a:cxn>
              <a:cxn ang="0">
                <a:pos x="T6" y="T7"/>
              </a:cxn>
              <a:cxn ang="0">
                <a:pos x="T8" y="T9"/>
              </a:cxn>
            </a:cxnLst>
            <a:rect l="0" t="0" r="r" b="b"/>
            <a:pathLst>
              <a:path w="44" h="23">
                <a:moveTo>
                  <a:pt x="11" y="11"/>
                </a:moveTo>
                <a:lnTo>
                  <a:pt x="0" y="0"/>
                </a:lnTo>
                <a:lnTo>
                  <a:pt x="44" y="11"/>
                </a:lnTo>
                <a:lnTo>
                  <a:pt x="0" y="23"/>
                </a:lnTo>
                <a:lnTo>
                  <a:pt x="11" y="11"/>
                </a:lnTo>
                <a:close/>
              </a:path>
            </a:pathLst>
          </a:custGeom>
          <a:noFill/>
          <a:ln w="17463">
            <a:solidFill>
              <a:srgbClr val="000000"/>
            </a:solidFill>
            <a:prstDash val="solid"/>
            <a:round/>
            <a:headEnd/>
            <a:tailEnd/>
          </a:ln>
        </p:spPr>
        <p:txBody>
          <a:bodyPr/>
          <a:lstStyle/>
          <a:p>
            <a:pPr>
              <a:defRPr/>
            </a:pPr>
            <a:endParaRPr lang="en-US"/>
          </a:p>
        </p:txBody>
      </p:sp>
      <p:sp>
        <p:nvSpPr>
          <p:cNvPr id="116817" name="Freeform 81">
            <a:extLst>
              <a:ext uri="{FF2B5EF4-FFF2-40B4-BE49-F238E27FC236}">
                <a16:creationId xmlns:a16="http://schemas.microsoft.com/office/drawing/2014/main" id="{EB58E64F-8C63-A339-F9BA-3EC86E1E8AF3}"/>
              </a:ext>
            </a:extLst>
          </p:cNvPr>
          <p:cNvSpPr>
            <a:spLocks/>
          </p:cNvSpPr>
          <p:nvPr/>
        </p:nvSpPr>
        <p:spPr bwMode="auto">
          <a:xfrm>
            <a:off x="8421688" y="2317750"/>
            <a:ext cx="69850" cy="36513"/>
          </a:xfrm>
          <a:custGeom>
            <a:avLst/>
            <a:gdLst>
              <a:gd name="T0" fmla="*/ 11 w 44"/>
              <a:gd name="T1" fmla="*/ 11 h 23"/>
              <a:gd name="T2" fmla="*/ 0 w 44"/>
              <a:gd name="T3" fmla="*/ 0 h 23"/>
              <a:gd name="T4" fmla="*/ 44 w 44"/>
              <a:gd name="T5" fmla="*/ 11 h 23"/>
              <a:gd name="T6" fmla="*/ 0 w 44"/>
              <a:gd name="T7" fmla="*/ 23 h 23"/>
              <a:gd name="T8" fmla="*/ 11 w 44"/>
              <a:gd name="T9" fmla="*/ 11 h 23"/>
            </a:gdLst>
            <a:ahLst/>
            <a:cxnLst>
              <a:cxn ang="0">
                <a:pos x="T0" y="T1"/>
              </a:cxn>
              <a:cxn ang="0">
                <a:pos x="T2" y="T3"/>
              </a:cxn>
              <a:cxn ang="0">
                <a:pos x="T4" y="T5"/>
              </a:cxn>
              <a:cxn ang="0">
                <a:pos x="T6" y="T7"/>
              </a:cxn>
              <a:cxn ang="0">
                <a:pos x="T8" y="T9"/>
              </a:cxn>
            </a:cxnLst>
            <a:rect l="0" t="0" r="r" b="b"/>
            <a:pathLst>
              <a:path w="44" h="23">
                <a:moveTo>
                  <a:pt x="11" y="11"/>
                </a:moveTo>
                <a:lnTo>
                  <a:pt x="0" y="0"/>
                </a:lnTo>
                <a:lnTo>
                  <a:pt x="44" y="11"/>
                </a:lnTo>
                <a:lnTo>
                  <a:pt x="0" y="23"/>
                </a:lnTo>
                <a:lnTo>
                  <a:pt x="11" y="11"/>
                </a:lnTo>
                <a:close/>
              </a:path>
            </a:pathLst>
          </a:custGeom>
          <a:solidFill>
            <a:srgbClr val="000000"/>
          </a:solidFill>
          <a:ln>
            <a:noFill/>
          </a:ln>
        </p:spPr>
        <p:txBody>
          <a:bodyPr/>
          <a:lstStyle/>
          <a:p>
            <a:pPr>
              <a:defRPr/>
            </a:pPr>
            <a:endParaRPr lang="en-US"/>
          </a:p>
        </p:txBody>
      </p:sp>
      <p:sp>
        <p:nvSpPr>
          <p:cNvPr id="116818" name="Line 82">
            <a:extLst>
              <a:ext uri="{FF2B5EF4-FFF2-40B4-BE49-F238E27FC236}">
                <a16:creationId xmlns:a16="http://schemas.microsoft.com/office/drawing/2014/main" id="{71E72EC5-C6D6-1975-FB12-7366F87A482C}"/>
              </a:ext>
            </a:extLst>
          </p:cNvPr>
          <p:cNvSpPr>
            <a:spLocks noChangeShapeType="1"/>
          </p:cNvSpPr>
          <p:nvPr/>
        </p:nvSpPr>
        <p:spPr bwMode="auto">
          <a:xfrm>
            <a:off x="4019550" y="2335213"/>
            <a:ext cx="4383088" cy="1587"/>
          </a:xfrm>
          <a:prstGeom prst="line">
            <a:avLst/>
          </a:prstGeom>
          <a:noFill/>
          <a:ln w="17463">
            <a:solidFill>
              <a:srgbClr val="000000"/>
            </a:solidFill>
            <a:round/>
            <a:headEnd/>
            <a:tailEnd/>
          </a:ln>
        </p:spPr>
        <p:txBody>
          <a:bodyPr/>
          <a:lstStyle/>
          <a:p>
            <a:pPr>
              <a:defRPr/>
            </a:pPr>
            <a:endParaRPr lang="en-US"/>
          </a:p>
        </p:txBody>
      </p:sp>
      <p:sp>
        <p:nvSpPr>
          <p:cNvPr id="2134" name="Rectangle 87">
            <a:extLst>
              <a:ext uri="{FF2B5EF4-FFF2-40B4-BE49-F238E27FC236}">
                <a16:creationId xmlns:a16="http://schemas.microsoft.com/office/drawing/2014/main" id="{6A2299EE-4737-4224-0137-DBE5CBBB952B}"/>
              </a:ext>
            </a:extLst>
          </p:cNvPr>
          <p:cNvSpPr>
            <a:spLocks noChangeArrowheads="1"/>
          </p:cNvSpPr>
          <p:nvPr/>
        </p:nvSpPr>
        <p:spPr bwMode="auto">
          <a:xfrm>
            <a:off x="6211888" y="2032000"/>
            <a:ext cx="603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a:solidFill>
                  <a:srgbClr val="000000"/>
                </a:solidFill>
                <a:effectLst/>
              </a:rPr>
              <a:t> </a:t>
            </a:r>
            <a:endParaRPr lang="en-US" altLang="en-US" sz="2400">
              <a:effectLst/>
            </a:endParaRPr>
          </a:p>
        </p:txBody>
      </p:sp>
      <p:sp>
        <p:nvSpPr>
          <p:cNvPr id="116830" name="Line 94">
            <a:extLst>
              <a:ext uri="{FF2B5EF4-FFF2-40B4-BE49-F238E27FC236}">
                <a16:creationId xmlns:a16="http://schemas.microsoft.com/office/drawing/2014/main" id="{30FDA782-C786-4A99-E50A-233C6C7F032E}"/>
              </a:ext>
            </a:extLst>
          </p:cNvPr>
          <p:cNvSpPr>
            <a:spLocks noChangeShapeType="1"/>
          </p:cNvSpPr>
          <p:nvPr/>
        </p:nvSpPr>
        <p:spPr bwMode="auto">
          <a:xfrm flipH="1">
            <a:off x="4002088" y="6042025"/>
            <a:ext cx="17462" cy="1588"/>
          </a:xfrm>
          <a:prstGeom prst="line">
            <a:avLst/>
          </a:prstGeom>
          <a:noFill/>
          <a:ln w="17463">
            <a:solidFill>
              <a:srgbClr val="000000"/>
            </a:solidFill>
            <a:round/>
            <a:headEnd/>
            <a:tailEnd/>
          </a:ln>
        </p:spPr>
        <p:txBody>
          <a:bodyPr/>
          <a:lstStyle/>
          <a:p>
            <a:pPr>
              <a:defRPr/>
            </a:pPr>
            <a:endParaRPr lang="en-US"/>
          </a:p>
        </p:txBody>
      </p:sp>
      <p:sp>
        <p:nvSpPr>
          <p:cNvPr id="116831" name="Freeform 95">
            <a:extLst>
              <a:ext uri="{FF2B5EF4-FFF2-40B4-BE49-F238E27FC236}">
                <a16:creationId xmlns:a16="http://schemas.microsoft.com/office/drawing/2014/main" id="{42561B5C-C4EC-9DD5-FDE1-14D847A21FC2}"/>
              </a:ext>
            </a:extLst>
          </p:cNvPr>
          <p:cNvSpPr>
            <a:spLocks/>
          </p:cNvSpPr>
          <p:nvPr/>
        </p:nvSpPr>
        <p:spPr bwMode="auto">
          <a:xfrm>
            <a:off x="3930650" y="6007100"/>
            <a:ext cx="88900" cy="52388"/>
          </a:xfrm>
          <a:custGeom>
            <a:avLst/>
            <a:gdLst>
              <a:gd name="T0" fmla="*/ 45 w 56"/>
              <a:gd name="T1" fmla="*/ 22 h 33"/>
              <a:gd name="T2" fmla="*/ 56 w 56"/>
              <a:gd name="T3" fmla="*/ 33 h 33"/>
              <a:gd name="T4" fmla="*/ 0 w 56"/>
              <a:gd name="T5" fmla="*/ 22 h 33"/>
              <a:gd name="T6" fmla="*/ 56 w 56"/>
              <a:gd name="T7" fmla="*/ 0 h 33"/>
              <a:gd name="T8" fmla="*/ 45 w 56"/>
              <a:gd name="T9" fmla="*/ 22 h 33"/>
            </a:gdLst>
            <a:ahLst/>
            <a:cxnLst>
              <a:cxn ang="0">
                <a:pos x="T0" y="T1"/>
              </a:cxn>
              <a:cxn ang="0">
                <a:pos x="T2" y="T3"/>
              </a:cxn>
              <a:cxn ang="0">
                <a:pos x="T4" y="T5"/>
              </a:cxn>
              <a:cxn ang="0">
                <a:pos x="T6" y="T7"/>
              </a:cxn>
              <a:cxn ang="0">
                <a:pos x="T8" y="T9"/>
              </a:cxn>
            </a:cxnLst>
            <a:rect l="0" t="0" r="r" b="b"/>
            <a:pathLst>
              <a:path w="56" h="33">
                <a:moveTo>
                  <a:pt x="45" y="22"/>
                </a:moveTo>
                <a:lnTo>
                  <a:pt x="56" y="33"/>
                </a:lnTo>
                <a:lnTo>
                  <a:pt x="0" y="22"/>
                </a:lnTo>
                <a:lnTo>
                  <a:pt x="56" y="0"/>
                </a:lnTo>
                <a:lnTo>
                  <a:pt x="45" y="22"/>
                </a:lnTo>
                <a:close/>
              </a:path>
            </a:pathLst>
          </a:custGeom>
          <a:noFill/>
          <a:ln w="17463">
            <a:solidFill>
              <a:srgbClr val="000000"/>
            </a:solidFill>
            <a:prstDash val="solid"/>
            <a:round/>
            <a:headEnd/>
            <a:tailEnd/>
          </a:ln>
        </p:spPr>
        <p:txBody>
          <a:bodyPr/>
          <a:lstStyle/>
          <a:p>
            <a:pPr>
              <a:defRPr/>
            </a:pPr>
            <a:endParaRPr lang="en-US"/>
          </a:p>
        </p:txBody>
      </p:sp>
      <p:sp>
        <p:nvSpPr>
          <p:cNvPr id="116832" name="Freeform 96">
            <a:extLst>
              <a:ext uri="{FF2B5EF4-FFF2-40B4-BE49-F238E27FC236}">
                <a16:creationId xmlns:a16="http://schemas.microsoft.com/office/drawing/2014/main" id="{33BF8D42-53C4-9820-507E-2F32EEAB3FF9}"/>
              </a:ext>
            </a:extLst>
          </p:cNvPr>
          <p:cNvSpPr>
            <a:spLocks/>
          </p:cNvSpPr>
          <p:nvPr/>
        </p:nvSpPr>
        <p:spPr bwMode="auto">
          <a:xfrm>
            <a:off x="3930650" y="6007100"/>
            <a:ext cx="88900" cy="52388"/>
          </a:xfrm>
          <a:custGeom>
            <a:avLst/>
            <a:gdLst>
              <a:gd name="T0" fmla="*/ 45 w 56"/>
              <a:gd name="T1" fmla="*/ 22 h 33"/>
              <a:gd name="T2" fmla="*/ 56 w 56"/>
              <a:gd name="T3" fmla="*/ 33 h 33"/>
              <a:gd name="T4" fmla="*/ 0 w 56"/>
              <a:gd name="T5" fmla="*/ 22 h 33"/>
              <a:gd name="T6" fmla="*/ 56 w 56"/>
              <a:gd name="T7" fmla="*/ 0 h 33"/>
              <a:gd name="T8" fmla="*/ 45 w 56"/>
              <a:gd name="T9" fmla="*/ 22 h 33"/>
            </a:gdLst>
            <a:ahLst/>
            <a:cxnLst>
              <a:cxn ang="0">
                <a:pos x="T0" y="T1"/>
              </a:cxn>
              <a:cxn ang="0">
                <a:pos x="T2" y="T3"/>
              </a:cxn>
              <a:cxn ang="0">
                <a:pos x="T4" y="T5"/>
              </a:cxn>
              <a:cxn ang="0">
                <a:pos x="T6" y="T7"/>
              </a:cxn>
              <a:cxn ang="0">
                <a:pos x="T8" y="T9"/>
              </a:cxn>
            </a:cxnLst>
            <a:rect l="0" t="0" r="r" b="b"/>
            <a:pathLst>
              <a:path w="56" h="33">
                <a:moveTo>
                  <a:pt x="45" y="22"/>
                </a:moveTo>
                <a:lnTo>
                  <a:pt x="56" y="33"/>
                </a:lnTo>
                <a:lnTo>
                  <a:pt x="0" y="22"/>
                </a:lnTo>
                <a:lnTo>
                  <a:pt x="56" y="0"/>
                </a:lnTo>
                <a:lnTo>
                  <a:pt x="45" y="22"/>
                </a:lnTo>
                <a:close/>
              </a:path>
            </a:pathLst>
          </a:custGeom>
          <a:solidFill>
            <a:srgbClr val="000000"/>
          </a:solidFill>
          <a:ln>
            <a:noFill/>
          </a:ln>
        </p:spPr>
        <p:txBody>
          <a:bodyPr/>
          <a:lstStyle/>
          <a:p>
            <a:pPr>
              <a:defRPr/>
            </a:pPr>
            <a:endParaRPr lang="en-US"/>
          </a:p>
        </p:txBody>
      </p:sp>
      <p:sp>
        <p:nvSpPr>
          <p:cNvPr id="116833" name="Line 97">
            <a:extLst>
              <a:ext uri="{FF2B5EF4-FFF2-40B4-BE49-F238E27FC236}">
                <a16:creationId xmlns:a16="http://schemas.microsoft.com/office/drawing/2014/main" id="{535E1547-9564-07BE-F812-E181D5DED75A}"/>
              </a:ext>
            </a:extLst>
          </p:cNvPr>
          <p:cNvSpPr>
            <a:spLocks noChangeShapeType="1"/>
          </p:cNvSpPr>
          <p:nvPr/>
        </p:nvSpPr>
        <p:spPr bwMode="auto">
          <a:xfrm>
            <a:off x="4554538" y="6042025"/>
            <a:ext cx="34925" cy="1588"/>
          </a:xfrm>
          <a:prstGeom prst="line">
            <a:avLst/>
          </a:prstGeom>
          <a:noFill/>
          <a:ln w="17463">
            <a:solidFill>
              <a:srgbClr val="000000"/>
            </a:solidFill>
            <a:round/>
            <a:headEnd/>
            <a:tailEnd/>
          </a:ln>
        </p:spPr>
        <p:txBody>
          <a:bodyPr/>
          <a:lstStyle/>
          <a:p>
            <a:pPr>
              <a:defRPr/>
            </a:pPr>
            <a:endParaRPr lang="en-US"/>
          </a:p>
        </p:txBody>
      </p:sp>
      <p:sp>
        <p:nvSpPr>
          <p:cNvPr id="116834" name="Freeform 98">
            <a:extLst>
              <a:ext uri="{FF2B5EF4-FFF2-40B4-BE49-F238E27FC236}">
                <a16:creationId xmlns:a16="http://schemas.microsoft.com/office/drawing/2014/main" id="{941D1C5F-4E19-AC3E-9FCC-6C7A3D482E51}"/>
              </a:ext>
            </a:extLst>
          </p:cNvPr>
          <p:cNvSpPr>
            <a:spLocks/>
          </p:cNvSpPr>
          <p:nvPr/>
        </p:nvSpPr>
        <p:spPr bwMode="auto">
          <a:xfrm>
            <a:off x="4572000" y="6007100"/>
            <a:ext cx="71438" cy="52388"/>
          </a:xfrm>
          <a:custGeom>
            <a:avLst/>
            <a:gdLst>
              <a:gd name="T0" fmla="*/ 11 w 45"/>
              <a:gd name="T1" fmla="*/ 22 h 33"/>
              <a:gd name="T2" fmla="*/ 0 w 45"/>
              <a:gd name="T3" fmla="*/ 0 h 33"/>
              <a:gd name="T4" fmla="*/ 45 w 45"/>
              <a:gd name="T5" fmla="*/ 22 h 33"/>
              <a:gd name="T6" fmla="*/ 0 w 45"/>
              <a:gd name="T7" fmla="*/ 33 h 33"/>
              <a:gd name="T8" fmla="*/ 11 w 45"/>
              <a:gd name="T9" fmla="*/ 22 h 33"/>
            </a:gdLst>
            <a:ahLst/>
            <a:cxnLst>
              <a:cxn ang="0">
                <a:pos x="T0" y="T1"/>
              </a:cxn>
              <a:cxn ang="0">
                <a:pos x="T2" y="T3"/>
              </a:cxn>
              <a:cxn ang="0">
                <a:pos x="T4" y="T5"/>
              </a:cxn>
              <a:cxn ang="0">
                <a:pos x="T6" y="T7"/>
              </a:cxn>
              <a:cxn ang="0">
                <a:pos x="T8" y="T9"/>
              </a:cxn>
            </a:cxnLst>
            <a:rect l="0" t="0" r="r" b="b"/>
            <a:pathLst>
              <a:path w="45" h="33">
                <a:moveTo>
                  <a:pt x="11" y="22"/>
                </a:moveTo>
                <a:lnTo>
                  <a:pt x="0" y="0"/>
                </a:lnTo>
                <a:lnTo>
                  <a:pt x="45" y="22"/>
                </a:lnTo>
                <a:lnTo>
                  <a:pt x="0" y="33"/>
                </a:lnTo>
                <a:lnTo>
                  <a:pt x="11" y="22"/>
                </a:lnTo>
                <a:close/>
              </a:path>
            </a:pathLst>
          </a:custGeom>
          <a:noFill/>
          <a:ln w="17463">
            <a:solidFill>
              <a:srgbClr val="000000"/>
            </a:solidFill>
            <a:prstDash val="solid"/>
            <a:round/>
            <a:headEnd/>
            <a:tailEnd/>
          </a:ln>
        </p:spPr>
        <p:txBody>
          <a:bodyPr/>
          <a:lstStyle/>
          <a:p>
            <a:pPr>
              <a:defRPr/>
            </a:pPr>
            <a:endParaRPr lang="en-US"/>
          </a:p>
        </p:txBody>
      </p:sp>
      <p:sp>
        <p:nvSpPr>
          <p:cNvPr id="116835" name="Freeform 99">
            <a:extLst>
              <a:ext uri="{FF2B5EF4-FFF2-40B4-BE49-F238E27FC236}">
                <a16:creationId xmlns:a16="http://schemas.microsoft.com/office/drawing/2014/main" id="{E24D711E-A889-392A-06AF-16CE17F9187E}"/>
              </a:ext>
            </a:extLst>
          </p:cNvPr>
          <p:cNvSpPr>
            <a:spLocks/>
          </p:cNvSpPr>
          <p:nvPr/>
        </p:nvSpPr>
        <p:spPr bwMode="auto">
          <a:xfrm>
            <a:off x="4572000" y="6007100"/>
            <a:ext cx="71438" cy="52388"/>
          </a:xfrm>
          <a:custGeom>
            <a:avLst/>
            <a:gdLst>
              <a:gd name="T0" fmla="*/ 11 w 45"/>
              <a:gd name="T1" fmla="*/ 22 h 33"/>
              <a:gd name="T2" fmla="*/ 0 w 45"/>
              <a:gd name="T3" fmla="*/ 0 h 33"/>
              <a:gd name="T4" fmla="*/ 45 w 45"/>
              <a:gd name="T5" fmla="*/ 22 h 33"/>
              <a:gd name="T6" fmla="*/ 0 w 45"/>
              <a:gd name="T7" fmla="*/ 33 h 33"/>
              <a:gd name="T8" fmla="*/ 11 w 45"/>
              <a:gd name="T9" fmla="*/ 22 h 33"/>
            </a:gdLst>
            <a:ahLst/>
            <a:cxnLst>
              <a:cxn ang="0">
                <a:pos x="T0" y="T1"/>
              </a:cxn>
              <a:cxn ang="0">
                <a:pos x="T2" y="T3"/>
              </a:cxn>
              <a:cxn ang="0">
                <a:pos x="T4" y="T5"/>
              </a:cxn>
              <a:cxn ang="0">
                <a:pos x="T6" y="T7"/>
              </a:cxn>
              <a:cxn ang="0">
                <a:pos x="T8" y="T9"/>
              </a:cxn>
            </a:cxnLst>
            <a:rect l="0" t="0" r="r" b="b"/>
            <a:pathLst>
              <a:path w="45" h="33">
                <a:moveTo>
                  <a:pt x="11" y="22"/>
                </a:moveTo>
                <a:lnTo>
                  <a:pt x="0" y="0"/>
                </a:lnTo>
                <a:lnTo>
                  <a:pt x="45" y="22"/>
                </a:lnTo>
                <a:lnTo>
                  <a:pt x="0" y="33"/>
                </a:lnTo>
                <a:lnTo>
                  <a:pt x="11" y="22"/>
                </a:lnTo>
                <a:close/>
              </a:path>
            </a:pathLst>
          </a:custGeom>
          <a:solidFill>
            <a:srgbClr val="000000"/>
          </a:solidFill>
          <a:ln>
            <a:noFill/>
          </a:ln>
        </p:spPr>
        <p:txBody>
          <a:bodyPr/>
          <a:lstStyle/>
          <a:p>
            <a:pPr>
              <a:defRPr/>
            </a:pPr>
            <a:endParaRPr lang="en-US"/>
          </a:p>
        </p:txBody>
      </p:sp>
      <p:sp>
        <p:nvSpPr>
          <p:cNvPr id="116836" name="Line 100">
            <a:extLst>
              <a:ext uri="{FF2B5EF4-FFF2-40B4-BE49-F238E27FC236}">
                <a16:creationId xmlns:a16="http://schemas.microsoft.com/office/drawing/2014/main" id="{05AE808C-8454-27E1-9CDD-F31C5F1C1A34}"/>
              </a:ext>
            </a:extLst>
          </p:cNvPr>
          <p:cNvSpPr>
            <a:spLocks noChangeShapeType="1"/>
          </p:cNvSpPr>
          <p:nvPr/>
        </p:nvSpPr>
        <p:spPr bwMode="auto">
          <a:xfrm>
            <a:off x="4019550" y="6042025"/>
            <a:ext cx="534988" cy="1588"/>
          </a:xfrm>
          <a:prstGeom prst="line">
            <a:avLst/>
          </a:prstGeom>
          <a:noFill/>
          <a:ln w="17463">
            <a:solidFill>
              <a:srgbClr val="000000"/>
            </a:solidFill>
            <a:round/>
            <a:headEnd/>
            <a:tailEnd/>
          </a:ln>
        </p:spPr>
        <p:txBody>
          <a:bodyPr/>
          <a:lstStyle/>
          <a:p>
            <a:pPr>
              <a:defRPr/>
            </a:pPr>
            <a:endParaRPr lang="en-US"/>
          </a:p>
        </p:txBody>
      </p:sp>
      <p:sp>
        <p:nvSpPr>
          <p:cNvPr id="116846" name="Line 110">
            <a:extLst>
              <a:ext uri="{FF2B5EF4-FFF2-40B4-BE49-F238E27FC236}">
                <a16:creationId xmlns:a16="http://schemas.microsoft.com/office/drawing/2014/main" id="{0DC07E78-0F77-95CD-A65F-1480D3B0DEF8}"/>
              </a:ext>
            </a:extLst>
          </p:cNvPr>
          <p:cNvSpPr>
            <a:spLocks noChangeShapeType="1"/>
          </p:cNvSpPr>
          <p:nvPr/>
        </p:nvSpPr>
        <p:spPr bwMode="auto">
          <a:xfrm flipH="1">
            <a:off x="2451100" y="6505575"/>
            <a:ext cx="36513" cy="1588"/>
          </a:xfrm>
          <a:prstGeom prst="line">
            <a:avLst/>
          </a:prstGeom>
          <a:noFill/>
          <a:ln w="17463">
            <a:solidFill>
              <a:srgbClr val="000000"/>
            </a:solidFill>
            <a:round/>
            <a:headEnd/>
            <a:tailEnd/>
          </a:ln>
        </p:spPr>
        <p:txBody>
          <a:bodyPr/>
          <a:lstStyle/>
          <a:p>
            <a:pPr>
              <a:defRPr/>
            </a:pPr>
            <a:endParaRPr lang="en-US"/>
          </a:p>
        </p:txBody>
      </p:sp>
      <p:sp>
        <p:nvSpPr>
          <p:cNvPr id="116847" name="Freeform 111">
            <a:extLst>
              <a:ext uri="{FF2B5EF4-FFF2-40B4-BE49-F238E27FC236}">
                <a16:creationId xmlns:a16="http://schemas.microsoft.com/office/drawing/2014/main" id="{164A8EAF-AF6D-CC07-A88B-C763FD800042}"/>
              </a:ext>
            </a:extLst>
          </p:cNvPr>
          <p:cNvSpPr>
            <a:spLocks/>
          </p:cNvSpPr>
          <p:nvPr/>
        </p:nvSpPr>
        <p:spPr bwMode="auto">
          <a:xfrm>
            <a:off x="2398713" y="6488113"/>
            <a:ext cx="69850" cy="34925"/>
          </a:xfrm>
          <a:custGeom>
            <a:avLst/>
            <a:gdLst>
              <a:gd name="T0" fmla="*/ 33 w 44"/>
              <a:gd name="T1" fmla="*/ 11 h 22"/>
              <a:gd name="T2" fmla="*/ 44 w 44"/>
              <a:gd name="T3" fmla="*/ 22 h 22"/>
              <a:gd name="T4" fmla="*/ 0 w 44"/>
              <a:gd name="T5" fmla="*/ 11 h 22"/>
              <a:gd name="T6" fmla="*/ 44 w 44"/>
              <a:gd name="T7" fmla="*/ 0 h 22"/>
              <a:gd name="T8" fmla="*/ 33 w 44"/>
              <a:gd name="T9" fmla="*/ 11 h 22"/>
            </a:gdLst>
            <a:ahLst/>
            <a:cxnLst>
              <a:cxn ang="0">
                <a:pos x="T0" y="T1"/>
              </a:cxn>
              <a:cxn ang="0">
                <a:pos x="T2" y="T3"/>
              </a:cxn>
              <a:cxn ang="0">
                <a:pos x="T4" y="T5"/>
              </a:cxn>
              <a:cxn ang="0">
                <a:pos x="T6" y="T7"/>
              </a:cxn>
              <a:cxn ang="0">
                <a:pos x="T8" y="T9"/>
              </a:cxn>
            </a:cxnLst>
            <a:rect l="0" t="0" r="r" b="b"/>
            <a:pathLst>
              <a:path w="44" h="22">
                <a:moveTo>
                  <a:pt x="33" y="11"/>
                </a:moveTo>
                <a:lnTo>
                  <a:pt x="44" y="22"/>
                </a:lnTo>
                <a:lnTo>
                  <a:pt x="0" y="11"/>
                </a:lnTo>
                <a:lnTo>
                  <a:pt x="44" y="0"/>
                </a:lnTo>
                <a:lnTo>
                  <a:pt x="33" y="11"/>
                </a:lnTo>
                <a:close/>
              </a:path>
            </a:pathLst>
          </a:custGeom>
          <a:noFill/>
          <a:ln w="17463">
            <a:solidFill>
              <a:srgbClr val="000000"/>
            </a:solidFill>
            <a:prstDash val="solid"/>
            <a:round/>
            <a:headEnd/>
            <a:tailEnd/>
          </a:ln>
        </p:spPr>
        <p:txBody>
          <a:bodyPr/>
          <a:lstStyle/>
          <a:p>
            <a:pPr>
              <a:defRPr/>
            </a:pPr>
            <a:endParaRPr lang="en-US"/>
          </a:p>
        </p:txBody>
      </p:sp>
      <p:sp>
        <p:nvSpPr>
          <p:cNvPr id="116848" name="Freeform 112">
            <a:extLst>
              <a:ext uri="{FF2B5EF4-FFF2-40B4-BE49-F238E27FC236}">
                <a16:creationId xmlns:a16="http://schemas.microsoft.com/office/drawing/2014/main" id="{0D95161F-4F59-3E00-91DA-68A2EA5DC9FF}"/>
              </a:ext>
            </a:extLst>
          </p:cNvPr>
          <p:cNvSpPr>
            <a:spLocks/>
          </p:cNvSpPr>
          <p:nvPr/>
        </p:nvSpPr>
        <p:spPr bwMode="auto">
          <a:xfrm>
            <a:off x="2398713" y="6488113"/>
            <a:ext cx="69850" cy="34925"/>
          </a:xfrm>
          <a:custGeom>
            <a:avLst/>
            <a:gdLst>
              <a:gd name="T0" fmla="*/ 33 w 44"/>
              <a:gd name="T1" fmla="*/ 11 h 22"/>
              <a:gd name="T2" fmla="*/ 44 w 44"/>
              <a:gd name="T3" fmla="*/ 22 h 22"/>
              <a:gd name="T4" fmla="*/ 0 w 44"/>
              <a:gd name="T5" fmla="*/ 11 h 22"/>
              <a:gd name="T6" fmla="*/ 44 w 44"/>
              <a:gd name="T7" fmla="*/ 0 h 22"/>
              <a:gd name="T8" fmla="*/ 33 w 44"/>
              <a:gd name="T9" fmla="*/ 11 h 22"/>
            </a:gdLst>
            <a:ahLst/>
            <a:cxnLst>
              <a:cxn ang="0">
                <a:pos x="T0" y="T1"/>
              </a:cxn>
              <a:cxn ang="0">
                <a:pos x="T2" y="T3"/>
              </a:cxn>
              <a:cxn ang="0">
                <a:pos x="T4" y="T5"/>
              </a:cxn>
              <a:cxn ang="0">
                <a:pos x="T6" y="T7"/>
              </a:cxn>
              <a:cxn ang="0">
                <a:pos x="T8" y="T9"/>
              </a:cxn>
            </a:cxnLst>
            <a:rect l="0" t="0" r="r" b="b"/>
            <a:pathLst>
              <a:path w="44" h="22">
                <a:moveTo>
                  <a:pt x="33" y="11"/>
                </a:moveTo>
                <a:lnTo>
                  <a:pt x="44" y="22"/>
                </a:lnTo>
                <a:lnTo>
                  <a:pt x="0" y="11"/>
                </a:lnTo>
                <a:lnTo>
                  <a:pt x="44" y="0"/>
                </a:lnTo>
                <a:lnTo>
                  <a:pt x="33" y="11"/>
                </a:lnTo>
                <a:close/>
              </a:path>
            </a:pathLst>
          </a:custGeom>
          <a:solidFill>
            <a:srgbClr val="000000"/>
          </a:solidFill>
          <a:ln>
            <a:noFill/>
          </a:ln>
        </p:spPr>
        <p:txBody>
          <a:bodyPr/>
          <a:lstStyle/>
          <a:p>
            <a:pPr>
              <a:defRPr/>
            </a:pPr>
            <a:endParaRPr lang="en-US"/>
          </a:p>
        </p:txBody>
      </p:sp>
      <p:sp>
        <p:nvSpPr>
          <p:cNvPr id="116849" name="Line 113">
            <a:extLst>
              <a:ext uri="{FF2B5EF4-FFF2-40B4-BE49-F238E27FC236}">
                <a16:creationId xmlns:a16="http://schemas.microsoft.com/office/drawing/2014/main" id="{A01371D4-DD89-79E8-76EE-26AB84B5FC40}"/>
              </a:ext>
            </a:extLst>
          </p:cNvPr>
          <p:cNvSpPr>
            <a:spLocks noChangeShapeType="1"/>
          </p:cNvSpPr>
          <p:nvPr/>
        </p:nvSpPr>
        <p:spPr bwMode="auto">
          <a:xfrm>
            <a:off x="4554538" y="6505575"/>
            <a:ext cx="34925" cy="1588"/>
          </a:xfrm>
          <a:prstGeom prst="line">
            <a:avLst/>
          </a:prstGeom>
          <a:noFill/>
          <a:ln w="17463">
            <a:solidFill>
              <a:srgbClr val="000000"/>
            </a:solidFill>
            <a:round/>
            <a:headEnd/>
            <a:tailEnd/>
          </a:ln>
        </p:spPr>
        <p:txBody>
          <a:bodyPr/>
          <a:lstStyle/>
          <a:p>
            <a:pPr>
              <a:defRPr/>
            </a:pPr>
            <a:endParaRPr lang="en-US"/>
          </a:p>
        </p:txBody>
      </p:sp>
      <p:sp>
        <p:nvSpPr>
          <p:cNvPr id="116850" name="Freeform 114">
            <a:extLst>
              <a:ext uri="{FF2B5EF4-FFF2-40B4-BE49-F238E27FC236}">
                <a16:creationId xmlns:a16="http://schemas.microsoft.com/office/drawing/2014/main" id="{AE7C7E27-06AE-7269-5011-AF6B5B8AD549}"/>
              </a:ext>
            </a:extLst>
          </p:cNvPr>
          <p:cNvSpPr>
            <a:spLocks/>
          </p:cNvSpPr>
          <p:nvPr/>
        </p:nvSpPr>
        <p:spPr bwMode="auto">
          <a:xfrm>
            <a:off x="4572000" y="6488113"/>
            <a:ext cx="71438" cy="34925"/>
          </a:xfrm>
          <a:custGeom>
            <a:avLst/>
            <a:gdLst>
              <a:gd name="T0" fmla="*/ 11 w 45"/>
              <a:gd name="T1" fmla="*/ 11 h 22"/>
              <a:gd name="T2" fmla="*/ 0 w 45"/>
              <a:gd name="T3" fmla="*/ 0 h 22"/>
              <a:gd name="T4" fmla="*/ 45 w 45"/>
              <a:gd name="T5" fmla="*/ 11 h 22"/>
              <a:gd name="T6" fmla="*/ 0 w 45"/>
              <a:gd name="T7" fmla="*/ 22 h 22"/>
              <a:gd name="T8" fmla="*/ 11 w 45"/>
              <a:gd name="T9" fmla="*/ 11 h 22"/>
            </a:gdLst>
            <a:ahLst/>
            <a:cxnLst>
              <a:cxn ang="0">
                <a:pos x="T0" y="T1"/>
              </a:cxn>
              <a:cxn ang="0">
                <a:pos x="T2" y="T3"/>
              </a:cxn>
              <a:cxn ang="0">
                <a:pos x="T4" y="T5"/>
              </a:cxn>
              <a:cxn ang="0">
                <a:pos x="T6" y="T7"/>
              </a:cxn>
              <a:cxn ang="0">
                <a:pos x="T8" y="T9"/>
              </a:cxn>
            </a:cxnLst>
            <a:rect l="0" t="0" r="r" b="b"/>
            <a:pathLst>
              <a:path w="45" h="22">
                <a:moveTo>
                  <a:pt x="11" y="11"/>
                </a:moveTo>
                <a:lnTo>
                  <a:pt x="0" y="0"/>
                </a:lnTo>
                <a:lnTo>
                  <a:pt x="45" y="11"/>
                </a:lnTo>
                <a:lnTo>
                  <a:pt x="0" y="22"/>
                </a:lnTo>
                <a:lnTo>
                  <a:pt x="11" y="11"/>
                </a:lnTo>
                <a:close/>
              </a:path>
            </a:pathLst>
          </a:custGeom>
          <a:noFill/>
          <a:ln w="17463">
            <a:solidFill>
              <a:srgbClr val="000000"/>
            </a:solidFill>
            <a:prstDash val="solid"/>
            <a:round/>
            <a:headEnd/>
            <a:tailEnd/>
          </a:ln>
        </p:spPr>
        <p:txBody>
          <a:bodyPr/>
          <a:lstStyle/>
          <a:p>
            <a:pPr>
              <a:defRPr/>
            </a:pPr>
            <a:endParaRPr lang="en-US"/>
          </a:p>
        </p:txBody>
      </p:sp>
      <p:sp>
        <p:nvSpPr>
          <p:cNvPr id="116851" name="Freeform 115">
            <a:extLst>
              <a:ext uri="{FF2B5EF4-FFF2-40B4-BE49-F238E27FC236}">
                <a16:creationId xmlns:a16="http://schemas.microsoft.com/office/drawing/2014/main" id="{D5A6D4E9-2ADF-CEC1-56E3-954434AB327F}"/>
              </a:ext>
            </a:extLst>
          </p:cNvPr>
          <p:cNvSpPr>
            <a:spLocks/>
          </p:cNvSpPr>
          <p:nvPr/>
        </p:nvSpPr>
        <p:spPr bwMode="auto">
          <a:xfrm>
            <a:off x="4572000" y="6488113"/>
            <a:ext cx="71438" cy="34925"/>
          </a:xfrm>
          <a:custGeom>
            <a:avLst/>
            <a:gdLst>
              <a:gd name="T0" fmla="*/ 11 w 45"/>
              <a:gd name="T1" fmla="*/ 11 h 22"/>
              <a:gd name="T2" fmla="*/ 0 w 45"/>
              <a:gd name="T3" fmla="*/ 0 h 22"/>
              <a:gd name="T4" fmla="*/ 45 w 45"/>
              <a:gd name="T5" fmla="*/ 11 h 22"/>
              <a:gd name="T6" fmla="*/ 0 w 45"/>
              <a:gd name="T7" fmla="*/ 22 h 22"/>
              <a:gd name="T8" fmla="*/ 11 w 45"/>
              <a:gd name="T9" fmla="*/ 11 h 22"/>
            </a:gdLst>
            <a:ahLst/>
            <a:cxnLst>
              <a:cxn ang="0">
                <a:pos x="T0" y="T1"/>
              </a:cxn>
              <a:cxn ang="0">
                <a:pos x="T2" y="T3"/>
              </a:cxn>
              <a:cxn ang="0">
                <a:pos x="T4" y="T5"/>
              </a:cxn>
              <a:cxn ang="0">
                <a:pos x="T6" y="T7"/>
              </a:cxn>
              <a:cxn ang="0">
                <a:pos x="T8" y="T9"/>
              </a:cxn>
            </a:cxnLst>
            <a:rect l="0" t="0" r="r" b="b"/>
            <a:pathLst>
              <a:path w="45" h="22">
                <a:moveTo>
                  <a:pt x="11" y="11"/>
                </a:moveTo>
                <a:lnTo>
                  <a:pt x="0" y="0"/>
                </a:lnTo>
                <a:lnTo>
                  <a:pt x="45" y="11"/>
                </a:lnTo>
                <a:lnTo>
                  <a:pt x="0" y="22"/>
                </a:lnTo>
                <a:lnTo>
                  <a:pt x="11" y="11"/>
                </a:lnTo>
                <a:close/>
              </a:path>
            </a:pathLst>
          </a:custGeom>
          <a:solidFill>
            <a:srgbClr val="000000"/>
          </a:solidFill>
          <a:ln>
            <a:noFill/>
          </a:ln>
        </p:spPr>
        <p:txBody>
          <a:bodyPr/>
          <a:lstStyle/>
          <a:p>
            <a:pPr>
              <a:defRPr/>
            </a:pPr>
            <a:endParaRPr lang="en-US"/>
          </a:p>
        </p:txBody>
      </p:sp>
      <p:sp>
        <p:nvSpPr>
          <p:cNvPr id="116852" name="Line 116">
            <a:extLst>
              <a:ext uri="{FF2B5EF4-FFF2-40B4-BE49-F238E27FC236}">
                <a16:creationId xmlns:a16="http://schemas.microsoft.com/office/drawing/2014/main" id="{F8A43DA1-31A7-7A8B-51C6-0FA2970B52B3}"/>
              </a:ext>
            </a:extLst>
          </p:cNvPr>
          <p:cNvSpPr>
            <a:spLocks noChangeShapeType="1"/>
          </p:cNvSpPr>
          <p:nvPr/>
        </p:nvSpPr>
        <p:spPr bwMode="auto">
          <a:xfrm>
            <a:off x="2487613" y="6505575"/>
            <a:ext cx="2066925" cy="1588"/>
          </a:xfrm>
          <a:prstGeom prst="line">
            <a:avLst/>
          </a:prstGeom>
          <a:noFill/>
          <a:ln w="17463">
            <a:solidFill>
              <a:srgbClr val="000000"/>
            </a:solidFill>
            <a:round/>
            <a:headEnd/>
            <a:tailEnd/>
          </a:ln>
        </p:spPr>
        <p:txBody>
          <a:bodyPr/>
          <a:lstStyle/>
          <a:p>
            <a:pPr>
              <a:defRPr/>
            </a:pPr>
            <a:endParaRPr lang="en-US"/>
          </a:p>
        </p:txBody>
      </p:sp>
      <p:sp>
        <p:nvSpPr>
          <p:cNvPr id="116855" name="Line 119">
            <a:extLst>
              <a:ext uri="{FF2B5EF4-FFF2-40B4-BE49-F238E27FC236}">
                <a16:creationId xmlns:a16="http://schemas.microsoft.com/office/drawing/2014/main" id="{AB691D8A-C175-7900-4A31-AE0C4B921546}"/>
              </a:ext>
            </a:extLst>
          </p:cNvPr>
          <p:cNvSpPr>
            <a:spLocks noChangeShapeType="1"/>
          </p:cNvSpPr>
          <p:nvPr/>
        </p:nvSpPr>
        <p:spPr bwMode="auto">
          <a:xfrm flipV="1">
            <a:off x="8456613" y="3708400"/>
            <a:ext cx="1587" cy="34925"/>
          </a:xfrm>
          <a:prstGeom prst="line">
            <a:avLst/>
          </a:prstGeom>
          <a:noFill/>
          <a:ln w="17463">
            <a:solidFill>
              <a:srgbClr val="000000"/>
            </a:solidFill>
            <a:round/>
            <a:headEnd/>
            <a:tailEnd/>
          </a:ln>
        </p:spPr>
        <p:txBody>
          <a:bodyPr/>
          <a:lstStyle/>
          <a:p>
            <a:pPr>
              <a:defRPr/>
            </a:pPr>
            <a:endParaRPr lang="en-US"/>
          </a:p>
        </p:txBody>
      </p:sp>
      <p:sp>
        <p:nvSpPr>
          <p:cNvPr id="116856" name="Freeform 120">
            <a:extLst>
              <a:ext uri="{FF2B5EF4-FFF2-40B4-BE49-F238E27FC236}">
                <a16:creationId xmlns:a16="http://schemas.microsoft.com/office/drawing/2014/main" id="{630B4E7F-DEC1-45AD-5C0E-F8325ED44533}"/>
              </a:ext>
            </a:extLst>
          </p:cNvPr>
          <p:cNvSpPr>
            <a:spLocks/>
          </p:cNvSpPr>
          <p:nvPr/>
        </p:nvSpPr>
        <p:spPr bwMode="auto">
          <a:xfrm>
            <a:off x="8439150" y="3654425"/>
            <a:ext cx="52388" cy="71438"/>
          </a:xfrm>
          <a:custGeom>
            <a:avLst/>
            <a:gdLst>
              <a:gd name="T0" fmla="*/ 11 w 33"/>
              <a:gd name="T1" fmla="*/ 34 h 45"/>
              <a:gd name="T2" fmla="*/ 0 w 33"/>
              <a:gd name="T3" fmla="*/ 45 h 45"/>
              <a:gd name="T4" fmla="*/ 11 w 33"/>
              <a:gd name="T5" fmla="*/ 0 h 45"/>
              <a:gd name="T6" fmla="*/ 33 w 33"/>
              <a:gd name="T7" fmla="*/ 45 h 45"/>
              <a:gd name="T8" fmla="*/ 11 w 33"/>
              <a:gd name="T9" fmla="*/ 34 h 45"/>
            </a:gdLst>
            <a:ahLst/>
            <a:cxnLst>
              <a:cxn ang="0">
                <a:pos x="T0" y="T1"/>
              </a:cxn>
              <a:cxn ang="0">
                <a:pos x="T2" y="T3"/>
              </a:cxn>
              <a:cxn ang="0">
                <a:pos x="T4" y="T5"/>
              </a:cxn>
              <a:cxn ang="0">
                <a:pos x="T6" y="T7"/>
              </a:cxn>
              <a:cxn ang="0">
                <a:pos x="T8" y="T9"/>
              </a:cxn>
            </a:cxnLst>
            <a:rect l="0" t="0" r="r" b="b"/>
            <a:pathLst>
              <a:path w="33" h="45">
                <a:moveTo>
                  <a:pt x="11" y="34"/>
                </a:moveTo>
                <a:lnTo>
                  <a:pt x="0" y="45"/>
                </a:lnTo>
                <a:lnTo>
                  <a:pt x="11" y="0"/>
                </a:lnTo>
                <a:lnTo>
                  <a:pt x="33" y="45"/>
                </a:lnTo>
                <a:lnTo>
                  <a:pt x="11" y="34"/>
                </a:lnTo>
                <a:close/>
              </a:path>
            </a:pathLst>
          </a:custGeom>
          <a:noFill/>
          <a:ln w="17463">
            <a:solidFill>
              <a:srgbClr val="000000"/>
            </a:solidFill>
            <a:prstDash val="solid"/>
            <a:round/>
            <a:headEnd/>
            <a:tailEnd/>
          </a:ln>
        </p:spPr>
        <p:txBody>
          <a:bodyPr/>
          <a:lstStyle/>
          <a:p>
            <a:pPr>
              <a:defRPr/>
            </a:pPr>
            <a:endParaRPr lang="en-US"/>
          </a:p>
        </p:txBody>
      </p:sp>
      <p:sp>
        <p:nvSpPr>
          <p:cNvPr id="116857" name="Freeform 121">
            <a:extLst>
              <a:ext uri="{FF2B5EF4-FFF2-40B4-BE49-F238E27FC236}">
                <a16:creationId xmlns:a16="http://schemas.microsoft.com/office/drawing/2014/main" id="{7A4A594D-A589-C8B9-C904-A413390131E1}"/>
              </a:ext>
            </a:extLst>
          </p:cNvPr>
          <p:cNvSpPr>
            <a:spLocks/>
          </p:cNvSpPr>
          <p:nvPr/>
        </p:nvSpPr>
        <p:spPr bwMode="auto">
          <a:xfrm>
            <a:off x="8439150" y="3654425"/>
            <a:ext cx="52388" cy="71438"/>
          </a:xfrm>
          <a:custGeom>
            <a:avLst/>
            <a:gdLst>
              <a:gd name="T0" fmla="*/ 11 w 33"/>
              <a:gd name="T1" fmla="*/ 34 h 45"/>
              <a:gd name="T2" fmla="*/ 0 w 33"/>
              <a:gd name="T3" fmla="*/ 45 h 45"/>
              <a:gd name="T4" fmla="*/ 11 w 33"/>
              <a:gd name="T5" fmla="*/ 0 h 45"/>
              <a:gd name="T6" fmla="*/ 33 w 33"/>
              <a:gd name="T7" fmla="*/ 45 h 45"/>
              <a:gd name="T8" fmla="*/ 11 w 33"/>
              <a:gd name="T9" fmla="*/ 34 h 45"/>
            </a:gdLst>
            <a:ahLst/>
            <a:cxnLst>
              <a:cxn ang="0">
                <a:pos x="T0" y="T1"/>
              </a:cxn>
              <a:cxn ang="0">
                <a:pos x="T2" y="T3"/>
              </a:cxn>
              <a:cxn ang="0">
                <a:pos x="T4" y="T5"/>
              </a:cxn>
              <a:cxn ang="0">
                <a:pos x="T6" y="T7"/>
              </a:cxn>
              <a:cxn ang="0">
                <a:pos x="T8" y="T9"/>
              </a:cxn>
            </a:cxnLst>
            <a:rect l="0" t="0" r="r" b="b"/>
            <a:pathLst>
              <a:path w="33" h="45">
                <a:moveTo>
                  <a:pt x="11" y="34"/>
                </a:moveTo>
                <a:lnTo>
                  <a:pt x="0" y="45"/>
                </a:lnTo>
                <a:lnTo>
                  <a:pt x="11" y="0"/>
                </a:lnTo>
                <a:lnTo>
                  <a:pt x="33" y="45"/>
                </a:lnTo>
                <a:lnTo>
                  <a:pt x="11" y="34"/>
                </a:lnTo>
                <a:close/>
              </a:path>
            </a:pathLst>
          </a:custGeom>
          <a:solidFill>
            <a:srgbClr val="000000"/>
          </a:solidFill>
          <a:ln>
            <a:noFill/>
          </a:ln>
        </p:spPr>
        <p:txBody>
          <a:bodyPr/>
          <a:lstStyle/>
          <a:p>
            <a:pPr>
              <a:defRPr/>
            </a:pPr>
            <a:endParaRPr lang="en-US"/>
          </a:p>
        </p:txBody>
      </p:sp>
      <p:sp>
        <p:nvSpPr>
          <p:cNvPr id="116858" name="Line 122">
            <a:extLst>
              <a:ext uri="{FF2B5EF4-FFF2-40B4-BE49-F238E27FC236}">
                <a16:creationId xmlns:a16="http://schemas.microsoft.com/office/drawing/2014/main" id="{CBB015C4-240D-7595-8FF0-419B7AFF76FB}"/>
              </a:ext>
            </a:extLst>
          </p:cNvPr>
          <p:cNvSpPr>
            <a:spLocks noChangeShapeType="1"/>
          </p:cNvSpPr>
          <p:nvPr/>
        </p:nvSpPr>
        <p:spPr bwMode="auto">
          <a:xfrm>
            <a:off x="8456613" y="5738813"/>
            <a:ext cx="1587" cy="36512"/>
          </a:xfrm>
          <a:prstGeom prst="line">
            <a:avLst/>
          </a:prstGeom>
          <a:noFill/>
          <a:ln w="17463">
            <a:solidFill>
              <a:srgbClr val="000000"/>
            </a:solidFill>
            <a:round/>
            <a:headEnd/>
            <a:tailEnd/>
          </a:ln>
        </p:spPr>
        <p:txBody>
          <a:bodyPr/>
          <a:lstStyle/>
          <a:p>
            <a:pPr>
              <a:defRPr/>
            </a:pPr>
            <a:endParaRPr lang="en-US"/>
          </a:p>
        </p:txBody>
      </p:sp>
      <p:sp>
        <p:nvSpPr>
          <p:cNvPr id="116859" name="Freeform 123">
            <a:extLst>
              <a:ext uri="{FF2B5EF4-FFF2-40B4-BE49-F238E27FC236}">
                <a16:creationId xmlns:a16="http://schemas.microsoft.com/office/drawing/2014/main" id="{934726F2-667A-DD3C-218D-6B0FC503C1F9}"/>
              </a:ext>
            </a:extLst>
          </p:cNvPr>
          <p:cNvSpPr>
            <a:spLocks/>
          </p:cNvSpPr>
          <p:nvPr/>
        </p:nvSpPr>
        <p:spPr bwMode="auto">
          <a:xfrm>
            <a:off x="8439150" y="5756275"/>
            <a:ext cx="52388" cy="71438"/>
          </a:xfrm>
          <a:custGeom>
            <a:avLst/>
            <a:gdLst>
              <a:gd name="T0" fmla="*/ 11 w 33"/>
              <a:gd name="T1" fmla="*/ 12 h 45"/>
              <a:gd name="T2" fmla="*/ 33 w 33"/>
              <a:gd name="T3" fmla="*/ 0 h 45"/>
              <a:gd name="T4" fmla="*/ 11 w 33"/>
              <a:gd name="T5" fmla="*/ 45 h 45"/>
              <a:gd name="T6" fmla="*/ 0 w 33"/>
              <a:gd name="T7" fmla="*/ 0 h 45"/>
              <a:gd name="T8" fmla="*/ 11 w 33"/>
              <a:gd name="T9" fmla="*/ 12 h 45"/>
            </a:gdLst>
            <a:ahLst/>
            <a:cxnLst>
              <a:cxn ang="0">
                <a:pos x="T0" y="T1"/>
              </a:cxn>
              <a:cxn ang="0">
                <a:pos x="T2" y="T3"/>
              </a:cxn>
              <a:cxn ang="0">
                <a:pos x="T4" y="T5"/>
              </a:cxn>
              <a:cxn ang="0">
                <a:pos x="T6" y="T7"/>
              </a:cxn>
              <a:cxn ang="0">
                <a:pos x="T8" y="T9"/>
              </a:cxn>
            </a:cxnLst>
            <a:rect l="0" t="0" r="r" b="b"/>
            <a:pathLst>
              <a:path w="33" h="45">
                <a:moveTo>
                  <a:pt x="11" y="12"/>
                </a:moveTo>
                <a:lnTo>
                  <a:pt x="33" y="0"/>
                </a:lnTo>
                <a:lnTo>
                  <a:pt x="11" y="45"/>
                </a:lnTo>
                <a:lnTo>
                  <a:pt x="0" y="0"/>
                </a:lnTo>
                <a:lnTo>
                  <a:pt x="11" y="12"/>
                </a:lnTo>
                <a:close/>
              </a:path>
            </a:pathLst>
          </a:custGeom>
          <a:noFill/>
          <a:ln w="17463">
            <a:solidFill>
              <a:srgbClr val="000000"/>
            </a:solidFill>
            <a:prstDash val="solid"/>
            <a:round/>
            <a:headEnd/>
            <a:tailEnd/>
          </a:ln>
        </p:spPr>
        <p:txBody>
          <a:bodyPr/>
          <a:lstStyle/>
          <a:p>
            <a:pPr>
              <a:defRPr/>
            </a:pPr>
            <a:endParaRPr lang="en-US"/>
          </a:p>
        </p:txBody>
      </p:sp>
      <p:sp>
        <p:nvSpPr>
          <p:cNvPr id="116860" name="Freeform 124">
            <a:extLst>
              <a:ext uri="{FF2B5EF4-FFF2-40B4-BE49-F238E27FC236}">
                <a16:creationId xmlns:a16="http://schemas.microsoft.com/office/drawing/2014/main" id="{F1F96812-8151-1F38-8A35-B6FD3504A74B}"/>
              </a:ext>
            </a:extLst>
          </p:cNvPr>
          <p:cNvSpPr>
            <a:spLocks/>
          </p:cNvSpPr>
          <p:nvPr/>
        </p:nvSpPr>
        <p:spPr bwMode="auto">
          <a:xfrm>
            <a:off x="8439150" y="5756275"/>
            <a:ext cx="52388" cy="71438"/>
          </a:xfrm>
          <a:custGeom>
            <a:avLst/>
            <a:gdLst>
              <a:gd name="T0" fmla="*/ 11 w 33"/>
              <a:gd name="T1" fmla="*/ 12 h 45"/>
              <a:gd name="T2" fmla="*/ 33 w 33"/>
              <a:gd name="T3" fmla="*/ 0 h 45"/>
              <a:gd name="T4" fmla="*/ 11 w 33"/>
              <a:gd name="T5" fmla="*/ 45 h 45"/>
              <a:gd name="T6" fmla="*/ 0 w 33"/>
              <a:gd name="T7" fmla="*/ 0 h 45"/>
              <a:gd name="T8" fmla="*/ 11 w 33"/>
              <a:gd name="T9" fmla="*/ 12 h 45"/>
            </a:gdLst>
            <a:ahLst/>
            <a:cxnLst>
              <a:cxn ang="0">
                <a:pos x="T0" y="T1"/>
              </a:cxn>
              <a:cxn ang="0">
                <a:pos x="T2" y="T3"/>
              </a:cxn>
              <a:cxn ang="0">
                <a:pos x="T4" y="T5"/>
              </a:cxn>
              <a:cxn ang="0">
                <a:pos x="T6" y="T7"/>
              </a:cxn>
              <a:cxn ang="0">
                <a:pos x="T8" y="T9"/>
              </a:cxn>
            </a:cxnLst>
            <a:rect l="0" t="0" r="r" b="b"/>
            <a:pathLst>
              <a:path w="33" h="45">
                <a:moveTo>
                  <a:pt x="11" y="12"/>
                </a:moveTo>
                <a:lnTo>
                  <a:pt x="33" y="0"/>
                </a:lnTo>
                <a:lnTo>
                  <a:pt x="11" y="45"/>
                </a:lnTo>
                <a:lnTo>
                  <a:pt x="0" y="0"/>
                </a:lnTo>
                <a:lnTo>
                  <a:pt x="11" y="12"/>
                </a:lnTo>
                <a:close/>
              </a:path>
            </a:pathLst>
          </a:custGeom>
          <a:solidFill>
            <a:srgbClr val="000000"/>
          </a:solidFill>
          <a:ln>
            <a:noFill/>
          </a:ln>
        </p:spPr>
        <p:txBody>
          <a:bodyPr/>
          <a:lstStyle/>
          <a:p>
            <a:pPr>
              <a:defRPr/>
            </a:pPr>
            <a:endParaRPr lang="en-US"/>
          </a:p>
        </p:txBody>
      </p:sp>
      <p:sp>
        <p:nvSpPr>
          <p:cNvPr id="116861" name="Line 125">
            <a:extLst>
              <a:ext uri="{FF2B5EF4-FFF2-40B4-BE49-F238E27FC236}">
                <a16:creationId xmlns:a16="http://schemas.microsoft.com/office/drawing/2014/main" id="{72BBE5D0-7FD6-BD26-BA95-C21BFB1F9F16}"/>
              </a:ext>
            </a:extLst>
          </p:cNvPr>
          <p:cNvSpPr>
            <a:spLocks noChangeShapeType="1"/>
          </p:cNvSpPr>
          <p:nvPr/>
        </p:nvSpPr>
        <p:spPr bwMode="auto">
          <a:xfrm>
            <a:off x="8456613" y="3743325"/>
            <a:ext cx="1587" cy="1995488"/>
          </a:xfrm>
          <a:prstGeom prst="line">
            <a:avLst/>
          </a:prstGeom>
          <a:noFill/>
          <a:ln w="17463">
            <a:solidFill>
              <a:srgbClr val="000000"/>
            </a:solidFill>
            <a:round/>
            <a:headEnd/>
            <a:tailEnd/>
          </a:ln>
        </p:spPr>
        <p:txBody>
          <a:bodyPr/>
          <a:lstStyle/>
          <a:p>
            <a:pPr>
              <a:defRPr/>
            </a:pPr>
            <a:endParaRPr lang="en-US"/>
          </a:p>
        </p:txBody>
      </p:sp>
      <p:sp>
        <p:nvSpPr>
          <p:cNvPr id="2156" name="Rectangle 126">
            <a:extLst>
              <a:ext uri="{FF2B5EF4-FFF2-40B4-BE49-F238E27FC236}">
                <a16:creationId xmlns:a16="http://schemas.microsoft.com/office/drawing/2014/main" id="{D2908049-AEC2-6049-85FA-503AD2CEFDB6}"/>
              </a:ext>
            </a:extLst>
          </p:cNvPr>
          <p:cNvSpPr>
            <a:spLocks noChangeArrowheads="1"/>
          </p:cNvSpPr>
          <p:nvPr/>
        </p:nvSpPr>
        <p:spPr bwMode="auto">
          <a:xfrm>
            <a:off x="7173913" y="5186363"/>
            <a:ext cx="122237"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i="1">
                <a:solidFill>
                  <a:srgbClr val="000000"/>
                </a:solidFill>
                <a:effectLst/>
              </a:rPr>
              <a:t>n</a:t>
            </a:r>
            <a:endParaRPr lang="en-US" altLang="en-US" sz="2400">
              <a:effectLst/>
            </a:endParaRPr>
          </a:p>
        </p:txBody>
      </p:sp>
      <p:sp>
        <p:nvSpPr>
          <p:cNvPr id="2157" name="Rectangle 127">
            <a:extLst>
              <a:ext uri="{FF2B5EF4-FFF2-40B4-BE49-F238E27FC236}">
                <a16:creationId xmlns:a16="http://schemas.microsoft.com/office/drawing/2014/main" id="{E09C232F-D6C7-EB62-A8CB-BE06571BFAAA}"/>
              </a:ext>
            </a:extLst>
          </p:cNvPr>
          <p:cNvSpPr>
            <a:spLocks noChangeArrowheads="1"/>
          </p:cNvSpPr>
          <p:nvPr/>
        </p:nvSpPr>
        <p:spPr bwMode="auto">
          <a:xfrm>
            <a:off x="7280275" y="5186363"/>
            <a:ext cx="102235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a:solidFill>
                  <a:srgbClr val="000000"/>
                </a:solidFill>
                <a:effectLst/>
              </a:rPr>
              <a:t> procesora</a:t>
            </a:r>
            <a:endParaRPr lang="en-US" altLang="en-US" sz="2400">
              <a:effectLst/>
            </a:endParaRPr>
          </a:p>
        </p:txBody>
      </p:sp>
      <p:sp>
        <p:nvSpPr>
          <p:cNvPr id="116864" name="Line 128">
            <a:extLst>
              <a:ext uri="{FF2B5EF4-FFF2-40B4-BE49-F238E27FC236}">
                <a16:creationId xmlns:a16="http://schemas.microsoft.com/office/drawing/2014/main" id="{2FF3B4BC-9030-7C90-B536-C00F478DBED4}"/>
              </a:ext>
            </a:extLst>
          </p:cNvPr>
          <p:cNvSpPr>
            <a:spLocks noChangeShapeType="1"/>
          </p:cNvSpPr>
          <p:nvPr/>
        </p:nvSpPr>
        <p:spPr bwMode="auto">
          <a:xfrm>
            <a:off x="4286250" y="4260850"/>
            <a:ext cx="1588" cy="34925"/>
          </a:xfrm>
          <a:prstGeom prst="line">
            <a:avLst/>
          </a:prstGeom>
          <a:noFill/>
          <a:ln w="17463">
            <a:solidFill>
              <a:srgbClr val="000000"/>
            </a:solidFill>
            <a:round/>
            <a:headEnd/>
            <a:tailEnd/>
          </a:ln>
        </p:spPr>
        <p:txBody>
          <a:bodyPr/>
          <a:lstStyle/>
          <a:p>
            <a:pPr>
              <a:defRPr/>
            </a:pPr>
            <a:endParaRPr lang="en-US"/>
          </a:p>
        </p:txBody>
      </p:sp>
      <p:sp>
        <p:nvSpPr>
          <p:cNvPr id="116865" name="Line 129">
            <a:extLst>
              <a:ext uri="{FF2B5EF4-FFF2-40B4-BE49-F238E27FC236}">
                <a16:creationId xmlns:a16="http://schemas.microsoft.com/office/drawing/2014/main" id="{A7292602-A1B1-FAD7-EB09-BC46561523A6}"/>
              </a:ext>
            </a:extLst>
          </p:cNvPr>
          <p:cNvSpPr>
            <a:spLocks noChangeShapeType="1"/>
          </p:cNvSpPr>
          <p:nvPr/>
        </p:nvSpPr>
        <p:spPr bwMode="auto">
          <a:xfrm>
            <a:off x="4286250" y="4367213"/>
            <a:ext cx="1588" cy="71437"/>
          </a:xfrm>
          <a:prstGeom prst="line">
            <a:avLst/>
          </a:prstGeom>
          <a:noFill/>
          <a:ln w="17463">
            <a:solidFill>
              <a:srgbClr val="000000"/>
            </a:solidFill>
            <a:round/>
            <a:headEnd/>
            <a:tailEnd/>
          </a:ln>
        </p:spPr>
        <p:txBody>
          <a:bodyPr/>
          <a:lstStyle/>
          <a:p>
            <a:pPr>
              <a:defRPr/>
            </a:pPr>
            <a:endParaRPr lang="en-US"/>
          </a:p>
        </p:txBody>
      </p:sp>
      <p:sp>
        <p:nvSpPr>
          <p:cNvPr id="116866" name="Line 130">
            <a:extLst>
              <a:ext uri="{FF2B5EF4-FFF2-40B4-BE49-F238E27FC236}">
                <a16:creationId xmlns:a16="http://schemas.microsoft.com/office/drawing/2014/main" id="{12E833B1-C06F-CD0D-F8AB-CCDF629665F2}"/>
              </a:ext>
            </a:extLst>
          </p:cNvPr>
          <p:cNvSpPr>
            <a:spLocks noChangeShapeType="1"/>
          </p:cNvSpPr>
          <p:nvPr/>
        </p:nvSpPr>
        <p:spPr bwMode="auto">
          <a:xfrm>
            <a:off x="4286250" y="4510088"/>
            <a:ext cx="1588" cy="52387"/>
          </a:xfrm>
          <a:prstGeom prst="line">
            <a:avLst/>
          </a:prstGeom>
          <a:noFill/>
          <a:ln w="17463">
            <a:solidFill>
              <a:srgbClr val="000000"/>
            </a:solidFill>
            <a:round/>
            <a:headEnd/>
            <a:tailEnd/>
          </a:ln>
        </p:spPr>
        <p:txBody>
          <a:bodyPr/>
          <a:lstStyle/>
          <a:p>
            <a:pPr>
              <a:defRPr/>
            </a:pPr>
            <a:endParaRPr lang="en-US"/>
          </a:p>
        </p:txBody>
      </p:sp>
      <p:sp>
        <p:nvSpPr>
          <p:cNvPr id="116867" name="Line 131">
            <a:extLst>
              <a:ext uri="{FF2B5EF4-FFF2-40B4-BE49-F238E27FC236}">
                <a16:creationId xmlns:a16="http://schemas.microsoft.com/office/drawing/2014/main" id="{C997684F-1F11-7091-6C8E-4A645D77825C}"/>
              </a:ext>
            </a:extLst>
          </p:cNvPr>
          <p:cNvSpPr>
            <a:spLocks noChangeShapeType="1"/>
          </p:cNvSpPr>
          <p:nvPr/>
        </p:nvSpPr>
        <p:spPr bwMode="auto">
          <a:xfrm>
            <a:off x="4286250" y="4652963"/>
            <a:ext cx="1588" cy="52387"/>
          </a:xfrm>
          <a:prstGeom prst="line">
            <a:avLst/>
          </a:prstGeom>
          <a:noFill/>
          <a:ln w="17463">
            <a:solidFill>
              <a:srgbClr val="000000"/>
            </a:solidFill>
            <a:round/>
            <a:headEnd/>
            <a:tailEnd/>
          </a:ln>
        </p:spPr>
        <p:txBody>
          <a:bodyPr/>
          <a:lstStyle/>
          <a:p>
            <a:pPr>
              <a:defRPr/>
            </a:pPr>
            <a:endParaRPr lang="en-US"/>
          </a:p>
        </p:txBody>
      </p:sp>
      <p:sp>
        <p:nvSpPr>
          <p:cNvPr id="116868" name="Line 132">
            <a:extLst>
              <a:ext uri="{FF2B5EF4-FFF2-40B4-BE49-F238E27FC236}">
                <a16:creationId xmlns:a16="http://schemas.microsoft.com/office/drawing/2014/main" id="{DDE054BB-C96E-E33C-CF79-FFB3CB692666}"/>
              </a:ext>
            </a:extLst>
          </p:cNvPr>
          <p:cNvSpPr>
            <a:spLocks noChangeShapeType="1"/>
          </p:cNvSpPr>
          <p:nvPr/>
        </p:nvSpPr>
        <p:spPr bwMode="auto">
          <a:xfrm>
            <a:off x="4286250" y="4776788"/>
            <a:ext cx="1588" cy="71437"/>
          </a:xfrm>
          <a:prstGeom prst="line">
            <a:avLst/>
          </a:prstGeom>
          <a:noFill/>
          <a:ln w="17463">
            <a:solidFill>
              <a:srgbClr val="000000"/>
            </a:solidFill>
            <a:round/>
            <a:headEnd/>
            <a:tailEnd/>
          </a:ln>
        </p:spPr>
        <p:txBody>
          <a:bodyPr/>
          <a:lstStyle/>
          <a:p>
            <a:pPr>
              <a:defRPr/>
            </a:pPr>
            <a:endParaRPr lang="en-US"/>
          </a:p>
        </p:txBody>
      </p:sp>
      <p:sp>
        <p:nvSpPr>
          <p:cNvPr id="116869" name="Line 133">
            <a:extLst>
              <a:ext uri="{FF2B5EF4-FFF2-40B4-BE49-F238E27FC236}">
                <a16:creationId xmlns:a16="http://schemas.microsoft.com/office/drawing/2014/main" id="{21FF5FE3-FBF4-7144-9B10-FEF0B6E16FE4}"/>
              </a:ext>
            </a:extLst>
          </p:cNvPr>
          <p:cNvSpPr>
            <a:spLocks noChangeShapeType="1"/>
          </p:cNvSpPr>
          <p:nvPr/>
        </p:nvSpPr>
        <p:spPr bwMode="auto">
          <a:xfrm>
            <a:off x="4286250" y="4919663"/>
            <a:ext cx="1588" cy="53975"/>
          </a:xfrm>
          <a:prstGeom prst="line">
            <a:avLst/>
          </a:prstGeom>
          <a:noFill/>
          <a:ln w="17463">
            <a:solidFill>
              <a:srgbClr val="000000"/>
            </a:solidFill>
            <a:round/>
            <a:headEnd/>
            <a:tailEnd/>
          </a:ln>
        </p:spPr>
        <p:txBody>
          <a:bodyPr/>
          <a:lstStyle/>
          <a:p>
            <a:pPr>
              <a:defRPr/>
            </a:pPr>
            <a:endParaRPr lang="en-US"/>
          </a:p>
        </p:txBody>
      </p:sp>
      <p:sp>
        <p:nvSpPr>
          <p:cNvPr id="116870" name="Line 134">
            <a:extLst>
              <a:ext uri="{FF2B5EF4-FFF2-40B4-BE49-F238E27FC236}">
                <a16:creationId xmlns:a16="http://schemas.microsoft.com/office/drawing/2014/main" id="{A40821F9-A486-136B-0C37-E47D578462EF}"/>
              </a:ext>
            </a:extLst>
          </p:cNvPr>
          <p:cNvSpPr>
            <a:spLocks noChangeShapeType="1"/>
          </p:cNvSpPr>
          <p:nvPr/>
        </p:nvSpPr>
        <p:spPr bwMode="auto">
          <a:xfrm>
            <a:off x="4286250" y="5062538"/>
            <a:ext cx="1588" cy="52387"/>
          </a:xfrm>
          <a:prstGeom prst="line">
            <a:avLst/>
          </a:prstGeom>
          <a:noFill/>
          <a:ln w="17463">
            <a:solidFill>
              <a:srgbClr val="000000"/>
            </a:solidFill>
            <a:round/>
            <a:headEnd/>
            <a:tailEnd/>
          </a:ln>
        </p:spPr>
        <p:txBody>
          <a:bodyPr/>
          <a:lstStyle/>
          <a:p>
            <a:pPr>
              <a:defRPr/>
            </a:pPr>
            <a:endParaRPr lang="en-US"/>
          </a:p>
        </p:txBody>
      </p:sp>
      <p:sp>
        <p:nvSpPr>
          <p:cNvPr id="116871" name="Line 135">
            <a:extLst>
              <a:ext uri="{FF2B5EF4-FFF2-40B4-BE49-F238E27FC236}">
                <a16:creationId xmlns:a16="http://schemas.microsoft.com/office/drawing/2014/main" id="{A220C29F-FA04-EA96-DD7D-B3CBAACDC099}"/>
              </a:ext>
            </a:extLst>
          </p:cNvPr>
          <p:cNvSpPr>
            <a:spLocks noChangeShapeType="1"/>
          </p:cNvSpPr>
          <p:nvPr/>
        </p:nvSpPr>
        <p:spPr bwMode="auto">
          <a:xfrm>
            <a:off x="4286250" y="5186363"/>
            <a:ext cx="1588" cy="36512"/>
          </a:xfrm>
          <a:prstGeom prst="line">
            <a:avLst/>
          </a:prstGeom>
          <a:noFill/>
          <a:ln w="17463">
            <a:solidFill>
              <a:srgbClr val="000000"/>
            </a:solidFill>
            <a:round/>
            <a:headEnd/>
            <a:tailEnd/>
          </a:ln>
        </p:spPr>
        <p:txBody>
          <a:bodyPr/>
          <a:lstStyle/>
          <a:p>
            <a:pPr>
              <a:defRPr/>
            </a:pPr>
            <a:endParaRPr lang="en-US"/>
          </a:p>
        </p:txBody>
      </p:sp>
      <mc:AlternateContent xmlns:mc="http://schemas.openxmlformats.org/markup-compatibility/2006" xmlns:a14="http://schemas.microsoft.com/office/drawing/2010/main">
        <mc:Choice Requires="a14">
          <p:sp>
            <p:nvSpPr>
              <p:cNvPr id="2050" name="Object 136">
                <a:extLst>
                  <a:ext uri="{FF2B5EF4-FFF2-40B4-BE49-F238E27FC236}">
                    <a16:creationId xmlns:a16="http://schemas.microsoft.com/office/drawing/2014/main" id="{BF3A30EF-F3A0-DB75-B7C4-A5FF82E85B4F}"/>
                  </a:ext>
                </a:extLst>
              </p:cNvPr>
              <p:cNvSpPr txBox="1"/>
              <p:nvPr/>
            </p:nvSpPr>
            <p:spPr bwMode="auto">
              <a:xfrm>
                <a:off x="2690812" y="2014538"/>
                <a:ext cx="1168399" cy="72866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b="0" i="1" smtClean="0">
                          <a:solidFill>
                            <a:srgbClr val="000000"/>
                          </a:solidFill>
                          <a:latin typeface="Cambria Math" panose="02040503050406030204" pitchFamily="18" charset="0"/>
                        </a:rPr>
                        <m:t>𝑇𝑠</m:t>
                      </m:r>
                      <m:r>
                        <a:rPr lang="en-US" b="0" i="1" smtClean="0">
                          <a:solidFill>
                            <a:srgbClr val="000000"/>
                          </a:solidFill>
                          <a:latin typeface="Cambria Math" panose="02040503050406030204" pitchFamily="18" charset="0"/>
                        </a:rPr>
                        <m:t>=</m:t>
                      </m:r>
                      <m:r>
                        <a:rPr lang="sr-Latn-RS" i="1">
                          <a:solidFill>
                            <a:srgbClr val="000000"/>
                          </a:solidFill>
                          <a:latin typeface="Cambria Math" panose="02040503050406030204" pitchFamily="18" charset="0"/>
                        </a:rPr>
                        <m:t>𝛼</m:t>
                      </m:r>
                      <m:r>
                        <a:rPr lang="en-US" b="0" i="1" smtClean="0">
                          <a:solidFill>
                            <a:srgbClr val="000000"/>
                          </a:solidFill>
                          <a:latin typeface="Cambria Math" panose="02040503050406030204" pitchFamily="18" charset="0"/>
                        </a:rPr>
                        <m:t>𝑇</m:t>
                      </m:r>
                      <m:r>
                        <a:rPr lang="en-US" b="0" i="1" baseline="-20000" smtClean="0">
                          <a:solidFill>
                            <a:srgbClr val="000000"/>
                          </a:solidFill>
                          <a:latin typeface="Cambria Math" panose="02040503050406030204" pitchFamily="18" charset="0"/>
                        </a:rPr>
                        <m:t>1</m:t>
                      </m:r>
                    </m:oMath>
                  </m:oMathPara>
                </a14:m>
                <a:endParaRPr lang="sr-Latn-RS" baseline="-20000" dirty="0"/>
              </a:p>
            </p:txBody>
          </p:sp>
        </mc:Choice>
        <mc:Fallback xmlns="">
          <p:sp>
            <p:nvSpPr>
              <p:cNvPr id="2050" name="Object 136">
                <a:extLst>
                  <a:ext uri="{FF2B5EF4-FFF2-40B4-BE49-F238E27FC236}">
                    <a16:creationId xmlns:a16="http://schemas.microsoft.com/office/drawing/2014/main" id="{BF3A30EF-F3A0-DB75-B7C4-A5FF82E85B4F}"/>
                  </a:ext>
                </a:extLst>
              </p:cNvPr>
              <p:cNvSpPr txBox="1">
                <a:spLocks noRot="1" noChangeAspect="1" noMove="1" noResize="1" noEditPoints="1" noAdjustHandles="1" noChangeArrowheads="1" noChangeShapeType="1" noTextEdit="1"/>
              </p:cNvSpPr>
              <p:nvPr/>
            </p:nvSpPr>
            <p:spPr bwMode="auto">
              <a:xfrm>
                <a:off x="2690812" y="2014538"/>
                <a:ext cx="1168399" cy="728662"/>
              </a:xfrm>
              <a:prstGeom prst="rect">
                <a:avLst/>
              </a:prstGeom>
              <a:blipFill>
                <a:blip r:embed="rId2"/>
                <a:stretch>
                  <a:fillRect/>
                </a:stretch>
              </a:blipFill>
              <a:ln>
                <a:noFill/>
              </a:ln>
              <a:effectLst/>
            </p:spPr>
            <p:txBody>
              <a:bodyPr/>
              <a:lstStyle/>
              <a:p>
                <a:r>
                  <a:rPr lang="sr-Latn-RS">
                    <a:noFill/>
                  </a:rPr>
                  <a:t> </a:t>
                </a:r>
              </a:p>
            </p:txBody>
          </p:sp>
        </mc:Fallback>
      </mc:AlternateContent>
      <mc:AlternateContent xmlns:mc="http://schemas.openxmlformats.org/markup-compatibility/2006" xmlns:a14="http://schemas.microsoft.com/office/drawing/2010/main">
        <mc:Choice Requires="a14">
          <p:sp>
            <p:nvSpPr>
              <p:cNvPr id="2051" name="Object 137">
                <a:extLst>
                  <a:ext uri="{FF2B5EF4-FFF2-40B4-BE49-F238E27FC236}">
                    <a16:creationId xmlns:a16="http://schemas.microsoft.com/office/drawing/2014/main" id="{8B16D2A0-4917-6797-B924-D63E9C724C4F}"/>
                  </a:ext>
                </a:extLst>
              </p:cNvPr>
              <p:cNvSpPr txBox="1"/>
              <p:nvPr/>
            </p:nvSpPr>
            <p:spPr bwMode="auto">
              <a:xfrm>
                <a:off x="5486400" y="1927225"/>
                <a:ext cx="2049460" cy="51117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b="0" i="1" smtClean="0">
                          <a:solidFill>
                            <a:srgbClr val="000000"/>
                          </a:solidFill>
                          <a:latin typeface="Cambria Math" panose="02040503050406030204" pitchFamily="18" charset="0"/>
                        </a:rPr>
                        <m:t>𝑇𝑝</m:t>
                      </m:r>
                      <m:r>
                        <a:rPr lang="en-US" b="0" i="1" smtClean="0">
                          <a:solidFill>
                            <a:srgbClr val="000000"/>
                          </a:solidFill>
                          <a:latin typeface="Cambria Math" panose="02040503050406030204" pitchFamily="18" charset="0"/>
                        </a:rPr>
                        <m:t>=</m:t>
                      </m:r>
                      <m:d>
                        <m:dPr>
                          <m:ctrlPr>
                            <a:rPr lang="sr-Latn-RS" i="1">
                              <a:solidFill>
                                <a:srgbClr val="000000"/>
                              </a:solidFill>
                              <a:latin typeface="Cambria Math" panose="02040503050406030204" pitchFamily="18" charset="0"/>
                            </a:rPr>
                          </m:ctrlPr>
                        </m:dPr>
                        <m:e>
                          <m:r>
                            <a:rPr lang="sr-Latn-RS" i="1">
                              <a:solidFill>
                                <a:srgbClr val="000000"/>
                              </a:solidFill>
                              <a:latin typeface="Cambria Math" panose="02040503050406030204" pitchFamily="18" charset="0"/>
                            </a:rPr>
                            <m:t>1−</m:t>
                          </m:r>
                          <m:r>
                            <a:rPr lang="sr-Latn-RS" i="1">
                              <a:solidFill>
                                <a:srgbClr val="000000"/>
                              </a:solidFill>
                              <a:latin typeface="Cambria Math" panose="02040503050406030204" pitchFamily="18" charset="0"/>
                            </a:rPr>
                            <m:t>𝛼</m:t>
                          </m:r>
                        </m:e>
                      </m:d>
                      <m:r>
                        <a:rPr lang="en-US" b="0" i="1" smtClean="0">
                          <a:solidFill>
                            <a:srgbClr val="000000"/>
                          </a:solidFill>
                          <a:latin typeface="Cambria Math" panose="02040503050406030204" pitchFamily="18" charset="0"/>
                        </a:rPr>
                        <m:t>𝑇</m:t>
                      </m:r>
                      <m:r>
                        <a:rPr lang="en-US" b="0" i="1" baseline="-20000" smtClean="0">
                          <a:solidFill>
                            <a:srgbClr val="000000"/>
                          </a:solidFill>
                          <a:latin typeface="Cambria Math" panose="02040503050406030204" pitchFamily="18" charset="0"/>
                        </a:rPr>
                        <m:t>1</m:t>
                      </m:r>
                    </m:oMath>
                  </m:oMathPara>
                </a14:m>
                <a:endParaRPr lang="sr-Latn-RS" baseline="-20000" dirty="0"/>
              </a:p>
            </p:txBody>
          </p:sp>
        </mc:Choice>
        <mc:Fallback xmlns="">
          <p:sp>
            <p:nvSpPr>
              <p:cNvPr id="2051" name="Object 137">
                <a:extLst>
                  <a:ext uri="{FF2B5EF4-FFF2-40B4-BE49-F238E27FC236}">
                    <a16:creationId xmlns:a16="http://schemas.microsoft.com/office/drawing/2014/main" id="{8B16D2A0-4917-6797-B924-D63E9C724C4F}"/>
                  </a:ext>
                </a:extLst>
              </p:cNvPr>
              <p:cNvSpPr txBox="1">
                <a:spLocks noRot="1" noChangeAspect="1" noMove="1" noResize="1" noEditPoints="1" noAdjustHandles="1" noChangeArrowheads="1" noChangeShapeType="1" noTextEdit="1"/>
              </p:cNvSpPr>
              <p:nvPr/>
            </p:nvSpPr>
            <p:spPr bwMode="auto">
              <a:xfrm>
                <a:off x="5486400" y="1927225"/>
                <a:ext cx="2049460" cy="511175"/>
              </a:xfrm>
              <a:prstGeom prst="rect">
                <a:avLst/>
              </a:prstGeom>
              <a:blipFill>
                <a:blip r:embed="rId3"/>
                <a:stretch>
                  <a:fillRect l="-893"/>
                </a:stretch>
              </a:blipFill>
              <a:ln>
                <a:noFill/>
              </a:ln>
              <a:effectLst/>
            </p:spPr>
            <p:txBody>
              <a:bodyPr/>
              <a:lstStyle/>
              <a:p>
                <a:r>
                  <a:rPr lang="sr-Latn-RS">
                    <a:noFill/>
                  </a:rPr>
                  <a:t> </a:t>
                </a:r>
              </a:p>
            </p:txBody>
          </p:sp>
        </mc:Fallback>
      </mc:AlternateContent>
      <p:graphicFrame>
        <p:nvGraphicFramePr>
          <p:cNvPr id="2052" name="Object 138">
            <a:extLst>
              <a:ext uri="{FF2B5EF4-FFF2-40B4-BE49-F238E27FC236}">
                <a16:creationId xmlns:a16="http://schemas.microsoft.com/office/drawing/2014/main" id="{CA829DD3-3BAC-7A71-8682-1DAEF476B9F3}"/>
              </a:ext>
            </a:extLst>
          </p:cNvPr>
          <p:cNvGraphicFramePr>
            <a:graphicFrameLocks noChangeAspect="1"/>
          </p:cNvGraphicFramePr>
          <p:nvPr/>
        </p:nvGraphicFramePr>
        <p:xfrm>
          <a:off x="5029200" y="1609725"/>
          <a:ext cx="254000" cy="360363"/>
        </p:xfrm>
        <a:graphic>
          <a:graphicData uri="http://schemas.openxmlformats.org/presentationml/2006/ole">
            <mc:AlternateContent xmlns:mc="http://schemas.openxmlformats.org/markup-compatibility/2006">
              <mc:Choice xmlns:v="urn:schemas-microsoft-com:vml" Requires="v">
                <p:oleObj name="Equation" r:id="rId4" imgW="152280" imgH="215640" progId="Equation.3">
                  <p:embed/>
                </p:oleObj>
              </mc:Choice>
              <mc:Fallback>
                <p:oleObj name="Equation" r:id="rId4" imgW="152280" imgH="215640" progId="Equation.3">
                  <p:embed/>
                  <p:pic>
                    <p:nvPicPr>
                      <p:cNvPr id="0" name="Object 1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1609725"/>
                        <a:ext cx="254000" cy="360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2053" name="Object 139">
                <a:extLst>
                  <a:ext uri="{FF2B5EF4-FFF2-40B4-BE49-F238E27FC236}">
                    <a16:creationId xmlns:a16="http://schemas.microsoft.com/office/drawing/2014/main" id="{027CD603-F3CD-0EC9-02CC-2133A7D868F2}"/>
                  </a:ext>
                </a:extLst>
              </p:cNvPr>
              <p:cNvSpPr txBox="1"/>
              <p:nvPr/>
            </p:nvSpPr>
            <p:spPr bwMode="auto">
              <a:xfrm>
                <a:off x="3894138" y="6121400"/>
                <a:ext cx="898525" cy="279400"/>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sr-Latn-RS" i="1" smtClean="0">
                          <a:solidFill>
                            <a:srgbClr val="000000"/>
                          </a:solidFill>
                          <a:latin typeface="Cambria Math" panose="02040503050406030204" pitchFamily="18" charset="0"/>
                        </a:rPr>
                        <m:t>(1−</m:t>
                      </m:r>
                      <m:r>
                        <a:rPr lang="sr-Latn-RS" i="1" smtClean="0">
                          <a:solidFill>
                            <a:srgbClr val="000000"/>
                          </a:solidFill>
                          <a:latin typeface="Cambria Math" panose="02040503050406030204" pitchFamily="18" charset="0"/>
                        </a:rPr>
                        <m:t>𝛼</m:t>
                      </m:r>
                      <m:r>
                        <a:rPr lang="sr-Latn-RS" i="1" smtClean="0">
                          <a:solidFill>
                            <a:srgbClr val="000000"/>
                          </a:solidFill>
                          <a:latin typeface="Cambria Math" panose="02040503050406030204" pitchFamily="18" charset="0"/>
                        </a:rPr>
                        <m:t>)</m:t>
                      </m:r>
                      <m:sSub>
                        <m:sSubPr>
                          <m:ctrlPr>
                            <a:rPr lang="sr-Latn-RS" i="1">
                              <a:solidFill>
                                <a:srgbClr val="000000"/>
                              </a:solidFill>
                              <a:latin typeface="Cambria Math" panose="02040503050406030204" pitchFamily="18" charset="0"/>
                            </a:rPr>
                          </m:ctrlPr>
                        </m:sSubPr>
                        <m:e>
                          <m:r>
                            <a:rPr lang="sr-Latn-RS" i="1">
                              <a:solidFill>
                                <a:srgbClr val="000000"/>
                              </a:solidFill>
                              <a:latin typeface="Cambria Math" panose="02040503050406030204" pitchFamily="18" charset="0"/>
                            </a:rPr>
                            <m:t>𝑇</m:t>
                          </m:r>
                        </m:e>
                        <m:sub>
                          <m:r>
                            <a:rPr lang="en-US" b="0" i="1" smtClean="0">
                              <a:solidFill>
                                <a:srgbClr val="000000"/>
                              </a:solidFill>
                              <a:latin typeface="Cambria Math" panose="02040503050406030204" pitchFamily="18" charset="0"/>
                            </a:rPr>
                            <m:t>1</m:t>
                          </m:r>
                        </m:sub>
                      </m:sSub>
                      <m:r>
                        <a:rPr lang="sr-Latn-RS" i="1">
                          <a:solidFill>
                            <a:srgbClr val="000000"/>
                          </a:solidFill>
                          <a:latin typeface="Cambria Math" panose="02040503050406030204" pitchFamily="18" charset="0"/>
                        </a:rPr>
                        <m:t>/</m:t>
                      </m:r>
                      <m:r>
                        <a:rPr lang="sr-Latn-RS" i="1">
                          <a:solidFill>
                            <a:srgbClr val="000000"/>
                          </a:solidFill>
                          <a:latin typeface="Cambria Math" panose="02040503050406030204" pitchFamily="18" charset="0"/>
                        </a:rPr>
                        <m:t>𝑛</m:t>
                      </m:r>
                    </m:oMath>
                  </m:oMathPara>
                </a14:m>
                <a:endParaRPr lang="sr-Latn-RS" dirty="0"/>
              </a:p>
            </p:txBody>
          </p:sp>
        </mc:Choice>
        <mc:Fallback xmlns="">
          <p:sp>
            <p:nvSpPr>
              <p:cNvPr id="2053" name="Object 139">
                <a:extLst>
                  <a:ext uri="{FF2B5EF4-FFF2-40B4-BE49-F238E27FC236}">
                    <a16:creationId xmlns:a16="http://schemas.microsoft.com/office/drawing/2014/main" id="{027CD603-F3CD-0EC9-02CC-2133A7D868F2}"/>
                  </a:ext>
                </a:extLst>
              </p:cNvPr>
              <p:cNvSpPr txBox="1">
                <a:spLocks noRot="1" noChangeAspect="1" noMove="1" noResize="1" noEditPoints="1" noAdjustHandles="1" noChangeArrowheads="1" noChangeShapeType="1" noTextEdit="1"/>
              </p:cNvSpPr>
              <p:nvPr/>
            </p:nvSpPr>
            <p:spPr bwMode="auto">
              <a:xfrm>
                <a:off x="3894138" y="6121400"/>
                <a:ext cx="898525" cy="279400"/>
              </a:xfrm>
              <a:prstGeom prst="rect">
                <a:avLst/>
              </a:prstGeom>
              <a:blipFill>
                <a:blip r:embed="rId6"/>
                <a:stretch>
                  <a:fillRect/>
                </a:stretch>
              </a:blipFill>
              <a:ln>
                <a:noFill/>
              </a:ln>
              <a:effectLst/>
            </p:spPr>
            <p:txBody>
              <a:bodyPr/>
              <a:lstStyle/>
              <a:p>
                <a:r>
                  <a:rPr lang="sr-Latn-RS">
                    <a:noFill/>
                  </a:rPr>
                  <a:t> </a:t>
                </a:r>
              </a:p>
            </p:txBody>
          </p:sp>
        </mc:Fallback>
      </mc:AlternateContent>
      <p:sp>
        <p:nvSpPr>
          <p:cNvPr id="2054" name="Object 140">
            <a:extLst>
              <a:ext uri="{FF2B5EF4-FFF2-40B4-BE49-F238E27FC236}">
                <a16:creationId xmlns:a16="http://schemas.microsoft.com/office/drawing/2014/main" id="{86A171E6-2597-52FB-5F54-7BFA1522F415}"/>
              </a:ext>
            </a:extLst>
          </p:cNvPr>
          <p:cNvSpPr txBox="1"/>
          <p:nvPr/>
        </p:nvSpPr>
        <p:spPr bwMode="auto">
          <a:xfrm>
            <a:off x="3282950" y="6530975"/>
            <a:ext cx="457200" cy="403225"/>
          </a:xfrm>
          <a:prstGeom prst="rect">
            <a:avLst/>
          </a:prstGeom>
          <a:noFill/>
          <a:ln>
            <a:noFill/>
          </a:ln>
          <a:effectLst/>
        </p:spPr>
        <p:txBody>
          <a:bodyPr>
            <a:normAutofit fontScale="62500" lnSpcReduction="20000"/>
          </a:bodyPr>
          <a:lstStyle/>
          <a:p>
            <a:r>
              <a:rPr lang="en-US" dirty="0"/>
              <a:t>T(n)</a:t>
            </a:r>
            <a:endParaRPr lang="sr-Latn-RS" dirty="0"/>
          </a:p>
        </p:txBody>
      </p:sp>
    </p:spTree>
  </p:cSld>
  <p:clrMapOvr>
    <a:masterClrMapping/>
  </p:clrMapOvr>
  <p:transition>
    <p:pull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C351A621-D0F8-7DAF-88EB-DE74F5EFEC9A}"/>
              </a:ext>
            </a:extLst>
          </p:cNvPr>
          <p:cNvSpPr>
            <a:spLocks noGrp="1" noChangeArrowheads="1"/>
          </p:cNvSpPr>
          <p:nvPr>
            <p:ph type="title"/>
          </p:nvPr>
        </p:nvSpPr>
        <p:spPr/>
        <p:txBody>
          <a:bodyPr/>
          <a:lstStyle/>
          <a:p>
            <a:pPr>
              <a:defRPr/>
            </a:pPr>
            <a:r>
              <a:rPr lang="hr-HR" altLang="en-US"/>
              <a:t>Da li je Amdahl bio u pravu?</a:t>
            </a:r>
            <a:endParaRPr lang="en-US" altLang="en-US"/>
          </a:p>
        </p:txBody>
      </p:sp>
      <p:sp>
        <p:nvSpPr>
          <p:cNvPr id="77827" name="Rectangle 3">
            <a:extLst>
              <a:ext uri="{FF2B5EF4-FFF2-40B4-BE49-F238E27FC236}">
                <a16:creationId xmlns:a16="http://schemas.microsoft.com/office/drawing/2014/main" id="{CF2E74C7-27DC-9B88-B0FB-AD37035AD943}"/>
              </a:ext>
            </a:extLst>
          </p:cNvPr>
          <p:cNvSpPr>
            <a:spLocks noGrp="1" noChangeArrowheads="1"/>
          </p:cNvSpPr>
          <p:nvPr>
            <p:ph type="body" idx="1"/>
          </p:nvPr>
        </p:nvSpPr>
        <p:spPr/>
        <p:txBody>
          <a:bodyPr/>
          <a:lstStyle/>
          <a:p>
            <a:pPr>
              <a:defRPr/>
            </a:pPr>
            <a:r>
              <a:rPr lang="en-US" altLang="en-US">
                <a:sym typeface="Symbol" pitchFamily="18" charset="2"/>
              </a:rPr>
              <a:t></a:t>
            </a:r>
            <a:r>
              <a:rPr lang="hr-HR" altLang="en-US">
                <a:sym typeface="Symbol" pitchFamily="18" charset="2"/>
              </a:rPr>
              <a:t> nije konstantno</a:t>
            </a:r>
          </a:p>
          <a:p>
            <a:pPr>
              <a:defRPr/>
            </a:pPr>
            <a:r>
              <a:rPr lang="en-US" altLang="en-US">
                <a:sym typeface="Symbol" pitchFamily="18" charset="2"/>
              </a:rPr>
              <a:t></a:t>
            </a:r>
            <a:r>
              <a:rPr lang="hr-HR" altLang="en-US">
                <a:sym typeface="Symbol" pitchFamily="18" charset="2"/>
              </a:rPr>
              <a:t>= </a:t>
            </a:r>
            <a:r>
              <a:rPr lang="en-US" altLang="en-US">
                <a:sym typeface="Symbol" pitchFamily="18" charset="2"/>
              </a:rPr>
              <a:t></a:t>
            </a:r>
            <a:r>
              <a:rPr lang="hr-HR" altLang="en-US">
                <a:sym typeface="Symbol" pitchFamily="18" charset="2"/>
              </a:rPr>
              <a:t>(m), m – obim problema</a:t>
            </a:r>
          </a:p>
          <a:p>
            <a:pPr>
              <a:defRPr/>
            </a:pPr>
            <a:r>
              <a:rPr lang="hr-HR" altLang="en-US">
                <a:sym typeface="Symbol" pitchFamily="18" charset="2"/>
              </a:rPr>
              <a:t>Kod najvećeg broja naučno-tehničkih aplikacija </a:t>
            </a:r>
          </a:p>
          <a:p>
            <a:pPr lvl="1">
              <a:buFont typeface="Wingdings" panose="05000000000000000000" pitchFamily="2" charset="2"/>
              <a:buNone/>
              <a:defRPr/>
            </a:pPr>
            <a:r>
              <a:rPr lang="hr-HR" altLang="en-US">
                <a:sym typeface="Symbol" pitchFamily="18" charset="2"/>
              </a:rPr>
              <a:t>lim </a:t>
            </a:r>
            <a:r>
              <a:rPr lang="en-US" altLang="en-US">
                <a:sym typeface="Symbol" pitchFamily="18" charset="2"/>
              </a:rPr>
              <a:t></a:t>
            </a:r>
            <a:r>
              <a:rPr lang="hr-HR" altLang="en-US">
                <a:sym typeface="Symbol" pitchFamily="18" charset="2"/>
              </a:rPr>
              <a:t>(m)=0, tj. sa porastom obima problema </a:t>
            </a:r>
            <a:r>
              <a:rPr lang="en-US" altLang="en-US">
                <a:sym typeface="Symbol" pitchFamily="18" charset="2"/>
              </a:rPr>
              <a:t></a:t>
            </a:r>
            <a:r>
              <a:rPr lang="hr-HR" altLang="en-US">
                <a:sym typeface="Symbol" pitchFamily="18" charset="2"/>
              </a:rPr>
              <a:t> (Amdahlova       		 frakcija) teži 0.</a:t>
            </a:r>
          </a:p>
          <a:p>
            <a:pPr lvl="2">
              <a:defRPr/>
            </a:pPr>
            <a:r>
              <a:rPr lang="hr-HR" altLang="en-US">
                <a:sym typeface="Symbol" pitchFamily="18" charset="2"/>
              </a:rPr>
              <a:t>Algoritmi sa ovom osobinom zovu se efektivni paralelni algoritmi</a:t>
            </a:r>
          </a:p>
          <a:p>
            <a:pPr lvl="2">
              <a:defRPr/>
            </a:pPr>
            <a:r>
              <a:rPr lang="hr-HR" altLang="en-US">
                <a:sym typeface="Symbol" pitchFamily="18" charset="2"/>
              </a:rPr>
              <a:t>Efektivni algoritmi imaju linerano ubrzanje</a:t>
            </a:r>
          </a:p>
          <a:p>
            <a:pPr lvl="2">
              <a:defRPr/>
            </a:pPr>
            <a:endParaRPr lang="en-US" altLang="en-US">
              <a:sym typeface="Symbol" pitchFamily="18" charset="2"/>
            </a:endParaRPr>
          </a:p>
        </p:txBody>
      </p:sp>
      <p:grpSp>
        <p:nvGrpSpPr>
          <p:cNvPr id="3077" name="Group 4">
            <a:extLst>
              <a:ext uri="{FF2B5EF4-FFF2-40B4-BE49-F238E27FC236}">
                <a16:creationId xmlns:a16="http://schemas.microsoft.com/office/drawing/2014/main" id="{4EF3854F-7BCD-EFBC-0992-E7B881ACB9B6}"/>
              </a:ext>
            </a:extLst>
          </p:cNvPr>
          <p:cNvGrpSpPr>
            <a:grpSpLocks/>
          </p:cNvGrpSpPr>
          <p:nvPr/>
        </p:nvGrpSpPr>
        <p:grpSpPr bwMode="auto">
          <a:xfrm>
            <a:off x="457200" y="2624138"/>
            <a:ext cx="804863" cy="369887"/>
            <a:chOff x="336" y="1653"/>
            <a:chExt cx="507" cy="233"/>
          </a:xfrm>
        </p:grpSpPr>
        <p:sp>
          <p:nvSpPr>
            <p:cNvPr id="3078" name="Text Box 5">
              <a:extLst>
                <a:ext uri="{FF2B5EF4-FFF2-40B4-BE49-F238E27FC236}">
                  <a16:creationId xmlns:a16="http://schemas.microsoft.com/office/drawing/2014/main" id="{AD1CEDCC-F687-2A5F-1009-28435969F31F}"/>
                </a:ext>
              </a:extLst>
            </p:cNvPr>
            <p:cNvSpPr txBox="1">
              <a:spLocks noChangeArrowheads="1"/>
            </p:cNvSpPr>
            <p:nvPr/>
          </p:nvSpPr>
          <p:spPr bwMode="auto">
            <a:xfrm>
              <a:off x="336" y="1655"/>
              <a:ext cx="2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effectLst/>
                </a:rPr>
                <a:t>m</a:t>
              </a:r>
              <a:endParaRPr lang="en-US" altLang="en-US">
                <a:effectLst/>
              </a:endParaRPr>
            </a:p>
          </p:txBody>
        </p:sp>
        <p:sp>
          <p:nvSpPr>
            <p:cNvPr id="77830" name="Line 6">
              <a:extLst>
                <a:ext uri="{FF2B5EF4-FFF2-40B4-BE49-F238E27FC236}">
                  <a16:creationId xmlns:a16="http://schemas.microsoft.com/office/drawing/2014/main" id="{B1785C83-D340-3249-00FD-4EB876B703B3}"/>
                </a:ext>
              </a:extLst>
            </p:cNvPr>
            <p:cNvSpPr>
              <a:spLocks noChangeShapeType="1"/>
            </p:cNvSpPr>
            <p:nvPr/>
          </p:nvSpPr>
          <p:spPr bwMode="auto">
            <a:xfrm>
              <a:off x="528" y="1776"/>
              <a:ext cx="144" cy="0"/>
            </a:xfrm>
            <a:prstGeom prst="line">
              <a:avLst/>
            </a:prstGeom>
            <a:noFill/>
            <a:ln w="9525">
              <a:solidFill>
                <a:schemeClr val="tx1"/>
              </a:solidFill>
              <a:round/>
              <a:headEnd/>
              <a:tailEnd type="triangle" w="med" len="med"/>
            </a:ln>
            <a:effectLst/>
          </p:spPr>
          <p:txBody>
            <a:bodyPr wrap="none" anchor="b">
              <a:spAutoFit/>
            </a:bodyPr>
            <a:lstStyle/>
            <a:p>
              <a:pPr>
                <a:defRPr/>
              </a:pPr>
              <a:endParaRPr lang="en-US"/>
            </a:p>
          </p:txBody>
        </p:sp>
        <p:sp>
          <p:nvSpPr>
            <p:cNvPr id="3080" name="Text Box 7">
              <a:extLst>
                <a:ext uri="{FF2B5EF4-FFF2-40B4-BE49-F238E27FC236}">
                  <a16:creationId xmlns:a16="http://schemas.microsoft.com/office/drawing/2014/main" id="{BB48F4CF-B5A9-DEDE-E045-E4213AD46994}"/>
                </a:ext>
              </a:extLst>
            </p:cNvPr>
            <p:cNvSpPr txBox="1">
              <a:spLocks noChangeArrowheads="1"/>
            </p:cNvSpPr>
            <p:nvPr/>
          </p:nvSpPr>
          <p:spPr bwMode="auto">
            <a:xfrm>
              <a:off x="624" y="1653"/>
              <a:ext cx="21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effectLst/>
                  <a:sym typeface="Symbol" panose="05050102010706020507" pitchFamily="18" charset="2"/>
                </a:rPr>
                <a:t></a:t>
              </a:r>
              <a:endParaRPr lang="en-US" altLang="en-US">
                <a:effectLst/>
              </a:endParaRPr>
            </a:p>
          </p:txBody>
        </p:sp>
      </p:grpSp>
      <p:graphicFrame>
        <p:nvGraphicFramePr>
          <p:cNvPr id="3074" name="Object 8">
            <a:extLst>
              <a:ext uri="{FF2B5EF4-FFF2-40B4-BE49-F238E27FC236}">
                <a16:creationId xmlns:a16="http://schemas.microsoft.com/office/drawing/2014/main" id="{040D8E1E-9030-B0AB-014C-89312FC14918}"/>
              </a:ext>
            </a:extLst>
          </p:cNvPr>
          <p:cNvGraphicFramePr>
            <a:graphicFrameLocks noChangeAspect="1"/>
          </p:cNvGraphicFramePr>
          <p:nvPr/>
        </p:nvGraphicFramePr>
        <p:xfrm>
          <a:off x="2108200" y="4114800"/>
          <a:ext cx="5080000" cy="838200"/>
        </p:xfrm>
        <a:graphic>
          <a:graphicData uri="http://schemas.openxmlformats.org/presentationml/2006/ole">
            <mc:AlternateContent xmlns:mc="http://schemas.openxmlformats.org/markup-compatibility/2006">
              <mc:Choice xmlns:v="urn:schemas-microsoft-com:vml" Requires="v">
                <p:oleObj name="Equation" r:id="rId2" imgW="2540000" imgH="419100" progId="Equation.3">
                  <p:embed/>
                </p:oleObj>
              </mc:Choice>
              <mc:Fallback>
                <p:oleObj name="Equation" r:id="rId2" imgW="2540000" imgH="419100"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8200" y="4114800"/>
                        <a:ext cx="50800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pull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a:t>Gustafsonov zakon</a:t>
            </a:r>
            <a:endParaRPr lang="en-US" dirty="0"/>
          </a:p>
        </p:txBody>
      </p:sp>
      <p:sp>
        <p:nvSpPr>
          <p:cNvPr id="3" name="Content Placeholder 2"/>
          <p:cNvSpPr>
            <a:spLocks noGrp="1"/>
          </p:cNvSpPr>
          <p:nvPr>
            <p:ph idx="1"/>
          </p:nvPr>
        </p:nvSpPr>
        <p:spPr/>
        <p:txBody>
          <a:bodyPr/>
          <a:lstStyle/>
          <a:p>
            <a:r>
              <a:rPr lang="sr-Latn-RS" dirty="0"/>
              <a:t>Predložen 1988</a:t>
            </a:r>
          </a:p>
          <a:p>
            <a:r>
              <a:rPr lang="sr-Latn-RS" dirty="0"/>
              <a:t>Z</a:t>
            </a:r>
            <a:r>
              <a:rPr lang="en-US" dirty="0"/>
              <a:t>a </a:t>
            </a:r>
            <a:r>
              <a:rPr lang="en-US" dirty="0" err="1"/>
              <a:t>ra</a:t>
            </a:r>
            <a:r>
              <a:rPr lang="sr-Latn-RS" dirty="0"/>
              <a:t>z</a:t>
            </a:r>
            <a:r>
              <a:rPr lang="en-US" dirty="0" err="1"/>
              <a:t>liku</a:t>
            </a:r>
            <a:r>
              <a:rPr lang="en-US" dirty="0"/>
              <a:t> od Amdahl-a </a:t>
            </a:r>
            <a:r>
              <a:rPr lang="sr-Latn-RS" dirty="0"/>
              <a:t>koji posmatra ubrzanje za fiksni obim problema pri povećanju broja procesora, Gustafson posmatra kako se ubrzanje menja sa porstom obima problema i broja procesora.</a:t>
            </a:r>
          </a:p>
          <a:p>
            <a:r>
              <a:rPr lang="sr-Latn-RS" dirty="0"/>
              <a:t>P</a:t>
            </a:r>
            <a:r>
              <a:rPr lang="vi-VN" dirty="0"/>
              <a:t>okazuje generalno da serijski udeo teoretski ne ograničava </a:t>
            </a:r>
            <a:r>
              <a:rPr lang="sr-Latn-RS" dirty="0"/>
              <a:t>ubrzanje koje se može postićo paralelnom obradom, </a:t>
            </a:r>
            <a:r>
              <a:rPr lang="vi-VN" dirty="0"/>
              <a:t>ako se problem ili radno opterećenje skalira </a:t>
            </a:r>
            <a:r>
              <a:rPr lang="sr-Latn-RS" dirty="0"/>
              <a:t>sa povećanjem broja procesora.</a:t>
            </a:r>
            <a:r>
              <a:rPr lang="vi-VN" dirty="0"/>
              <a:t> </a:t>
            </a:r>
            <a:endParaRPr lang="sr-Latn-RS" dirty="0"/>
          </a:p>
          <a:p>
            <a:r>
              <a:rPr lang="vi-VN" dirty="0"/>
              <a:t>Modelira drugačiju situaciju od one iz Amdalovog zakona, koji predviđa smanjenje vremena za fiksnu veličinu problema.</a:t>
            </a:r>
            <a:endParaRPr lang="en-US" dirty="0"/>
          </a:p>
        </p:txBody>
      </p:sp>
    </p:spTree>
    <p:extLst>
      <p:ext uri="{BB962C8B-B14F-4D97-AF65-F5344CB8AC3E}">
        <p14:creationId xmlns:p14="http://schemas.microsoft.com/office/powerpoint/2010/main" val="101891308"/>
      </p:ext>
    </p:extLst>
  </p:cSld>
  <p:clrMapOvr>
    <a:masterClrMapping/>
  </p:clrMapOvr>
  <p:transition>
    <p:pull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Gustafsonov</a:t>
            </a:r>
            <a:r>
              <a:rPr lang="en-US" dirty="0"/>
              <a:t> </a:t>
            </a:r>
            <a:r>
              <a:rPr lang="en-US" dirty="0" err="1"/>
              <a:t>zakon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sr-Latn-RS" dirty="0"/>
                  <a:t>Amdalov zakon usvaja</a:t>
                </a:r>
              </a:p>
              <a:p>
                <a:pPr lvl="1"/>
                <a:r>
                  <a:rPr lang="sr-Latn-RS" dirty="0"/>
                  <a:t>Fiksni obim problema</a:t>
                </a:r>
              </a:p>
              <a:p>
                <a:pPr lvl="1"/>
                <a:r>
                  <a:rPr lang="sr-Latn-RS" dirty="0"/>
                  <a:t>Samo deo programa se može paralelizovati</a:t>
                </a:r>
              </a:p>
              <a:p>
                <a:pPr lvl="1"/>
                <a:r>
                  <a:rPr lang="sr-Latn-RS" dirty="0"/>
                  <a:t>Što dovodi do gornje granice ubrzanja</a:t>
                </a:r>
              </a:p>
              <a:p>
                <a:r>
                  <a:rPr lang="sr-Latn-RS" dirty="0"/>
                  <a:t>Gustafson navodi sledeće argumente za svoje razmatranje:</a:t>
                </a:r>
              </a:p>
              <a:p>
                <a:pPr lvl="1"/>
                <a:r>
                  <a:rPr lang="sr-Latn-RS" dirty="0"/>
                  <a:t>U stvarnom životu, kada imamo više procesora, obično to iskoristimo za rešavanje problema većeg obima, a ne za rešavanje problema fiksong obima brže.</a:t>
                </a:r>
              </a:p>
              <a:p>
                <a:r>
                  <a:rPr lang="sr-Latn-RS" dirty="0"/>
                  <a:t>Umesto da pita koliko brže možemo rešiti problem fiksnog obima, pita koliko se veći obim problema može rešiti za isto vreme.</a:t>
                </a:r>
              </a:p>
              <a:p>
                <a:pPr lvl="1"/>
                <a:r>
                  <a:rPr lang="sr-Latn-RS" dirty="0"/>
                  <a:t>Fiksira vreme izvršenja na parlelnom računaru, a sekvencijalni program se menja u zavisnosti od broja procesora</a:t>
                </a:r>
              </a:p>
              <a:p>
                <a:pPr lvl="1"/>
                <a:r>
                  <a:rPr lang="sr-Latn-RS" dirty="0"/>
                  <a:t>T(p)=</a:t>
                </a:r>
                <a:r>
                  <a:rPr lang="sr-Latn-RS" dirty="0">
                    <a:sym typeface="Symbol"/>
                  </a:rPr>
                  <a:t> + (1-)=1</a:t>
                </a:r>
              </a:p>
              <a:p>
                <a:pPr lvl="1"/>
                <a:r>
                  <a:rPr lang="sr-Latn-RS" dirty="0">
                    <a:sym typeface="Symbol"/>
                  </a:rPr>
                  <a:t>T(1)=  +p(1- )=p - (p-1)</a:t>
                </a:r>
              </a:p>
              <a:p>
                <a:pPr lvl="1"/>
                <a:r>
                  <a:rPr lang="sr-Latn-RS" dirty="0"/>
                  <a:t>S(p)=</a:t>
                </a:r>
                <a14:m>
                  <m:oMath xmlns:m="http://schemas.openxmlformats.org/officeDocument/2006/math">
                    <m:f>
                      <m:fPr>
                        <m:ctrlPr>
                          <a:rPr lang="en-US" i="1" smtClean="0">
                            <a:latin typeface="Cambria Math" panose="02040503050406030204" pitchFamily="18" charset="0"/>
                          </a:rPr>
                        </m:ctrlPr>
                      </m:fPr>
                      <m:num>
                        <m:r>
                          <a:rPr lang="sr-Latn-RS" b="0" i="1" smtClean="0">
                            <a:latin typeface="Cambria Math"/>
                          </a:rPr>
                          <m:t>𝑇</m:t>
                        </m:r>
                        <m:r>
                          <a:rPr lang="sr-Latn-RS" b="0" i="1" smtClean="0">
                            <a:latin typeface="Cambria Math"/>
                          </a:rPr>
                          <m:t>(1)</m:t>
                        </m:r>
                      </m:num>
                      <m:den>
                        <m:r>
                          <a:rPr lang="sr-Latn-RS" b="0" i="1" smtClean="0">
                            <a:latin typeface="Cambria Math"/>
                          </a:rPr>
                          <m:t>𝑇</m:t>
                        </m:r>
                        <m:r>
                          <a:rPr lang="sr-Latn-RS" b="0" i="1" smtClean="0">
                            <a:latin typeface="Cambria Math"/>
                          </a:rPr>
                          <m:t>(</m:t>
                        </m:r>
                        <m:r>
                          <a:rPr lang="sr-Latn-RS" b="0" i="1" smtClean="0">
                            <a:latin typeface="Cambria Math"/>
                          </a:rPr>
                          <m:t>𝑝</m:t>
                        </m:r>
                        <m:r>
                          <a:rPr lang="sr-Latn-RS" b="0" i="1" smtClean="0">
                            <a:latin typeface="Cambria Math"/>
                          </a:rPr>
                          <m:t>)</m:t>
                        </m:r>
                      </m:den>
                    </m:f>
                  </m:oMath>
                </a14:m>
                <a:r>
                  <a:rPr lang="sr-Latn-RS" dirty="0"/>
                  <a:t>=</a:t>
                </a:r>
                <a:r>
                  <a:rPr lang="sr-Latn-RS" dirty="0">
                    <a:sym typeface="Symbol"/>
                  </a:rPr>
                  <a:t> p - (p-1)</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793"/>
                </a:stretch>
              </a:blipFill>
            </p:spPr>
            <p:txBody>
              <a:bodyPr/>
              <a:lstStyle/>
              <a:p>
                <a:r>
                  <a:rPr lang="en-US">
                    <a:noFill/>
                  </a:rPr>
                  <a:t> </a:t>
                </a:r>
              </a:p>
            </p:txBody>
          </p:sp>
        </mc:Fallback>
      </mc:AlternateContent>
    </p:spTree>
    <p:extLst>
      <p:ext uri="{BB962C8B-B14F-4D97-AF65-F5344CB8AC3E}">
        <p14:creationId xmlns:p14="http://schemas.microsoft.com/office/powerpoint/2010/main" val="810534138"/>
      </p:ext>
    </p:extLst>
  </p:cSld>
  <p:clrMapOvr>
    <a:masterClrMapping/>
  </p:clrMapOvr>
  <p:transition>
    <p:pull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a:t>Primer</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sr-Latn-RS" dirty="0">
                    <a:sym typeface="Symbol"/>
                  </a:rPr>
                  <a:t>=5%=0.05</a:t>
                </a:r>
              </a:p>
              <a:p>
                <a:r>
                  <a:rPr lang="sr-Latn-RS" dirty="0">
                    <a:sym typeface="Symbol"/>
                  </a:rPr>
                  <a:t>P=100</a:t>
                </a:r>
              </a:p>
              <a:p>
                <a:r>
                  <a:rPr lang="sr-Latn-RS" dirty="0">
                    <a:sym typeface="Symbol"/>
                  </a:rPr>
                  <a:t>Amdalov zakon</a:t>
                </a:r>
              </a:p>
              <a:p>
                <a:pPr lvl="1"/>
                <a:r>
                  <a:rPr lang="sr-Latn-RS" dirty="0">
                    <a:sym typeface="Symbol"/>
                  </a:rPr>
                  <a:t>S(100)=</a:t>
                </a:r>
                <a14:m>
                  <m:oMath xmlns:m="http://schemas.openxmlformats.org/officeDocument/2006/math">
                    <m:f>
                      <m:fPr>
                        <m:ctrlPr>
                          <a:rPr lang="sr-Latn-RS" i="1" smtClean="0">
                            <a:latin typeface="Cambria Math" panose="02040503050406030204" pitchFamily="18" charset="0"/>
                            <a:sym typeface="Symbol"/>
                          </a:rPr>
                        </m:ctrlPr>
                      </m:fPr>
                      <m:num>
                        <m:r>
                          <a:rPr lang="sr-Latn-RS" b="0" i="1" smtClean="0">
                            <a:latin typeface="Cambria Math"/>
                            <a:sym typeface="Symbol"/>
                          </a:rPr>
                          <m:t>𝑝</m:t>
                        </m:r>
                      </m:num>
                      <m:den>
                        <m:r>
                          <a:rPr lang="sr-Latn-RS" b="0" i="1" smtClean="0">
                            <a:latin typeface="Cambria Math"/>
                            <a:sym typeface="Symbol"/>
                          </a:rPr>
                          <m:t>1+</m:t>
                        </m:r>
                        <m:d>
                          <m:dPr>
                            <m:ctrlPr>
                              <a:rPr lang="sr-Latn-RS" b="0" i="1" smtClean="0">
                                <a:latin typeface="Cambria Math" panose="02040503050406030204" pitchFamily="18" charset="0"/>
                                <a:sym typeface="Symbol"/>
                              </a:rPr>
                            </m:ctrlPr>
                          </m:dPr>
                          <m:e>
                            <m:r>
                              <a:rPr lang="sr-Latn-RS" b="0" i="1" smtClean="0">
                                <a:latin typeface="Cambria Math"/>
                                <a:sym typeface="Symbol"/>
                              </a:rPr>
                              <m:t>𝑝</m:t>
                            </m:r>
                            <m:r>
                              <a:rPr lang="sr-Latn-RS" b="0" i="1" smtClean="0">
                                <a:latin typeface="Cambria Math"/>
                                <a:sym typeface="Symbol"/>
                              </a:rPr>
                              <m:t>−1</m:t>
                            </m:r>
                          </m:e>
                        </m:d>
                        <m:r>
                          <a:rPr lang="sr-Latn-RS" b="0" i="1" smtClean="0">
                            <a:latin typeface="Cambria Math"/>
                            <a:sym typeface="Symbol"/>
                          </a:rPr>
                          <m:t></m:t>
                        </m:r>
                      </m:den>
                    </m:f>
                    <m:r>
                      <a:rPr lang="sr-Latn-RS" dirty="0">
                        <a:latin typeface="Cambria Math"/>
                        <a:sym typeface="Symbol"/>
                      </a:rPr>
                      <m:t></m:t>
                    </m:r>
                    <m:f>
                      <m:fPr>
                        <m:ctrlPr>
                          <a:rPr lang="sr-Latn-RS" i="1" dirty="0" smtClean="0">
                            <a:latin typeface="Cambria Math" panose="02040503050406030204" pitchFamily="18" charset="0"/>
                            <a:sym typeface="Symbol"/>
                          </a:rPr>
                        </m:ctrlPr>
                      </m:fPr>
                      <m:num>
                        <m:r>
                          <a:rPr lang="sr-Latn-RS" b="0" i="1" dirty="0" smtClean="0">
                            <a:latin typeface="Cambria Math"/>
                            <a:sym typeface="Symbol"/>
                          </a:rPr>
                          <m:t>1</m:t>
                        </m:r>
                      </m:num>
                      <m:den>
                        <m:r>
                          <a:rPr lang="sr-Latn-RS" i="1" dirty="0" smtClean="0">
                            <a:latin typeface="Cambria Math"/>
                            <a:sym typeface="Symbol"/>
                          </a:rPr>
                          <m:t></m:t>
                        </m:r>
                      </m:den>
                    </m:f>
                  </m:oMath>
                </a14:m>
                <a:r>
                  <a:rPr lang="sr-Latn-RS" dirty="0"/>
                  <a:t>=</a:t>
                </a:r>
                <a14:m>
                  <m:oMath xmlns:m="http://schemas.openxmlformats.org/officeDocument/2006/math">
                    <m:f>
                      <m:fPr>
                        <m:ctrlPr>
                          <a:rPr lang="sr-Latn-RS" i="1" dirty="0" smtClean="0">
                            <a:latin typeface="Cambria Math" panose="02040503050406030204" pitchFamily="18" charset="0"/>
                          </a:rPr>
                        </m:ctrlPr>
                      </m:fPr>
                      <m:num>
                        <m:r>
                          <a:rPr lang="sr-Latn-RS" b="0" i="1" dirty="0" smtClean="0">
                            <a:latin typeface="Cambria Math"/>
                          </a:rPr>
                          <m:t>1</m:t>
                        </m:r>
                      </m:num>
                      <m:den>
                        <m:r>
                          <a:rPr lang="sr-Latn-RS" b="0" i="1" dirty="0" smtClean="0">
                            <a:latin typeface="Cambria Math"/>
                          </a:rPr>
                          <m:t>0.05</m:t>
                        </m:r>
                      </m:den>
                    </m:f>
                  </m:oMath>
                </a14:m>
                <a:r>
                  <a:rPr lang="sr-Latn-RS" dirty="0"/>
                  <a:t>=20</a:t>
                </a:r>
              </a:p>
              <a:p>
                <a:r>
                  <a:rPr lang="sr-Latn-RS" dirty="0"/>
                  <a:t>Gustafson</a:t>
                </a:r>
              </a:p>
              <a:p>
                <a:pPr lvl="1"/>
                <a:r>
                  <a:rPr lang="sr-Latn-RS" dirty="0"/>
                  <a:t>S(100)=p - </a:t>
                </a:r>
                <a:r>
                  <a:rPr lang="sr-Latn-RS" dirty="0">
                    <a:sym typeface="Symbol"/>
                  </a:rPr>
                  <a:t>(p-1)=100 -0.05(100-1)=95.05</a:t>
                </a:r>
              </a:p>
              <a:p>
                <a:pPr lvl="1"/>
                <a:r>
                  <a:rPr lang="sr-Latn-RS" dirty="0">
                    <a:sym typeface="Symbol"/>
                  </a:rPr>
                  <a:t>Ovo znači da 95 puta veći </a:t>
                </a:r>
                <a:r>
                  <a:rPr lang="en-US" dirty="0" err="1">
                    <a:sym typeface="Symbol"/>
                  </a:rPr>
                  <a:t>obim</a:t>
                </a:r>
                <a:r>
                  <a:rPr lang="en-US" dirty="0">
                    <a:sym typeface="Symbol"/>
                  </a:rPr>
                  <a:t> </a:t>
                </a:r>
                <a:r>
                  <a:rPr lang="sr-Latn-RS" dirty="0">
                    <a:sym typeface="Symbol"/>
                  </a:rPr>
                  <a:t>problem</a:t>
                </a:r>
                <a:r>
                  <a:rPr lang="en-US" dirty="0">
                    <a:sym typeface="Symbol"/>
                  </a:rPr>
                  <a:t>a</a:t>
                </a:r>
                <a:r>
                  <a:rPr lang="sr-Latn-RS" dirty="0">
                    <a:sym typeface="Symbol"/>
                  </a:rPr>
                  <a:t> možemo rešiti za isto vreme!</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59070366"/>
      </p:ext>
    </p:extLst>
  </p:cSld>
  <p:clrMapOvr>
    <a:masterClrMapping/>
  </p:clrMapOvr>
  <p:transition>
    <p:pull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a:t>Poređenje Amdahl vs. Gustafson</a:t>
            </a:r>
            <a:endParaRPr lang="en-US" dirty="0"/>
          </a:p>
        </p:txBody>
      </p:sp>
      <p:graphicFrame>
        <p:nvGraphicFramePr>
          <p:cNvPr id="4" name="Content Placeholder 3"/>
          <p:cNvGraphicFramePr>
            <a:graphicFrameLocks noGrp="1"/>
          </p:cNvGraphicFramePr>
          <p:nvPr>
            <p:ph idx="1"/>
          </p:nvPr>
        </p:nvGraphicFramePr>
        <p:xfrm>
          <a:off x="0" y="708025"/>
          <a:ext cx="9144000" cy="21234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370840">
                <a:tc>
                  <a:txBody>
                    <a:bodyPr/>
                    <a:lstStyle/>
                    <a:p>
                      <a:r>
                        <a:rPr lang="sr-Latn-RS" dirty="0"/>
                        <a:t>Osobina</a:t>
                      </a:r>
                      <a:endParaRPr lang="en-US" dirty="0"/>
                    </a:p>
                  </a:txBody>
                  <a:tcPr/>
                </a:tc>
                <a:tc>
                  <a:txBody>
                    <a:bodyPr/>
                    <a:lstStyle/>
                    <a:p>
                      <a:r>
                        <a:rPr lang="sr-Latn-RS" dirty="0"/>
                        <a:t>Gustafson</a:t>
                      </a:r>
                      <a:endParaRPr lang="en-US" dirty="0"/>
                    </a:p>
                  </a:txBody>
                  <a:tcPr/>
                </a:tc>
                <a:tc>
                  <a:txBody>
                    <a:bodyPr/>
                    <a:lstStyle/>
                    <a:p>
                      <a:r>
                        <a:rPr lang="sr-Latn-RS" dirty="0"/>
                        <a:t>Amdahl</a:t>
                      </a:r>
                      <a:endParaRPr lang="en-US" dirty="0"/>
                    </a:p>
                  </a:txBody>
                  <a:tcPr/>
                </a:tc>
                <a:extLst>
                  <a:ext uri="{0D108BD9-81ED-4DB2-BD59-A6C34878D82A}">
                    <a16:rowId xmlns:a16="http://schemas.microsoft.com/office/drawing/2014/main" val="10000"/>
                  </a:ext>
                </a:extLst>
              </a:tr>
              <a:tr h="370840">
                <a:tc>
                  <a:txBody>
                    <a:bodyPr/>
                    <a:lstStyle/>
                    <a:p>
                      <a:r>
                        <a:rPr lang="sr-Latn-RS" dirty="0"/>
                        <a:t>Obim problema</a:t>
                      </a:r>
                      <a:endParaRPr lang="en-US" dirty="0"/>
                    </a:p>
                  </a:txBody>
                  <a:tcPr/>
                </a:tc>
                <a:tc>
                  <a:txBody>
                    <a:bodyPr/>
                    <a:lstStyle/>
                    <a:p>
                      <a:r>
                        <a:rPr lang="sr-Latn-RS" dirty="0"/>
                        <a:t>Skalira se sa brojem procesora</a:t>
                      </a:r>
                      <a:endParaRPr lang="en-US" dirty="0"/>
                    </a:p>
                  </a:txBody>
                  <a:tcPr/>
                </a:tc>
                <a:tc>
                  <a:txBody>
                    <a:bodyPr/>
                    <a:lstStyle/>
                    <a:p>
                      <a:r>
                        <a:rPr lang="sr-Latn-RS" dirty="0"/>
                        <a:t>fiksiran</a:t>
                      </a:r>
                      <a:endParaRPr lang="en-US" dirty="0"/>
                    </a:p>
                  </a:txBody>
                  <a:tcPr/>
                </a:tc>
                <a:extLst>
                  <a:ext uri="{0D108BD9-81ED-4DB2-BD59-A6C34878D82A}">
                    <a16:rowId xmlns:a16="http://schemas.microsoft.com/office/drawing/2014/main" val="10001"/>
                  </a:ext>
                </a:extLst>
              </a:tr>
              <a:tr h="370840">
                <a:tc>
                  <a:txBody>
                    <a:bodyPr/>
                    <a:lstStyle/>
                    <a:p>
                      <a:r>
                        <a:rPr lang="sr-Latn-RS" dirty="0"/>
                        <a:t>Nivo optimizma</a:t>
                      </a:r>
                      <a:endParaRPr lang="en-US" dirty="0"/>
                    </a:p>
                  </a:txBody>
                  <a:tcPr/>
                </a:tc>
                <a:tc>
                  <a:txBody>
                    <a:bodyPr/>
                    <a:lstStyle/>
                    <a:p>
                      <a:r>
                        <a:rPr lang="sr-Latn-RS" dirty="0"/>
                        <a:t>optimističan</a:t>
                      </a:r>
                      <a:endParaRPr lang="en-US" dirty="0"/>
                    </a:p>
                  </a:txBody>
                  <a:tcPr/>
                </a:tc>
                <a:tc>
                  <a:txBody>
                    <a:bodyPr/>
                    <a:lstStyle/>
                    <a:p>
                      <a:r>
                        <a:rPr lang="sr-Latn-RS" dirty="0"/>
                        <a:t>pesimističan</a:t>
                      </a:r>
                      <a:endParaRPr lang="en-US" dirty="0"/>
                    </a:p>
                  </a:txBody>
                  <a:tcPr/>
                </a:tc>
                <a:extLst>
                  <a:ext uri="{0D108BD9-81ED-4DB2-BD59-A6C34878D82A}">
                    <a16:rowId xmlns:a16="http://schemas.microsoft.com/office/drawing/2014/main" val="10002"/>
                  </a:ext>
                </a:extLst>
              </a:tr>
              <a:tr h="370840">
                <a:tc>
                  <a:txBody>
                    <a:bodyPr/>
                    <a:lstStyle/>
                    <a:p>
                      <a:r>
                        <a:rPr lang="sr-Latn-RS" dirty="0"/>
                        <a:t>ubrzanje</a:t>
                      </a:r>
                      <a:endParaRPr lang="en-US" dirty="0"/>
                    </a:p>
                  </a:txBody>
                  <a:tcPr/>
                </a:tc>
                <a:tc>
                  <a:txBody>
                    <a:bodyPr/>
                    <a:lstStyle/>
                    <a:p>
                      <a:r>
                        <a:rPr lang="sr-Latn-RS" dirty="0"/>
                        <a:t>Skoro linearno</a:t>
                      </a:r>
                      <a:endParaRPr lang="en-US" dirty="0"/>
                    </a:p>
                  </a:txBody>
                  <a:tcPr/>
                </a:tc>
                <a:tc>
                  <a:txBody>
                    <a:bodyPr/>
                    <a:lstStyle/>
                    <a:p>
                      <a:r>
                        <a:rPr lang="sr-Latn-RS" dirty="0"/>
                        <a:t>Ograničeno </a:t>
                      </a:r>
                      <a:endParaRPr lang="en-US" dirty="0"/>
                    </a:p>
                  </a:txBody>
                  <a:tcPr/>
                </a:tc>
                <a:extLst>
                  <a:ext uri="{0D108BD9-81ED-4DB2-BD59-A6C34878D82A}">
                    <a16:rowId xmlns:a16="http://schemas.microsoft.com/office/drawing/2014/main" val="10003"/>
                  </a:ext>
                </a:extLst>
              </a:tr>
              <a:tr h="370840">
                <a:tc>
                  <a:txBody>
                    <a:bodyPr/>
                    <a:lstStyle/>
                    <a:p>
                      <a:r>
                        <a:rPr lang="sr-Latn-RS" dirty="0"/>
                        <a:t>Praktična relevantnost</a:t>
                      </a:r>
                      <a:endParaRPr lang="en-US" dirty="0"/>
                    </a:p>
                  </a:txBody>
                  <a:tcPr/>
                </a:tc>
                <a:tc>
                  <a:txBody>
                    <a:bodyPr/>
                    <a:lstStyle/>
                    <a:p>
                      <a:r>
                        <a:rPr lang="sr-Latn-RS" dirty="0"/>
                        <a:t>Velika u HPC</a:t>
                      </a:r>
                      <a:endParaRPr lang="en-US" dirty="0"/>
                    </a:p>
                  </a:txBody>
                  <a:tcPr/>
                </a:tc>
                <a:tc>
                  <a:txBody>
                    <a:bodyPr/>
                    <a:lstStyle/>
                    <a:p>
                      <a:r>
                        <a:rPr lang="sr-Latn-RS" dirty="0"/>
                        <a:t>Teoretska gornja</a:t>
                      </a:r>
                      <a:r>
                        <a:rPr lang="sr-Latn-RS" baseline="0" dirty="0"/>
                        <a:t> granica</a:t>
                      </a:r>
                      <a:endParaRPr lang="en-US" dirty="0"/>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76200" y="3200400"/>
            <a:ext cx="9238426" cy="2585323"/>
          </a:xfrm>
          <a:prstGeom prst="rect">
            <a:avLst/>
          </a:prstGeom>
          <a:noFill/>
        </p:spPr>
        <p:txBody>
          <a:bodyPr wrap="none" rtlCol="0">
            <a:spAutoFit/>
          </a:bodyPr>
          <a:lstStyle/>
          <a:p>
            <a:r>
              <a:rPr lang="sr-Latn-RS" dirty="0"/>
              <a:t>U kojim aplikacijama je Gustafsonov zakon realističan (primenljiv)</a:t>
            </a:r>
          </a:p>
          <a:p>
            <a:pPr marL="285750" indent="-285750">
              <a:buFont typeface="Arial" panose="020B0604020202020204" pitchFamily="34" charset="0"/>
              <a:buChar char="•"/>
            </a:pPr>
            <a:r>
              <a:rPr lang="sr-Latn-RS" dirty="0"/>
              <a:t>Naučne simulacije</a:t>
            </a:r>
          </a:p>
          <a:p>
            <a:pPr marL="285750" indent="-285750">
              <a:buFont typeface="Arial" panose="020B0604020202020204" pitchFamily="34" charset="0"/>
              <a:buChar char="•"/>
            </a:pPr>
            <a:r>
              <a:rPr lang="en-US" dirty="0" err="1"/>
              <a:t>trening</a:t>
            </a:r>
            <a:r>
              <a:rPr lang="en-US" dirty="0"/>
              <a:t> za </a:t>
            </a:r>
            <a:r>
              <a:rPr lang="en-US" dirty="0" err="1"/>
              <a:t>mašinsko</a:t>
            </a:r>
            <a:r>
              <a:rPr lang="en-US" dirty="0"/>
              <a:t> </a:t>
            </a:r>
            <a:r>
              <a:rPr lang="en-US" dirty="0" err="1"/>
              <a:t>učenje</a:t>
            </a:r>
            <a:endParaRPr lang="sr-Latn-RS" dirty="0"/>
          </a:p>
          <a:p>
            <a:pPr marL="285750" indent="-285750">
              <a:buFont typeface="Arial" panose="020B0604020202020204" pitchFamily="34" charset="0"/>
              <a:buChar char="•"/>
            </a:pPr>
            <a:r>
              <a:rPr lang="sr-Latn-RS" dirty="0"/>
              <a:t>Modeliranje vremena i klimatskih promena</a:t>
            </a:r>
          </a:p>
          <a:p>
            <a:pPr marL="285750" indent="-285750">
              <a:buFont typeface="Arial" panose="020B0604020202020204" pitchFamily="34" charset="0"/>
              <a:buChar char="•"/>
            </a:pPr>
            <a:r>
              <a:rPr lang="sr-Latn-RS" dirty="0"/>
              <a:t>Procesiranje velikih grafova</a:t>
            </a:r>
          </a:p>
          <a:p>
            <a:r>
              <a:rPr lang="sr-Latn-RS" dirty="0"/>
              <a:t>U navedenim primerima kada imamo na raspolaganju više procesora, onda povećavamo</a:t>
            </a:r>
          </a:p>
          <a:p>
            <a:pPr marL="285750" indent="-285750">
              <a:buFont typeface="Arial" panose="020B0604020202020204" pitchFamily="34" charset="0"/>
              <a:buChar char="•"/>
            </a:pPr>
            <a:r>
              <a:rPr lang="sr-Latn-RS" dirty="0"/>
              <a:t>Rezoluciju</a:t>
            </a:r>
          </a:p>
          <a:p>
            <a:pPr marL="285750" indent="-285750">
              <a:buFont typeface="Arial" panose="020B0604020202020204" pitchFamily="34" charset="0"/>
              <a:buChar char="•"/>
            </a:pPr>
            <a:r>
              <a:rPr lang="sr-Latn-RS" dirty="0"/>
              <a:t>Veličinu dataset</a:t>
            </a:r>
          </a:p>
          <a:p>
            <a:pPr marL="285750" indent="-285750">
              <a:buFont typeface="Arial" panose="020B0604020202020204" pitchFamily="34" charset="0"/>
              <a:buChar char="•"/>
            </a:pPr>
            <a:r>
              <a:rPr lang="sr-Latn-RS" dirty="0"/>
              <a:t>Kompleksnost modela</a:t>
            </a:r>
            <a:endParaRPr lang="en-US" dirty="0"/>
          </a:p>
        </p:txBody>
      </p:sp>
    </p:spTree>
    <p:extLst>
      <p:ext uri="{BB962C8B-B14F-4D97-AF65-F5344CB8AC3E}">
        <p14:creationId xmlns:p14="http://schemas.microsoft.com/office/powerpoint/2010/main" val="1224765911"/>
      </p:ext>
    </p:extLst>
  </p:cSld>
  <p:clrMapOvr>
    <a:masterClrMapping/>
  </p:clrMapOvr>
  <p:transition>
    <p:pull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FF909F73-2BFD-21F1-BC50-B93DA47CC79E}"/>
              </a:ext>
            </a:extLst>
          </p:cNvPr>
          <p:cNvSpPr>
            <a:spLocks noGrp="1" noChangeArrowheads="1"/>
          </p:cNvSpPr>
          <p:nvPr>
            <p:ph type="title"/>
          </p:nvPr>
        </p:nvSpPr>
        <p:spPr/>
        <p:txBody>
          <a:bodyPr/>
          <a:lstStyle/>
          <a:p>
            <a:pPr>
              <a:defRPr/>
            </a:pPr>
            <a:r>
              <a:rPr lang="hr-HR" altLang="en-US"/>
              <a:t>Primer efektivnog paralelnog algoritma</a:t>
            </a:r>
            <a:endParaRPr lang="en-US" altLang="en-US"/>
          </a:p>
        </p:txBody>
      </p:sp>
      <p:sp>
        <p:nvSpPr>
          <p:cNvPr id="78851" name="Rectangle 3">
            <a:extLst>
              <a:ext uri="{FF2B5EF4-FFF2-40B4-BE49-F238E27FC236}">
                <a16:creationId xmlns:a16="http://schemas.microsoft.com/office/drawing/2014/main" id="{00BEA77C-7D7E-F0E5-83F4-8420B452F546}"/>
              </a:ext>
            </a:extLst>
          </p:cNvPr>
          <p:cNvSpPr>
            <a:spLocks noGrp="1" noChangeArrowheads="1"/>
          </p:cNvSpPr>
          <p:nvPr>
            <p:ph type="body" idx="1"/>
          </p:nvPr>
        </p:nvSpPr>
        <p:spPr/>
        <p:txBody>
          <a:bodyPr/>
          <a:lstStyle/>
          <a:p>
            <a:pPr>
              <a:defRPr/>
            </a:pPr>
            <a:r>
              <a:rPr lang="hr-HR" altLang="en-US"/>
              <a:t>Proizvod matrice i vektora</a:t>
            </a:r>
          </a:p>
          <a:p>
            <a:pPr>
              <a:defRPr/>
            </a:pPr>
            <a:endParaRPr lang="hr-HR" altLang="en-US"/>
          </a:p>
          <a:p>
            <a:pPr>
              <a:defRPr/>
            </a:pPr>
            <a:endParaRPr lang="hr-HR" altLang="en-US"/>
          </a:p>
          <a:p>
            <a:pPr lvl="1">
              <a:defRPr/>
            </a:pPr>
            <a:r>
              <a:rPr lang="hr-HR" altLang="en-US"/>
              <a:t>Neka se program izvršava na n=2</a:t>
            </a:r>
            <a:r>
              <a:rPr lang="hr-HR" altLang="en-US" baseline="30000"/>
              <a:t>r</a:t>
            </a:r>
            <a:r>
              <a:rPr lang="hr-HR" altLang="en-US"/>
              <a:t> hiperkubu</a:t>
            </a:r>
          </a:p>
          <a:p>
            <a:pPr lvl="3">
              <a:defRPr/>
            </a:pPr>
            <a:r>
              <a:rPr kumimoji="0" lang="hr-HR" altLang="en-US">
                <a:effectLst/>
                <a:latin typeface="Arial" pitchFamily="34" charset="0"/>
              </a:rPr>
              <a:t>max. rastojanje izmedju čvorova log</a:t>
            </a:r>
            <a:r>
              <a:rPr kumimoji="0" lang="hr-HR" altLang="en-US" baseline="-25000">
                <a:effectLst/>
                <a:latin typeface="Arial" pitchFamily="34" charset="0"/>
              </a:rPr>
              <a:t>2</a:t>
            </a:r>
            <a:r>
              <a:rPr kumimoji="0" lang="hr-HR" altLang="en-US">
                <a:effectLst/>
                <a:latin typeface="Arial" pitchFamily="34" charset="0"/>
              </a:rPr>
              <a:t>n=r</a:t>
            </a:r>
          </a:p>
          <a:p>
            <a:pPr lvl="3">
              <a:defRPr/>
            </a:pPr>
            <a:r>
              <a:rPr kumimoji="0" lang="hr-HR" altLang="en-US">
                <a:effectLst/>
                <a:latin typeface="Arial" pitchFamily="34" charset="0"/>
              </a:rPr>
              <a:t>svaki čvor je direktno povezan sa r najbližih suseda</a:t>
            </a:r>
            <a:endParaRPr lang="hr-HR" altLang="en-US" sz="1600"/>
          </a:p>
          <a:p>
            <a:pPr lvl="2">
              <a:defRPr/>
            </a:pPr>
            <a:endParaRPr lang="hr-HR" altLang="en-US" sz="1800"/>
          </a:p>
          <a:p>
            <a:pPr lvl="1">
              <a:defRPr/>
            </a:pPr>
            <a:endParaRPr lang="en-US" altLang="en-US"/>
          </a:p>
        </p:txBody>
      </p:sp>
      <p:graphicFrame>
        <p:nvGraphicFramePr>
          <p:cNvPr id="4098" name="Object 4">
            <a:extLst>
              <a:ext uri="{FF2B5EF4-FFF2-40B4-BE49-F238E27FC236}">
                <a16:creationId xmlns:a16="http://schemas.microsoft.com/office/drawing/2014/main" id="{3FCB0621-A973-3EA6-41D3-984E1F0FB0FB}"/>
              </a:ext>
            </a:extLst>
          </p:cNvPr>
          <p:cNvGraphicFramePr>
            <a:graphicFrameLocks noChangeAspect="1"/>
          </p:cNvGraphicFramePr>
          <p:nvPr/>
        </p:nvGraphicFramePr>
        <p:xfrm>
          <a:off x="2438400" y="1411288"/>
          <a:ext cx="4114800" cy="493712"/>
        </p:xfrm>
        <a:graphic>
          <a:graphicData uri="http://schemas.openxmlformats.org/presentationml/2006/ole">
            <mc:AlternateContent xmlns:mc="http://schemas.openxmlformats.org/markup-compatibility/2006">
              <mc:Choice xmlns:v="urn:schemas-microsoft-com:vml" Requires="v">
                <p:oleObj name="Equation" r:id="rId2" imgW="1905000" imgH="228600" progId="Equation.3">
                  <p:embed/>
                </p:oleObj>
              </mc:Choice>
              <mc:Fallback>
                <p:oleObj name="Equation" r:id="rId2" imgW="1905000" imgH="2286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411288"/>
                        <a:ext cx="4114800" cy="493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101" name="Group 5">
            <a:extLst>
              <a:ext uri="{FF2B5EF4-FFF2-40B4-BE49-F238E27FC236}">
                <a16:creationId xmlns:a16="http://schemas.microsoft.com/office/drawing/2014/main" id="{9E2531A8-3312-7FCA-76A2-105BF385308D}"/>
              </a:ext>
            </a:extLst>
          </p:cNvPr>
          <p:cNvGrpSpPr>
            <a:grpSpLocks/>
          </p:cNvGrpSpPr>
          <p:nvPr/>
        </p:nvGrpSpPr>
        <p:grpSpPr bwMode="auto">
          <a:xfrm>
            <a:off x="2155825" y="3906838"/>
            <a:ext cx="1533525" cy="1503362"/>
            <a:chOff x="1358" y="1810"/>
            <a:chExt cx="966" cy="947"/>
          </a:xfrm>
        </p:grpSpPr>
        <p:sp>
          <p:nvSpPr>
            <p:cNvPr id="78854" name="Rectangle 6">
              <a:extLst>
                <a:ext uri="{FF2B5EF4-FFF2-40B4-BE49-F238E27FC236}">
                  <a16:creationId xmlns:a16="http://schemas.microsoft.com/office/drawing/2014/main" id="{852B9F43-C1D3-1186-B93D-82FBD9DD52A5}"/>
                </a:ext>
              </a:extLst>
            </p:cNvPr>
            <p:cNvSpPr>
              <a:spLocks noChangeArrowheads="1"/>
            </p:cNvSpPr>
            <p:nvPr/>
          </p:nvSpPr>
          <p:spPr bwMode="auto">
            <a:xfrm>
              <a:off x="1392" y="2064"/>
              <a:ext cx="672" cy="672"/>
            </a:xfrm>
            <a:prstGeom prst="rect">
              <a:avLst/>
            </a:prstGeom>
            <a:noFill/>
            <a:ln w="9525">
              <a:solidFill>
                <a:schemeClr val="tx1"/>
              </a:solidFill>
              <a:miter lim="800000"/>
              <a:headEnd/>
              <a:tailEnd/>
            </a:ln>
            <a:effectLst/>
          </p:spPr>
          <p:txBody>
            <a:bodyPr wrap="none" anchor="ctr">
              <a:spAutoFit/>
            </a:bodyPr>
            <a:lstStyle/>
            <a:p>
              <a:pPr>
                <a:defRPr/>
              </a:pPr>
              <a:endParaRPr lang="en-US"/>
            </a:p>
          </p:txBody>
        </p:sp>
        <p:sp>
          <p:nvSpPr>
            <p:cNvPr id="78855" name="Rectangle 7">
              <a:extLst>
                <a:ext uri="{FF2B5EF4-FFF2-40B4-BE49-F238E27FC236}">
                  <a16:creationId xmlns:a16="http://schemas.microsoft.com/office/drawing/2014/main" id="{D7C9BB0D-5A12-AFD0-11BC-8B94C008D806}"/>
                </a:ext>
              </a:extLst>
            </p:cNvPr>
            <p:cNvSpPr>
              <a:spLocks noChangeArrowheads="1"/>
            </p:cNvSpPr>
            <p:nvPr/>
          </p:nvSpPr>
          <p:spPr bwMode="auto">
            <a:xfrm>
              <a:off x="1632" y="1824"/>
              <a:ext cx="672" cy="672"/>
            </a:xfrm>
            <a:prstGeom prst="rect">
              <a:avLst/>
            </a:prstGeom>
            <a:noFill/>
            <a:ln w="9525">
              <a:solidFill>
                <a:schemeClr val="tx1"/>
              </a:solidFill>
              <a:miter lim="800000"/>
              <a:headEnd/>
              <a:tailEnd/>
            </a:ln>
            <a:effectLst/>
          </p:spPr>
          <p:txBody>
            <a:bodyPr wrap="none" anchor="ctr">
              <a:spAutoFit/>
            </a:bodyPr>
            <a:lstStyle/>
            <a:p>
              <a:pPr>
                <a:defRPr/>
              </a:pPr>
              <a:endParaRPr lang="en-US"/>
            </a:p>
          </p:txBody>
        </p:sp>
        <p:sp>
          <p:nvSpPr>
            <p:cNvPr id="78856" name="Line 8">
              <a:extLst>
                <a:ext uri="{FF2B5EF4-FFF2-40B4-BE49-F238E27FC236}">
                  <a16:creationId xmlns:a16="http://schemas.microsoft.com/office/drawing/2014/main" id="{8323CB01-E57D-2C08-551E-08A2FB539DA7}"/>
                </a:ext>
              </a:extLst>
            </p:cNvPr>
            <p:cNvSpPr>
              <a:spLocks noChangeShapeType="1"/>
            </p:cNvSpPr>
            <p:nvPr/>
          </p:nvSpPr>
          <p:spPr bwMode="auto">
            <a:xfrm flipV="1">
              <a:off x="1392" y="1824"/>
              <a:ext cx="240" cy="240"/>
            </a:xfrm>
            <a:prstGeom prst="line">
              <a:avLst/>
            </a:prstGeom>
            <a:noFill/>
            <a:ln w="9525">
              <a:solidFill>
                <a:schemeClr val="tx1"/>
              </a:solidFill>
              <a:round/>
              <a:headEnd/>
              <a:tailEnd/>
            </a:ln>
            <a:effectLst/>
          </p:spPr>
          <p:txBody>
            <a:bodyPr wrap="none" anchor="b">
              <a:spAutoFit/>
            </a:bodyPr>
            <a:lstStyle/>
            <a:p>
              <a:pPr>
                <a:defRPr/>
              </a:pPr>
              <a:endParaRPr lang="en-US"/>
            </a:p>
          </p:txBody>
        </p:sp>
        <p:sp>
          <p:nvSpPr>
            <p:cNvPr id="78857" name="Line 9">
              <a:extLst>
                <a:ext uri="{FF2B5EF4-FFF2-40B4-BE49-F238E27FC236}">
                  <a16:creationId xmlns:a16="http://schemas.microsoft.com/office/drawing/2014/main" id="{08676289-8379-46B1-38AD-467B37606A8C}"/>
                </a:ext>
              </a:extLst>
            </p:cNvPr>
            <p:cNvSpPr>
              <a:spLocks noChangeShapeType="1"/>
            </p:cNvSpPr>
            <p:nvPr/>
          </p:nvSpPr>
          <p:spPr bwMode="auto">
            <a:xfrm flipV="1">
              <a:off x="2064" y="1824"/>
              <a:ext cx="240" cy="240"/>
            </a:xfrm>
            <a:prstGeom prst="line">
              <a:avLst/>
            </a:prstGeom>
            <a:noFill/>
            <a:ln w="9525">
              <a:solidFill>
                <a:schemeClr val="tx1"/>
              </a:solidFill>
              <a:round/>
              <a:headEnd/>
              <a:tailEnd/>
            </a:ln>
            <a:effectLst/>
          </p:spPr>
          <p:txBody>
            <a:bodyPr wrap="none" anchor="b">
              <a:spAutoFit/>
            </a:bodyPr>
            <a:lstStyle/>
            <a:p>
              <a:pPr>
                <a:defRPr/>
              </a:pPr>
              <a:endParaRPr lang="en-US"/>
            </a:p>
          </p:txBody>
        </p:sp>
        <p:sp>
          <p:nvSpPr>
            <p:cNvPr id="78858" name="Line 10">
              <a:extLst>
                <a:ext uri="{FF2B5EF4-FFF2-40B4-BE49-F238E27FC236}">
                  <a16:creationId xmlns:a16="http://schemas.microsoft.com/office/drawing/2014/main" id="{48383C32-5233-2025-8354-51F21A40C5BD}"/>
                </a:ext>
              </a:extLst>
            </p:cNvPr>
            <p:cNvSpPr>
              <a:spLocks noChangeShapeType="1"/>
            </p:cNvSpPr>
            <p:nvPr/>
          </p:nvSpPr>
          <p:spPr bwMode="auto">
            <a:xfrm flipV="1">
              <a:off x="2064" y="2496"/>
              <a:ext cx="240" cy="240"/>
            </a:xfrm>
            <a:prstGeom prst="line">
              <a:avLst/>
            </a:prstGeom>
            <a:noFill/>
            <a:ln w="9525">
              <a:solidFill>
                <a:schemeClr val="tx1"/>
              </a:solidFill>
              <a:round/>
              <a:headEnd/>
              <a:tailEnd/>
            </a:ln>
            <a:effectLst/>
          </p:spPr>
          <p:txBody>
            <a:bodyPr wrap="none" anchor="b">
              <a:spAutoFit/>
            </a:bodyPr>
            <a:lstStyle/>
            <a:p>
              <a:pPr>
                <a:defRPr/>
              </a:pPr>
              <a:endParaRPr lang="en-US"/>
            </a:p>
          </p:txBody>
        </p:sp>
        <p:sp>
          <p:nvSpPr>
            <p:cNvPr id="78859" name="Line 11">
              <a:extLst>
                <a:ext uri="{FF2B5EF4-FFF2-40B4-BE49-F238E27FC236}">
                  <a16:creationId xmlns:a16="http://schemas.microsoft.com/office/drawing/2014/main" id="{5FEFDE78-D8EF-6E41-5345-974E6A334092}"/>
                </a:ext>
              </a:extLst>
            </p:cNvPr>
            <p:cNvSpPr>
              <a:spLocks noChangeShapeType="1"/>
            </p:cNvSpPr>
            <p:nvPr/>
          </p:nvSpPr>
          <p:spPr bwMode="auto">
            <a:xfrm flipV="1">
              <a:off x="1392" y="2496"/>
              <a:ext cx="240" cy="240"/>
            </a:xfrm>
            <a:prstGeom prst="line">
              <a:avLst/>
            </a:prstGeom>
            <a:noFill/>
            <a:ln w="9525">
              <a:solidFill>
                <a:schemeClr val="tx1"/>
              </a:solidFill>
              <a:round/>
              <a:headEnd/>
              <a:tailEnd/>
            </a:ln>
            <a:effectLst/>
          </p:spPr>
          <p:txBody>
            <a:bodyPr wrap="none" anchor="b">
              <a:spAutoFit/>
            </a:bodyPr>
            <a:lstStyle/>
            <a:p>
              <a:pPr>
                <a:defRPr/>
              </a:pPr>
              <a:endParaRPr lang="en-US"/>
            </a:p>
          </p:txBody>
        </p:sp>
        <p:sp>
          <p:nvSpPr>
            <p:cNvPr id="78860" name="Oval 12">
              <a:extLst>
                <a:ext uri="{FF2B5EF4-FFF2-40B4-BE49-F238E27FC236}">
                  <a16:creationId xmlns:a16="http://schemas.microsoft.com/office/drawing/2014/main" id="{32F644CB-8759-ADE2-838B-CB0B981A5109}"/>
                </a:ext>
              </a:extLst>
            </p:cNvPr>
            <p:cNvSpPr>
              <a:spLocks noChangeArrowheads="1"/>
            </p:cNvSpPr>
            <p:nvPr/>
          </p:nvSpPr>
          <p:spPr bwMode="auto">
            <a:xfrm>
              <a:off x="1378" y="2057"/>
              <a:ext cx="48" cy="48"/>
            </a:xfrm>
            <a:prstGeom prst="ellipse">
              <a:avLst/>
            </a:prstGeom>
            <a:solidFill>
              <a:schemeClr val="accent1"/>
            </a:solidFill>
            <a:ln w="9525">
              <a:solidFill>
                <a:schemeClr val="tx1"/>
              </a:solidFill>
              <a:round/>
              <a:headEnd/>
              <a:tailEnd/>
            </a:ln>
            <a:effectLst/>
          </p:spPr>
          <p:txBody>
            <a:bodyPr wrap="none" anchor="ctr">
              <a:spAutoFit/>
            </a:bodyPr>
            <a:lstStyle/>
            <a:p>
              <a:pPr>
                <a:defRPr/>
              </a:pPr>
              <a:endParaRPr lang="en-US"/>
            </a:p>
          </p:txBody>
        </p:sp>
        <p:sp>
          <p:nvSpPr>
            <p:cNvPr id="78861" name="Oval 13">
              <a:extLst>
                <a:ext uri="{FF2B5EF4-FFF2-40B4-BE49-F238E27FC236}">
                  <a16:creationId xmlns:a16="http://schemas.microsoft.com/office/drawing/2014/main" id="{DA22333C-FD07-9556-8D73-8B77C8F50B1D}"/>
                </a:ext>
              </a:extLst>
            </p:cNvPr>
            <p:cNvSpPr>
              <a:spLocks noChangeArrowheads="1"/>
            </p:cNvSpPr>
            <p:nvPr/>
          </p:nvSpPr>
          <p:spPr bwMode="auto">
            <a:xfrm>
              <a:off x="1358" y="2709"/>
              <a:ext cx="48" cy="48"/>
            </a:xfrm>
            <a:prstGeom prst="ellipse">
              <a:avLst/>
            </a:prstGeom>
            <a:solidFill>
              <a:schemeClr val="accent1"/>
            </a:solidFill>
            <a:ln w="9525">
              <a:solidFill>
                <a:schemeClr val="tx1"/>
              </a:solidFill>
              <a:round/>
              <a:headEnd/>
              <a:tailEnd/>
            </a:ln>
            <a:effectLst/>
          </p:spPr>
          <p:txBody>
            <a:bodyPr wrap="none" anchor="ctr">
              <a:spAutoFit/>
            </a:bodyPr>
            <a:lstStyle/>
            <a:p>
              <a:pPr>
                <a:defRPr/>
              </a:pPr>
              <a:endParaRPr lang="en-US"/>
            </a:p>
          </p:txBody>
        </p:sp>
        <p:sp>
          <p:nvSpPr>
            <p:cNvPr id="78862" name="Oval 14">
              <a:extLst>
                <a:ext uri="{FF2B5EF4-FFF2-40B4-BE49-F238E27FC236}">
                  <a16:creationId xmlns:a16="http://schemas.microsoft.com/office/drawing/2014/main" id="{1C4C11D1-E9FA-1C8F-FEA9-9E6F4883DB42}"/>
                </a:ext>
              </a:extLst>
            </p:cNvPr>
            <p:cNvSpPr>
              <a:spLocks noChangeArrowheads="1"/>
            </p:cNvSpPr>
            <p:nvPr/>
          </p:nvSpPr>
          <p:spPr bwMode="auto">
            <a:xfrm>
              <a:off x="2050" y="2702"/>
              <a:ext cx="48" cy="48"/>
            </a:xfrm>
            <a:prstGeom prst="ellipse">
              <a:avLst/>
            </a:prstGeom>
            <a:solidFill>
              <a:schemeClr val="accent1"/>
            </a:solidFill>
            <a:ln w="9525">
              <a:solidFill>
                <a:schemeClr val="tx1"/>
              </a:solidFill>
              <a:round/>
              <a:headEnd/>
              <a:tailEnd/>
            </a:ln>
            <a:effectLst/>
          </p:spPr>
          <p:txBody>
            <a:bodyPr wrap="none" anchor="ctr">
              <a:spAutoFit/>
            </a:bodyPr>
            <a:lstStyle/>
            <a:p>
              <a:pPr>
                <a:defRPr/>
              </a:pPr>
              <a:endParaRPr lang="en-US"/>
            </a:p>
          </p:txBody>
        </p:sp>
        <p:sp>
          <p:nvSpPr>
            <p:cNvPr id="78863" name="Oval 15">
              <a:extLst>
                <a:ext uri="{FF2B5EF4-FFF2-40B4-BE49-F238E27FC236}">
                  <a16:creationId xmlns:a16="http://schemas.microsoft.com/office/drawing/2014/main" id="{5F0066AB-60A4-8F5D-56CC-0B0A0A230C7B}"/>
                </a:ext>
              </a:extLst>
            </p:cNvPr>
            <p:cNvSpPr>
              <a:spLocks noChangeArrowheads="1"/>
            </p:cNvSpPr>
            <p:nvPr/>
          </p:nvSpPr>
          <p:spPr bwMode="auto">
            <a:xfrm>
              <a:off x="2276" y="2482"/>
              <a:ext cx="48" cy="48"/>
            </a:xfrm>
            <a:prstGeom prst="ellipse">
              <a:avLst/>
            </a:prstGeom>
            <a:solidFill>
              <a:schemeClr val="accent1"/>
            </a:solidFill>
            <a:ln w="9525">
              <a:solidFill>
                <a:schemeClr val="tx1"/>
              </a:solidFill>
              <a:round/>
              <a:headEnd/>
              <a:tailEnd/>
            </a:ln>
            <a:effectLst/>
          </p:spPr>
          <p:txBody>
            <a:bodyPr wrap="none" anchor="ctr">
              <a:spAutoFit/>
            </a:bodyPr>
            <a:lstStyle/>
            <a:p>
              <a:pPr>
                <a:defRPr/>
              </a:pPr>
              <a:endParaRPr lang="en-US"/>
            </a:p>
          </p:txBody>
        </p:sp>
        <p:sp>
          <p:nvSpPr>
            <p:cNvPr id="78864" name="Oval 16">
              <a:extLst>
                <a:ext uri="{FF2B5EF4-FFF2-40B4-BE49-F238E27FC236}">
                  <a16:creationId xmlns:a16="http://schemas.microsoft.com/office/drawing/2014/main" id="{09A979EB-34B0-AC4A-07BD-16C6A5468F34}"/>
                </a:ext>
              </a:extLst>
            </p:cNvPr>
            <p:cNvSpPr>
              <a:spLocks noChangeArrowheads="1"/>
            </p:cNvSpPr>
            <p:nvPr/>
          </p:nvSpPr>
          <p:spPr bwMode="auto">
            <a:xfrm>
              <a:off x="2263" y="1817"/>
              <a:ext cx="48" cy="48"/>
            </a:xfrm>
            <a:prstGeom prst="ellipse">
              <a:avLst/>
            </a:prstGeom>
            <a:solidFill>
              <a:schemeClr val="accent1"/>
            </a:solidFill>
            <a:ln w="9525">
              <a:solidFill>
                <a:schemeClr val="tx1"/>
              </a:solidFill>
              <a:round/>
              <a:headEnd/>
              <a:tailEnd/>
            </a:ln>
            <a:effectLst/>
          </p:spPr>
          <p:txBody>
            <a:bodyPr wrap="none" anchor="ctr">
              <a:spAutoFit/>
            </a:bodyPr>
            <a:lstStyle/>
            <a:p>
              <a:pPr>
                <a:defRPr/>
              </a:pPr>
              <a:endParaRPr lang="en-US"/>
            </a:p>
          </p:txBody>
        </p:sp>
        <p:sp>
          <p:nvSpPr>
            <p:cNvPr id="78865" name="Oval 17">
              <a:extLst>
                <a:ext uri="{FF2B5EF4-FFF2-40B4-BE49-F238E27FC236}">
                  <a16:creationId xmlns:a16="http://schemas.microsoft.com/office/drawing/2014/main" id="{F9CA3563-C623-8EDF-6F31-4B78CE3663B9}"/>
                </a:ext>
              </a:extLst>
            </p:cNvPr>
            <p:cNvSpPr>
              <a:spLocks noChangeArrowheads="1"/>
            </p:cNvSpPr>
            <p:nvPr/>
          </p:nvSpPr>
          <p:spPr bwMode="auto">
            <a:xfrm>
              <a:off x="1618" y="1810"/>
              <a:ext cx="48" cy="48"/>
            </a:xfrm>
            <a:prstGeom prst="ellipse">
              <a:avLst/>
            </a:prstGeom>
            <a:solidFill>
              <a:schemeClr val="accent1"/>
            </a:solidFill>
            <a:ln w="9525">
              <a:solidFill>
                <a:schemeClr val="tx1"/>
              </a:solidFill>
              <a:round/>
              <a:headEnd/>
              <a:tailEnd/>
            </a:ln>
            <a:effectLst/>
          </p:spPr>
          <p:txBody>
            <a:bodyPr wrap="none" anchor="ctr">
              <a:spAutoFit/>
            </a:bodyPr>
            <a:lstStyle/>
            <a:p>
              <a:pPr>
                <a:defRPr/>
              </a:pPr>
              <a:endParaRPr lang="en-US"/>
            </a:p>
          </p:txBody>
        </p:sp>
        <p:sp>
          <p:nvSpPr>
            <p:cNvPr id="78866" name="Oval 18">
              <a:extLst>
                <a:ext uri="{FF2B5EF4-FFF2-40B4-BE49-F238E27FC236}">
                  <a16:creationId xmlns:a16="http://schemas.microsoft.com/office/drawing/2014/main" id="{F8DA445C-08AF-B46A-4DF6-04462DBE9C5A}"/>
                </a:ext>
              </a:extLst>
            </p:cNvPr>
            <p:cNvSpPr>
              <a:spLocks noChangeArrowheads="1"/>
            </p:cNvSpPr>
            <p:nvPr/>
          </p:nvSpPr>
          <p:spPr bwMode="auto">
            <a:xfrm>
              <a:off x="1618" y="2469"/>
              <a:ext cx="48" cy="48"/>
            </a:xfrm>
            <a:prstGeom prst="ellipse">
              <a:avLst/>
            </a:prstGeom>
            <a:solidFill>
              <a:schemeClr val="accent1"/>
            </a:solidFill>
            <a:ln w="9525">
              <a:solidFill>
                <a:schemeClr val="tx1"/>
              </a:solidFill>
              <a:round/>
              <a:headEnd/>
              <a:tailEnd/>
            </a:ln>
            <a:effectLst/>
          </p:spPr>
          <p:txBody>
            <a:bodyPr wrap="none" anchor="ctr">
              <a:spAutoFit/>
            </a:bodyPr>
            <a:lstStyle/>
            <a:p>
              <a:pPr>
                <a:defRPr/>
              </a:pPr>
              <a:endParaRPr lang="en-US"/>
            </a:p>
          </p:txBody>
        </p:sp>
        <p:sp>
          <p:nvSpPr>
            <p:cNvPr id="78867" name="Oval 19">
              <a:extLst>
                <a:ext uri="{FF2B5EF4-FFF2-40B4-BE49-F238E27FC236}">
                  <a16:creationId xmlns:a16="http://schemas.microsoft.com/office/drawing/2014/main" id="{F803E5F5-3ED7-81EB-8B6F-5736C37C7C05}"/>
                </a:ext>
              </a:extLst>
            </p:cNvPr>
            <p:cNvSpPr>
              <a:spLocks noChangeArrowheads="1"/>
            </p:cNvSpPr>
            <p:nvPr/>
          </p:nvSpPr>
          <p:spPr bwMode="auto">
            <a:xfrm>
              <a:off x="2043" y="2043"/>
              <a:ext cx="48" cy="48"/>
            </a:xfrm>
            <a:prstGeom prst="ellipse">
              <a:avLst/>
            </a:prstGeom>
            <a:solidFill>
              <a:schemeClr val="accent1"/>
            </a:solidFill>
            <a:ln w="9525">
              <a:solidFill>
                <a:schemeClr val="tx1"/>
              </a:solidFill>
              <a:round/>
              <a:headEnd/>
              <a:tailEnd/>
            </a:ln>
            <a:effectLst/>
          </p:spPr>
          <p:txBody>
            <a:bodyPr wrap="none" anchor="ctr">
              <a:spAutoFit/>
            </a:bodyPr>
            <a:lstStyle/>
            <a:p>
              <a:pPr>
                <a:defRPr/>
              </a:pPr>
              <a:endParaRPr lang="en-US"/>
            </a:p>
          </p:txBody>
        </p:sp>
      </p:grpSp>
      <p:sp>
        <p:nvSpPr>
          <p:cNvPr id="4102" name="AutoShape 20">
            <a:extLst>
              <a:ext uri="{FF2B5EF4-FFF2-40B4-BE49-F238E27FC236}">
                <a16:creationId xmlns:a16="http://schemas.microsoft.com/office/drawing/2014/main" id="{7DF051B6-3E68-FD99-D232-E6BC958576DF}"/>
              </a:ext>
            </a:extLst>
          </p:cNvPr>
          <p:cNvSpPr>
            <a:spLocks noChangeArrowheads="1"/>
          </p:cNvSpPr>
          <p:nvPr/>
        </p:nvSpPr>
        <p:spPr bwMode="auto">
          <a:xfrm>
            <a:off x="4572000" y="4724400"/>
            <a:ext cx="2819400" cy="533400"/>
          </a:xfrm>
          <a:prstGeom prst="wedgeRectCallout">
            <a:avLst>
              <a:gd name="adj1" fmla="val -76463"/>
              <a:gd name="adj2" fmla="val -49106"/>
            </a:avLst>
          </a:prstGeom>
          <a:solidFill>
            <a:schemeClr val="accent1"/>
          </a:solidFill>
          <a:ln w="9525">
            <a:solidFill>
              <a:schemeClr val="tx1"/>
            </a:solidFill>
            <a:miter lim="800000"/>
            <a:headEnd/>
            <a:tailEnd/>
          </a:ln>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hr-HR" altLang="en-US">
                <a:solidFill>
                  <a:schemeClr val="tx2"/>
                </a:solidFill>
                <a:effectLst/>
              </a:rPr>
              <a:t>hiperkub za n=8</a:t>
            </a:r>
          </a:p>
        </p:txBody>
      </p:sp>
    </p:spTree>
  </p:cSld>
  <p:clrMapOvr>
    <a:masterClrMapping/>
  </p:clrMapOvr>
  <p:transition>
    <p:pull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7C4F188A-13EE-7B31-84A9-EC996CB24148}"/>
              </a:ext>
            </a:extLst>
          </p:cNvPr>
          <p:cNvSpPr>
            <a:spLocks noGrp="1" noChangeArrowheads="1"/>
          </p:cNvSpPr>
          <p:nvPr>
            <p:ph type="title"/>
          </p:nvPr>
        </p:nvSpPr>
        <p:spPr/>
        <p:txBody>
          <a:bodyPr/>
          <a:lstStyle/>
          <a:p>
            <a:pPr>
              <a:defRPr/>
            </a:pPr>
            <a:r>
              <a:rPr lang="hr-HR" altLang="en-US"/>
              <a:t>proizvod matrice i vektora (nast.)</a:t>
            </a:r>
            <a:endParaRPr lang="en-US" altLang="en-US"/>
          </a:p>
        </p:txBody>
      </p:sp>
      <p:sp>
        <p:nvSpPr>
          <p:cNvPr id="79875" name="Rectangle 3">
            <a:extLst>
              <a:ext uri="{FF2B5EF4-FFF2-40B4-BE49-F238E27FC236}">
                <a16:creationId xmlns:a16="http://schemas.microsoft.com/office/drawing/2014/main" id="{C392B3C0-A18B-5B72-06DF-78879EA8D51A}"/>
              </a:ext>
            </a:extLst>
          </p:cNvPr>
          <p:cNvSpPr>
            <a:spLocks noGrp="1" noChangeArrowheads="1"/>
          </p:cNvSpPr>
          <p:nvPr>
            <p:ph type="body" idx="1"/>
          </p:nvPr>
        </p:nvSpPr>
        <p:spPr/>
        <p:txBody>
          <a:bodyPr/>
          <a:lstStyle/>
          <a:p>
            <a:pPr marL="895350" lvl="1" indent="-438150">
              <a:defRPr/>
            </a:pPr>
            <a:r>
              <a:rPr lang="hr-HR" altLang="en-US" dirty="0"/>
              <a:t>Neka je vektor X zapamćen u lokalnoj memoriji prvog procesora</a:t>
            </a:r>
          </a:p>
          <a:p>
            <a:pPr marL="895350" lvl="1" indent="-438150">
              <a:defRPr/>
            </a:pPr>
            <a:r>
              <a:rPr lang="hr-HR" altLang="en-US" dirty="0"/>
              <a:t>Neka se u lok. mem. svakog procesora nalazi k</a:t>
            </a:r>
            <a:r>
              <a:rPr lang="hr-HR" altLang="en-US" dirty="0">
                <a:sym typeface="Symbol" pitchFamily="18" charset="2"/>
              </a:rPr>
              <a:t>m/n+1 vrsta matrice A</a:t>
            </a:r>
          </a:p>
        </p:txBody>
      </p:sp>
    </p:spTree>
  </p:cSld>
  <p:clrMapOvr>
    <a:masterClrMapping/>
  </p:clrMapOvr>
  <p:transition>
    <p:pull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B4BE1-7C52-22BC-9786-4084049062E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D0DFEAE-D838-E2F7-C7A1-F79D526AC77C}"/>
              </a:ext>
            </a:extLst>
          </p:cNvPr>
          <p:cNvSpPr>
            <a:spLocks noGrp="1"/>
          </p:cNvSpPr>
          <p:nvPr>
            <p:ph idx="1"/>
          </p:nvPr>
        </p:nvSpPr>
        <p:spPr/>
        <p:txBody>
          <a:bodyPr/>
          <a:lstStyle/>
          <a:p>
            <a:pPr marL="533400" indent="-533400">
              <a:defRPr/>
            </a:pPr>
            <a:r>
              <a:rPr lang="hr-HR" altLang="en-US" dirty="0">
                <a:sym typeface="Symbol" pitchFamily="18" charset="2"/>
              </a:rPr>
              <a:t>Efektivni paralelni algoritam</a:t>
            </a:r>
          </a:p>
          <a:p>
            <a:pPr marL="895350" lvl="1" indent="-438150">
              <a:buFont typeface="Wingdings" panose="05000000000000000000" pitchFamily="2" charset="2"/>
              <a:buAutoNum type="arabicPeriod"/>
              <a:defRPr/>
            </a:pPr>
            <a:r>
              <a:rPr lang="hr-HR" altLang="en-US" dirty="0">
                <a:sym typeface="Symbol" pitchFamily="18" charset="2"/>
              </a:rPr>
              <a:t>distribuirati vektor x svim ostalim procesorima</a:t>
            </a:r>
          </a:p>
          <a:p>
            <a:pPr marL="895350" lvl="1" indent="-438150">
              <a:buFont typeface="Wingdings" panose="05000000000000000000" pitchFamily="2" charset="2"/>
              <a:buAutoNum type="arabicPeriod"/>
              <a:defRPr/>
            </a:pPr>
            <a:r>
              <a:rPr lang="hr-HR" altLang="en-US" dirty="0">
                <a:sym typeface="Symbol" pitchFamily="18" charset="2"/>
              </a:rPr>
              <a:t>svi procesori jednovremeno računaju komponente vektora y</a:t>
            </a:r>
          </a:p>
          <a:p>
            <a:pPr marL="895350" lvl="1" indent="-438150">
              <a:buNone/>
              <a:defRPr/>
            </a:pPr>
            <a:endParaRPr lang="hr-HR" altLang="en-US" dirty="0">
              <a:sym typeface="Symbol" pitchFamily="18" charset="2"/>
            </a:endParaRPr>
          </a:p>
          <a:p>
            <a:pPr marL="895350" lvl="1" indent="-438150">
              <a:buFont typeface="Wingdings" panose="05000000000000000000" pitchFamily="2" charset="2"/>
              <a:buAutoNum type="arabicPeriod" startAt="3"/>
              <a:defRPr/>
            </a:pPr>
            <a:endParaRPr lang="hr-HR" altLang="en-US" dirty="0">
              <a:sym typeface="Symbol" pitchFamily="18" charset="2"/>
            </a:endParaRPr>
          </a:p>
          <a:p>
            <a:pPr marL="457200" lvl="1" indent="0">
              <a:buNone/>
              <a:defRPr/>
            </a:pPr>
            <a:endParaRPr lang="hr-HR" altLang="en-US" dirty="0">
              <a:sym typeface="Symbol" pitchFamily="18" charset="2"/>
            </a:endParaRPr>
          </a:p>
          <a:p>
            <a:pPr marL="895350" lvl="1" indent="-438150">
              <a:buFont typeface="Wingdings" panose="05000000000000000000" pitchFamily="2" charset="2"/>
              <a:buAutoNum type="arabicPeriod" startAt="3"/>
              <a:defRPr/>
            </a:pPr>
            <a:r>
              <a:rPr lang="hr-HR" altLang="en-US" dirty="0">
                <a:sym typeface="Symbol" pitchFamily="18" charset="2"/>
              </a:rPr>
              <a:t>sve komponente vektora y se predaju prvom procesoru</a:t>
            </a:r>
          </a:p>
          <a:p>
            <a:pPr marL="895350" lvl="1" indent="-438150">
              <a:defRPr/>
            </a:pPr>
            <a:r>
              <a:rPr lang="hr-HR" altLang="en-US" dirty="0">
                <a:sym typeface="Symbol" pitchFamily="18" charset="2"/>
              </a:rPr>
              <a:t>Pokazaćemo da je ovaj algoritam efektivan, </a:t>
            </a:r>
          </a:p>
          <a:p>
            <a:pPr marL="1295400" lvl="2" indent="-381000">
              <a:defRPr/>
            </a:pPr>
            <a:r>
              <a:rPr lang="hr-HR" altLang="en-US" dirty="0">
                <a:sym typeface="Symbol" pitchFamily="18" charset="2"/>
              </a:rPr>
              <a:t>tj. lim</a:t>
            </a:r>
            <a:r>
              <a:rPr lang="hr-HR" altLang="en-US" baseline="-25000" dirty="0">
                <a:sym typeface="Symbol" pitchFamily="18" charset="2"/>
              </a:rPr>
              <a:t>m</a:t>
            </a:r>
            <a:r>
              <a:rPr lang="hr-HR" altLang="en-US" dirty="0">
                <a:sym typeface="Symbol" pitchFamily="18" charset="2"/>
              </a:rPr>
              <a:t> </a:t>
            </a:r>
            <a:r>
              <a:rPr lang="en-US" altLang="en-US" dirty="0">
                <a:sym typeface="Symbol" pitchFamily="18" charset="2"/>
              </a:rPr>
              <a:t></a:t>
            </a:r>
            <a:r>
              <a:rPr lang="hr-HR" altLang="en-US" dirty="0">
                <a:sym typeface="Symbol" pitchFamily="18" charset="2"/>
              </a:rPr>
              <a:t>(m)=0</a:t>
            </a:r>
            <a:endParaRPr lang="en-US" altLang="en-US" dirty="0">
              <a:sym typeface="Symbol" pitchFamily="18" charset="2"/>
            </a:endParaRPr>
          </a:p>
          <a:p>
            <a:endParaRPr lang="en-US" dirty="0"/>
          </a:p>
        </p:txBody>
      </p:sp>
      <p:graphicFrame>
        <p:nvGraphicFramePr>
          <p:cNvPr id="4" name="Object 4">
            <a:extLst>
              <a:ext uri="{FF2B5EF4-FFF2-40B4-BE49-F238E27FC236}">
                <a16:creationId xmlns:a16="http://schemas.microsoft.com/office/drawing/2014/main" id="{30B8E691-C1EF-B63F-289E-7E578D53FE35}"/>
              </a:ext>
            </a:extLst>
          </p:cNvPr>
          <p:cNvGraphicFramePr>
            <a:graphicFrameLocks noChangeAspect="1"/>
          </p:cNvGraphicFramePr>
          <p:nvPr>
            <p:extLst>
              <p:ext uri="{D42A27DB-BD31-4B8C-83A1-F6EECF244321}">
                <p14:modId xmlns:p14="http://schemas.microsoft.com/office/powerpoint/2010/main" val="775245353"/>
              </p:ext>
            </p:extLst>
          </p:nvPr>
        </p:nvGraphicFramePr>
        <p:xfrm>
          <a:off x="2362200" y="2176415"/>
          <a:ext cx="3505200" cy="1236663"/>
        </p:xfrm>
        <a:graphic>
          <a:graphicData uri="http://schemas.openxmlformats.org/presentationml/2006/ole">
            <mc:AlternateContent xmlns:mc="http://schemas.openxmlformats.org/markup-compatibility/2006">
              <mc:Choice xmlns:v="urn:schemas-microsoft-com:vml" Requires="v">
                <p:oleObj name="Equation" r:id="rId2" imgW="1295400" imgH="457200" progId="Equation.3">
                  <p:embed/>
                </p:oleObj>
              </mc:Choice>
              <mc:Fallback>
                <p:oleObj name="Equation" r:id="rId2" imgW="1295400" imgH="457200" progId="Equation.3">
                  <p:embed/>
                  <p:pic>
                    <p:nvPicPr>
                      <p:cNvPr id="5122" name="Object 4">
                        <a:extLst>
                          <a:ext uri="{FF2B5EF4-FFF2-40B4-BE49-F238E27FC236}">
                            <a16:creationId xmlns:a16="http://schemas.microsoft.com/office/drawing/2014/main" id="{CC0F319D-5996-E7B0-B023-B42C18BD48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2176415"/>
                        <a:ext cx="3505200" cy="1236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152715616"/>
      </p:ext>
    </p:extLst>
  </p:cSld>
  <p:clrMapOvr>
    <a:masterClrMapping/>
  </p:clrMapOvr>
  <p:transition>
    <p:pull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8CC1E630-A9F5-E33B-A1DF-72A0B9D98A13}"/>
              </a:ext>
            </a:extLst>
          </p:cNvPr>
          <p:cNvSpPr>
            <a:spLocks noGrp="1" noChangeArrowheads="1"/>
          </p:cNvSpPr>
          <p:nvPr>
            <p:ph type="title"/>
          </p:nvPr>
        </p:nvSpPr>
        <p:spPr/>
        <p:txBody>
          <a:bodyPr/>
          <a:lstStyle/>
          <a:p>
            <a:pPr>
              <a:defRPr/>
            </a:pPr>
            <a:r>
              <a:rPr lang="hr-HR" altLang="en-US"/>
              <a:t>proizvod matrice i vektora (nast.)</a:t>
            </a:r>
            <a:endParaRPr lang="en-US" altLang="en-US"/>
          </a:p>
        </p:txBody>
      </p:sp>
      <p:sp>
        <p:nvSpPr>
          <p:cNvPr id="80899" name="Rectangle 3">
            <a:extLst>
              <a:ext uri="{FF2B5EF4-FFF2-40B4-BE49-F238E27FC236}">
                <a16:creationId xmlns:a16="http://schemas.microsoft.com/office/drawing/2014/main" id="{06EE21CD-7A9A-B8B3-9C8D-5D95D4967C7F}"/>
              </a:ext>
            </a:extLst>
          </p:cNvPr>
          <p:cNvSpPr>
            <a:spLocks noGrp="1" noChangeArrowheads="1"/>
          </p:cNvSpPr>
          <p:nvPr>
            <p:ph type="body" idx="1"/>
          </p:nvPr>
        </p:nvSpPr>
        <p:spPr/>
        <p:txBody>
          <a:bodyPr/>
          <a:lstStyle/>
          <a:p>
            <a:pPr marL="533400" indent="-533400">
              <a:defRPr/>
            </a:pPr>
            <a:r>
              <a:rPr lang="hr-HR" altLang="en-US" sz="2400"/>
              <a:t>Uticaj na faktor </a:t>
            </a:r>
            <a:r>
              <a:rPr lang="en-US" altLang="en-US" sz="2400">
                <a:sym typeface="Symbol" pitchFamily="18" charset="2"/>
              </a:rPr>
              <a:t></a:t>
            </a:r>
            <a:r>
              <a:rPr lang="hr-HR" altLang="en-US" sz="2400">
                <a:sym typeface="Symbol" pitchFamily="18" charset="2"/>
              </a:rPr>
              <a:t>(m) imaju aktivnosti koje se odnose na:</a:t>
            </a:r>
          </a:p>
          <a:p>
            <a:pPr marL="895350" lvl="1" indent="-438150">
              <a:defRPr/>
            </a:pPr>
            <a:r>
              <a:rPr lang="hr-HR" altLang="en-US" sz="2000">
                <a:sym typeface="Symbol" pitchFamily="18" charset="2"/>
              </a:rPr>
              <a:t>predaju vektora x</a:t>
            </a:r>
          </a:p>
          <a:p>
            <a:pPr marL="895350" lvl="1" indent="-438150">
              <a:defRPr/>
            </a:pPr>
            <a:r>
              <a:rPr lang="hr-HR" altLang="en-US" sz="2000">
                <a:sym typeface="Symbol" pitchFamily="18" charset="2"/>
              </a:rPr>
              <a:t>debalans u opterećenju, ako m/n nije ceo broj</a:t>
            </a:r>
          </a:p>
          <a:p>
            <a:pPr marL="895350" lvl="1" indent="-438150">
              <a:defRPr/>
            </a:pPr>
            <a:r>
              <a:rPr lang="hr-HR" altLang="en-US" sz="2000">
                <a:sym typeface="Symbol" pitchFamily="18" charset="2"/>
              </a:rPr>
              <a:t>predaja komponenti vektora y jednom (prvom) procesoru</a:t>
            </a:r>
          </a:p>
          <a:p>
            <a:pPr marL="533400" indent="-533400">
              <a:defRPr/>
            </a:pPr>
            <a:r>
              <a:rPr lang="hr-HR" altLang="en-US" sz="2400">
                <a:sym typeface="Symbol" pitchFamily="18" charset="2"/>
              </a:rPr>
              <a:t>Trajanje koraka</a:t>
            </a:r>
          </a:p>
          <a:p>
            <a:pPr marL="895350" lvl="1" indent="-438150">
              <a:buFont typeface="Wingdings" panose="05000000000000000000" pitchFamily="2" charset="2"/>
              <a:buAutoNum type="arabicPeriod"/>
              <a:defRPr/>
            </a:pPr>
            <a:r>
              <a:rPr lang="hr-HR" altLang="en-US" sz="2000">
                <a:sym typeface="Symbol" pitchFamily="18" charset="2"/>
              </a:rPr>
              <a:t>predaja vektora x ostalim procesorima </a:t>
            </a:r>
            <a:r>
              <a:rPr lang="hr-HR" altLang="en-US" sz="2000">
                <a:solidFill>
                  <a:schemeClr val="accent1"/>
                </a:solidFill>
                <a:sym typeface="Symbol" pitchFamily="18" charset="2"/>
              </a:rPr>
              <a:t>O(m*log</a:t>
            </a:r>
            <a:r>
              <a:rPr lang="hr-HR" altLang="en-US" sz="2000" baseline="-25000">
                <a:solidFill>
                  <a:schemeClr val="accent1"/>
                </a:solidFill>
                <a:sym typeface="Symbol" pitchFamily="18" charset="2"/>
              </a:rPr>
              <a:t>2</a:t>
            </a:r>
            <a:r>
              <a:rPr lang="hr-HR" altLang="en-US" sz="2000">
                <a:solidFill>
                  <a:schemeClr val="accent1"/>
                </a:solidFill>
                <a:sym typeface="Symbol" pitchFamily="18" charset="2"/>
              </a:rPr>
              <a:t>n)</a:t>
            </a:r>
            <a:r>
              <a:rPr lang="hr-HR" altLang="en-US" sz="2000">
                <a:sym typeface="Symbol" pitchFamily="18" charset="2"/>
              </a:rPr>
              <a:t> koraka</a:t>
            </a:r>
          </a:p>
          <a:p>
            <a:pPr marL="895350" lvl="1" indent="-438150">
              <a:buFont typeface="Wingdings" panose="05000000000000000000" pitchFamily="2" charset="2"/>
              <a:buAutoNum type="arabicPeriod"/>
              <a:defRPr/>
            </a:pPr>
            <a:r>
              <a:rPr lang="hr-HR" altLang="en-US" sz="2000">
                <a:sym typeface="Symbol" pitchFamily="18" charset="2"/>
              </a:rPr>
              <a:t>Vreme potrebno za izračunavanje k elemenata vektora y O(km)=O(m</a:t>
            </a:r>
            <a:r>
              <a:rPr lang="hr-HR" altLang="en-US" sz="2000" baseline="30000">
                <a:sym typeface="Symbol" pitchFamily="18" charset="2"/>
              </a:rPr>
              <a:t>2</a:t>
            </a:r>
            <a:r>
              <a:rPr lang="hr-HR" altLang="en-US" sz="2000">
                <a:sym typeface="Symbol" pitchFamily="18" charset="2"/>
              </a:rPr>
              <a:t>/n)+</a:t>
            </a:r>
            <a:r>
              <a:rPr lang="hr-HR" altLang="en-US" sz="2000">
                <a:solidFill>
                  <a:schemeClr val="accent1"/>
                </a:solidFill>
                <a:sym typeface="Symbol" pitchFamily="18" charset="2"/>
              </a:rPr>
              <a:t>O(m)</a:t>
            </a:r>
          </a:p>
          <a:p>
            <a:pPr marL="895350" lvl="1" indent="-438150">
              <a:buFont typeface="Wingdings" panose="05000000000000000000" pitchFamily="2" charset="2"/>
              <a:buAutoNum type="arabicPeriod"/>
              <a:defRPr/>
            </a:pPr>
            <a:r>
              <a:rPr lang="hr-HR" altLang="en-US" sz="2000">
                <a:sym typeface="Symbol" pitchFamily="18" charset="2"/>
              </a:rPr>
              <a:t>Predaja komponenti vektora y prvom procesoru </a:t>
            </a:r>
            <a:r>
              <a:rPr lang="hr-HR" altLang="en-US" sz="2000">
                <a:solidFill>
                  <a:schemeClr val="accent1"/>
                </a:solidFill>
                <a:sym typeface="Symbol" pitchFamily="18" charset="2"/>
              </a:rPr>
              <a:t>O(m*log</a:t>
            </a:r>
            <a:r>
              <a:rPr lang="hr-HR" altLang="en-US" sz="2000" baseline="-25000">
                <a:solidFill>
                  <a:schemeClr val="accent1"/>
                </a:solidFill>
                <a:sym typeface="Symbol" pitchFamily="18" charset="2"/>
              </a:rPr>
              <a:t>2</a:t>
            </a:r>
            <a:r>
              <a:rPr lang="hr-HR" altLang="en-US" sz="2000">
                <a:solidFill>
                  <a:schemeClr val="accent1"/>
                </a:solidFill>
                <a:sym typeface="Symbol" pitchFamily="18" charset="2"/>
              </a:rPr>
              <a:t>n)</a:t>
            </a:r>
            <a:r>
              <a:rPr lang="hr-HR" altLang="en-US">
                <a:sym typeface="Symbol" pitchFamily="18" charset="2"/>
              </a:rPr>
              <a:t> </a:t>
            </a:r>
            <a:endParaRPr lang="en-US" altLang="en-US">
              <a:sym typeface="Symbol" pitchFamily="18" charset="2"/>
            </a:endParaRPr>
          </a:p>
        </p:txBody>
      </p:sp>
      <p:graphicFrame>
        <p:nvGraphicFramePr>
          <p:cNvPr id="6146" name="Object 4">
            <a:extLst>
              <a:ext uri="{FF2B5EF4-FFF2-40B4-BE49-F238E27FC236}">
                <a16:creationId xmlns:a16="http://schemas.microsoft.com/office/drawing/2014/main" id="{BE85AD03-6F8D-5099-E818-6E79E0B0D2C1}"/>
              </a:ext>
            </a:extLst>
          </p:cNvPr>
          <p:cNvGraphicFramePr>
            <a:graphicFrameLocks noChangeAspect="1"/>
          </p:cNvGraphicFramePr>
          <p:nvPr/>
        </p:nvGraphicFramePr>
        <p:xfrm>
          <a:off x="2057400" y="4295775"/>
          <a:ext cx="4267200" cy="2341563"/>
        </p:xfrm>
        <a:graphic>
          <a:graphicData uri="http://schemas.openxmlformats.org/presentationml/2006/ole">
            <mc:AlternateContent xmlns:mc="http://schemas.openxmlformats.org/markup-compatibility/2006">
              <mc:Choice xmlns:v="urn:schemas-microsoft-com:vml" Requires="v">
                <p:oleObj name="Equation" r:id="rId2" imgW="2476500" imgH="1358900" progId="Equation.3">
                  <p:embed/>
                </p:oleObj>
              </mc:Choice>
              <mc:Fallback>
                <p:oleObj name="Equation" r:id="rId2" imgW="2476500" imgH="13589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4295775"/>
                        <a:ext cx="4267200" cy="2341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pull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04C12D73-54AF-9A19-90C3-3C96F134C769}"/>
              </a:ext>
            </a:extLst>
          </p:cNvPr>
          <p:cNvSpPr>
            <a:spLocks noGrp="1" noChangeArrowheads="1"/>
          </p:cNvSpPr>
          <p:nvPr>
            <p:ph type="title"/>
          </p:nvPr>
        </p:nvSpPr>
        <p:spPr/>
        <p:txBody>
          <a:bodyPr/>
          <a:lstStyle/>
          <a:p>
            <a:pPr>
              <a:defRPr/>
            </a:pPr>
            <a:r>
              <a:rPr lang="hr-HR" altLang="en-US"/>
              <a:t>Šta je realnost</a:t>
            </a:r>
            <a:endParaRPr lang="en-US" altLang="en-US"/>
          </a:p>
        </p:txBody>
      </p:sp>
      <p:grpSp>
        <p:nvGrpSpPr>
          <p:cNvPr id="53251" name="Group 3">
            <a:extLst>
              <a:ext uri="{FF2B5EF4-FFF2-40B4-BE49-F238E27FC236}">
                <a16:creationId xmlns:a16="http://schemas.microsoft.com/office/drawing/2014/main" id="{11251B02-057C-7144-C1FA-E157E1468C99}"/>
              </a:ext>
            </a:extLst>
          </p:cNvPr>
          <p:cNvGrpSpPr>
            <a:grpSpLocks/>
          </p:cNvGrpSpPr>
          <p:nvPr/>
        </p:nvGrpSpPr>
        <p:grpSpPr bwMode="auto">
          <a:xfrm>
            <a:off x="1143000" y="1828800"/>
            <a:ext cx="5029200" cy="3298825"/>
            <a:chOff x="720" y="1152"/>
            <a:chExt cx="3168" cy="2078"/>
          </a:xfrm>
        </p:grpSpPr>
        <p:sp>
          <p:nvSpPr>
            <p:cNvPr id="81924" name="Line 4">
              <a:extLst>
                <a:ext uri="{FF2B5EF4-FFF2-40B4-BE49-F238E27FC236}">
                  <a16:creationId xmlns:a16="http://schemas.microsoft.com/office/drawing/2014/main" id="{3B484441-6102-ADCD-4295-8E7478A5C345}"/>
                </a:ext>
              </a:extLst>
            </p:cNvPr>
            <p:cNvSpPr>
              <a:spLocks noChangeShapeType="1"/>
            </p:cNvSpPr>
            <p:nvPr/>
          </p:nvSpPr>
          <p:spPr bwMode="auto">
            <a:xfrm flipV="1">
              <a:off x="1056" y="1152"/>
              <a:ext cx="0" cy="1776"/>
            </a:xfrm>
            <a:prstGeom prst="line">
              <a:avLst/>
            </a:prstGeom>
            <a:noFill/>
            <a:ln w="9525">
              <a:solidFill>
                <a:schemeClr val="tx1"/>
              </a:solidFill>
              <a:round/>
              <a:headEnd/>
              <a:tailEnd type="triangle" w="med" len="med"/>
            </a:ln>
            <a:effectLst/>
          </p:spPr>
          <p:txBody>
            <a:bodyPr wrap="none" anchor="b">
              <a:spAutoFit/>
            </a:bodyPr>
            <a:lstStyle/>
            <a:p>
              <a:pPr>
                <a:defRPr/>
              </a:pPr>
              <a:endParaRPr lang="en-US"/>
            </a:p>
          </p:txBody>
        </p:sp>
        <p:sp>
          <p:nvSpPr>
            <p:cNvPr id="81925" name="Line 5">
              <a:extLst>
                <a:ext uri="{FF2B5EF4-FFF2-40B4-BE49-F238E27FC236}">
                  <a16:creationId xmlns:a16="http://schemas.microsoft.com/office/drawing/2014/main" id="{5C952024-7197-2580-75BD-C2B8029E3D7F}"/>
                </a:ext>
              </a:extLst>
            </p:cNvPr>
            <p:cNvSpPr>
              <a:spLocks noChangeShapeType="1"/>
            </p:cNvSpPr>
            <p:nvPr/>
          </p:nvSpPr>
          <p:spPr bwMode="auto">
            <a:xfrm>
              <a:off x="1056" y="2928"/>
              <a:ext cx="2832" cy="0"/>
            </a:xfrm>
            <a:prstGeom prst="line">
              <a:avLst/>
            </a:prstGeom>
            <a:noFill/>
            <a:ln w="9525">
              <a:solidFill>
                <a:schemeClr val="tx1"/>
              </a:solidFill>
              <a:round/>
              <a:headEnd/>
              <a:tailEnd type="triangle" w="med" len="med"/>
            </a:ln>
            <a:effectLst/>
          </p:spPr>
          <p:txBody>
            <a:bodyPr wrap="none" anchor="b">
              <a:spAutoFit/>
            </a:bodyPr>
            <a:lstStyle/>
            <a:p>
              <a:pPr>
                <a:defRPr/>
              </a:pPr>
              <a:endParaRPr lang="en-US"/>
            </a:p>
          </p:txBody>
        </p:sp>
        <p:sp>
          <p:nvSpPr>
            <p:cNvPr id="53256" name="Text Box 6">
              <a:extLst>
                <a:ext uri="{FF2B5EF4-FFF2-40B4-BE49-F238E27FC236}">
                  <a16:creationId xmlns:a16="http://schemas.microsoft.com/office/drawing/2014/main" id="{C6A21DA4-CDD6-E31F-B399-A1A239B88AFD}"/>
                </a:ext>
              </a:extLst>
            </p:cNvPr>
            <p:cNvSpPr txBox="1">
              <a:spLocks noChangeArrowheads="1"/>
            </p:cNvSpPr>
            <p:nvPr/>
          </p:nvSpPr>
          <p:spPr bwMode="auto">
            <a:xfrm>
              <a:off x="3686" y="2999"/>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effectLst/>
                </a:rPr>
                <a:t>n</a:t>
              </a:r>
              <a:endParaRPr lang="en-US" altLang="en-US">
                <a:effectLst/>
              </a:endParaRPr>
            </a:p>
          </p:txBody>
        </p:sp>
        <p:sp>
          <p:nvSpPr>
            <p:cNvPr id="53257" name="Text Box 7">
              <a:extLst>
                <a:ext uri="{FF2B5EF4-FFF2-40B4-BE49-F238E27FC236}">
                  <a16:creationId xmlns:a16="http://schemas.microsoft.com/office/drawing/2014/main" id="{837387F8-4FFD-A8AE-C2A5-618D322B57AC}"/>
                </a:ext>
              </a:extLst>
            </p:cNvPr>
            <p:cNvSpPr txBox="1">
              <a:spLocks noChangeArrowheads="1"/>
            </p:cNvSpPr>
            <p:nvPr/>
          </p:nvSpPr>
          <p:spPr bwMode="auto">
            <a:xfrm>
              <a:off x="720" y="1175"/>
              <a:ext cx="3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effectLst/>
                </a:rPr>
                <a:t>S(n)</a:t>
              </a:r>
              <a:endParaRPr lang="en-US" altLang="en-US">
                <a:effectLst/>
              </a:endParaRPr>
            </a:p>
          </p:txBody>
        </p:sp>
        <p:sp>
          <p:nvSpPr>
            <p:cNvPr id="81928" name="Freeform 8">
              <a:extLst>
                <a:ext uri="{FF2B5EF4-FFF2-40B4-BE49-F238E27FC236}">
                  <a16:creationId xmlns:a16="http://schemas.microsoft.com/office/drawing/2014/main" id="{3925FDFB-FF11-5050-B501-BA71E01E8AAF}"/>
                </a:ext>
              </a:extLst>
            </p:cNvPr>
            <p:cNvSpPr>
              <a:spLocks/>
            </p:cNvSpPr>
            <p:nvPr/>
          </p:nvSpPr>
          <p:spPr bwMode="auto">
            <a:xfrm>
              <a:off x="1056" y="1744"/>
              <a:ext cx="2304" cy="1184"/>
            </a:xfrm>
            <a:custGeom>
              <a:avLst/>
              <a:gdLst>
                <a:gd name="T0" fmla="*/ 0 w 2304"/>
                <a:gd name="T1" fmla="*/ 1184 h 1184"/>
                <a:gd name="T2" fmla="*/ 1296 w 2304"/>
                <a:gd name="T3" fmla="*/ 128 h 1184"/>
                <a:gd name="T4" fmla="*/ 2304 w 2304"/>
                <a:gd name="T5" fmla="*/ 416 h 1184"/>
              </a:gdLst>
              <a:ahLst/>
              <a:cxnLst>
                <a:cxn ang="0">
                  <a:pos x="T0" y="T1"/>
                </a:cxn>
                <a:cxn ang="0">
                  <a:pos x="T2" y="T3"/>
                </a:cxn>
                <a:cxn ang="0">
                  <a:pos x="T4" y="T5"/>
                </a:cxn>
              </a:cxnLst>
              <a:rect l="0" t="0" r="r" b="b"/>
              <a:pathLst>
                <a:path w="2304" h="1184">
                  <a:moveTo>
                    <a:pt x="0" y="1184"/>
                  </a:moveTo>
                  <a:cubicBezTo>
                    <a:pt x="456" y="720"/>
                    <a:pt x="912" y="256"/>
                    <a:pt x="1296" y="128"/>
                  </a:cubicBezTo>
                  <a:cubicBezTo>
                    <a:pt x="1680" y="0"/>
                    <a:pt x="2136" y="368"/>
                    <a:pt x="2304" y="416"/>
                  </a:cubicBezTo>
                </a:path>
              </a:pathLst>
            </a:custGeom>
            <a:noFill/>
            <a:ln w="9525" cap="flat" cmpd="sng">
              <a:solidFill>
                <a:schemeClr val="tx1"/>
              </a:solidFill>
              <a:prstDash val="solid"/>
              <a:round/>
              <a:headEnd/>
              <a:tailEnd/>
            </a:ln>
            <a:effectLst/>
          </p:spPr>
          <p:txBody>
            <a:bodyPr wrap="none" anchor="b">
              <a:spAutoFit/>
            </a:bodyPr>
            <a:lstStyle/>
            <a:p>
              <a:pPr>
                <a:defRPr/>
              </a:pPr>
              <a:endParaRPr lang="en-US"/>
            </a:p>
          </p:txBody>
        </p:sp>
        <p:sp>
          <p:nvSpPr>
            <p:cNvPr id="81929" name="Line 9">
              <a:extLst>
                <a:ext uri="{FF2B5EF4-FFF2-40B4-BE49-F238E27FC236}">
                  <a16:creationId xmlns:a16="http://schemas.microsoft.com/office/drawing/2014/main" id="{32E4AA44-FC86-0CD2-E930-43F901C8B978}"/>
                </a:ext>
              </a:extLst>
            </p:cNvPr>
            <p:cNvSpPr>
              <a:spLocks noChangeShapeType="1"/>
            </p:cNvSpPr>
            <p:nvPr/>
          </p:nvSpPr>
          <p:spPr bwMode="auto">
            <a:xfrm>
              <a:off x="2544" y="1872"/>
              <a:ext cx="0" cy="1104"/>
            </a:xfrm>
            <a:prstGeom prst="line">
              <a:avLst/>
            </a:prstGeom>
            <a:noFill/>
            <a:ln w="9525">
              <a:solidFill>
                <a:schemeClr val="tx1"/>
              </a:solidFill>
              <a:prstDash val="dash"/>
              <a:round/>
              <a:headEnd/>
              <a:tailEnd/>
            </a:ln>
            <a:effectLst/>
          </p:spPr>
          <p:txBody>
            <a:bodyPr wrap="none" anchor="b">
              <a:spAutoFit/>
            </a:bodyPr>
            <a:lstStyle/>
            <a:p>
              <a:pPr>
                <a:defRPr/>
              </a:pPr>
              <a:endParaRPr lang="en-US"/>
            </a:p>
          </p:txBody>
        </p:sp>
        <p:sp>
          <p:nvSpPr>
            <p:cNvPr id="53260" name="Text Box 10">
              <a:extLst>
                <a:ext uri="{FF2B5EF4-FFF2-40B4-BE49-F238E27FC236}">
                  <a16:creationId xmlns:a16="http://schemas.microsoft.com/office/drawing/2014/main" id="{123F14E4-75D5-C752-7DE3-9714CE089AEC}"/>
                </a:ext>
              </a:extLst>
            </p:cNvPr>
            <p:cNvSpPr txBox="1">
              <a:spLocks noChangeArrowheads="1"/>
            </p:cNvSpPr>
            <p:nvPr/>
          </p:nvSpPr>
          <p:spPr bwMode="auto">
            <a:xfrm>
              <a:off x="2438" y="2951"/>
              <a:ext cx="24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effectLst/>
                </a:rPr>
                <a:t>n</a:t>
              </a:r>
              <a:r>
                <a:rPr lang="hr-HR" altLang="en-US" baseline="-25000">
                  <a:effectLst/>
                </a:rPr>
                <a:t>0</a:t>
              </a:r>
              <a:endParaRPr lang="en-US" altLang="en-US" baseline="-25000">
                <a:effectLst/>
              </a:endParaRPr>
            </a:p>
          </p:txBody>
        </p:sp>
      </p:grpSp>
      <p:sp>
        <p:nvSpPr>
          <p:cNvPr id="81931" name="Text Box 11">
            <a:extLst>
              <a:ext uri="{FF2B5EF4-FFF2-40B4-BE49-F238E27FC236}">
                <a16:creationId xmlns:a16="http://schemas.microsoft.com/office/drawing/2014/main" id="{C3BA996F-3AA4-571F-EC59-8E93608C7526}"/>
              </a:ext>
            </a:extLst>
          </p:cNvPr>
          <p:cNvSpPr txBox="1">
            <a:spLocks noChangeArrowheads="1"/>
          </p:cNvSpPr>
          <p:nvPr/>
        </p:nvSpPr>
        <p:spPr bwMode="auto">
          <a:xfrm>
            <a:off x="4267200" y="5029200"/>
            <a:ext cx="1670050" cy="366713"/>
          </a:xfrm>
          <a:prstGeom prst="rect">
            <a:avLst/>
          </a:prstGeom>
          <a:noFill/>
          <a:ln>
            <a:noFill/>
          </a:ln>
          <a:effectLst/>
        </p:spPr>
        <p:txBody>
          <a:bodyPr wrap="none" anchor="b">
            <a:spAutoFit/>
          </a:bodyPr>
          <a:lstStyle/>
          <a:p>
            <a:pPr>
              <a:defRPr/>
            </a:pPr>
            <a:r>
              <a:rPr lang="sr-Latn-CS" altLang="en-US">
                <a:effectLst>
                  <a:outerShdw blurRad="38100" dist="38100" dir="2700000" algn="tl">
                    <a:srgbClr val="C0C0C0"/>
                  </a:outerShdw>
                </a:effectLst>
              </a:rPr>
              <a:t>Broj procesora</a:t>
            </a:r>
            <a:endParaRPr lang="en-US" altLang="en-US">
              <a:effectLst>
                <a:outerShdw blurRad="38100" dist="38100" dir="2700000" algn="tl">
                  <a:srgbClr val="C0C0C0"/>
                </a:outerShdw>
              </a:effectLst>
            </a:endParaRPr>
          </a:p>
        </p:txBody>
      </p:sp>
      <p:sp>
        <p:nvSpPr>
          <p:cNvPr id="81932" name="Text Box 12">
            <a:extLst>
              <a:ext uri="{FF2B5EF4-FFF2-40B4-BE49-F238E27FC236}">
                <a16:creationId xmlns:a16="http://schemas.microsoft.com/office/drawing/2014/main" id="{2D7E7E31-293D-873A-EFC8-8A1ECBDA925A}"/>
              </a:ext>
            </a:extLst>
          </p:cNvPr>
          <p:cNvSpPr txBox="1">
            <a:spLocks noChangeArrowheads="1"/>
          </p:cNvSpPr>
          <p:nvPr/>
        </p:nvSpPr>
        <p:spPr bwMode="auto">
          <a:xfrm rot="16200000">
            <a:off x="745332" y="2988468"/>
            <a:ext cx="1162050" cy="366713"/>
          </a:xfrm>
          <a:prstGeom prst="rect">
            <a:avLst/>
          </a:prstGeom>
          <a:noFill/>
          <a:ln>
            <a:noFill/>
          </a:ln>
          <a:effectLst/>
        </p:spPr>
        <p:txBody>
          <a:bodyPr wrap="none" anchor="b">
            <a:spAutoFit/>
          </a:bodyPr>
          <a:lstStyle/>
          <a:p>
            <a:pPr>
              <a:defRPr/>
            </a:pPr>
            <a:r>
              <a:rPr lang="sr-Latn-CS" altLang="en-US">
                <a:effectLst>
                  <a:outerShdw blurRad="38100" dist="38100" dir="2700000" algn="tl">
                    <a:srgbClr val="C0C0C0"/>
                  </a:outerShdw>
                </a:effectLst>
              </a:rPr>
              <a:t>Ubrzanje </a:t>
            </a:r>
            <a:endParaRPr lang="en-US" altLang="en-US">
              <a:effectLst>
                <a:outerShdw blurRad="38100" dist="38100" dir="2700000" algn="tl">
                  <a:srgbClr val="C0C0C0"/>
                </a:outerShdw>
              </a:effectLst>
            </a:endParaRPr>
          </a:p>
        </p:txBody>
      </p:sp>
    </p:spTree>
  </p:cSld>
  <p:clrMapOvr>
    <a:masterClrMapping/>
  </p:clrMapOvr>
  <p:transition>
    <p:pull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B9A32232-739A-7B70-7429-BC3FFD84682F}"/>
              </a:ext>
            </a:extLst>
          </p:cNvPr>
          <p:cNvSpPr>
            <a:spLocks noGrp="1" noChangeArrowheads="1"/>
          </p:cNvSpPr>
          <p:nvPr>
            <p:ph type="title"/>
          </p:nvPr>
        </p:nvSpPr>
        <p:spPr/>
        <p:txBody>
          <a:bodyPr/>
          <a:lstStyle/>
          <a:p>
            <a:pPr>
              <a:defRPr/>
            </a:pPr>
            <a:r>
              <a:rPr lang="hr-HR" altLang="en-US"/>
              <a:t>Efikasnost</a:t>
            </a:r>
            <a:endParaRPr lang="en-US" altLang="en-US"/>
          </a:p>
        </p:txBody>
      </p:sp>
      <p:sp>
        <p:nvSpPr>
          <p:cNvPr id="82947" name="Rectangle 3">
            <a:extLst>
              <a:ext uri="{FF2B5EF4-FFF2-40B4-BE49-F238E27FC236}">
                <a16:creationId xmlns:a16="http://schemas.microsoft.com/office/drawing/2014/main" id="{D6477305-15AE-3FAC-7956-A5F00B813830}"/>
              </a:ext>
            </a:extLst>
          </p:cNvPr>
          <p:cNvSpPr>
            <a:spLocks noGrp="1" noChangeArrowheads="1"/>
          </p:cNvSpPr>
          <p:nvPr>
            <p:ph type="body" idx="1"/>
          </p:nvPr>
        </p:nvSpPr>
        <p:spPr/>
        <p:txBody>
          <a:bodyPr/>
          <a:lstStyle/>
          <a:p>
            <a:pPr>
              <a:defRPr/>
            </a:pPr>
            <a:r>
              <a:rPr lang="hr-HR" altLang="en-US"/>
              <a:t>Definiše se kao odnos ubrzanja i broja procesora</a:t>
            </a:r>
          </a:p>
          <a:p>
            <a:pPr lvl="1">
              <a:defRPr/>
            </a:pPr>
            <a:r>
              <a:rPr lang="hr-HR" altLang="en-US"/>
              <a:t>E(n)=S(n)/n,     0 </a:t>
            </a:r>
            <a:r>
              <a:rPr lang="hr-HR" altLang="en-US">
                <a:sym typeface="Symbol" pitchFamily="18" charset="2"/>
              </a:rPr>
              <a:t> E  1</a:t>
            </a:r>
          </a:p>
          <a:p>
            <a:pPr lvl="1">
              <a:defRPr/>
            </a:pPr>
            <a:r>
              <a:rPr lang="hr-HR" altLang="en-US">
                <a:sym typeface="Symbol" pitchFamily="18" charset="2"/>
              </a:rPr>
              <a:t>Daje ocenu o srednjoj iskorišćenosti procesora u sistemu kada su svi procesori angažovani na rešavanju istog problema</a:t>
            </a:r>
          </a:p>
          <a:p>
            <a:pPr lvl="2">
              <a:defRPr/>
            </a:pPr>
            <a:r>
              <a:rPr lang="hr-HR" altLang="en-US"/>
              <a:t>ako se zanemare U/I aktivnosti, efikasnost jednoprocesorskig sistema je 1 (100%)</a:t>
            </a:r>
          </a:p>
          <a:p>
            <a:pPr>
              <a:defRPr/>
            </a:pPr>
            <a:r>
              <a:rPr lang="hr-HR" altLang="en-US"/>
              <a:t>Ubrzanje i efikasnost ne treba posmatrati odvojeno</a:t>
            </a:r>
          </a:p>
          <a:p>
            <a:pPr lvl="1">
              <a:defRPr/>
            </a:pPr>
            <a:r>
              <a:rPr lang="hr-HR" altLang="en-US"/>
              <a:t>sa poarstom broja procesora ubrzanje raste (do odredjene granice)</a:t>
            </a:r>
          </a:p>
          <a:p>
            <a:pPr lvl="1">
              <a:defRPr/>
            </a:pPr>
            <a:r>
              <a:rPr lang="hr-HR" altLang="en-US"/>
              <a:t>sa porastom broja procesora efikasnost opada</a:t>
            </a:r>
          </a:p>
          <a:p>
            <a:pPr lvl="1">
              <a:defRPr/>
            </a:pPr>
            <a:r>
              <a:rPr lang="hr-HR" altLang="en-US"/>
              <a:t>S(n)*E(n) je najbolja ocena</a:t>
            </a:r>
            <a:endParaRPr lang="en-US" altLang="en-US"/>
          </a:p>
        </p:txBody>
      </p:sp>
    </p:spTree>
  </p:cSld>
  <p:clrMapOvr>
    <a:masterClrMapping/>
  </p:clrMapOvr>
  <p:transition>
    <p:pull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8A8D3F70-A59D-0937-7A89-41328BCBF539}"/>
              </a:ext>
            </a:extLst>
          </p:cNvPr>
          <p:cNvSpPr>
            <a:spLocks noGrp="1" noChangeArrowheads="1"/>
          </p:cNvSpPr>
          <p:nvPr>
            <p:ph type="title"/>
          </p:nvPr>
        </p:nvSpPr>
        <p:spPr/>
        <p:txBody>
          <a:bodyPr/>
          <a:lstStyle/>
          <a:p>
            <a:pPr>
              <a:defRPr/>
            </a:pPr>
            <a:r>
              <a:rPr lang="en-US" altLang="en-US"/>
              <a:t>Efikasnost i ubrzanje</a:t>
            </a:r>
          </a:p>
        </p:txBody>
      </p:sp>
      <p:grpSp>
        <p:nvGrpSpPr>
          <p:cNvPr id="55299" name="Group 3">
            <a:extLst>
              <a:ext uri="{FF2B5EF4-FFF2-40B4-BE49-F238E27FC236}">
                <a16:creationId xmlns:a16="http://schemas.microsoft.com/office/drawing/2014/main" id="{8E410E7F-1BA1-47EE-6B56-0F96A0C01A12}"/>
              </a:ext>
            </a:extLst>
          </p:cNvPr>
          <p:cNvGrpSpPr>
            <a:grpSpLocks/>
          </p:cNvGrpSpPr>
          <p:nvPr/>
        </p:nvGrpSpPr>
        <p:grpSpPr bwMode="auto">
          <a:xfrm>
            <a:off x="152400" y="762000"/>
            <a:ext cx="4054475" cy="2795588"/>
            <a:chOff x="566" y="994"/>
            <a:chExt cx="2938" cy="2044"/>
          </a:xfrm>
        </p:grpSpPr>
        <p:sp>
          <p:nvSpPr>
            <p:cNvPr id="83972" name="Line 4">
              <a:extLst>
                <a:ext uri="{FF2B5EF4-FFF2-40B4-BE49-F238E27FC236}">
                  <a16:creationId xmlns:a16="http://schemas.microsoft.com/office/drawing/2014/main" id="{1FAACFC2-2B4B-04FA-EBEF-867675A55D4E}"/>
                </a:ext>
              </a:extLst>
            </p:cNvPr>
            <p:cNvSpPr>
              <a:spLocks noChangeShapeType="1"/>
            </p:cNvSpPr>
            <p:nvPr/>
          </p:nvSpPr>
          <p:spPr bwMode="auto">
            <a:xfrm>
              <a:off x="1104" y="2784"/>
              <a:ext cx="2304" cy="0"/>
            </a:xfrm>
            <a:prstGeom prst="line">
              <a:avLst/>
            </a:prstGeom>
            <a:noFill/>
            <a:ln w="9525">
              <a:solidFill>
                <a:schemeClr val="tx1"/>
              </a:solidFill>
              <a:round/>
              <a:headEnd/>
              <a:tailEnd type="triangle" w="med" len="med"/>
            </a:ln>
            <a:effectLst/>
          </p:spPr>
          <p:txBody>
            <a:bodyPr wrap="none" anchor="b">
              <a:spAutoFit/>
            </a:bodyPr>
            <a:lstStyle/>
            <a:p>
              <a:pPr>
                <a:defRPr/>
              </a:pPr>
              <a:endParaRPr lang="en-US"/>
            </a:p>
          </p:txBody>
        </p:sp>
        <p:sp>
          <p:nvSpPr>
            <p:cNvPr id="83973" name="Line 5">
              <a:extLst>
                <a:ext uri="{FF2B5EF4-FFF2-40B4-BE49-F238E27FC236}">
                  <a16:creationId xmlns:a16="http://schemas.microsoft.com/office/drawing/2014/main" id="{6C8142F4-CAB7-0027-5E10-B2B396727F71}"/>
                </a:ext>
              </a:extLst>
            </p:cNvPr>
            <p:cNvSpPr>
              <a:spLocks noChangeShapeType="1"/>
            </p:cNvSpPr>
            <p:nvPr/>
          </p:nvSpPr>
          <p:spPr bwMode="auto">
            <a:xfrm flipV="1">
              <a:off x="1104" y="1056"/>
              <a:ext cx="0" cy="1728"/>
            </a:xfrm>
            <a:prstGeom prst="line">
              <a:avLst/>
            </a:prstGeom>
            <a:noFill/>
            <a:ln w="9525">
              <a:solidFill>
                <a:schemeClr val="tx1"/>
              </a:solidFill>
              <a:round/>
              <a:headEnd/>
              <a:tailEnd type="triangle" w="med" len="med"/>
            </a:ln>
            <a:effectLst/>
          </p:spPr>
          <p:txBody>
            <a:bodyPr wrap="none" anchor="b">
              <a:spAutoFit/>
            </a:bodyPr>
            <a:lstStyle/>
            <a:p>
              <a:pPr>
                <a:defRPr/>
              </a:pPr>
              <a:endParaRPr lang="en-US"/>
            </a:p>
          </p:txBody>
        </p:sp>
        <p:sp>
          <p:nvSpPr>
            <p:cNvPr id="55323" name="Text Box 6">
              <a:extLst>
                <a:ext uri="{FF2B5EF4-FFF2-40B4-BE49-F238E27FC236}">
                  <a16:creationId xmlns:a16="http://schemas.microsoft.com/office/drawing/2014/main" id="{4B676377-85BF-D115-3826-72A2FD98BAF7}"/>
                </a:ext>
              </a:extLst>
            </p:cNvPr>
            <p:cNvSpPr txBox="1">
              <a:spLocks noChangeArrowheads="1"/>
            </p:cNvSpPr>
            <p:nvPr/>
          </p:nvSpPr>
          <p:spPr bwMode="auto">
            <a:xfrm>
              <a:off x="661" y="994"/>
              <a:ext cx="447"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effectLst/>
                </a:rPr>
                <a:t>E(n)</a:t>
              </a:r>
            </a:p>
          </p:txBody>
        </p:sp>
        <p:sp>
          <p:nvSpPr>
            <p:cNvPr id="55324" name="Text Box 7">
              <a:extLst>
                <a:ext uri="{FF2B5EF4-FFF2-40B4-BE49-F238E27FC236}">
                  <a16:creationId xmlns:a16="http://schemas.microsoft.com/office/drawing/2014/main" id="{CF261BA6-0CE8-2355-A9D6-74AC9E84E672}"/>
                </a:ext>
              </a:extLst>
            </p:cNvPr>
            <p:cNvSpPr txBox="1">
              <a:spLocks noChangeArrowheads="1"/>
            </p:cNvSpPr>
            <p:nvPr/>
          </p:nvSpPr>
          <p:spPr bwMode="auto">
            <a:xfrm>
              <a:off x="3109" y="2722"/>
              <a:ext cx="226"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effectLst/>
                </a:rPr>
                <a:t>n</a:t>
              </a:r>
            </a:p>
          </p:txBody>
        </p:sp>
        <p:sp>
          <p:nvSpPr>
            <p:cNvPr id="83976" name="Freeform 8">
              <a:extLst>
                <a:ext uri="{FF2B5EF4-FFF2-40B4-BE49-F238E27FC236}">
                  <a16:creationId xmlns:a16="http://schemas.microsoft.com/office/drawing/2014/main" id="{1914CE70-E3BD-79DD-F912-3E5D55A9F983}"/>
                </a:ext>
              </a:extLst>
            </p:cNvPr>
            <p:cNvSpPr>
              <a:spLocks/>
            </p:cNvSpPr>
            <p:nvPr/>
          </p:nvSpPr>
          <p:spPr bwMode="auto">
            <a:xfrm>
              <a:off x="1440" y="1536"/>
              <a:ext cx="2064" cy="960"/>
            </a:xfrm>
            <a:custGeom>
              <a:avLst/>
              <a:gdLst>
                <a:gd name="T0" fmla="*/ 0 w 2064"/>
                <a:gd name="T1" fmla="*/ 0 h 960"/>
                <a:gd name="T2" fmla="*/ 576 w 2064"/>
                <a:gd name="T3" fmla="*/ 576 h 960"/>
                <a:gd name="T4" fmla="*/ 2064 w 2064"/>
                <a:gd name="T5" fmla="*/ 960 h 960"/>
              </a:gdLst>
              <a:ahLst/>
              <a:cxnLst>
                <a:cxn ang="0">
                  <a:pos x="T0" y="T1"/>
                </a:cxn>
                <a:cxn ang="0">
                  <a:pos x="T2" y="T3"/>
                </a:cxn>
                <a:cxn ang="0">
                  <a:pos x="T4" y="T5"/>
                </a:cxn>
              </a:cxnLst>
              <a:rect l="0" t="0" r="r" b="b"/>
              <a:pathLst>
                <a:path w="2064" h="960">
                  <a:moveTo>
                    <a:pt x="0" y="0"/>
                  </a:moveTo>
                  <a:cubicBezTo>
                    <a:pt x="116" y="208"/>
                    <a:pt x="232" y="416"/>
                    <a:pt x="576" y="576"/>
                  </a:cubicBezTo>
                  <a:cubicBezTo>
                    <a:pt x="920" y="736"/>
                    <a:pt x="1816" y="896"/>
                    <a:pt x="2064" y="960"/>
                  </a:cubicBezTo>
                </a:path>
              </a:pathLst>
            </a:custGeom>
            <a:noFill/>
            <a:ln w="9525" cap="flat" cmpd="sng">
              <a:solidFill>
                <a:schemeClr val="tx1"/>
              </a:solidFill>
              <a:prstDash val="solid"/>
              <a:round/>
              <a:headEnd/>
              <a:tailEnd/>
            </a:ln>
            <a:effectLst/>
          </p:spPr>
          <p:txBody>
            <a:bodyPr wrap="none" anchor="b">
              <a:spAutoFit/>
            </a:bodyPr>
            <a:lstStyle/>
            <a:p>
              <a:pPr>
                <a:defRPr/>
              </a:pPr>
              <a:endParaRPr lang="en-US"/>
            </a:p>
          </p:txBody>
        </p:sp>
        <p:sp>
          <p:nvSpPr>
            <p:cNvPr id="55326" name="Text Box 9">
              <a:extLst>
                <a:ext uri="{FF2B5EF4-FFF2-40B4-BE49-F238E27FC236}">
                  <a16:creationId xmlns:a16="http://schemas.microsoft.com/office/drawing/2014/main" id="{506A2E1C-DC44-B7EC-DA5C-4E8BD85EC494}"/>
                </a:ext>
              </a:extLst>
            </p:cNvPr>
            <p:cNvSpPr txBox="1">
              <a:spLocks noChangeArrowheads="1"/>
            </p:cNvSpPr>
            <p:nvPr/>
          </p:nvSpPr>
          <p:spPr bwMode="auto">
            <a:xfrm>
              <a:off x="1344" y="2770"/>
              <a:ext cx="225"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effectLst/>
                </a:rPr>
                <a:t>1</a:t>
              </a:r>
            </a:p>
          </p:txBody>
        </p:sp>
        <p:sp>
          <p:nvSpPr>
            <p:cNvPr id="83978" name="Line 10">
              <a:extLst>
                <a:ext uri="{FF2B5EF4-FFF2-40B4-BE49-F238E27FC236}">
                  <a16:creationId xmlns:a16="http://schemas.microsoft.com/office/drawing/2014/main" id="{F9F42F45-5AEB-5479-06D1-8C47970D8742}"/>
                </a:ext>
              </a:extLst>
            </p:cNvPr>
            <p:cNvSpPr>
              <a:spLocks noChangeShapeType="1"/>
            </p:cNvSpPr>
            <p:nvPr/>
          </p:nvSpPr>
          <p:spPr bwMode="auto">
            <a:xfrm>
              <a:off x="1440" y="1536"/>
              <a:ext cx="0" cy="1248"/>
            </a:xfrm>
            <a:prstGeom prst="line">
              <a:avLst/>
            </a:prstGeom>
            <a:noFill/>
            <a:ln w="9525">
              <a:solidFill>
                <a:schemeClr val="tx1"/>
              </a:solidFill>
              <a:prstDash val="dash"/>
              <a:round/>
              <a:headEnd/>
              <a:tailEnd/>
            </a:ln>
            <a:effectLst/>
          </p:spPr>
          <p:txBody>
            <a:bodyPr wrap="none" anchor="b">
              <a:spAutoFit/>
            </a:bodyPr>
            <a:lstStyle/>
            <a:p>
              <a:pPr>
                <a:defRPr/>
              </a:pPr>
              <a:endParaRPr lang="en-US"/>
            </a:p>
          </p:txBody>
        </p:sp>
        <p:sp>
          <p:nvSpPr>
            <p:cNvPr id="83979" name="Line 11">
              <a:extLst>
                <a:ext uri="{FF2B5EF4-FFF2-40B4-BE49-F238E27FC236}">
                  <a16:creationId xmlns:a16="http://schemas.microsoft.com/office/drawing/2014/main" id="{22EECBE9-5DBB-676D-1079-4B475266E9AD}"/>
                </a:ext>
              </a:extLst>
            </p:cNvPr>
            <p:cNvSpPr>
              <a:spLocks noChangeShapeType="1"/>
            </p:cNvSpPr>
            <p:nvPr/>
          </p:nvSpPr>
          <p:spPr bwMode="auto">
            <a:xfrm flipH="1">
              <a:off x="1104" y="1536"/>
              <a:ext cx="336" cy="0"/>
            </a:xfrm>
            <a:prstGeom prst="line">
              <a:avLst/>
            </a:prstGeom>
            <a:noFill/>
            <a:ln w="9525">
              <a:solidFill>
                <a:schemeClr val="tx1"/>
              </a:solidFill>
              <a:prstDash val="dash"/>
              <a:round/>
              <a:headEnd/>
              <a:tailEnd/>
            </a:ln>
            <a:effectLst/>
          </p:spPr>
          <p:txBody>
            <a:bodyPr wrap="none" anchor="b">
              <a:spAutoFit/>
            </a:bodyPr>
            <a:lstStyle/>
            <a:p>
              <a:pPr>
                <a:defRPr/>
              </a:pPr>
              <a:endParaRPr lang="en-US"/>
            </a:p>
          </p:txBody>
        </p:sp>
        <p:sp>
          <p:nvSpPr>
            <p:cNvPr id="55329" name="Text Box 12">
              <a:extLst>
                <a:ext uri="{FF2B5EF4-FFF2-40B4-BE49-F238E27FC236}">
                  <a16:creationId xmlns:a16="http://schemas.microsoft.com/office/drawing/2014/main" id="{78421947-6D07-F662-AD53-31F0B0B6CB2A}"/>
                </a:ext>
              </a:extLst>
            </p:cNvPr>
            <p:cNvSpPr txBox="1">
              <a:spLocks noChangeArrowheads="1"/>
            </p:cNvSpPr>
            <p:nvPr/>
          </p:nvSpPr>
          <p:spPr bwMode="auto">
            <a:xfrm>
              <a:off x="566" y="1378"/>
              <a:ext cx="557"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effectLst/>
                </a:rPr>
                <a:t>100%</a:t>
              </a:r>
            </a:p>
          </p:txBody>
        </p:sp>
      </p:grpSp>
      <p:grpSp>
        <p:nvGrpSpPr>
          <p:cNvPr id="55300" name="Group 13">
            <a:extLst>
              <a:ext uri="{FF2B5EF4-FFF2-40B4-BE49-F238E27FC236}">
                <a16:creationId xmlns:a16="http://schemas.microsoft.com/office/drawing/2014/main" id="{66E201F3-7B34-73A3-AB65-67463C70D1B6}"/>
              </a:ext>
            </a:extLst>
          </p:cNvPr>
          <p:cNvGrpSpPr>
            <a:grpSpLocks/>
          </p:cNvGrpSpPr>
          <p:nvPr/>
        </p:nvGrpSpPr>
        <p:grpSpPr bwMode="auto">
          <a:xfrm>
            <a:off x="4343400" y="914400"/>
            <a:ext cx="4343400" cy="2708275"/>
            <a:chOff x="2640" y="598"/>
            <a:chExt cx="2736" cy="1706"/>
          </a:xfrm>
        </p:grpSpPr>
        <p:sp>
          <p:nvSpPr>
            <p:cNvPr id="83982" name="Line 14">
              <a:extLst>
                <a:ext uri="{FF2B5EF4-FFF2-40B4-BE49-F238E27FC236}">
                  <a16:creationId xmlns:a16="http://schemas.microsoft.com/office/drawing/2014/main" id="{3FEB579D-6C73-A9BF-FC0F-769050A0FB0E}"/>
                </a:ext>
              </a:extLst>
            </p:cNvPr>
            <p:cNvSpPr>
              <a:spLocks noChangeShapeType="1"/>
            </p:cNvSpPr>
            <p:nvPr/>
          </p:nvSpPr>
          <p:spPr bwMode="auto">
            <a:xfrm flipV="1">
              <a:off x="3013" y="624"/>
              <a:ext cx="0" cy="1436"/>
            </a:xfrm>
            <a:prstGeom prst="line">
              <a:avLst/>
            </a:prstGeom>
            <a:noFill/>
            <a:ln w="9525">
              <a:solidFill>
                <a:schemeClr val="tx1"/>
              </a:solidFill>
              <a:round/>
              <a:headEnd/>
              <a:tailEnd type="triangle" w="med" len="med"/>
            </a:ln>
            <a:effectLst/>
          </p:spPr>
          <p:txBody>
            <a:bodyPr wrap="none" anchor="b">
              <a:spAutoFit/>
            </a:bodyPr>
            <a:lstStyle/>
            <a:p>
              <a:pPr>
                <a:defRPr/>
              </a:pPr>
              <a:endParaRPr lang="en-US"/>
            </a:p>
          </p:txBody>
        </p:sp>
        <p:sp>
          <p:nvSpPr>
            <p:cNvPr id="83983" name="Line 15">
              <a:extLst>
                <a:ext uri="{FF2B5EF4-FFF2-40B4-BE49-F238E27FC236}">
                  <a16:creationId xmlns:a16="http://schemas.microsoft.com/office/drawing/2014/main" id="{3B43F09F-82A3-FC32-DA9D-6DC9FC660FBB}"/>
                </a:ext>
              </a:extLst>
            </p:cNvPr>
            <p:cNvSpPr>
              <a:spLocks noChangeShapeType="1"/>
            </p:cNvSpPr>
            <p:nvPr/>
          </p:nvSpPr>
          <p:spPr bwMode="auto">
            <a:xfrm>
              <a:off x="3013" y="2060"/>
              <a:ext cx="2335" cy="0"/>
            </a:xfrm>
            <a:prstGeom prst="line">
              <a:avLst/>
            </a:prstGeom>
            <a:noFill/>
            <a:ln w="9525">
              <a:solidFill>
                <a:schemeClr val="tx1"/>
              </a:solidFill>
              <a:round/>
              <a:headEnd/>
              <a:tailEnd type="triangle" w="med" len="med"/>
            </a:ln>
            <a:effectLst/>
          </p:spPr>
          <p:txBody>
            <a:bodyPr wrap="none" anchor="b">
              <a:spAutoFit/>
            </a:bodyPr>
            <a:lstStyle/>
            <a:p>
              <a:pPr>
                <a:defRPr/>
              </a:pPr>
              <a:endParaRPr lang="en-US"/>
            </a:p>
          </p:txBody>
        </p:sp>
        <p:sp>
          <p:nvSpPr>
            <p:cNvPr id="55316" name="Text Box 16">
              <a:extLst>
                <a:ext uri="{FF2B5EF4-FFF2-40B4-BE49-F238E27FC236}">
                  <a16:creationId xmlns:a16="http://schemas.microsoft.com/office/drawing/2014/main" id="{C5775683-B115-69CC-F231-55CA236384AB}"/>
                </a:ext>
              </a:extLst>
            </p:cNvPr>
            <p:cNvSpPr txBox="1">
              <a:spLocks noChangeArrowheads="1"/>
            </p:cNvSpPr>
            <p:nvPr/>
          </p:nvSpPr>
          <p:spPr bwMode="auto">
            <a:xfrm>
              <a:off x="5181" y="2073"/>
              <a:ext cx="1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effectLst/>
                </a:rPr>
                <a:t>n</a:t>
              </a:r>
              <a:endParaRPr lang="en-US" altLang="en-US">
                <a:effectLst/>
              </a:endParaRPr>
            </a:p>
          </p:txBody>
        </p:sp>
        <p:sp>
          <p:nvSpPr>
            <p:cNvPr id="55317" name="Text Box 17">
              <a:extLst>
                <a:ext uri="{FF2B5EF4-FFF2-40B4-BE49-F238E27FC236}">
                  <a16:creationId xmlns:a16="http://schemas.microsoft.com/office/drawing/2014/main" id="{BF6B765F-AE17-C899-1FFF-EC1FBC8F1DA1}"/>
                </a:ext>
              </a:extLst>
            </p:cNvPr>
            <p:cNvSpPr txBox="1">
              <a:spLocks noChangeArrowheads="1"/>
            </p:cNvSpPr>
            <p:nvPr/>
          </p:nvSpPr>
          <p:spPr bwMode="auto">
            <a:xfrm>
              <a:off x="2640" y="598"/>
              <a:ext cx="3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effectLst/>
                </a:rPr>
                <a:t>S(n)</a:t>
              </a:r>
              <a:endParaRPr lang="en-US" altLang="en-US">
                <a:effectLst/>
              </a:endParaRPr>
            </a:p>
          </p:txBody>
        </p:sp>
        <p:sp>
          <p:nvSpPr>
            <p:cNvPr id="83986" name="Freeform 18">
              <a:extLst>
                <a:ext uri="{FF2B5EF4-FFF2-40B4-BE49-F238E27FC236}">
                  <a16:creationId xmlns:a16="http://schemas.microsoft.com/office/drawing/2014/main" id="{96D5880C-722F-9CE8-BE90-689D31F8CDDA}"/>
                </a:ext>
              </a:extLst>
            </p:cNvPr>
            <p:cNvSpPr>
              <a:spLocks/>
            </p:cNvSpPr>
            <p:nvPr/>
          </p:nvSpPr>
          <p:spPr bwMode="auto">
            <a:xfrm>
              <a:off x="3013" y="1103"/>
              <a:ext cx="1900" cy="957"/>
            </a:xfrm>
            <a:custGeom>
              <a:avLst/>
              <a:gdLst>
                <a:gd name="T0" fmla="*/ 0 w 2304"/>
                <a:gd name="T1" fmla="*/ 1184 h 1184"/>
                <a:gd name="T2" fmla="*/ 1296 w 2304"/>
                <a:gd name="T3" fmla="*/ 128 h 1184"/>
                <a:gd name="T4" fmla="*/ 2304 w 2304"/>
                <a:gd name="T5" fmla="*/ 416 h 1184"/>
              </a:gdLst>
              <a:ahLst/>
              <a:cxnLst>
                <a:cxn ang="0">
                  <a:pos x="T0" y="T1"/>
                </a:cxn>
                <a:cxn ang="0">
                  <a:pos x="T2" y="T3"/>
                </a:cxn>
                <a:cxn ang="0">
                  <a:pos x="T4" y="T5"/>
                </a:cxn>
              </a:cxnLst>
              <a:rect l="0" t="0" r="r" b="b"/>
              <a:pathLst>
                <a:path w="2304" h="1184">
                  <a:moveTo>
                    <a:pt x="0" y="1184"/>
                  </a:moveTo>
                  <a:cubicBezTo>
                    <a:pt x="456" y="720"/>
                    <a:pt x="912" y="256"/>
                    <a:pt x="1296" y="128"/>
                  </a:cubicBezTo>
                  <a:cubicBezTo>
                    <a:pt x="1680" y="0"/>
                    <a:pt x="2136" y="368"/>
                    <a:pt x="2304" y="416"/>
                  </a:cubicBezTo>
                </a:path>
              </a:pathLst>
            </a:custGeom>
            <a:noFill/>
            <a:ln w="9525" cap="flat" cmpd="sng">
              <a:solidFill>
                <a:schemeClr val="tx1"/>
              </a:solidFill>
              <a:prstDash val="solid"/>
              <a:round/>
              <a:headEnd/>
              <a:tailEnd/>
            </a:ln>
            <a:effectLst/>
          </p:spPr>
          <p:txBody>
            <a:bodyPr wrap="none" anchor="b">
              <a:spAutoFit/>
            </a:bodyPr>
            <a:lstStyle/>
            <a:p>
              <a:pPr>
                <a:defRPr/>
              </a:pPr>
              <a:endParaRPr lang="en-US"/>
            </a:p>
          </p:txBody>
        </p:sp>
        <p:sp>
          <p:nvSpPr>
            <p:cNvPr id="83987" name="Line 19">
              <a:extLst>
                <a:ext uri="{FF2B5EF4-FFF2-40B4-BE49-F238E27FC236}">
                  <a16:creationId xmlns:a16="http://schemas.microsoft.com/office/drawing/2014/main" id="{0F3337B7-BF7F-1EB2-4C58-8E90B54A2DE3}"/>
                </a:ext>
              </a:extLst>
            </p:cNvPr>
            <p:cNvSpPr>
              <a:spLocks noChangeShapeType="1"/>
            </p:cNvSpPr>
            <p:nvPr/>
          </p:nvSpPr>
          <p:spPr bwMode="auto">
            <a:xfrm>
              <a:off x="4240" y="1206"/>
              <a:ext cx="0" cy="893"/>
            </a:xfrm>
            <a:prstGeom prst="line">
              <a:avLst/>
            </a:prstGeom>
            <a:noFill/>
            <a:ln w="9525">
              <a:solidFill>
                <a:schemeClr val="tx1"/>
              </a:solidFill>
              <a:prstDash val="dash"/>
              <a:round/>
              <a:headEnd/>
              <a:tailEnd/>
            </a:ln>
            <a:effectLst/>
          </p:spPr>
          <p:txBody>
            <a:bodyPr wrap="none" anchor="b">
              <a:spAutoFit/>
            </a:bodyPr>
            <a:lstStyle/>
            <a:p>
              <a:pPr>
                <a:defRPr/>
              </a:pPr>
              <a:endParaRPr lang="en-US"/>
            </a:p>
          </p:txBody>
        </p:sp>
        <p:sp>
          <p:nvSpPr>
            <p:cNvPr id="55320" name="Text Box 20">
              <a:extLst>
                <a:ext uri="{FF2B5EF4-FFF2-40B4-BE49-F238E27FC236}">
                  <a16:creationId xmlns:a16="http://schemas.microsoft.com/office/drawing/2014/main" id="{704A326C-288D-C9E4-83AE-7203140FB029}"/>
                </a:ext>
              </a:extLst>
            </p:cNvPr>
            <p:cNvSpPr txBox="1">
              <a:spLocks noChangeArrowheads="1"/>
            </p:cNvSpPr>
            <p:nvPr/>
          </p:nvSpPr>
          <p:spPr bwMode="auto">
            <a:xfrm>
              <a:off x="4152" y="2034"/>
              <a:ext cx="24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effectLst/>
                </a:rPr>
                <a:t>n</a:t>
              </a:r>
              <a:r>
                <a:rPr lang="hr-HR" altLang="en-US" baseline="-25000">
                  <a:effectLst/>
                </a:rPr>
                <a:t>0</a:t>
              </a:r>
              <a:endParaRPr lang="en-US" altLang="en-US" baseline="-25000">
                <a:effectLst/>
              </a:endParaRPr>
            </a:p>
          </p:txBody>
        </p:sp>
      </p:grpSp>
      <p:sp>
        <p:nvSpPr>
          <p:cNvPr id="83989" name="Line 21">
            <a:extLst>
              <a:ext uri="{FF2B5EF4-FFF2-40B4-BE49-F238E27FC236}">
                <a16:creationId xmlns:a16="http://schemas.microsoft.com/office/drawing/2014/main" id="{1449DD71-DD4D-2D62-959A-17B123E1965D}"/>
              </a:ext>
            </a:extLst>
          </p:cNvPr>
          <p:cNvSpPr>
            <a:spLocks noChangeShapeType="1"/>
          </p:cNvSpPr>
          <p:nvPr/>
        </p:nvSpPr>
        <p:spPr bwMode="auto">
          <a:xfrm flipV="1">
            <a:off x="3013075" y="3765550"/>
            <a:ext cx="0" cy="2363788"/>
          </a:xfrm>
          <a:prstGeom prst="line">
            <a:avLst/>
          </a:prstGeom>
          <a:noFill/>
          <a:ln w="9525">
            <a:solidFill>
              <a:schemeClr val="tx1"/>
            </a:solidFill>
            <a:round/>
            <a:headEnd/>
            <a:tailEnd type="triangle" w="med" len="med"/>
          </a:ln>
          <a:effectLst/>
        </p:spPr>
        <p:txBody>
          <a:bodyPr wrap="none" anchor="b">
            <a:spAutoFit/>
          </a:bodyPr>
          <a:lstStyle/>
          <a:p>
            <a:pPr>
              <a:defRPr/>
            </a:pPr>
            <a:endParaRPr lang="en-US"/>
          </a:p>
        </p:txBody>
      </p:sp>
      <p:sp>
        <p:nvSpPr>
          <p:cNvPr id="55302" name="Text Box 22">
            <a:extLst>
              <a:ext uri="{FF2B5EF4-FFF2-40B4-BE49-F238E27FC236}">
                <a16:creationId xmlns:a16="http://schemas.microsoft.com/office/drawing/2014/main" id="{07F419CC-420B-EC5A-AAEE-5B1A0778106B}"/>
              </a:ext>
            </a:extLst>
          </p:cNvPr>
          <p:cNvSpPr txBox="1">
            <a:spLocks noChangeArrowheads="1"/>
          </p:cNvSpPr>
          <p:nvPr/>
        </p:nvSpPr>
        <p:spPr bwMode="auto">
          <a:xfrm>
            <a:off x="4264025" y="5334000"/>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effectLst/>
              </a:rPr>
              <a:t>E(n)</a:t>
            </a:r>
          </a:p>
        </p:txBody>
      </p:sp>
      <p:sp>
        <p:nvSpPr>
          <p:cNvPr id="83991" name="Freeform 23">
            <a:extLst>
              <a:ext uri="{FF2B5EF4-FFF2-40B4-BE49-F238E27FC236}">
                <a16:creationId xmlns:a16="http://schemas.microsoft.com/office/drawing/2014/main" id="{8E8C3FC3-44E7-2B3A-3B12-3D37C22F7684}"/>
              </a:ext>
            </a:extLst>
          </p:cNvPr>
          <p:cNvSpPr>
            <a:spLocks/>
          </p:cNvSpPr>
          <p:nvPr/>
        </p:nvSpPr>
        <p:spPr bwMode="auto">
          <a:xfrm>
            <a:off x="3476625" y="4422775"/>
            <a:ext cx="2847975" cy="1312863"/>
          </a:xfrm>
          <a:custGeom>
            <a:avLst/>
            <a:gdLst>
              <a:gd name="T0" fmla="*/ 0 w 2064"/>
              <a:gd name="T1" fmla="*/ 0 h 960"/>
              <a:gd name="T2" fmla="*/ 576 w 2064"/>
              <a:gd name="T3" fmla="*/ 576 h 960"/>
              <a:gd name="T4" fmla="*/ 2064 w 2064"/>
              <a:gd name="T5" fmla="*/ 960 h 960"/>
            </a:gdLst>
            <a:ahLst/>
            <a:cxnLst>
              <a:cxn ang="0">
                <a:pos x="T0" y="T1"/>
              </a:cxn>
              <a:cxn ang="0">
                <a:pos x="T2" y="T3"/>
              </a:cxn>
              <a:cxn ang="0">
                <a:pos x="T4" y="T5"/>
              </a:cxn>
            </a:cxnLst>
            <a:rect l="0" t="0" r="r" b="b"/>
            <a:pathLst>
              <a:path w="2064" h="960">
                <a:moveTo>
                  <a:pt x="0" y="0"/>
                </a:moveTo>
                <a:cubicBezTo>
                  <a:pt x="116" y="208"/>
                  <a:pt x="232" y="416"/>
                  <a:pt x="576" y="576"/>
                </a:cubicBezTo>
                <a:cubicBezTo>
                  <a:pt x="920" y="736"/>
                  <a:pt x="1816" y="896"/>
                  <a:pt x="2064" y="960"/>
                </a:cubicBezTo>
              </a:path>
            </a:pathLst>
          </a:custGeom>
          <a:noFill/>
          <a:ln w="19050" cap="flat" cmpd="sng">
            <a:solidFill>
              <a:schemeClr val="hlink"/>
            </a:solidFill>
            <a:prstDash val="solid"/>
            <a:round/>
            <a:headEnd/>
            <a:tailEnd/>
          </a:ln>
          <a:effectLst/>
        </p:spPr>
        <p:txBody>
          <a:bodyPr wrap="none" anchor="b">
            <a:spAutoFit/>
          </a:bodyPr>
          <a:lstStyle/>
          <a:p>
            <a:pPr>
              <a:defRPr/>
            </a:pPr>
            <a:endParaRPr lang="en-US"/>
          </a:p>
        </p:txBody>
      </p:sp>
      <p:sp>
        <p:nvSpPr>
          <p:cNvPr id="55304" name="Text Box 24">
            <a:extLst>
              <a:ext uri="{FF2B5EF4-FFF2-40B4-BE49-F238E27FC236}">
                <a16:creationId xmlns:a16="http://schemas.microsoft.com/office/drawing/2014/main" id="{2494F1EF-98DC-4EFF-FD84-FA88845AFEA5}"/>
              </a:ext>
            </a:extLst>
          </p:cNvPr>
          <p:cNvSpPr txBox="1">
            <a:spLocks noChangeArrowheads="1"/>
          </p:cNvSpPr>
          <p:nvPr/>
        </p:nvSpPr>
        <p:spPr bwMode="auto">
          <a:xfrm>
            <a:off x="3343275" y="61102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effectLst/>
              </a:rPr>
              <a:t>1</a:t>
            </a:r>
          </a:p>
        </p:txBody>
      </p:sp>
      <p:sp>
        <p:nvSpPr>
          <p:cNvPr id="83993" name="Line 25">
            <a:extLst>
              <a:ext uri="{FF2B5EF4-FFF2-40B4-BE49-F238E27FC236}">
                <a16:creationId xmlns:a16="http://schemas.microsoft.com/office/drawing/2014/main" id="{84B2C781-677D-ABA4-BEE6-D56F32FB43A3}"/>
              </a:ext>
            </a:extLst>
          </p:cNvPr>
          <p:cNvSpPr>
            <a:spLocks noChangeShapeType="1"/>
          </p:cNvSpPr>
          <p:nvPr/>
        </p:nvSpPr>
        <p:spPr bwMode="auto">
          <a:xfrm>
            <a:off x="3476625" y="4422775"/>
            <a:ext cx="0" cy="1706563"/>
          </a:xfrm>
          <a:prstGeom prst="line">
            <a:avLst/>
          </a:prstGeom>
          <a:noFill/>
          <a:ln w="9525">
            <a:solidFill>
              <a:schemeClr val="tx1"/>
            </a:solidFill>
            <a:prstDash val="dash"/>
            <a:round/>
            <a:headEnd/>
            <a:tailEnd/>
          </a:ln>
          <a:effectLst/>
        </p:spPr>
        <p:txBody>
          <a:bodyPr wrap="none" anchor="b">
            <a:spAutoFit/>
          </a:bodyPr>
          <a:lstStyle/>
          <a:p>
            <a:pPr>
              <a:defRPr/>
            </a:pPr>
            <a:endParaRPr lang="en-US"/>
          </a:p>
        </p:txBody>
      </p:sp>
      <p:sp>
        <p:nvSpPr>
          <p:cNvPr id="83994" name="Line 26">
            <a:extLst>
              <a:ext uri="{FF2B5EF4-FFF2-40B4-BE49-F238E27FC236}">
                <a16:creationId xmlns:a16="http://schemas.microsoft.com/office/drawing/2014/main" id="{7F55F408-C5F5-E330-879A-72675C0DC91F}"/>
              </a:ext>
            </a:extLst>
          </p:cNvPr>
          <p:cNvSpPr>
            <a:spLocks noChangeShapeType="1"/>
          </p:cNvSpPr>
          <p:nvPr/>
        </p:nvSpPr>
        <p:spPr bwMode="auto">
          <a:xfrm flipH="1">
            <a:off x="3013075" y="4422775"/>
            <a:ext cx="463550" cy="0"/>
          </a:xfrm>
          <a:prstGeom prst="line">
            <a:avLst/>
          </a:prstGeom>
          <a:noFill/>
          <a:ln w="9525">
            <a:solidFill>
              <a:schemeClr val="tx1"/>
            </a:solidFill>
            <a:prstDash val="dash"/>
            <a:round/>
            <a:headEnd/>
            <a:tailEnd/>
          </a:ln>
          <a:effectLst/>
        </p:spPr>
        <p:txBody>
          <a:bodyPr wrap="none" anchor="b">
            <a:spAutoFit/>
          </a:bodyPr>
          <a:lstStyle/>
          <a:p>
            <a:pPr>
              <a:defRPr/>
            </a:pPr>
            <a:endParaRPr lang="en-US"/>
          </a:p>
        </p:txBody>
      </p:sp>
      <p:sp>
        <p:nvSpPr>
          <p:cNvPr id="55307" name="Text Box 27">
            <a:extLst>
              <a:ext uri="{FF2B5EF4-FFF2-40B4-BE49-F238E27FC236}">
                <a16:creationId xmlns:a16="http://schemas.microsoft.com/office/drawing/2014/main" id="{A43FD5EA-E184-0500-C380-5AC128DCFCFD}"/>
              </a:ext>
            </a:extLst>
          </p:cNvPr>
          <p:cNvSpPr txBox="1">
            <a:spLocks noChangeArrowheads="1"/>
          </p:cNvSpPr>
          <p:nvPr/>
        </p:nvSpPr>
        <p:spPr bwMode="auto">
          <a:xfrm>
            <a:off x="2270125" y="4206875"/>
            <a:ext cx="768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effectLst/>
              </a:rPr>
              <a:t>100%</a:t>
            </a:r>
          </a:p>
        </p:txBody>
      </p:sp>
      <p:sp>
        <p:nvSpPr>
          <p:cNvPr id="83996" name="Line 28">
            <a:extLst>
              <a:ext uri="{FF2B5EF4-FFF2-40B4-BE49-F238E27FC236}">
                <a16:creationId xmlns:a16="http://schemas.microsoft.com/office/drawing/2014/main" id="{A8432783-3D29-7F80-04B7-8B26E79B058B}"/>
              </a:ext>
            </a:extLst>
          </p:cNvPr>
          <p:cNvSpPr>
            <a:spLocks noChangeShapeType="1"/>
          </p:cNvSpPr>
          <p:nvPr/>
        </p:nvSpPr>
        <p:spPr bwMode="auto">
          <a:xfrm>
            <a:off x="3025775" y="6129338"/>
            <a:ext cx="3706813" cy="0"/>
          </a:xfrm>
          <a:prstGeom prst="line">
            <a:avLst/>
          </a:prstGeom>
          <a:noFill/>
          <a:ln w="9525">
            <a:solidFill>
              <a:schemeClr val="tx1"/>
            </a:solidFill>
            <a:round/>
            <a:headEnd/>
            <a:tailEnd type="triangle" w="med" len="med"/>
          </a:ln>
          <a:effectLst/>
        </p:spPr>
        <p:txBody>
          <a:bodyPr wrap="none" anchor="b">
            <a:spAutoFit/>
          </a:bodyPr>
          <a:lstStyle/>
          <a:p>
            <a:pPr>
              <a:defRPr/>
            </a:pPr>
            <a:endParaRPr lang="en-US"/>
          </a:p>
        </p:txBody>
      </p:sp>
      <p:sp>
        <p:nvSpPr>
          <p:cNvPr id="55309" name="Text Box 29">
            <a:extLst>
              <a:ext uri="{FF2B5EF4-FFF2-40B4-BE49-F238E27FC236}">
                <a16:creationId xmlns:a16="http://schemas.microsoft.com/office/drawing/2014/main" id="{7D547D19-BBC9-DD06-15E3-A9AFC63CBB7E}"/>
              </a:ext>
            </a:extLst>
          </p:cNvPr>
          <p:cNvSpPr txBox="1">
            <a:spLocks noChangeArrowheads="1"/>
          </p:cNvSpPr>
          <p:nvPr/>
        </p:nvSpPr>
        <p:spPr bwMode="auto">
          <a:xfrm>
            <a:off x="6472238" y="6151563"/>
            <a:ext cx="3095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effectLst/>
              </a:rPr>
              <a:t>n</a:t>
            </a:r>
            <a:endParaRPr lang="en-US" altLang="en-US">
              <a:effectLst/>
            </a:endParaRPr>
          </a:p>
        </p:txBody>
      </p:sp>
      <p:sp>
        <p:nvSpPr>
          <p:cNvPr id="55310" name="Text Box 30">
            <a:extLst>
              <a:ext uri="{FF2B5EF4-FFF2-40B4-BE49-F238E27FC236}">
                <a16:creationId xmlns:a16="http://schemas.microsoft.com/office/drawing/2014/main" id="{8B2DA54E-C41C-B2EE-3542-34709CE14CCD}"/>
              </a:ext>
            </a:extLst>
          </p:cNvPr>
          <p:cNvSpPr txBox="1">
            <a:spLocks noChangeArrowheads="1"/>
          </p:cNvSpPr>
          <p:nvPr/>
        </p:nvSpPr>
        <p:spPr bwMode="auto">
          <a:xfrm>
            <a:off x="4641850" y="4281488"/>
            <a:ext cx="615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effectLst/>
              </a:rPr>
              <a:t>S(n)</a:t>
            </a:r>
            <a:endParaRPr lang="en-US" altLang="en-US">
              <a:effectLst/>
            </a:endParaRPr>
          </a:p>
        </p:txBody>
      </p:sp>
      <p:sp>
        <p:nvSpPr>
          <p:cNvPr id="83999" name="Freeform 31">
            <a:extLst>
              <a:ext uri="{FF2B5EF4-FFF2-40B4-BE49-F238E27FC236}">
                <a16:creationId xmlns:a16="http://schemas.microsoft.com/office/drawing/2014/main" id="{6EECCE23-79AD-9696-775D-BC7B3E813F49}"/>
              </a:ext>
            </a:extLst>
          </p:cNvPr>
          <p:cNvSpPr>
            <a:spLocks/>
          </p:cNvSpPr>
          <p:nvPr/>
        </p:nvSpPr>
        <p:spPr bwMode="auto">
          <a:xfrm>
            <a:off x="3030538" y="4611688"/>
            <a:ext cx="3016250" cy="1519237"/>
          </a:xfrm>
          <a:custGeom>
            <a:avLst/>
            <a:gdLst>
              <a:gd name="T0" fmla="*/ 0 w 2304"/>
              <a:gd name="T1" fmla="*/ 1184 h 1184"/>
              <a:gd name="T2" fmla="*/ 1296 w 2304"/>
              <a:gd name="T3" fmla="*/ 128 h 1184"/>
              <a:gd name="T4" fmla="*/ 2304 w 2304"/>
              <a:gd name="T5" fmla="*/ 416 h 1184"/>
            </a:gdLst>
            <a:ahLst/>
            <a:cxnLst>
              <a:cxn ang="0">
                <a:pos x="T0" y="T1"/>
              </a:cxn>
              <a:cxn ang="0">
                <a:pos x="T2" y="T3"/>
              </a:cxn>
              <a:cxn ang="0">
                <a:pos x="T4" y="T5"/>
              </a:cxn>
            </a:cxnLst>
            <a:rect l="0" t="0" r="r" b="b"/>
            <a:pathLst>
              <a:path w="2304" h="1184">
                <a:moveTo>
                  <a:pt x="0" y="1184"/>
                </a:moveTo>
                <a:cubicBezTo>
                  <a:pt x="456" y="720"/>
                  <a:pt x="912" y="256"/>
                  <a:pt x="1296" y="128"/>
                </a:cubicBezTo>
                <a:cubicBezTo>
                  <a:pt x="1680" y="0"/>
                  <a:pt x="2136" y="368"/>
                  <a:pt x="2304" y="416"/>
                </a:cubicBezTo>
              </a:path>
            </a:pathLst>
          </a:custGeom>
          <a:noFill/>
          <a:ln w="28575" cap="flat" cmpd="sng">
            <a:solidFill>
              <a:schemeClr val="accent1"/>
            </a:solidFill>
            <a:prstDash val="solid"/>
            <a:round/>
            <a:headEnd/>
            <a:tailEnd/>
          </a:ln>
          <a:effectLst/>
        </p:spPr>
        <p:txBody>
          <a:bodyPr wrap="none" anchor="b">
            <a:spAutoFit/>
          </a:bodyPr>
          <a:lstStyle/>
          <a:p>
            <a:pPr>
              <a:defRPr/>
            </a:pPr>
            <a:endParaRPr lang="en-US"/>
          </a:p>
        </p:txBody>
      </p:sp>
      <p:sp>
        <p:nvSpPr>
          <p:cNvPr id="84000" name="Line 32">
            <a:extLst>
              <a:ext uri="{FF2B5EF4-FFF2-40B4-BE49-F238E27FC236}">
                <a16:creationId xmlns:a16="http://schemas.microsoft.com/office/drawing/2014/main" id="{BE3D3C7E-B639-D27A-FFF0-9FAE1EE96D51}"/>
              </a:ext>
            </a:extLst>
          </p:cNvPr>
          <p:cNvSpPr>
            <a:spLocks noChangeShapeType="1"/>
          </p:cNvSpPr>
          <p:nvPr/>
        </p:nvSpPr>
        <p:spPr bwMode="auto">
          <a:xfrm>
            <a:off x="4978400" y="4775200"/>
            <a:ext cx="0" cy="1417638"/>
          </a:xfrm>
          <a:prstGeom prst="line">
            <a:avLst/>
          </a:prstGeom>
          <a:noFill/>
          <a:ln w="9525">
            <a:solidFill>
              <a:schemeClr val="tx1"/>
            </a:solidFill>
            <a:prstDash val="dash"/>
            <a:round/>
            <a:headEnd/>
            <a:tailEnd/>
          </a:ln>
          <a:effectLst/>
        </p:spPr>
        <p:txBody>
          <a:bodyPr wrap="none" anchor="b">
            <a:spAutoFit/>
          </a:bodyPr>
          <a:lstStyle/>
          <a:p>
            <a:pPr>
              <a:defRPr/>
            </a:pPr>
            <a:endParaRPr lang="en-US"/>
          </a:p>
        </p:txBody>
      </p:sp>
      <p:sp>
        <p:nvSpPr>
          <p:cNvPr id="55313" name="Text Box 33">
            <a:extLst>
              <a:ext uri="{FF2B5EF4-FFF2-40B4-BE49-F238E27FC236}">
                <a16:creationId xmlns:a16="http://schemas.microsoft.com/office/drawing/2014/main" id="{0479F7EA-3BD8-6CBB-0C94-4BAAE46624F8}"/>
              </a:ext>
            </a:extLst>
          </p:cNvPr>
          <p:cNvSpPr txBox="1">
            <a:spLocks noChangeArrowheads="1"/>
          </p:cNvSpPr>
          <p:nvPr/>
        </p:nvSpPr>
        <p:spPr bwMode="auto">
          <a:xfrm>
            <a:off x="4838700" y="6089650"/>
            <a:ext cx="3952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hr-HR" altLang="en-US">
                <a:effectLst/>
              </a:rPr>
              <a:t>n</a:t>
            </a:r>
            <a:r>
              <a:rPr lang="hr-HR" altLang="en-US" baseline="-25000">
                <a:effectLst/>
              </a:rPr>
              <a:t>0</a:t>
            </a:r>
            <a:endParaRPr lang="en-US" altLang="en-US" baseline="-25000">
              <a:effectLst/>
            </a:endParaRPr>
          </a:p>
        </p:txBody>
      </p:sp>
    </p:spTree>
  </p:cSld>
  <p:clrMapOvr>
    <a:masterClrMapping/>
  </p:clrMapOvr>
  <p:transition>
    <p:pull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80786A5E-F064-1452-ECAE-39E8FA9720C3}"/>
              </a:ext>
            </a:extLst>
          </p:cNvPr>
          <p:cNvSpPr>
            <a:spLocks noGrp="1" noChangeArrowheads="1"/>
          </p:cNvSpPr>
          <p:nvPr>
            <p:ph type="title"/>
          </p:nvPr>
        </p:nvSpPr>
        <p:spPr/>
        <p:txBody>
          <a:bodyPr/>
          <a:lstStyle/>
          <a:p>
            <a:pPr>
              <a:defRPr/>
            </a:pPr>
            <a:r>
              <a:rPr lang="sr-Latn-CS" altLang="en-US"/>
              <a:t>Primer: Sabiranje brojeva</a:t>
            </a:r>
            <a:endParaRPr lang="en-US" altLang="en-US"/>
          </a:p>
        </p:txBody>
      </p:sp>
      <p:graphicFrame>
        <p:nvGraphicFramePr>
          <p:cNvPr id="7170" name="Object 3">
            <a:extLst>
              <a:ext uri="{FF2B5EF4-FFF2-40B4-BE49-F238E27FC236}">
                <a16:creationId xmlns:a16="http://schemas.microsoft.com/office/drawing/2014/main" id="{078F5CD7-C6CC-7BF4-E04E-0C3F6E1FBDEA}"/>
              </a:ext>
            </a:extLst>
          </p:cNvPr>
          <p:cNvGraphicFramePr>
            <a:graphicFrameLocks noChangeAspect="1"/>
          </p:cNvGraphicFramePr>
          <p:nvPr/>
        </p:nvGraphicFramePr>
        <p:xfrm>
          <a:off x="1447800" y="1371600"/>
          <a:ext cx="1192213" cy="844550"/>
        </p:xfrm>
        <a:graphic>
          <a:graphicData uri="http://schemas.openxmlformats.org/presentationml/2006/ole">
            <mc:AlternateContent xmlns:mc="http://schemas.openxmlformats.org/markup-compatibility/2006">
              <mc:Choice xmlns:v="urn:schemas-microsoft-com:vml" Requires="v">
                <p:oleObj name="Equation" r:id="rId2" imgW="609336" imgH="431613" progId="Equation.3">
                  <p:embed/>
                </p:oleObj>
              </mc:Choice>
              <mc:Fallback>
                <p:oleObj name="Equation" r:id="rId2" imgW="609336" imgH="431613"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371600"/>
                        <a:ext cx="1192213" cy="844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2" name="Text Box 4">
            <a:extLst>
              <a:ext uri="{FF2B5EF4-FFF2-40B4-BE49-F238E27FC236}">
                <a16:creationId xmlns:a16="http://schemas.microsoft.com/office/drawing/2014/main" id="{91269519-DC27-B3AF-F991-5A9A2223EE35}"/>
              </a:ext>
            </a:extLst>
          </p:cNvPr>
          <p:cNvSpPr txBox="1">
            <a:spLocks noChangeArrowheads="1"/>
          </p:cNvSpPr>
          <p:nvPr/>
        </p:nvSpPr>
        <p:spPr bwMode="auto">
          <a:xfrm>
            <a:off x="746125" y="2551113"/>
            <a:ext cx="6035675" cy="201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sr-Latn-CS" altLang="en-US">
                <a:effectLst/>
              </a:rPr>
              <a:t>Posmatramo vreme izračunavanja na sistemu sa:</a:t>
            </a:r>
          </a:p>
          <a:p>
            <a:pPr eaLnBrk="1" hangingPunct="1">
              <a:buFontTx/>
              <a:buAutoNum type="arabicPeriod"/>
            </a:pPr>
            <a:endParaRPr lang="sr-Latn-CS" altLang="en-US">
              <a:effectLst/>
            </a:endParaRPr>
          </a:p>
          <a:p>
            <a:pPr eaLnBrk="1" hangingPunct="1">
              <a:buFontTx/>
              <a:buAutoNum type="arabicPeriod"/>
            </a:pPr>
            <a:r>
              <a:rPr lang="sr-Latn-CS" altLang="en-US">
                <a:effectLst/>
              </a:rPr>
              <a:t>P=1</a:t>
            </a:r>
          </a:p>
          <a:p>
            <a:pPr eaLnBrk="1" hangingPunct="1">
              <a:buFontTx/>
              <a:buAutoNum type="arabicPeriod"/>
            </a:pPr>
            <a:r>
              <a:rPr lang="sr-Latn-CS" altLang="en-US">
                <a:effectLst/>
              </a:rPr>
              <a:t>P=2</a:t>
            </a:r>
          </a:p>
          <a:p>
            <a:pPr eaLnBrk="1" hangingPunct="1">
              <a:buFontTx/>
              <a:buAutoNum type="arabicPeriod"/>
            </a:pPr>
            <a:r>
              <a:rPr lang="sr-Latn-CS" altLang="en-US">
                <a:effectLst/>
              </a:rPr>
              <a:t>P=3</a:t>
            </a:r>
          </a:p>
          <a:p>
            <a:pPr eaLnBrk="1" hangingPunct="1">
              <a:buFontTx/>
              <a:buAutoNum type="arabicPeriod"/>
            </a:pPr>
            <a:r>
              <a:rPr lang="sr-Latn-CS" altLang="en-US">
                <a:effectLst/>
              </a:rPr>
              <a:t>P=4 </a:t>
            </a:r>
          </a:p>
          <a:p>
            <a:pPr eaLnBrk="1" hangingPunct="1">
              <a:buFontTx/>
              <a:buAutoNum type="arabicPeriod"/>
            </a:pPr>
            <a:r>
              <a:rPr lang="sr-Latn-CS" altLang="en-US">
                <a:effectLst/>
              </a:rPr>
              <a:t>P=8 procesora</a:t>
            </a:r>
            <a:endParaRPr lang="en-US" altLang="en-US">
              <a:effectLst/>
            </a:endParaRPr>
          </a:p>
        </p:txBody>
      </p:sp>
    </p:spTree>
  </p:cSld>
  <p:clrMapOvr>
    <a:masterClrMapping/>
  </p:clrMapOvr>
  <p:transition>
    <p:pull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5281E80-06CF-61FA-5DF7-80316FBD4D98}"/>
              </a:ext>
            </a:extLst>
          </p:cNvPr>
          <p:cNvSpPr>
            <a:spLocks noGrp="1" noChangeArrowheads="1"/>
          </p:cNvSpPr>
          <p:nvPr>
            <p:ph type="title"/>
          </p:nvPr>
        </p:nvSpPr>
        <p:spPr/>
        <p:txBody>
          <a:bodyPr/>
          <a:lstStyle/>
          <a:p>
            <a:pPr>
              <a:defRPr/>
            </a:pPr>
            <a:r>
              <a:rPr lang="sr-Latn-CS" altLang="en-US"/>
              <a:t>Sistem sa jednim procesorom</a:t>
            </a:r>
            <a:endParaRPr lang="en-US" altLang="en-US"/>
          </a:p>
        </p:txBody>
      </p:sp>
      <p:graphicFrame>
        <p:nvGraphicFramePr>
          <p:cNvPr id="86019" name="Group 3">
            <a:extLst>
              <a:ext uri="{FF2B5EF4-FFF2-40B4-BE49-F238E27FC236}">
                <a16:creationId xmlns:a16="http://schemas.microsoft.com/office/drawing/2014/main" id="{A6C53656-1845-7971-8B66-13A119C9A3B2}"/>
              </a:ext>
            </a:extLst>
          </p:cNvPr>
          <p:cNvGraphicFramePr>
            <a:graphicFrameLocks noGrp="1"/>
          </p:cNvGraphicFramePr>
          <p:nvPr/>
        </p:nvGraphicFramePr>
        <p:xfrm>
          <a:off x="457200" y="1600200"/>
          <a:ext cx="7848600" cy="1295400"/>
        </p:xfrm>
        <a:graphic>
          <a:graphicData uri="http://schemas.openxmlformats.org/drawingml/2006/table">
            <a:tbl>
              <a:tblPr/>
              <a:tblGrid>
                <a:gridCol w="1616075">
                  <a:extLst>
                    <a:ext uri="{9D8B030D-6E8A-4147-A177-3AD203B41FA5}">
                      <a16:colId xmlns:a16="http://schemas.microsoft.com/office/drawing/2014/main" val="20000"/>
                    </a:ext>
                  </a:extLst>
                </a:gridCol>
                <a:gridCol w="5318125">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685800">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400" b="0" i="0" u="none" strike="noStrike" cap="none" normalizeH="0" baseline="0">
                        <a:ln>
                          <a:noFill/>
                        </a:ln>
                        <a:solidFill>
                          <a:schemeClr val="accent1"/>
                        </a:solidFill>
                        <a:effectLst>
                          <a:outerShdw blurRad="38100" dist="38100" dir="2700000" algn="tl">
                            <a:srgbClr val="C0C0C0"/>
                          </a:outerShdw>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P1</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T</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extLst>
                  <a:ext uri="{0D108BD9-81ED-4DB2-BD59-A6C34878D82A}">
                    <a16:rowId xmlns:a16="http://schemas.microsoft.com/office/drawing/2014/main" val="10000"/>
                  </a:ext>
                </a:extLst>
              </a:tr>
              <a:tr h="609600">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1</a:t>
                      </a:r>
                      <a:r>
                        <a:rPr kumimoji="1" lang="sr-Latn-CS" altLang="en-US" sz="2400" b="0" i="0" u="none" strike="noStrike" cap="none" normalizeH="0" baseline="0">
                          <a:ln>
                            <a:noFill/>
                          </a:ln>
                          <a:solidFill>
                            <a:schemeClr val="accent1"/>
                          </a:solidFill>
                          <a:effectLst>
                            <a:outerShdw blurRad="38100" dist="38100" dir="2700000" algn="tl">
                              <a:srgbClr val="000000"/>
                            </a:outerShdw>
                          </a:effectLst>
                          <a:latin typeface="Tahoma" pitchFamily="34" charset="0"/>
                        </a:rPr>
                        <a:t>. </a:t>
                      </a: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korak</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000" b="0" i="0" u="none" strike="noStrike" cap="none" normalizeH="0" baseline="0">
                          <a:ln>
                            <a:noFill/>
                          </a:ln>
                          <a:solidFill>
                            <a:schemeClr val="tx1"/>
                          </a:solidFill>
                          <a:effectLst>
                            <a:outerShdw blurRad="38100" dist="38100" dir="2700000" algn="tl">
                              <a:srgbClr val="C0C0C0"/>
                            </a:outerShdw>
                          </a:effectLst>
                          <a:latin typeface="Tahoma" pitchFamily="34" charset="0"/>
                        </a:rPr>
                        <a:t>A=a1+a2+...+a16</a:t>
                      </a:r>
                      <a:endParaRPr kumimoji="1" lang="en-US" altLang="en-US" sz="20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15</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6337" name="Text Box 17">
            <a:extLst>
              <a:ext uri="{FF2B5EF4-FFF2-40B4-BE49-F238E27FC236}">
                <a16:creationId xmlns:a16="http://schemas.microsoft.com/office/drawing/2014/main" id="{9F4771A4-0EAE-A576-2405-EEBCDE0A8715}"/>
              </a:ext>
            </a:extLst>
          </p:cNvPr>
          <p:cNvSpPr txBox="1">
            <a:spLocks noChangeArrowheads="1"/>
          </p:cNvSpPr>
          <p:nvPr/>
        </p:nvSpPr>
        <p:spPr bwMode="auto">
          <a:xfrm>
            <a:off x="7185025" y="2971800"/>
            <a:ext cx="11207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sr-Latn-CS" altLang="en-US" sz="3200">
                <a:effectLst/>
              </a:rPr>
              <a:t>T=15</a:t>
            </a:r>
            <a:endParaRPr lang="en-US" altLang="en-US" sz="3200">
              <a:effectLst/>
            </a:endParaRPr>
          </a:p>
        </p:txBody>
      </p:sp>
    </p:spTree>
  </p:cSld>
  <p:clrMapOvr>
    <a:masterClrMapping/>
  </p:clrMapOvr>
  <p:transition>
    <p:pull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C43DD1CB-D209-5A4E-1D7C-DC3919B26396}"/>
              </a:ext>
            </a:extLst>
          </p:cNvPr>
          <p:cNvSpPr>
            <a:spLocks noGrp="1" noChangeArrowheads="1"/>
          </p:cNvSpPr>
          <p:nvPr>
            <p:ph type="title"/>
          </p:nvPr>
        </p:nvSpPr>
        <p:spPr/>
        <p:txBody>
          <a:bodyPr/>
          <a:lstStyle/>
          <a:p>
            <a:pPr>
              <a:defRPr/>
            </a:pPr>
            <a:r>
              <a:rPr lang="sr-Latn-CS" altLang="en-US"/>
              <a:t>Sistem sa dva procesora</a:t>
            </a:r>
            <a:endParaRPr lang="en-US" altLang="en-US"/>
          </a:p>
        </p:txBody>
      </p:sp>
      <p:graphicFrame>
        <p:nvGraphicFramePr>
          <p:cNvPr id="87043" name="Group 3">
            <a:extLst>
              <a:ext uri="{FF2B5EF4-FFF2-40B4-BE49-F238E27FC236}">
                <a16:creationId xmlns:a16="http://schemas.microsoft.com/office/drawing/2014/main" id="{C3421C2B-13B0-3EDA-FA7C-C95706229B9E}"/>
              </a:ext>
            </a:extLst>
          </p:cNvPr>
          <p:cNvGraphicFramePr>
            <a:graphicFrameLocks noGrp="1"/>
          </p:cNvGraphicFramePr>
          <p:nvPr/>
        </p:nvGraphicFramePr>
        <p:xfrm>
          <a:off x="457200" y="1600200"/>
          <a:ext cx="8534400" cy="1998971"/>
        </p:xfrm>
        <a:graphic>
          <a:graphicData uri="http://schemas.openxmlformats.org/drawingml/2006/table">
            <a:tbl>
              <a:tblPr/>
              <a:tblGrid>
                <a:gridCol w="16764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895770">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P1</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P2</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T</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extLst>
                  <a:ext uri="{0D108BD9-81ED-4DB2-BD59-A6C34878D82A}">
                    <a16:rowId xmlns:a16="http://schemas.microsoft.com/office/drawing/2014/main" val="10000"/>
                  </a:ext>
                </a:extLst>
              </a:tr>
              <a:tr h="569696">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1. korak</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000" b="0" i="0" u="none" strike="noStrike" cap="none" normalizeH="0" baseline="0">
                          <a:ln>
                            <a:noFill/>
                          </a:ln>
                          <a:solidFill>
                            <a:schemeClr val="tx1"/>
                          </a:solidFill>
                          <a:effectLst>
                            <a:outerShdw blurRad="38100" dist="38100" dir="2700000" algn="tl">
                              <a:srgbClr val="C0C0C0"/>
                            </a:outerShdw>
                          </a:effectLst>
                          <a:latin typeface="Tahoma" pitchFamily="34" charset="0"/>
                        </a:rPr>
                        <a:t>B1=a1+a2+...+a8</a:t>
                      </a:r>
                      <a:endParaRPr kumimoji="1" lang="en-US" altLang="en-US" sz="20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000" b="0" i="0" u="none" strike="noStrike" cap="none" normalizeH="0" baseline="0">
                          <a:ln>
                            <a:noFill/>
                          </a:ln>
                          <a:solidFill>
                            <a:schemeClr val="tx1"/>
                          </a:solidFill>
                          <a:effectLst>
                            <a:outerShdw blurRad="38100" dist="38100" dir="2700000" algn="tl">
                              <a:srgbClr val="C0C0C0"/>
                            </a:outerShdw>
                          </a:effectLst>
                          <a:latin typeface="Tahoma" pitchFamily="34" charset="0"/>
                        </a:rPr>
                        <a:t>B2=a9+a10+...+a16</a:t>
                      </a:r>
                      <a:endParaRPr kumimoji="1" lang="en-US" altLang="en-US" sz="20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7</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3197">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2. korak</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000" b="0" i="0" u="none" strike="noStrike" cap="none" normalizeH="0" baseline="0">
                          <a:ln>
                            <a:noFill/>
                          </a:ln>
                          <a:solidFill>
                            <a:schemeClr val="tx1"/>
                          </a:solidFill>
                          <a:effectLst>
                            <a:outerShdw blurRad="38100" dist="38100" dir="2700000" algn="tl">
                              <a:srgbClr val="C0C0C0"/>
                            </a:outerShdw>
                          </a:effectLst>
                          <a:latin typeface="Tahoma" pitchFamily="34" charset="0"/>
                        </a:rPr>
                        <a:t>A=B1+B2</a:t>
                      </a:r>
                      <a:endParaRPr kumimoji="1" lang="en-US" altLang="en-US" sz="20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1</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7369" name="Text Box 25">
            <a:extLst>
              <a:ext uri="{FF2B5EF4-FFF2-40B4-BE49-F238E27FC236}">
                <a16:creationId xmlns:a16="http://schemas.microsoft.com/office/drawing/2014/main" id="{5B013067-E482-46A8-626F-9B9F88015FDA}"/>
              </a:ext>
            </a:extLst>
          </p:cNvPr>
          <p:cNvSpPr txBox="1">
            <a:spLocks noChangeArrowheads="1"/>
          </p:cNvSpPr>
          <p:nvPr/>
        </p:nvSpPr>
        <p:spPr bwMode="auto">
          <a:xfrm>
            <a:off x="7867650" y="3657600"/>
            <a:ext cx="895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sr-Latn-CS" altLang="en-US" sz="3200">
                <a:effectLst/>
              </a:rPr>
              <a:t>T=8</a:t>
            </a:r>
            <a:endParaRPr lang="en-US" altLang="en-US" sz="3200">
              <a:effectLst/>
            </a:endParaRPr>
          </a:p>
        </p:txBody>
      </p:sp>
    </p:spTree>
  </p:cSld>
  <p:clrMapOvr>
    <a:masterClrMapping/>
  </p:clrMapOvr>
  <p:transition>
    <p:pull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900FC028-4B0E-087E-4CDD-F2E62816F442}"/>
              </a:ext>
            </a:extLst>
          </p:cNvPr>
          <p:cNvSpPr>
            <a:spLocks noGrp="1" noChangeArrowheads="1"/>
          </p:cNvSpPr>
          <p:nvPr>
            <p:ph type="title"/>
          </p:nvPr>
        </p:nvSpPr>
        <p:spPr/>
        <p:txBody>
          <a:bodyPr/>
          <a:lstStyle/>
          <a:p>
            <a:pPr>
              <a:defRPr/>
            </a:pPr>
            <a:r>
              <a:rPr lang="sr-Latn-CS" altLang="en-US"/>
              <a:t>Sistem sa tri procesora</a:t>
            </a:r>
            <a:endParaRPr lang="en-US" altLang="en-US"/>
          </a:p>
        </p:txBody>
      </p:sp>
      <p:graphicFrame>
        <p:nvGraphicFramePr>
          <p:cNvPr id="88067" name="Group 3">
            <a:extLst>
              <a:ext uri="{FF2B5EF4-FFF2-40B4-BE49-F238E27FC236}">
                <a16:creationId xmlns:a16="http://schemas.microsoft.com/office/drawing/2014/main" id="{12EC8935-4D97-38AA-05E9-AE53C9200CAB}"/>
              </a:ext>
            </a:extLst>
          </p:cNvPr>
          <p:cNvGraphicFramePr>
            <a:graphicFrameLocks noGrp="1"/>
          </p:cNvGraphicFramePr>
          <p:nvPr/>
        </p:nvGraphicFramePr>
        <p:xfrm>
          <a:off x="457200" y="1600200"/>
          <a:ext cx="8458200" cy="2532305"/>
        </p:xfrm>
        <a:graphic>
          <a:graphicData uri="http://schemas.openxmlformats.org/drawingml/2006/table">
            <a:tbl>
              <a:tblPr/>
              <a:tblGrid>
                <a:gridCol w="15240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76400">
                  <a:extLst>
                    <a:ext uri="{9D8B030D-6E8A-4147-A177-3AD203B41FA5}">
                      <a16:colId xmlns:a16="http://schemas.microsoft.com/office/drawing/2014/main" val="20004"/>
                    </a:ext>
                  </a:extLst>
                </a:gridCol>
              </a:tblGrid>
              <a:tr h="895842">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P1</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P2</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P3</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T</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extLst>
                  <a:ext uri="{0D108BD9-81ED-4DB2-BD59-A6C34878D82A}">
                    <a16:rowId xmlns:a16="http://schemas.microsoft.com/office/drawing/2014/main" val="10000"/>
                  </a:ext>
                </a:extLst>
              </a:tr>
              <a:tr h="569741">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1. korak</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rPr>
                        <a:t>B1=a1+...+a5</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rPr>
                        <a:t>B2=a6+...+a10</a:t>
                      </a:r>
                      <a:endParaRPr kumimoji="1" lang="en-US" altLang="en-US" sz="20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rPr>
                        <a:t>B3=a11+...+a15</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4</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8479">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2. korak</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rPr>
                        <a:t>C1=B1+B2</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rPr>
                        <a:t>C2=B3+a16</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1</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8001">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3. korak</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rPr>
                        <a:t>A=C1+C2</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1</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8403" name="Text Box 35">
            <a:extLst>
              <a:ext uri="{FF2B5EF4-FFF2-40B4-BE49-F238E27FC236}">
                <a16:creationId xmlns:a16="http://schemas.microsoft.com/office/drawing/2014/main" id="{64CDB254-349F-9565-8807-210BEC7E46F7}"/>
              </a:ext>
            </a:extLst>
          </p:cNvPr>
          <p:cNvSpPr txBox="1">
            <a:spLocks noChangeArrowheads="1"/>
          </p:cNvSpPr>
          <p:nvPr/>
        </p:nvSpPr>
        <p:spPr bwMode="auto">
          <a:xfrm>
            <a:off x="7639050" y="4191000"/>
            <a:ext cx="895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sr-Latn-CS" altLang="en-US" sz="3200">
                <a:effectLst/>
              </a:rPr>
              <a:t>T=6</a:t>
            </a:r>
            <a:endParaRPr lang="en-US" altLang="en-US" sz="3200">
              <a:effectLst/>
            </a:endParaRPr>
          </a:p>
        </p:txBody>
      </p:sp>
    </p:spTree>
  </p:cSld>
  <p:clrMapOvr>
    <a:masterClrMapping/>
  </p:clrMapOvr>
  <p:transition>
    <p:pull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11E0CD90-76A9-F8FB-085F-8CDA1AEBFBF9}"/>
              </a:ext>
            </a:extLst>
          </p:cNvPr>
          <p:cNvSpPr>
            <a:spLocks noGrp="1" noChangeArrowheads="1"/>
          </p:cNvSpPr>
          <p:nvPr>
            <p:ph type="title"/>
          </p:nvPr>
        </p:nvSpPr>
        <p:spPr/>
        <p:txBody>
          <a:bodyPr/>
          <a:lstStyle/>
          <a:p>
            <a:pPr>
              <a:defRPr/>
            </a:pPr>
            <a:r>
              <a:rPr lang="sr-Latn-CS" altLang="en-US"/>
              <a:t>Sistem sa četiri procesora</a:t>
            </a:r>
            <a:endParaRPr lang="en-US" altLang="en-US"/>
          </a:p>
        </p:txBody>
      </p:sp>
      <p:graphicFrame>
        <p:nvGraphicFramePr>
          <p:cNvPr id="89091" name="Group 3">
            <a:extLst>
              <a:ext uri="{FF2B5EF4-FFF2-40B4-BE49-F238E27FC236}">
                <a16:creationId xmlns:a16="http://schemas.microsoft.com/office/drawing/2014/main" id="{76C36087-A11B-B1E0-4799-8A6B2A61852C}"/>
              </a:ext>
            </a:extLst>
          </p:cNvPr>
          <p:cNvGraphicFramePr>
            <a:graphicFrameLocks noGrp="1"/>
          </p:cNvGraphicFramePr>
          <p:nvPr/>
        </p:nvGraphicFramePr>
        <p:xfrm>
          <a:off x="457200" y="1600200"/>
          <a:ext cx="8458200" cy="2424368"/>
        </p:xfrm>
        <a:graphic>
          <a:graphicData uri="http://schemas.openxmlformats.org/drawingml/2006/table">
            <a:tbl>
              <a:tblPr/>
              <a:tblGrid>
                <a:gridCol w="1482725">
                  <a:extLst>
                    <a:ext uri="{9D8B030D-6E8A-4147-A177-3AD203B41FA5}">
                      <a16:colId xmlns:a16="http://schemas.microsoft.com/office/drawing/2014/main" val="20000"/>
                    </a:ext>
                  </a:extLst>
                </a:gridCol>
                <a:gridCol w="1489075">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6764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tblGrid>
              <a:tr h="895830">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P1</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P2</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P3</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P4</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T</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extLst>
                  <a:ext uri="{0D108BD9-81ED-4DB2-BD59-A6C34878D82A}">
                    <a16:rowId xmlns:a16="http://schemas.microsoft.com/office/drawing/2014/main" val="10000"/>
                  </a:ext>
                </a:extLst>
              </a:tr>
              <a:tr h="493558">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1. korak</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400" b="0" i="0" u="none" strike="noStrike" cap="none" normalizeH="0" baseline="0">
                          <a:ln>
                            <a:noFill/>
                          </a:ln>
                          <a:solidFill>
                            <a:schemeClr val="tx1"/>
                          </a:solidFill>
                          <a:effectLst>
                            <a:outerShdw blurRad="38100" dist="38100" dir="2700000" algn="tl">
                              <a:srgbClr val="C0C0C0"/>
                            </a:outerShdw>
                          </a:effectLst>
                          <a:latin typeface="Tahoma" pitchFamily="34" charset="0"/>
                        </a:rPr>
                        <a:t>B1=a1+...+a4</a:t>
                      </a:r>
                      <a:endParaRPr kumimoji="1" lang="en-US" altLang="en-US" sz="1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400" b="0" i="0" u="none" strike="noStrike" cap="none" normalizeH="0" baseline="0">
                          <a:ln>
                            <a:noFill/>
                          </a:ln>
                          <a:solidFill>
                            <a:schemeClr val="tx1"/>
                          </a:solidFill>
                          <a:effectLst>
                            <a:outerShdw blurRad="38100" dist="38100" dir="2700000" algn="tl">
                              <a:srgbClr val="C0C0C0"/>
                            </a:outerShdw>
                          </a:effectLst>
                          <a:latin typeface="Tahoma" pitchFamily="34" charset="0"/>
                        </a:rPr>
                        <a:t>B2=a5+...+a8</a:t>
                      </a:r>
                      <a:endParaRPr kumimoji="1" lang="en-US" altLang="en-US" sz="1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400" b="0" i="0" u="none" strike="noStrike" cap="none" normalizeH="0" baseline="0">
                          <a:ln>
                            <a:noFill/>
                          </a:ln>
                          <a:solidFill>
                            <a:schemeClr val="tx1"/>
                          </a:solidFill>
                          <a:effectLst>
                            <a:outerShdw blurRad="38100" dist="38100" dir="2700000" algn="tl">
                              <a:srgbClr val="C0C0C0"/>
                            </a:outerShdw>
                          </a:effectLst>
                          <a:latin typeface="Tahoma" pitchFamily="34" charset="0"/>
                        </a:rPr>
                        <a:t>B3=a9+...+a12</a:t>
                      </a:r>
                      <a:endParaRPr kumimoji="1" lang="en-US" altLang="en-US" sz="1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400" b="0" i="0" u="none" strike="noStrike" cap="none" normalizeH="0" baseline="0">
                          <a:ln>
                            <a:noFill/>
                          </a:ln>
                          <a:solidFill>
                            <a:schemeClr val="tx1"/>
                          </a:solidFill>
                          <a:effectLst>
                            <a:outerShdw blurRad="38100" dist="38100" dir="2700000" algn="tl">
                              <a:srgbClr val="C0C0C0"/>
                            </a:outerShdw>
                          </a:effectLst>
                          <a:latin typeface="Tahoma" pitchFamily="34" charset="0"/>
                        </a:rPr>
                        <a:t>B4=a13+...+a16</a:t>
                      </a:r>
                      <a:endParaRPr kumimoji="1" lang="en-US" altLang="en-US" sz="1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3</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9428">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2. korak</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400" b="0" i="0" u="none" strike="noStrike" cap="none" normalizeH="0" baseline="0">
                          <a:ln>
                            <a:noFill/>
                          </a:ln>
                          <a:solidFill>
                            <a:schemeClr val="tx1"/>
                          </a:solidFill>
                          <a:effectLst>
                            <a:outerShdw blurRad="38100" dist="38100" dir="2700000" algn="tl">
                              <a:srgbClr val="C0C0C0"/>
                            </a:outerShdw>
                          </a:effectLst>
                          <a:latin typeface="Tahoma" pitchFamily="34" charset="0"/>
                        </a:rPr>
                        <a:t>C1=B1+B2</a:t>
                      </a:r>
                      <a:endParaRPr kumimoji="1" lang="en-US" altLang="en-US" sz="1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400" b="0" i="0" u="none" strike="noStrike" cap="none" normalizeH="0" baseline="0">
                          <a:ln>
                            <a:noFill/>
                          </a:ln>
                          <a:solidFill>
                            <a:schemeClr val="tx1"/>
                          </a:solidFill>
                          <a:effectLst>
                            <a:outerShdw blurRad="38100" dist="38100" dir="2700000" algn="tl">
                              <a:srgbClr val="C0C0C0"/>
                            </a:outerShdw>
                          </a:effectLst>
                          <a:latin typeface="Tahoma" pitchFamily="34" charset="0"/>
                        </a:rPr>
                        <a:t>C2=B3+B4</a:t>
                      </a:r>
                      <a:endParaRPr kumimoji="1" lang="en-US" altLang="en-US" sz="1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1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1</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298">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3. korak</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400" b="0" i="0" u="none" strike="noStrike" cap="none" normalizeH="0" baseline="0">
                          <a:ln>
                            <a:noFill/>
                          </a:ln>
                          <a:solidFill>
                            <a:schemeClr val="tx1"/>
                          </a:solidFill>
                          <a:effectLst>
                            <a:outerShdw blurRad="38100" dist="38100" dir="2700000" algn="tl">
                              <a:srgbClr val="C0C0C0"/>
                            </a:outerShdw>
                          </a:effectLst>
                          <a:latin typeface="Tahoma" pitchFamily="34" charset="0"/>
                        </a:rPr>
                        <a:t>A=C1+C2</a:t>
                      </a:r>
                      <a:endParaRPr kumimoji="1" lang="en-US" altLang="en-US" sz="1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1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1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1</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9432" name="Text Box 40">
            <a:extLst>
              <a:ext uri="{FF2B5EF4-FFF2-40B4-BE49-F238E27FC236}">
                <a16:creationId xmlns:a16="http://schemas.microsoft.com/office/drawing/2014/main" id="{A2F4B973-67F3-AC70-C6D7-E1B059E72F01}"/>
              </a:ext>
            </a:extLst>
          </p:cNvPr>
          <p:cNvSpPr txBox="1">
            <a:spLocks noChangeArrowheads="1"/>
          </p:cNvSpPr>
          <p:nvPr/>
        </p:nvSpPr>
        <p:spPr bwMode="auto">
          <a:xfrm>
            <a:off x="8020050" y="4114800"/>
            <a:ext cx="895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sr-Latn-CS" altLang="en-US" sz="3200">
                <a:effectLst/>
              </a:rPr>
              <a:t>T=5</a:t>
            </a:r>
            <a:endParaRPr lang="en-US" altLang="en-US" sz="3200">
              <a:effectLst/>
            </a:endParaRPr>
          </a:p>
        </p:txBody>
      </p:sp>
    </p:spTree>
  </p:cSld>
  <p:clrMapOvr>
    <a:masterClrMapping/>
  </p:clrMapOvr>
  <p:transition>
    <p:pull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722A2B15-6FAB-481A-0AAE-B3A4C408FCF6}"/>
              </a:ext>
            </a:extLst>
          </p:cNvPr>
          <p:cNvSpPr>
            <a:spLocks noGrp="1" noChangeArrowheads="1"/>
          </p:cNvSpPr>
          <p:nvPr>
            <p:ph type="title"/>
          </p:nvPr>
        </p:nvSpPr>
        <p:spPr/>
        <p:txBody>
          <a:bodyPr/>
          <a:lstStyle/>
          <a:p>
            <a:pPr>
              <a:defRPr/>
            </a:pPr>
            <a:r>
              <a:rPr lang="sr-Latn-CS" altLang="en-US"/>
              <a:t>Sistem sa osam procesora</a:t>
            </a:r>
            <a:endParaRPr lang="en-US" altLang="en-US"/>
          </a:p>
        </p:txBody>
      </p:sp>
      <p:graphicFrame>
        <p:nvGraphicFramePr>
          <p:cNvPr id="90115" name="Group 3">
            <a:extLst>
              <a:ext uri="{FF2B5EF4-FFF2-40B4-BE49-F238E27FC236}">
                <a16:creationId xmlns:a16="http://schemas.microsoft.com/office/drawing/2014/main" id="{C353CCE0-02F6-79A4-193B-00BBB751D460}"/>
              </a:ext>
            </a:extLst>
          </p:cNvPr>
          <p:cNvGraphicFramePr>
            <a:graphicFrameLocks noGrp="1"/>
          </p:cNvGraphicFramePr>
          <p:nvPr/>
        </p:nvGraphicFramePr>
        <p:xfrm>
          <a:off x="457200" y="1600200"/>
          <a:ext cx="8229600" cy="3117850"/>
        </p:xfrm>
        <a:graphic>
          <a:graphicData uri="http://schemas.openxmlformats.org/drawingml/2006/table">
            <a:tbl>
              <a:tblPr/>
              <a:tblGrid>
                <a:gridCol w="1524000">
                  <a:extLst>
                    <a:ext uri="{9D8B030D-6E8A-4147-A177-3AD203B41FA5}">
                      <a16:colId xmlns:a16="http://schemas.microsoft.com/office/drawing/2014/main" val="20000"/>
                    </a:ext>
                  </a:extLst>
                </a:gridCol>
                <a:gridCol w="1366838">
                  <a:extLst>
                    <a:ext uri="{9D8B030D-6E8A-4147-A177-3AD203B41FA5}">
                      <a16:colId xmlns:a16="http://schemas.microsoft.com/office/drawing/2014/main" val="20001"/>
                    </a:ext>
                  </a:extLst>
                </a:gridCol>
                <a:gridCol w="1409700">
                  <a:extLst>
                    <a:ext uri="{9D8B030D-6E8A-4147-A177-3AD203B41FA5}">
                      <a16:colId xmlns:a16="http://schemas.microsoft.com/office/drawing/2014/main" val="20002"/>
                    </a:ext>
                  </a:extLst>
                </a:gridCol>
                <a:gridCol w="1482725">
                  <a:extLst>
                    <a:ext uri="{9D8B030D-6E8A-4147-A177-3AD203B41FA5}">
                      <a16:colId xmlns:a16="http://schemas.microsoft.com/office/drawing/2014/main" val="20003"/>
                    </a:ext>
                  </a:extLst>
                </a:gridCol>
                <a:gridCol w="1630362">
                  <a:extLst>
                    <a:ext uri="{9D8B030D-6E8A-4147-A177-3AD203B41FA5}">
                      <a16:colId xmlns:a16="http://schemas.microsoft.com/office/drawing/2014/main" val="20004"/>
                    </a:ext>
                  </a:extLst>
                </a:gridCol>
                <a:gridCol w="815975">
                  <a:extLst>
                    <a:ext uri="{9D8B030D-6E8A-4147-A177-3AD203B41FA5}">
                      <a16:colId xmlns:a16="http://schemas.microsoft.com/office/drawing/2014/main" val="20005"/>
                    </a:ext>
                  </a:extLst>
                </a:gridCol>
              </a:tblGrid>
              <a:tr h="1030350">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800" b="0" i="0" u="none" strike="noStrike" cap="none" normalizeH="0" baseline="0">
                          <a:ln>
                            <a:noFill/>
                          </a:ln>
                          <a:solidFill>
                            <a:schemeClr val="tx1"/>
                          </a:solidFill>
                          <a:effectLst>
                            <a:outerShdw blurRad="38100" dist="38100" dir="2700000" algn="tl">
                              <a:srgbClr val="FFFFFF"/>
                            </a:outerShdw>
                          </a:effectLst>
                          <a:latin typeface="Tahoma" pitchFamily="34" charset="0"/>
                        </a:rPr>
                        <a:t>P1</a:t>
                      </a:r>
                      <a:endParaRPr kumimoji="1" lang="en-US" altLang="en-US" sz="28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800" b="0" i="0" u="none" strike="noStrike" cap="none" normalizeH="0" baseline="0">
                          <a:ln>
                            <a:noFill/>
                          </a:ln>
                          <a:solidFill>
                            <a:schemeClr val="tx1"/>
                          </a:solidFill>
                          <a:effectLst>
                            <a:outerShdw blurRad="38100" dist="38100" dir="2700000" algn="tl">
                              <a:srgbClr val="FFFFFF"/>
                            </a:outerShdw>
                          </a:effectLst>
                          <a:latin typeface="Tahoma" pitchFamily="34" charset="0"/>
                        </a:rPr>
                        <a:t>P2</a:t>
                      </a:r>
                      <a:endParaRPr kumimoji="1" lang="en-US" altLang="en-US" sz="28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28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800" b="0" i="0" u="none" strike="noStrike" cap="none" normalizeH="0" baseline="0">
                          <a:ln>
                            <a:noFill/>
                          </a:ln>
                          <a:solidFill>
                            <a:schemeClr val="tx1"/>
                          </a:solidFill>
                          <a:effectLst>
                            <a:outerShdw blurRad="38100" dist="38100" dir="2700000" algn="tl">
                              <a:srgbClr val="FFFFFF"/>
                            </a:outerShdw>
                          </a:effectLst>
                          <a:latin typeface="Tahoma" pitchFamily="34" charset="0"/>
                        </a:rPr>
                        <a:t>...</a:t>
                      </a:r>
                      <a:endParaRPr kumimoji="1" lang="en-US" altLang="en-US" sz="28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800" b="0" i="0" u="none" strike="noStrike" cap="none" normalizeH="0" baseline="0">
                          <a:ln>
                            <a:noFill/>
                          </a:ln>
                          <a:solidFill>
                            <a:schemeClr val="tx1"/>
                          </a:solidFill>
                          <a:effectLst>
                            <a:outerShdw blurRad="38100" dist="38100" dir="2700000" algn="tl">
                              <a:srgbClr val="FFFFFF"/>
                            </a:outerShdw>
                          </a:effectLst>
                          <a:latin typeface="Tahoma" pitchFamily="34" charset="0"/>
                        </a:rPr>
                        <a:t>P8</a:t>
                      </a:r>
                      <a:endParaRPr kumimoji="1" lang="en-US" altLang="en-US" sz="28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800" b="0" i="0" u="none" strike="noStrike" cap="none" normalizeH="0" baseline="0">
                          <a:ln>
                            <a:noFill/>
                          </a:ln>
                          <a:solidFill>
                            <a:schemeClr val="tx1"/>
                          </a:solidFill>
                          <a:effectLst>
                            <a:outerShdw blurRad="38100" dist="38100" dir="2700000" algn="tl">
                              <a:srgbClr val="FFFFFF"/>
                            </a:outerShdw>
                          </a:effectLst>
                          <a:latin typeface="Tahoma" pitchFamily="34" charset="0"/>
                        </a:rPr>
                        <a:t>T</a:t>
                      </a:r>
                      <a:endParaRPr kumimoji="1" lang="en-US" altLang="en-US" sz="28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extLst>
                  <a:ext uri="{0D108BD9-81ED-4DB2-BD59-A6C34878D82A}">
                    <a16:rowId xmlns:a16="http://schemas.microsoft.com/office/drawing/2014/main" val="10000"/>
                  </a:ext>
                </a:extLst>
              </a:tr>
              <a:tr h="518223">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800" b="0" i="0" u="none" strike="noStrike" cap="none" normalizeH="0" baseline="0">
                          <a:ln>
                            <a:noFill/>
                          </a:ln>
                          <a:solidFill>
                            <a:schemeClr val="tx1"/>
                          </a:solidFill>
                          <a:effectLst>
                            <a:outerShdw blurRad="38100" dist="38100" dir="2700000" algn="tl">
                              <a:srgbClr val="FFFFFF"/>
                            </a:outerShdw>
                          </a:effectLst>
                          <a:latin typeface="Tahoma" pitchFamily="34" charset="0"/>
                        </a:rPr>
                        <a:t>1. korak</a:t>
                      </a:r>
                      <a:endParaRPr kumimoji="1" lang="en-US" altLang="en-US" sz="28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rPr>
                        <a:t>B1=a1+a2</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rPr>
                        <a:t>B2=a3+a4</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rPr>
                        <a:t>...</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rPr>
                        <a:t>B8=a15+a16</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1</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223">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800" b="0" i="0" u="none" strike="noStrike" cap="none" normalizeH="0" baseline="0">
                          <a:ln>
                            <a:noFill/>
                          </a:ln>
                          <a:solidFill>
                            <a:schemeClr val="tx1"/>
                          </a:solidFill>
                          <a:effectLst>
                            <a:outerShdw blurRad="38100" dist="38100" dir="2700000" algn="tl">
                              <a:srgbClr val="FFFFFF"/>
                            </a:outerShdw>
                          </a:effectLst>
                          <a:latin typeface="Tahoma" pitchFamily="34" charset="0"/>
                        </a:rPr>
                        <a:t>2. korak</a:t>
                      </a:r>
                      <a:endParaRPr kumimoji="1" lang="en-US" altLang="en-US" sz="28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rPr>
                        <a:t>C1=B1+B2</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rPr>
                        <a:t>C2=B3+B4</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rPr>
                        <a:t>...</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1</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5527">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800" b="0" i="0" u="none" strike="noStrike" cap="none" normalizeH="0" baseline="0">
                          <a:ln>
                            <a:noFill/>
                          </a:ln>
                          <a:solidFill>
                            <a:schemeClr val="tx1"/>
                          </a:solidFill>
                          <a:effectLst>
                            <a:outerShdw blurRad="38100" dist="38100" dir="2700000" algn="tl">
                              <a:srgbClr val="FFFFFF"/>
                            </a:outerShdw>
                          </a:effectLst>
                          <a:latin typeface="Tahoma" pitchFamily="34" charset="0"/>
                        </a:rPr>
                        <a:t>3. korak</a:t>
                      </a:r>
                      <a:endParaRPr kumimoji="1" lang="en-US" altLang="en-US" sz="28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rPr>
                        <a:t>D1=C1+C2</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rPr>
                        <a:t>D2=C3+C4</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1</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527">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800" b="0" i="0" u="none" strike="noStrike" cap="none" normalizeH="0" baseline="0">
                          <a:ln>
                            <a:noFill/>
                          </a:ln>
                          <a:solidFill>
                            <a:schemeClr val="tx1"/>
                          </a:solidFill>
                          <a:effectLst>
                            <a:outerShdw blurRad="38100" dist="38100" dir="2700000" algn="tl">
                              <a:srgbClr val="FFFFFF"/>
                            </a:outerShdw>
                          </a:effectLst>
                          <a:latin typeface="Tahoma" pitchFamily="34" charset="0"/>
                        </a:rPr>
                        <a:t>4. korak</a:t>
                      </a:r>
                      <a:endParaRPr kumimoji="1" lang="en-US" altLang="en-US" sz="28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rPr>
                        <a:t>A=D1+D2</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l"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rPr>
                        <a:t>...</a:t>
                      </a: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endParaRPr kumimoji="1" lang="en-US" altLang="en-US" sz="16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1</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0463" name="Text Box 47">
            <a:extLst>
              <a:ext uri="{FF2B5EF4-FFF2-40B4-BE49-F238E27FC236}">
                <a16:creationId xmlns:a16="http://schemas.microsoft.com/office/drawing/2014/main" id="{74D68E57-B42C-584E-DF31-F22621FBC8D2}"/>
              </a:ext>
            </a:extLst>
          </p:cNvPr>
          <p:cNvSpPr txBox="1">
            <a:spLocks noChangeArrowheads="1"/>
          </p:cNvSpPr>
          <p:nvPr/>
        </p:nvSpPr>
        <p:spPr bwMode="auto">
          <a:xfrm>
            <a:off x="7867650" y="4800600"/>
            <a:ext cx="895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sr-Latn-CS" altLang="en-US" sz="3200">
                <a:effectLst/>
              </a:rPr>
              <a:t>T=4</a:t>
            </a:r>
            <a:endParaRPr lang="en-US" altLang="en-US" sz="3200">
              <a:effectLst/>
            </a:endParaRPr>
          </a:p>
        </p:txBody>
      </p:sp>
      <p:sp>
        <p:nvSpPr>
          <p:cNvPr id="60464" name="Text Box 48">
            <a:extLst>
              <a:ext uri="{FF2B5EF4-FFF2-40B4-BE49-F238E27FC236}">
                <a16:creationId xmlns:a16="http://schemas.microsoft.com/office/drawing/2014/main" id="{0F2D13CB-6F13-A636-9008-1833744BDF3E}"/>
              </a:ext>
            </a:extLst>
          </p:cNvPr>
          <p:cNvSpPr txBox="1">
            <a:spLocks noChangeArrowheads="1"/>
          </p:cNvSpPr>
          <p:nvPr/>
        </p:nvSpPr>
        <p:spPr bwMode="auto">
          <a:xfrm>
            <a:off x="517525" y="5903913"/>
            <a:ext cx="17875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b">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Char char="•"/>
            </a:pPr>
            <a:r>
              <a:rPr lang="en-US" altLang="en-US">
                <a:effectLst/>
              </a:rPr>
              <a:t>Hajdnov efekat</a:t>
            </a:r>
          </a:p>
        </p:txBody>
      </p:sp>
    </p:spTree>
  </p:cSld>
  <p:clrMapOvr>
    <a:masterClrMapping/>
  </p:clrMapOvr>
  <p:transition>
    <p:pull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8597B1C9-B1BE-3B49-D43B-456AB6B71B0B}"/>
              </a:ext>
            </a:extLst>
          </p:cNvPr>
          <p:cNvSpPr>
            <a:spLocks noGrp="1" noChangeArrowheads="1"/>
          </p:cNvSpPr>
          <p:nvPr>
            <p:ph type="title"/>
          </p:nvPr>
        </p:nvSpPr>
        <p:spPr/>
        <p:txBody>
          <a:bodyPr/>
          <a:lstStyle/>
          <a:p>
            <a:r>
              <a:rPr lang="sr-Latn-CS" altLang="en-US"/>
              <a:t>Poređenje performansi</a:t>
            </a:r>
            <a:endParaRPr lang="en-US" altLang="en-US"/>
          </a:p>
        </p:txBody>
      </p:sp>
      <p:graphicFrame>
        <p:nvGraphicFramePr>
          <p:cNvPr id="91139" name="Group 3">
            <a:extLst>
              <a:ext uri="{FF2B5EF4-FFF2-40B4-BE49-F238E27FC236}">
                <a16:creationId xmlns:a16="http://schemas.microsoft.com/office/drawing/2014/main" id="{AF1D5398-4EBB-A5F9-60AF-EE1819CC84E3}"/>
              </a:ext>
            </a:extLst>
          </p:cNvPr>
          <p:cNvGraphicFramePr>
            <a:graphicFrameLocks noGrp="1"/>
          </p:cNvGraphicFramePr>
          <p:nvPr/>
        </p:nvGraphicFramePr>
        <p:xfrm>
          <a:off x="457200" y="1600200"/>
          <a:ext cx="8229600" cy="4525963"/>
        </p:xfrm>
        <a:graphic>
          <a:graphicData uri="http://schemas.openxmlformats.org/drawingml/2006/table">
            <a:tbl>
              <a:tblPr/>
              <a:tblGrid>
                <a:gridCol w="12954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3352800">
                  <a:extLst>
                    <a:ext uri="{9D8B030D-6E8A-4147-A177-3AD203B41FA5}">
                      <a16:colId xmlns:a16="http://schemas.microsoft.com/office/drawing/2014/main" val="20003"/>
                    </a:ext>
                  </a:extLst>
                </a:gridCol>
              </a:tblGrid>
              <a:tr h="755650">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P</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Sp</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Ep</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SpEp</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extLst>
                  <a:ext uri="{0D108BD9-81ED-4DB2-BD59-A6C34878D82A}">
                    <a16:rowId xmlns:a16="http://schemas.microsoft.com/office/drawing/2014/main" val="10000"/>
                  </a:ext>
                </a:extLst>
              </a:tr>
              <a:tr h="752475">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1</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1</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1</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1</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55650">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2</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1.875</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0.94</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1.76</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54063">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3</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2.5</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0.83</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2.075</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52475">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4</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3</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FAA4"/>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0.75</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FAA4"/>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2.25</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AFAA4"/>
                    </a:solidFill>
                  </a:tcPr>
                </a:tc>
                <a:extLst>
                  <a:ext uri="{0D108BD9-81ED-4DB2-BD59-A6C34878D82A}">
                    <a16:rowId xmlns:a16="http://schemas.microsoft.com/office/drawing/2014/main" val="10004"/>
                  </a:ext>
                </a:extLst>
              </a:tr>
              <a:tr h="755650">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00000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00000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FFFFFF"/>
                            </a:outerShdw>
                          </a:effectLst>
                          <a:latin typeface="Tahoma" pitchFamily="34" charset="0"/>
                        </a:defRPr>
                      </a:lvl3pPr>
                      <a:lvl4pPr>
                        <a:spcBef>
                          <a:spcPct val="20000"/>
                        </a:spcBef>
                        <a:defRPr kumimoji="1" sz="1600">
                          <a:solidFill>
                            <a:schemeClr val="tx1"/>
                          </a:solidFill>
                          <a:effectLst>
                            <a:outerShdw blurRad="38100" dist="38100" dir="2700000" algn="tl">
                              <a:srgbClr val="FFFFFF"/>
                            </a:outerShdw>
                          </a:effectLst>
                          <a:latin typeface="Tahoma" pitchFamily="34" charset="0"/>
                        </a:defRPr>
                      </a:lvl4pPr>
                      <a:lvl5pPr>
                        <a:spcBef>
                          <a:spcPct val="20000"/>
                        </a:spcBef>
                        <a:defRPr kumimoji="1" sz="1600">
                          <a:solidFill>
                            <a:schemeClr val="tx1"/>
                          </a:solidFill>
                          <a:effectLst>
                            <a:outerShdw blurRad="38100" dist="38100" dir="2700000" algn="tl">
                              <a:srgbClr val="FFFFFF"/>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rPr>
                        <a:t>8</a:t>
                      </a:r>
                      <a:endParaRPr kumimoji="1" lang="en-US" altLang="en-US" sz="2400" b="0" i="0" u="none" strike="noStrike" cap="none" normalizeH="0" baseline="0">
                        <a:ln>
                          <a:noFill/>
                        </a:ln>
                        <a:solidFill>
                          <a:schemeClr val="tx1"/>
                        </a:solidFill>
                        <a:effectLst>
                          <a:outerShdw blurRad="38100" dist="38100" dir="2700000" algn="tl">
                            <a:srgbClr val="FFFFFF"/>
                          </a:outerShdw>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3.75</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0.47</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85000"/>
                        <a:buFont typeface="Wingdings 2" pitchFamily="18" charset="2"/>
                        <a:defRPr kumimoji="1" sz="2400">
                          <a:solidFill>
                            <a:schemeClr val="accent1"/>
                          </a:solidFill>
                          <a:effectLst>
                            <a:outerShdw blurRad="38100" dist="38100" dir="2700000" algn="tl">
                              <a:srgbClr val="C0C0C0"/>
                            </a:outerShdw>
                          </a:effectLst>
                          <a:latin typeface="Tahoma" pitchFamily="34" charset="0"/>
                        </a:defRPr>
                      </a:lvl1pPr>
                      <a:lvl2pPr>
                        <a:spcBef>
                          <a:spcPct val="20000"/>
                        </a:spcBef>
                        <a:buClr>
                          <a:schemeClr val="hlink"/>
                        </a:buClr>
                        <a:buSzPct val="85000"/>
                        <a:buFont typeface="Wingdings" pitchFamily="2" charset="2"/>
                        <a:defRPr kumimoji="1" sz="2100">
                          <a:solidFill>
                            <a:schemeClr val="hlink"/>
                          </a:solidFill>
                          <a:effectLst>
                            <a:outerShdw blurRad="38100" dist="38100" dir="2700000" algn="tl">
                              <a:srgbClr val="C0C0C0"/>
                            </a:outerShdw>
                          </a:effectLst>
                          <a:latin typeface="Tahoma" pitchFamily="34" charset="0"/>
                        </a:defRPr>
                      </a:lvl2pPr>
                      <a:lvl3pPr>
                        <a:spcBef>
                          <a:spcPct val="20000"/>
                        </a:spcBef>
                        <a:buClr>
                          <a:schemeClr val="tx1"/>
                        </a:buClr>
                        <a:buFont typeface="Wingdings" pitchFamily="2" charset="2"/>
                        <a:defRPr kumimoji="1">
                          <a:solidFill>
                            <a:schemeClr val="tx1"/>
                          </a:solidFill>
                          <a:effectLst>
                            <a:outerShdw blurRad="38100" dist="38100" dir="2700000" algn="tl">
                              <a:srgbClr val="C0C0C0"/>
                            </a:outerShdw>
                          </a:effectLst>
                          <a:latin typeface="Tahoma" pitchFamily="34" charset="0"/>
                        </a:defRPr>
                      </a:lvl3pPr>
                      <a:lvl4pPr>
                        <a:spcBef>
                          <a:spcPct val="20000"/>
                        </a:spcBef>
                        <a:defRPr kumimoji="1" sz="1600">
                          <a:solidFill>
                            <a:schemeClr val="tx1"/>
                          </a:solidFill>
                          <a:effectLst>
                            <a:outerShdw blurRad="38100" dist="38100" dir="2700000" algn="tl">
                              <a:srgbClr val="C0C0C0"/>
                            </a:outerShdw>
                          </a:effectLst>
                          <a:latin typeface="Tahoma" pitchFamily="34" charset="0"/>
                        </a:defRPr>
                      </a:lvl4pPr>
                      <a:lvl5pPr>
                        <a:spcBef>
                          <a:spcPct val="20000"/>
                        </a:spcBef>
                        <a:defRPr kumimoji="1" sz="1600">
                          <a:solidFill>
                            <a:schemeClr val="tx1"/>
                          </a:solidFill>
                          <a:effectLst>
                            <a:outerShdw blurRad="38100" dist="38100" dir="2700000" algn="tl">
                              <a:srgbClr val="C0C0C0"/>
                            </a:outerShdw>
                          </a:effectLst>
                          <a:latin typeface="Tahoma" pitchFamily="34" charset="0"/>
                        </a:defRPr>
                      </a:lvl5pPr>
                      <a:lvl6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6pPr>
                      <a:lvl7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7pPr>
                      <a:lvl8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8pPr>
                      <a:lvl9pPr eaLnBrk="0" fontAlgn="base" hangingPunct="0">
                        <a:spcBef>
                          <a:spcPct val="20000"/>
                        </a:spcBef>
                        <a:spcAft>
                          <a:spcPct val="0"/>
                        </a:spcAft>
                        <a:defRPr kumimoji="1" sz="1600">
                          <a:solidFill>
                            <a:schemeClr val="tx1"/>
                          </a:solidFill>
                          <a:effectLst>
                            <a:outerShdw blurRad="38100" dist="38100" dir="2700000" algn="tl">
                              <a:srgbClr val="C0C0C0"/>
                            </a:outerShdw>
                          </a:effectLst>
                          <a:latin typeface="Tahoma" pitchFamily="34" charset="0"/>
                        </a:defRPr>
                      </a:lvl9pPr>
                    </a:lstStyle>
                    <a:p>
                      <a:pPr marL="0" marR="0" lvl="0" indent="0" algn="ctr" defTabSz="914400" rtl="0" eaLnBrk="0" fontAlgn="base" latinLnBrk="0" hangingPunct="0">
                        <a:lnSpc>
                          <a:spcPct val="100000"/>
                        </a:lnSpc>
                        <a:spcBef>
                          <a:spcPct val="20000"/>
                        </a:spcBef>
                        <a:spcAft>
                          <a:spcPct val="0"/>
                        </a:spcAft>
                        <a:buClr>
                          <a:schemeClr val="accent1"/>
                        </a:buClr>
                        <a:buSzPct val="85000"/>
                        <a:buFont typeface="Wingdings 2" pitchFamily="18" charset="2"/>
                        <a:buNone/>
                        <a:tabLst/>
                      </a:pPr>
                      <a:r>
                        <a:rPr kumimoji="1" lang="sr-Latn-C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rPr>
                        <a:t>1.76</a:t>
                      </a:r>
                      <a:endParaRPr kumimoji="1" lang="en-US" altLang="en-US" sz="2400" b="0" i="0" u="none" strike="noStrike" cap="none" normalizeH="0" baseline="0">
                        <a:ln>
                          <a:noFill/>
                        </a:ln>
                        <a:solidFill>
                          <a:schemeClr val="tx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p:pull dir="d"/>
  </p:transition>
</p:sld>
</file>

<file path=ppt/theme/theme1.xml><?xml version="1.0" encoding="utf-8"?>
<a:theme xmlns:a="http://schemas.openxmlformats.org/drawingml/2006/main" name="MIMD">
  <a:themeElements>
    <a:clrScheme name="MIMD 15">
      <a:dk1>
        <a:srgbClr val="000000"/>
      </a:dk1>
      <a:lt1>
        <a:srgbClr val="FFFFFF"/>
      </a:lt1>
      <a:dk2>
        <a:srgbClr val="FFFFFF"/>
      </a:dk2>
      <a:lt2>
        <a:srgbClr val="000000"/>
      </a:lt2>
      <a:accent1>
        <a:srgbClr val="A50021"/>
      </a:accent1>
      <a:accent2>
        <a:srgbClr val="009900"/>
      </a:accent2>
      <a:accent3>
        <a:srgbClr val="FFFFFF"/>
      </a:accent3>
      <a:accent4>
        <a:srgbClr val="000000"/>
      </a:accent4>
      <a:accent5>
        <a:srgbClr val="CFAAAB"/>
      </a:accent5>
      <a:accent6>
        <a:srgbClr val="008A00"/>
      </a:accent6>
      <a:hlink>
        <a:srgbClr val="003399"/>
      </a:hlink>
      <a:folHlink>
        <a:srgbClr val="DDDDDD"/>
      </a:folHlink>
    </a:clrScheme>
    <a:fontScheme name="MIMD">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b"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b"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Arial" pitchFamily="34" charset="0"/>
          </a:defRPr>
        </a:defPPr>
      </a:lstStyle>
    </a:lnDef>
  </a:objectDefaults>
  <a:extraClrSchemeLst>
    <a:extraClrScheme>
      <a:clrScheme name="MIMD 1">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MIMD 2">
        <a:dk1>
          <a:srgbClr val="000000"/>
        </a:dk1>
        <a:lt1>
          <a:srgbClr val="FFFFFF"/>
        </a:lt1>
        <a:dk2>
          <a:srgbClr val="000066"/>
        </a:dk2>
        <a:lt2>
          <a:srgbClr val="969696"/>
        </a:lt2>
        <a:accent1>
          <a:srgbClr val="666699"/>
        </a:accent1>
        <a:accent2>
          <a:srgbClr val="CCCCFF"/>
        </a:accent2>
        <a:accent3>
          <a:srgbClr val="FFFFFF"/>
        </a:accent3>
        <a:accent4>
          <a:srgbClr val="000000"/>
        </a:accent4>
        <a:accent5>
          <a:srgbClr val="B8B8CA"/>
        </a:accent5>
        <a:accent6>
          <a:srgbClr val="B9B9E7"/>
        </a:accent6>
        <a:hlink>
          <a:srgbClr val="CC00CC"/>
        </a:hlink>
        <a:folHlink>
          <a:srgbClr val="EAEAEA"/>
        </a:folHlink>
      </a:clrScheme>
      <a:clrMap bg1="lt1" tx1="dk1" bg2="lt2" tx2="dk2" accent1="accent1" accent2="accent2" accent3="accent3" accent4="accent4" accent5="accent5" accent6="accent6" hlink="hlink" folHlink="folHlink"/>
    </a:extraClrScheme>
    <a:extraClrScheme>
      <a:clrScheme name="MIMD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MD 4">
        <a:dk1>
          <a:srgbClr val="000000"/>
        </a:dk1>
        <a:lt1>
          <a:srgbClr val="FFFFCC"/>
        </a:lt1>
        <a:dk2>
          <a:srgbClr val="FF6600"/>
        </a:dk2>
        <a:lt2>
          <a:srgbClr val="333300"/>
        </a:lt2>
        <a:accent1>
          <a:srgbClr val="800000"/>
        </a:accent1>
        <a:accent2>
          <a:srgbClr val="CC6600"/>
        </a:accent2>
        <a:accent3>
          <a:srgbClr val="FFFFE2"/>
        </a:accent3>
        <a:accent4>
          <a:srgbClr val="000000"/>
        </a:accent4>
        <a:accent5>
          <a:srgbClr val="C0AAAA"/>
        </a:accent5>
        <a:accent6>
          <a:srgbClr val="B95C00"/>
        </a:accent6>
        <a:hlink>
          <a:srgbClr val="808000"/>
        </a:hlink>
        <a:folHlink>
          <a:srgbClr val="FFCC66"/>
        </a:folHlink>
      </a:clrScheme>
      <a:clrMap bg1="lt1" tx1="dk1" bg2="lt2" tx2="dk2" accent1="accent1" accent2="accent2" accent3="accent3" accent4="accent4" accent5="accent5" accent6="accent6" hlink="hlink" folHlink="folHlink"/>
    </a:extraClrScheme>
    <a:extraClrScheme>
      <a:clrScheme name="MIMD 5">
        <a:dk1>
          <a:srgbClr val="1C3956"/>
        </a:dk1>
        <a:lt1>
          <a:srgbClr val="FFFFFF"/>
        </a:lt1>
        <a:dk2>
          <a:srgbClr val="003366"/>
        </a:dk2>
        <a:lt2>
          <a:srgbClr val="DDDDDD"/>
        </a:lt2>
        <a:accent1>
          <a:srgbClr val="3D7CBB"/>
        </a:accent1>
        <a:accent2>
          <a:srgbClr val="00152A"/>
        </a:accent2>
        <a:accent3>
          <a:srgbClr val="AAADB8"/>
        </a:accent3>
        <a:accent4>
          <a:srgbClr val="DADADA"/>
        </a:accent4>
        <a:accent5>
          <a:srgbClr val="AFBFDA"/>
        </a:accent5>
        <a:accent6>
          <a:srgbClr val="001225"/>
        </a:accent6>
        <a:hlink>
          <a:srgbClr val="33CCCC"/>
        </a:hlink>
        <a:folHlink>
          <a:srgbClr val="96B9DC"/>
        </a:folHlink>
      </a:clrScheme>
      <a:clrMap bg1="dk2" tx1="lt1" bg2="dk1" tx2="lt2" accent1="accent1" accent2="accent2" accent3="accent3" accent4="accent4" accent5="accent5" accent6="accent6" hlink="hlink" folHlink="folHlink"/>
    </a:extraClrScheme>
    <a:extraClrScheme>
      <a:clrScheme name="MIMD 6">
        <a:dk1>
          <a:srgbClr val="000000"/>
        </a:dk1>
        <a:lt1>
          <a:srgbClr val="FFFFFF"/>
        </a:lt1>
        <a:dk2>
          <a:srgbClr val="440044"/>
        </a:dk2>
        <a:lt2>
          <a:srgbClr val="491D49"/>
        </a:lt2>
        <a:accent1>
          <a:srgbClr val="9D9DBD"/>
        </a:accent1>
        <a:accent2>
          <a:srgbClr val="14213C"/>
        </a:accent2>
        <a:accent3>
          <a:srgbClr val="FFFFFF"/>
        </a:accent3>
        <a:accent4>
          <a:srgbClr val="000000"/>
        </a:accent4>
        <a:accent5>
          <a:srgbClr val="CCCCDB"/>
        </a:accent5>
        <a:accent6>
          <a:srgbClr val="111D35"/>
        </a:accent6>
        <a:hlink>
          <a:srgbClr val="666699"/>
        </a:hlink>
        <a:folHlink>
          <a:srgbClr val="DBDBF1"/>
        </a:folHlink>
      </a:clrScheme>
      <a:clrMap bg1="lt1" tx1="dk1" bg2="lt2" tx2="dk2" accent1="accent1" accent2="accent2" accent3="accent3" accent4="accent4" accent5="accent5" accent6="accent6" hlink="hlink" folHlink="folHlink"/>
    </a:extraClrScheme>
    <a:extraClrScheme>
      <a:clrScheme name="MIMD 7">
        <a:dk1>
          <a:srgbClr val="000000"/>
        </a:dk1>
        <a:lt1>
          <a:srgbClr val="FFFFFF"/>
        </a:lt1>
        <a:dk2>
          <a:srgbClr val="000000"/>
        </a:dk2>
        <a:lt2>
          <a:srgbClr val="001A00"/>
        </a:lt2>
        <a:accent1>
          <a:srgbClr val="339966"/>
        </a:accent1>
        <a:accent2>
          <a:srgbClr val="003300"/>
        </a:accent2>
        <a:accent3>
          <a:srgbClr val="FFFFFF"/>
        </a:accent3>
        <a:accent4>
          <a:srgbClr val="000000"/>
        </a:accent4>
        <a:accent5>
          <a:srgbClr val="ADCAB8"/>
        </a:accent5>
        <a:accent6>
          <a:srgbClr val="002D00"/>
        </a:accent6>
        <a:hlink>
          <a:srgbClr val="FF9933"/>
        </a:hlink>
        <a:folHlink>
          <a:srgbClr val="AFE9CC"/>
        </a:folHlink>
      </a:clrScheme>
      <a:clrMap bg1="lt1" tx1="dk1" bg2="lt2" tx2="dk2" accent1="accent1" accent2="accent2" accent3="accent3" accent4="accent4" accent5="accent5" accent6="accent6" hlink="hlink" folHlink="folHlink"/>
    </a:extraClrScheme>
    <a:extraClrScheme>
      <a:clrScheme name="MIMD 8">
        <a:dk1>
          <a:srgbClr val="000000"/>
        </a:dk1>
        <a:lt1>
          <a:srgbClr val="FFFFFF"/>
        </a:lt1>
        <a:dk2>
          <a:srgbClr val="000000"/>
        </a:dk2>
        <a:lt2>
          <a:srgbClr val="FFCC00"/>
        </a:lt2>
        <a:accent1>
          <a:srgbClr val="FF9900"/>
        </a:accent1>
        <a:accent2>
          <a:srgbClr val="D60093"/>
        </a:accent2>
        <a:accent3>
          <a:srgbClr val="AAAAAA"/>
        </a:accent3>
        <a:accent4>
          <a:srgbClr val="DADADA"/>
        </a:accent4>
        <a:accent5>
          <a:srgbClr val="FFCAAA"/>
        </a:accent5>
        <a:accent6>
          <a:srgbClr val="C20085"/>
        </a:accent6>
        <a:hlink>
          <a:srgbClr val="9966FF"/>
        </a:hlink>
        <a:folHlink>
          <a:srgbClr val="808080"/>
        </a:folHlink>
      </a:clrScheme>
      <a:clrMap bg1="dk2" tx1="lt1" bg2="dk1" tx2="lt2" accent1="accent1" accent2="accent2" accent3="accent3" accent4="accent4" accent5="accent5" accent6="accent6" hlink="hlink" folHlink="folHlink"/>
    </a:extraClrScheme>
    <a:extraClrScheme>
      <a:clrScheme name="MIMD 9">
        <a:dk1>
          <a:srgbClr val="001932"/>
        </a:dk1>
        <a:lt1>
          <a:srgbClr val="FFFFFF"/>
        </a:lt1>
        <a:dk2>
          <a:srgbClr val="1A6690"/>
        </a:dk2>
        <a:lt2>
          <a:srgbClr val="CCFFFF"/>
        </a:lt2>
        <a:accent1>
          <a:srgbClr val="99FFCC"/>
        </a:accent1>
        <a:accent2>
          <a:srgbClr val="01B0FF"/>
        </a:accent2>
        <a:accent3>
          <a:srgbClr val="ABB8C6"/>
        </a:accent3>
        <a:accent4>
          <a:srgbClr val="DADADA"/>
        </a:accent4>
        <a:accent5>
          <a:srgbClr val="CAFFE2"/>
        </a:accent5>
        <a:accent6>
          <a:srgbClr val="019FE7"/>
        </a:accent6>
        <a:hlink>
          <a:srgbClr val="FFCDC0"/>
        </a:hlink>
        <a:folHlink>
          <a:srgbClr val="165476"/>
        </a:folHlink>
      </a:clrScheme>
      <a:clrMap bg1="dk2" tx1="lt1" bg2="dk1" tx2="lt2" accent1="accent1" accent2="accent2" accent3="accent3" accent4="accent4" accent5="accent5" accent6="accent6" hlink="hlink" folHlink="folHlink"/>
    </a:extraClrScheme>
    <a:extraClrScheme>
      <a:clrScheme name="MIMD 10">
        <a:dk1>
          <a:srgbClr val="000000"/>
        </a:dk1>
        <a:lt1>
          <a:srgbClr val="FFFFFF"/>
        </a:lt1>
        <a:dk2>
          <a:srgbClr val="114663"/>
        </a:dk2>
        <a:lt2>
          <a:srgbClr val="CCFFFF"/>
        </a:lt2>
        <a:accent1>
          <a:srgbClr val="99FFCC"/>
        </a:accent1>
        <a:accent2>
          <a:srgbClr val="01B0FF"/>
        </a:accent2>
        <a:accent3>
          <a:srgbClr val="AAB0B7"/>
        </a:accent3>
        <a:accent4>
          <a:srgbClr val="DADADA"/>
        </a:accent4>
        <a:accent5>
          <a:srgbClr val="CAFFE2"/>
        </a:accent5>
        <a:accent6>
          <a:srgbClr val="019FE7"/>
        </a:accent6>
        <a:hlink>
          <a:srgbClr val="FFCDC0"/>
        </a:hlink>
        <a:folHlink>
          <a:srgbClr val="165476"/>
        </a:folHlink>
      </a:clrScheme>
      <a:clrMap bg1="dk2" tx1="lt1" bg2="dk1" tx2="lt2" accent1="accent1" accent2="accent2" accent3="accent3" accent4="accent4" accent5="accent5" accent6="accent6" hlink="hlink" folHlink="folHlink"/>
    </a:extraClrScheme>
    <a:extraClrScheme>
      <a:clrScheme name="MIMD 11">
        <a:dk1>
          <a:srgbClr val="000000"/>
        </a:dk1>
        <a:lt1>
          <a:srgbClr val="FFFFFF"/>
        </a:lt1>
        <a:dk2>
          <a:srgbClr val="114663"/>
        </a:dk2>
        <a:lt2>
          <a:srgbClr val="CCFFFF"/>
        </a:lt2>
        <a:accent1>
          <a:srgbClr val="99FFCC"/>
        </a:accent1>
        <a:accent2>
          <a:srgbClr val="01B0FF"/>
        </a:accent2>
        <a:accent3>
          <a:srgbClr val="AAB0B7"/>
        </a:accent3>
        <a:accent4>
          <a:srgbClr val="DADADA"/>
        </a:accent4>
        <a:accent5>
          <a:srgbClr val="CAFFE2"/>
        </a:accent5>
        <a:accent6>
          <a:srgbClr val="019FE7"/>
        </a:accent6>
        <a:hlink>
          <a:srgbClr val="FFBFAD"/>
        </a:hlink>
        <a:folHlink>
          <a:srgbClr val="0E364C"/>
        </a:folHlink>
      </a:clrScheme>
      <a:clrMap bg1="dk2" tx1="lt1" bg2="dk1" tx2="lt2" accent1="accent1" accent2="accent2" accent3="accent3" accent4="accent4" accent5="accent5" accent6="accent6" hlink="hlink" folHlink="folHlink"/>
    </a:extraClrScheme>
    <a:extraClrScheme>
      <a:clrScheme name="MIMD 12">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CC"/>
        </a:hlink>
        <a:folHlink>
          <a:srgbClr val="0E364C"/>
        </a:folHlink>
      </a:clrScheme>
      <a:clrMap bg1="lt1" tx1="dk1" bg2="lt2" tx2="dk2" accent1="accent1" accent2="accent2" accent3="accent3" accent4="accent4" accent5="accent5" accent6="accent6" hlink="hlink" folHlink="folHlink"/>
    </a:extraClrScheme>
    <a:extraClrScheme>
      <a:clrScheme name="MIMD 13">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99"/>
        </a:hlink>
        <a:folHlink>
          <a:srgbClr val="0E364C"/>
        </a:folHlink>
      </a:clrScheme>
      <a:clrMap bg1="lt1" tx1="dk1" bg2="lt2" tx2="dk2" accent1="accent1" accent2="accent2" accent3="accent3" accent4="accent4" accent5="accent5" accent6="accent6" hlink="hlink" folHlink="folHlink"/>
    </a:extraClrScheme>
    <a:extraClrScheme>
      <a:clrScheme name="MIMD 14">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99"/>
        </a:hlink>
        <a:folHlink>
          <a:srgbClr val="DDDDDD"/>
        </a:folHlink>
      </a:clrScheme>
      <a:clrMap bg1="lt1" tx1="dk1" bg2="lt2" tx2="dk2" accent1="accent1" accent2="accent2" accent3="accent3" accent4="accent4" accent5="accent5" accent6="accent6" hlink="hlink" folHlink="folHlink"/>
    </a:extraClrScheme>
    <a:extraClrScheme>
      <a:clrScheme name="MIMD 15">
        <a:dk1>
          <a:srgbClr val="000000"/>
        </a:dk1>
        <a:lt1>
          <a:srgbClr val="FFFFFF"/>
        </a:lt1>
        <a:dk2>
          <a:srgbClr val="FFFFFF"/>
        </a:dk2>
        <a:lt2>
          <a:srgbClr val="000000"/>
        </a:lt2>
        <a:accent1>
          <a:srgbClr val="A50021"/>
        </a:accent1>
        <a:accent2>
          <a:srgbClr val="009900"/>
        </a:accent2>
        <a:accent3>
          <a:srgbClr val="FFFFFF"/>
        </a:accent3>
        <a:accent4>
          <a:srgbClr val="000000"/>
        </a:accent4>
        <a:accent5>
          <a:srgbClr val="CFAAAB"/>
        </a:accent5>
        <a:accent6>
          <a:srgbClr val="008A00"/>
        </a:accent6>
        <a:hlink>
          <a:srgbClr val="003399"/>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grananje-dinam">
  <a:themeElements>
    <a:clrScheme name="grananje-dinam 15">
      <a:dk1>
        <a:srgbClr val="000000"/>
      </a:dk1>
      <a:lt1>
        <a:srgbClr val="FFFFFF"/>
      </a:lt1>
      <a:dk2>
        <a:srgbClr val="FFFFFF"/>
      </a:dk2>
      <a:lt2>
        <a:srgbClr val="000000"/>
      </a:lt2>
      <a:accent1>
        <a:srgbClr val="A50021"/>
      </a:accent1>
      <a:accent2>
        <a:srgbClr val="009900"/>
      </a:accent2>
      <a:accent3>
        <a:srgbClr val="FFFFFF"/>
      </a:accent3>
      <a:accent4>
        <a:srgbClr val="000000"/>
      </a:accent4>
      <a:accent5>
        <a:srgbClr val="CFAAAB"/>
      </a:accent5>
      <a:accent6>
        <a:srgbClr val="008A00"/>
      </a:accent6>
      <a:hlink>
        <a:srgbClr val="003399"/>
      </a:hlink>
      <a:folHlink>
        <a:srgbClr val="DDDDDD"/>
      </a:folHlink>
    </a:clrScheme>
    <a:fontScheme name="grananje-dinam">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b"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b"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Arial" pitchFamily="34" charset="0"/>
          </a:defRPr>
        </a:defPPr>
      </a:lstStyle>
    </a:lnDef>
  </a:objectDefaults>
  <a:extraClrSchemeLst>
    <a:extraClrScheme>
      <a:clrScheme name="grananje-dinam 1">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grananje-dinam 2">
        <a:dk1>
          <a:srgbClr val="000000"/>
        </a:dk1>
        <a:lt1>
          <a:srgbClr val="FFFFFF"/>
        </a:lt1>
        <a:dk2>
          <a:srgbClr val="000066"/>
        </a:dk2>
        <a:lt2>
          <a:srgbClr val="969696"/>
        </a:lt2>
        <a:accent1>
          <a:srgbClr val="666699"/>
        </a:accent1>
        <a:accent2>
          <a:srgbClr val="CCCCFF"/>
        </a:accent2>
        <a:accent3>
          <a:srgbClr val="FFFFFF"/>
        </a:accent3>
        <a:accent4>
          <a:srgbClr val="000000"/>
        </a:accent4>
        <a:accent5>
          <a:srgbClr val="B8B8CA"/>
        </a:accent5>
        <a:accent6>
          <a:srgbClr val="B9B9E7"/>
        </a:accent6>
        <a:hlink>
          <a:srgbClr val="CC00CC"/>
        </a:hlink>
        <a:folHlink>
          <a:srgbClr val="EAEAEA"/>
        </a:folHlink>
      </a:clrScheme>
      <a:clrMap bg1="lt1" tx1="dk1" bg2="lt2" tx2="dk2" accent1="accent1" accent2="accent2" accent3="accent3" accent4="accent4" accent5="accent5" accent6="accent6" hlink="hlink" folHlink="folHlink"/>
    </a:extraClrScheme>
    <a:extraClrScheme>
      <a:clrScheme name="grananje-dinam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grananje-dinam 4">
        <a:dk1>
          <a:srgbClr val="000000"/>
        </a:dk1>
        <a:lt1>
          <a:srgbClr val="FFFFCC"/>
        </a:lt1>
        <a:dk2>
          <a:srgbClr val="FF6600"/>
        </a:dk2>
        <a:lt2>
          <a:srgbClr val="333300"/>
        </a:lt2>
        <a:accent1>
          <a:srgbClr val="800000"/>
        </a:accent1>
        <a:accent2>
          <a:srgbClr val="CC6600"/>
        </a:accent2>
        <a:accent3>
          <a:srgbClr val="FFFFE2"/>
        </a:accent3>
        <a:accent4>
          <a:srgbClr val="000000"/>
        </a:accent4>
        <a:accent5>
          <a:srgbClr val="C0AAAA"/>
        </a:accent5>
        <a:accent6>
          <a:srgbClr val="B95C00"/>
        </a:accent6>
        <a:hlink>
          <a:srgbClr val="808000"/>
        </a:hlink>
        <a:folHlink>
          <a:srgbClr val="FFCC66"/>
        </a:folHlink>
      </a:clrScheme>
      <a:clrMap bg1="lt1" tx1="dk1" bg2="lt2" tx2="dk2" accent1="accent1" accent2="accent2" accent3="accent3" accent4="accent4" accent5="accent5" accent6="accent6" hlink="hlink" folHlink="folHlink"/>
    </a:extraClrScheme>
    <a:extraClrScheme>
      <a:clrScheme name="grananje-dinam 5">
        <a:dk1>
          <a:srgbClr val="1C3956"/>
        </a:dk1>
        <a:lt1>
          <a:srgbClr val="FFFFFF"/>
        </a:lt1>
        <a:dk2>
          <a:srgbClr val="003366"/>
        </a:dk2>
        <a:lt2>
          <a:srgbClr val="DDDDDD"/>
        </a:lt2>
        <a:accent1>
          <a:srgbClr val="3D7CBB"/>
        </a:accent1>
        <a:accent2>
          <a:srgbClr val="00152A"/>
        </a:accent2>
        <a:accent3>
          <a:srgbClr val="AAADB8"/>
        </a:accent3>
        <a:accent4>
          <a:srgbClr val="DADADA"/>
        </a:accent4>
        <a:accent5>
          <a:srgbClr val="AFBFDA"/>
        </a:accent5>
        <a:accent6>
          <a:srgbClr val="001225"/>
        </a:accent6>
        <a:hlink>
          <a:srgbClr val="33CCCC"/>
        </a:hlink>
        <a:folHlink>
          <a:srgbClr val="96B9DC"/>
        </a:folHlink>
      </a:clrScheme>
      <a:clrMap bg1="dk2" tx1="lt1" bg2="dk1" tx2="lt2" accent1="accent1" accent2="accent2" accent3="accent3" accent4="accent4" accent5="accent5" accent6="accent6" hlink="hlink" folHlink="folHlink"/>
    </a:extraClrScheme>
    <a:extraClrScheme>
      <a:clrScheme name="grananje-dinam 6">
        <a:dk1>
          <a:srgbClr val="000000"/>
        </a:dk1>
        <a:lt1>
          <a:srgbClr val="FFFFFF"/>
        </a:lt1>
        <a:dk2>
          <a:srgbClr val="440044"/>
        </a:dk2>
        <a:lt2>
          <a:srgbClr val="491D49"/>
        </a:lt2>
        <a:accent1>
          <a:srgbClr val="9D9DBD"/>
        </a:accent1>
        <a:accent2>
          <a:srgbClr val="14213C"/>
        </a:accent2>
        <a:accent3>
          <a:srgbClr val="FFFFFF"/>
        </a:accent3>
        <a:accent4>
          <a:srgbClr val="000000"/>
        </a:accent4>
        <a:accent5>
          <a:srgbClr val="CCCCDB"/>
        </a:accent5>
        <a:accent6>
          <a:srgbClr val="111D35"/>
        </a:accent6>
        <a:hlink>
          <a:srgbClr val="666699"/>
        </a:hlink>
        <a:folHlink>
          <a:srgbClr val="DBDBF1"/>
        </a:folHlink>
      </a:clrScheme>
      <a:clrMap bg1="lt1" tx1="dk1" bg2="lt2" tx2="dk2" accent1="accent1" accent2="accent2" accent3="accent3" accent4="accent4" accent5="accent5" accent6="accent6" hlink="hlink" folHlink="folHlink"/>
    </a:extraClrScheme>
    <a:extraClrScheme>
      <a:clrScheme name="grananje-dinam 7">
        <a:dk1>
          <a:srgbClr val="000000"/>
        </a:dk1>
        <a:lt1>
          <a:srgbClr val="FFFFFF"/>
        </a:lt1>
        <a:dk2>
          <a:srgbClr val="000000"/>
        </a:dk2>
        <a:lt2>
          <a:srgbClr val="001A00"/>
        </a:lt2>
        <a:accent1>
          <a:srgbClr val="339966"/>
        </a:accent1>
        <a:accent2>
          <a:srgbClr val="003300"/>
        </a:accent2>
        <a:accent3>
          <a:srgbClr val="FFFFFF"/>
        </a:accent3>
        <a:accent4>
          <a:srgbClr val="000000"/>
        </a:accent4>
        <a:accent5>
          <a:srgbClr val="ADCAB8"/>
        </a:accent5>
        <a:accent6>
          <a:srgbClr val="002D00"/>
        </a:accent6>
        <a:hlink>
          <a:srgbClr val="FF9933"/>
        </a:hlink>
        <a:folHlink>
          <a:srgbClr val="AFE9CC"/>
        </a:folHlink>
      </a:clrScheme>
      <a:clrMap bg1="lt1" tx1="dk1" bg2="lt2" tx2="dk2" accent1="accent1" accent2="accent2" accent3="accent3" accent4="accent4" accent5="accent5" accent6="accent6" hlink="hlink" folHlink="folHlink"/>
    </a:extraClrScheme>
    <a:extraClrScheme>
      <a:clrScheme name="grananje-dinam 8">
        <a:dk1>
          <a:srgbClr val="000000"/>
        </a:dk1>
        <a:lt1>
          <a:srgbClr val="FFFFFF"/>
        </a:lt1>
        <a:dk2>
          <a:srgbClr val="000000"/>
        </a:dk2>
        <a:lt2>
          <a:srgbClr val="FFCC00"/>
        </a:lt2>
        <a:accent1>
          <a:srgbClr val="FF9900"/>
        </a:accent1>
        <a:accent2>
          <a:srgbClr val="D60093"/>
        </a:accent2>
        <a:accent3>
          <a:srgbClr val="AAAAAA"/>
        </a:accent3>
        <a:accent4>
          <a:srgbClr val="DADADA"/>
        </a:accent4>
        <a:accent5>
          <a:srgbClr val="FFCAAA"/>
        </a:accent5>
        <a:accent6>
          <a:srgbClr val="C20085"/>
        </a:accent6>
        <a:hlink>
          <a:srgbClr val="9966FF"/>
        </a:hlink>
        <a:folHlink>
          <a:srgbClr val="808080"/>
        </a:folHlink>
      </a:clrScheme>
      <a:clrMap bg1="dk2" tx1="lt1" bg2="dk1" tx2="lt2" accent1="accent1" accent2="accent2" accent3="accent3" accent4="accent4" accent5="accent5" accent6="accent6" hlink="hlink" folHlink="folHlink"/>
    </a:extraClrScheme>
    <a:extraClrScheme>
      <a:clrScheme name="grananje-dinam 9">
        <a:dk1>
          <a:srgbClr val="001932"/>
        </a:dk1>
        <a:lt1>
          <a:srgbClr val="FFFFFF"/>
        </a:lt1>
        <a:dk2>
          <a:srgbClr val="1A6690"/>
        </a:dk2>
        <a:lt2>
          <a:srgbClr val="CCFFFF"/>
        </a:lt2>
        <a:accent1>
          <a:srgbClr val="99FFCC"/>
        </a:accent1>
        <a:accent2>
          <a:srgbClr val="01B0FF"/>
        </a:accent2>
        <a:accent3>
          <a:srgbClr val="ABB8C6"/>
        </a:accent3>
        <a:accent4>
          <a:srgbClr val="DADADA"/>
        </a:accent4>
        <a:accent5>
          <a:srgbClr val="CAFFE2"/>
        </a:accent5>
        <a:accent6>
          <a:srgbClr val="019FE7"/>
        </a:accent6>
        <a:hlink>
          <a:srgbClr val="FFCDC0"/>
        </a:hlink>
        <a:folHlink>
          <a:srgbClr val="165476"/>
        </a:folHlink>
      </a:clrScheme>
      <a:clrMap bg1="dk2" tx1="lt1" bg2="dk1" tx2="lt2" accent1="accent1" accent2="accent2" accent3="accent3" accent4="accent4" accent5="accent5" accent6="accent6" hlink="hlink" folHlink="folHlink"/>
    </a:extraClrScheme>
    <a:extraClrScheme>
      <a:clrScheme name="grananje-dinam 10">
        <a:dk1>
          <a:srgbClr val="000000"/>
        </a:dk1>
        <a:lt1>
          <a:srgbClr val="FFFFFF"/>
        </a:lt1>
        <a:dk2>
          <a:srgbClr val="114663"/>
        </a:dk2>
        <a:lt2>
          <a:srgbClr val="CCFFFF"/>
        </a:lt2>
        <a:accent1>
          <a:srgbClr val="99FFCC"/>
        </a:accent1>
        <a:accent2>
          <a:srgbClr val="01B0FF"/>
        </a:accent2>
        <a:accent3>
          <a:srgbClr val="AAB0B7"/>
        </a:accent3>
        <a:accent4>
          <a:srgbClr val="DADADA"/>
        </a:accent4>
        <a:accent5>
          <a:srgbClr val="CAFFE2"/>
        </a:accent5>
        <a:accent6>
          <a:srgbClr val="019FE7"/>
        </a:accent6>
        <a:hlink>
          <a:srgbClr val="FFCDC0"/>
        </a:hlink>
        <a:folHlink>
          <a:srgbClr val="165476"/>
        </a:folHlink>
      </a:clrScheme>
      <a:clrMap bg1="dk2" tx1="lt1" bg2="dk1" tx2="lt2" accent1="accent1" accent2="accent2" accent3="accent3" accent4="accent4" accent5="accent5" accent6="accent6" hlink="hlink" folHlink="folHlink"/>
    </a:extraClrScheme>
    <a:extraClrScheme>
      <a:clrScheme name="grananje-dinam 11">
        <a:dk1>
          <a:srgbClr val="000000"/>
        </a:dk1>
        <a:lt1>
          <a:srgbClr val="FFFFFF"/>
        </a:lt1>
        <a:dk2>
          <a:srgbClr val="114663"/>
        </a:dk2>
        <a:lt2>
          <a:srgbClr val="CCFFFF"/>
        </a:lt2>
        <a:accent1>
          <a:srgbClr val="99FFCC"/>
        </a:accent1>
        <a:accent2>
          <a:srgbClr val="01B0FF"/>
        </a:accent2>
        <a:accent3>
          <a:srgbClr val="AAB0B7"/>
        </a:accent3>
        <a:accent4>
          <a:srgbClr val="DADADA"/>
        </a:accent4>
        <a:accent5>
          <a:srgbClr val="CAFFE2"/>
        </a:accent5>
        <a:accent6>
          <a:srgbClr val="019FE7"/>
        </a:accent6>
        <a:hlink>
          <a:srgbClr val="FFBFAD"/>
        </a:hlink>
        <a:folHlink>
          <a:srgbClr val="0E364C"/>
        </a:folHlink>
      </a:clrScheme>
      <a:clrMap bg1="dk2" tx1="lt1" bg2="dk1" tx2="lt2" accent1="accent1" accent2="accent2" accent3="accent3" accent4="accent4" accent5="accent5" accent6="accent6" hlink="hlink" folHlink="folHlink"/>
    </a:extraClrScheme>
    <a:extraClrScheme>
      <a:clrScheme name="grananje-dinam 12">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CC"/>
        </a:hlink>
        <a:folHlink>
          <a:srgbClr val="0E364C"/>
        </a:folHlink>
      </a:clrScheme>
      <a:clrMap bg1="lt1" tx1="dk1" bg2="lt2" tx2="dk2" accent1="accent1" accent2="accent2" accent3="accent3" accent4="accent4" accent5="accent5" accent6="accent6" hlink="hlink" folHlink="folHlink"/>
    </a:extraClrScheme>
    <a:extraClrScheme>
      <a:clrScheme name="grananje-dinam 13">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99"/>
        </a:hlink>
        <a:folHlink>
          <a:srgbClr val="0E364C"/>
        </a:folHlink>
      </a:clrScheme>
      <a:clrMap bg1="lt1" tx1="dk1" bg2="lt2" tx2="dk2" accent1="accent1" accent2="accent2" accent3="accent3" accent4="accent4" accent5="accent5" accent6="accent6" hlink="hlink" folHlink="folHlink"/>
    </a:extraClrScheme>
    <a:extraClrScheme>
      <a:clrScheme name="grananje-dinam 14">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99"/>
        </a:hlink>
        <a:folHlink>
          <a:srgbClr val="DDDDDD"/>
        </a:folHlink>
      </a:clrScheme>
      <a:clrMap bg1="lt1" tx1="dk1" bg2="lt2" tx2="dk2" accent1="accent1" accent2="accent2" accent3="accent3" accent4="accent4" accent5="accent5" accent6="accent6" hlink="hlink" folHlink="folHlink"/>
    </a:extraClrScheme>
    <a:extraClrScheme>
      <a:clrScheme name="grananje-dinam 15">
        <a:dk1>
          <a:srgbClr val="000000"/>
        </a:dk1>
        <a:lt1>
          <a:srgbClr val="FFFFFF"/>
        </a:lt1>
        <a:dk2>
          <a:srgbClr val="FFFFFF"/>
        </a:dk2>
        <a:lt2>
          <a:srgbClr val="000000"/>
        </a:lt2>
        <a:accent1>
          <a:srgbClr val="A50021"/>
        </a:accent1>
        <a:accent2>
          <a:srgbClr val="009900"/>
        </a:accent2>
        <a:accent3>
          <a:srgbClr val="FFFFFF"/>
        </a:accent3>
        <a:accent4>
          <a:srgbClr val="000000"/>
        </a:accent4>
        <a:accent5>
          <a:srgbClr val="CFAAAB"/>
        </a:accent5>
        <a:accent6>
          <a:srgbClr val="008A00"/>
        </a:accent6>
        <a:hlink>
          <a:srgbClr val="003399"/>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D:\users\ema\paral-slajd\prezentacije\MIMD.ppt</Template>
  <TotalTime>2623</TotalTime>
  <Words>5106</Words>
  <Application>Microsoft Office PowerPoint</Application>
  <PresentationFormat>On-screen Show (4:3)</PresentationFormat>
  <Paragraphs>613</Paragraphs>
  <Slides>52</Slides>
  <Notes>11</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52</vt:i4>
      </vt:variant>
    </vt:vector>
  </HeadingPairs>
  <TitlesOfParts>
    <vt:vector size="65" baseType="lpstr">
      <vt:lpstr>Arial</vt:lpstr>
      <vt:lpstr>Arial Narrow</vt:lpstr>
      <vt:lpstr>Cambria Math</vt:lpstr>
      <vt:lpstr>Geneva</vt:lpstr>
      <vt:lpstr>Symbol</vt:lpstr>
      <vt:lpstr>Tahoma</vt:lpstr>
      <vt:lpstr>Times New Roman</vt:lpstr>
      <vt:lpstr>Verdana</vt:lpstr>
      <vt:lpstr>Wingdings</vt:lpstr>
      <vt:lpstr>Wingdings 2</vt:lpstr>
      <vt:lpstr>MIMD</vt:lpstr>
      <vt:lpstr>grananje-dinam</vt:lpstr>
      <vt:lpstr>Equation</vt:lpstr>
      <vt:lpstr>Paralelni sistemi</vt:lpstr>
      <vt:lpstr>Način ocenjivanja</vt:lpstr>
      <vt:lpstr>Moore-ov zakon</vt:lpstr>
      <vt:lpstr>PowerPoint Presentation</vt:lpstr>
      <vt:lpstr>Vreme besplatnog ručka je prošlo</vt:lpstr>
      <vt:lpstr>Šta je paralelni računar</vt:lpstr>
      <vt:lpstr>Na kojim nivoima se paralelizam može eksploatisati?</vt:lpstr>
      <vt:lpstr>Podela PRS</vt:lpstr>
      <vt:lpstr>Data flow i Reduction prilaz</vt:lpstr>
      <vt:lpstr>Flinova klasifikacija Von Neumanovih računara </vt:lpstr>
      <vt:lpstr>Klasifikacija Von Neumanovih računara</vt:lpstr>
      <vt:lpstr>MISD računari</vt:lpstr>
      <vt:lpstr>MISD računari</vt:lpstr>
      <vt:lpstr>SIMD</vt:lpstr>
      <vt:lpstr>SIMD</vt:lpstr>
      <vt:lpstr>SIMD (nast.)</vt:lpstr>
      <vt:lpstr>SIMD (nast.)</vt:lpstr>
      <vt:lpstr>MIMD računari (multiprocessors / multicomputers)</vt:lpstr>
      <vt:lpstr>Osobine MIMD sistema</vt:lpstr>
      <vt:lpstr>Potencijali četiri klase računara</vt:lpstr>
      <vt:lpstr>Podela PS u odnosu na interprocesorsku komunikaciju</vt:lpstr>
      <vt:lpstr>Zajednička (delljiva) memorija</vt:lpstr>
      <vt:lpstr>Arhitekture sa deljivom memorijom</vt:lpstr>
      <vt:lpstr>Arhitekture sa slanjem poruka</vt:lpstr>
      <vt:lpstr>Konflikti kod pristupa deljivoj memoriji</vt:lpstr>
      <vt:lpstr>Konflikti kod pristupa deljivoj mem. (nastavak)</vt:lpstr>
      <vt:lpstr>Nedeterminisanost</vt:lpstr>
      <vt:lpstr>Zaključavanje i uzajamno isključivanje</vt:lpstr>
      <vt:lpstr>Šta je programeru na raspolaganju?</vt:lpstr>
      <vt:lpstr>Performanse paralelnih sistema</vt:lpstr>
      <vt:lpstr>Ubrzanje sistema</vt:lpstr>
      <vt:lpstr>Ubrzanje (nast.)</vt:lpstr>
      <vt:lpstr>PowerPoint Presentation</vt:lpstr>
      <vt:lpstr>Da li je Amdahl bio u pravu?</vt:lpstr>
      <vt:lpstr>Gustafsonov zakon</vt:lpstr>
      <vt:lpstr>Gustafsonov zakon</vt:lpstr>
      <vt:lpstr>Primer</vt:lpstr>
      <vt:lpstr>Poređenje Amdahl vs. Gustafson</vt:lpstr>
      <vt:lpstr>Primer efektivnog paralelnog algoritma</vt:lpstr>
      <vt:lpstr>proizvod matrice i vektora (nast.)</vt:lpstr>
      <vt:lpstr>PowerPoint Presentation</vt:lpstr>
      <vt:lpstr>proizvod matrice i vektora (nast.)</vt:lpstr>
      <vt:lpstr>Šta je realnost</vt:lpstr>
      <vt:lpstr>Efikasnost</vt:lpstr>
      <vt:lpstr>Efikasnost i ubrzanje</vt:lpstr>
      <vt:lpstr>Primer: Sabiranje brojeva</vt:lpstr>
      <vt:lpstr>Sistem sa jednim procesorom</vt:lpstr>
      <vt:lpstr>Sistem sa dva procesora</vt:lpstr>
      <vt:lpstr>Sistem sa tri procesora</vt:lpstr>
      <vt:lpstr>Sistem sa četiri procesora</vt:lpstr>
      <vt:lpstr>Sistem sa osam procesora</vt:lpstr>
      <vt:lpstr>Poređenje performansi</vt:lpstr>
    </vt:vector>
  </TitlesOfParts>
  <Company>elef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Emina Milovanovic</dc:creator>
  <cp:lastModifiedBy>Emina Milovanovic</cp:lastModifiedBy>
  <cp:revision>129</cp:revision>
  <dcterms:created xsi:type="dcterms:W3CDTF">2004-10-24T10:57:52Z</dcterms:created>
  <dcterms:modified xsi:type="dcterms:W3CDTF">2026-03-16T19:10:02Z</dcterms:modified>
</cp:coreProperties>
</file>